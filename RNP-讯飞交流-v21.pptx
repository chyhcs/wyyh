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147483630" r:id="rId8"/>
    <p:sldId id="2147483631" r:id="rId9"/>
    <p:sldId id="2147483632" r:id="rId10"/>
    <p:sldId id="2147483633" r:id="rId11"/>
    <p:sldId id="2147483634" r:id="rId12"/>
    <p:sldId id="2147483635" r:id="rId13"/>
    <p:sldId id="2147483636" r:id="rId14"/>
    <p:sldId id="2147483637" r:id="rId15"/>
    <p:sldId id="2147483638" r:id="rId16"/>
    <p:sldId id="2147483639" r:id="rId17"/>
    <p:sldId id="2147483640" r:id="rId18"/>
    <p:sldId id="2147483641" r:id="rId19"/>
    <p:sldId id="2147483642" r:id="rId20"/>
    <p:sldId id="2147483643" r:id="rId21"/>
    <p:sldId id="2147483644" r:id="rId22"/>
    <p:sldId id="2147483645" r:id="rId23"/>
    <p:sldId id="2147483646" r:id="rId24"/>
    <p:sldId id="2147483647" r:id="rId25"/>
    <p:sldId id="256" r:id="rId26"/>
    <p:sldId id="257" r:id="rId27"/>
    <p:sldId id="258" r:id="rId28"/>
    <p:sldId id="259" r:id="rId29"/>
    <p:sldId id="260" r:id="rId30"/>
    <p:sldId id="261" r:id="rId31"/>
    <p:sldId id="262" r:id="rId32"/>
    <p:sldId id="263" r:id="rId33"/>
    <p:sldId id="264" r:id="rId34"/>
    <p:sldId id="265" r:id="rId35"/>
    <p:sldId id="266" r:id="rId36"/>
    <p:sldId id="267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>
        <p:scale>
          <a:sx n="66" d="100"/>
          <a:sy n="66" d="100"/>
        </p:scale>
        <p:origin x="24" y="3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1D33DA-F32C-4BB5-A35D-C2C64315327B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A69E06-539E-443E-9D9E-DA313339D2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360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简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6894" y="145343"/>
            <a:ext cx="10440017" cy="4868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2797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lvl="0" defTabSz="913303">
              <a:spcBef>
                <a:spcPct val="0"/>
              </a:spcBef>
            </a:pPr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614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041" y="6356939"/>
            <a:ext cx="3502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6" y="6402809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1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1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1" y="2625392"/>
            <a:ext cx="1967204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31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1186848" rtl="0" eaLnBrk="1" latinLnBrk="0" hangingPunct="1">
        <a:lnSpc>
          <a:spcPct val="90000"/>
        </a:lnSpc>
        <a:spcBef>
          <a:spcPct val="0"/>
        </a:spcBef>
        <a:buNone/>
        <a:defRPr sz="57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712" indent="-296712" algn="l" defTabSz="1186848" rtl="0" eaLnBrk="1" latinLnBrk="0" hangingPunct="1">
        <a:lnSpc>
          <a:spcPct val="90000"/>
        </a:lnSpc>
        <a:spcBef>
          <a:spcPts val="1297"/>
        </a:spcBef>
        <a:buFont typeface="Arial" panose="020B0604020202020204" pitchFamily="34" charset="0"/>
        <a:buChar char="•"/>
        <a:defRPr sz="3634" kern="1200">
          <a:solidFill>
            <a:schemeClr val="tx1"/>
          </a:solidFill>
          <a:latin typeface="+mn-lt"/>
          <a:ea typeface="+mn-ea"/>
          <a:cs typeface="+mn-cs"/>
        </a:defRPr>
      </a:lvl1pPr>
      <a:lvl2pPr marL="89013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6" kern="1200">
          <a:solidFill>
            <a:schemeClr val="tx1"/>
          </a:solidFill>
          <a:latin typeface="+mn-lt"/>
          <a:ea typeface="+mn-ea"/>
          <a:cs typeface="+mn-cs"/>
        </a:defRPr>
      </a:lvl2pPr>
      <a:lvl3pPr marL="1483560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6" kern="1200">
          <a:solidFill>
            <a:schemeClr val="tx1"/>
          </a:solidFill>
          <a:latin typeface="+mn-lt"/>
          <a:ea typeface="+mn-ea"/>
          <a:cs typeface="+mn-cs"/>
        </a:defRPr>
      </a:lvl3pPr>
      <a:lvl4pPr marL="2076986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670409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3263834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857258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450682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504410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1pPr>
      <a:lvl2pPr marL="59342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2pPr>
      <a:lvl3pPr marL="118684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3pPr>
      <a:lvl4pPr marL="1780274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37369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296712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560546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15397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474739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9.xml"/><Relationship Id="rId3" Type="http://schemas.openxmlformats.org/officeDocument/2006/relationships/slide" Target="slide1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0.xml"/><Relationship Id="rId3" Type="http://schemas.openxmlformats.org/officeDocument/2006/relationships/slide" Target="slide1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0.xml"/><Relationship Id="rId3" Type="http://schemas.openxmlformats.org/officeDocument/2006/relationships/slide" Target="slide2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8.xml"/><Relationship Id="rId3" Type="http://schemas.openxmlformats.org/officeDocument/2006/relationships/slide" Target="slide27.xml"/><Relationship Id="rId4" Type="http://schemas.openxmlformats.org/officeDocument/2006/relationships/slide" Target="slide26.xml"/><Relationship Id="rId5" Type="http://schemas.openxmlformats.org/officeDocument/2006/relationships/slide" Target="slide2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9.xml"/><Relationship Id="rId3" Type="http://schemas.openxmlformats.org/officeDocument/2006/relationships/slide" Target="slide2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7.xml"/><Relationship Id="rId3" Type="http://schemas.openxmlformats.org/officeDocument/2006/relationships/slide" Target="slide18.xml"/><Relationship Id="rId4" Type="http://schemas.openxmlformats.org/officeDocument/2006/relationships/slide" Target="slide19.xml"/><Relationship Id="rId5" Type="http://schemas.openxmlformats.org/officeDocument/2006/relationships/slide" Target="slide20.xml"/><Relationship Id="rId6" Type="http://schemas.openxmlformats.org/officeDocument/2006/relationships/slide" Target="slide21.xml"/><Relationship Id="rId7" Type="http://schemas.openxmlformats.org/officeDocument/2006/relationships/slide" Target="slide22.xml"/><Relationship Id="rId8" Type="http://schemas.openxmlformats.org/officeDocument/2006/relationships/slide" Target="slide23.xml"/><Relationship Id="rId9" Type="http://schemas.openxmlformats.org/officeDocument/2006/relationships/slide" Target="slide24.xml"/><Relationship Id="rId10" Type="http://schemas.openxmlformats.org/officeDocument/2006/relationships/slide" Target="slide25.xml"/><Relationship Id="rId11" Type="http://schemas.openxmlformats.org/officeDocument/2006/relationships/slide" Target="slide26.xml"/><Relationship Id="rId12" Type="http://schemas.openxmlformats.org/officeDocument/2006/relationships/slide" Target="slide27.xml"/><Relationship Id="rId13" Type="http://schemas.openxmlformats.org/officeDocument/2006/relationships/slide" Target="slide28.xml"/><Relationship Id="rId14" Type="http://schemas.openxmlformats.org/officeDocument/2006/relationships/slide" Target="slide29.xml"/><Relationship Id="rId15" Type="http://schemas.openxmlformats.org/officeDocument/2006/relationships/slide" Target="slide30.xml"/><Relationship Id="rId16" Type="http://schemas.openxmlformats.org/officeDocument/2006/relationships/slide" Target="slide3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8.xml"/><Relationship Id="rId3" Type="http://schemas.openxmlformats.org/officeDocument/2006/relationships/slide" Target="slide19.xml"/><Relationship Id="rId4" Type="http://schemas.openxmlformats.org/officeDocument/2006/relationships/slide" Target="slide20.xml"/><Relationship Id="rId5" Type="http://schemas.openxmlformats.org/officeDocument/2006/relationships/slide" Target="slide21.xml"/><Relationship Id="rId6" Type="http://schemas.openxmlformats.org/officeDocument/2006/relationships/slide" Target="slide22.xml"/><Relationship Id="rId7" Type="http://schemas.openxmlformats.org/officeDocument/2006/relationships/slide" Target="slide23.xml"/><Relationship Id="rId8" Type="http://schemas.openxmlformats.org/officeDocument/2006/relationships/slide" Target="slide24.xml"/><Relationship Id="rId9" Type="http://schemas.openxmlformats.org/officeDocument/2006/relationships/slide" Target="slide25.xml"/><Relationship Id="rId10" Type="http://schemas.openxmlformats.org/officeDocument/2006/relationships/slide" Target="slide26.xml"/><Relationship Id="rId11" Type="http://schemas.openxmlformats.org/officeDocument/2006/relationships/slide" Target="slide27.xml"/><Relationship Id="rId12" Type="http://schemas.openxmlformats.org/officeDocument/2006/relationships/slide" Target="slide28.xml"/><Relationship Id="rId13" Type="http://schemas.openxmlformats.org/officeDocument/2006/relationships/slide" Target="slide29.xml"/><Relationship Id="rId14" Type="http://schemas.openxmlformats.org/officeDocument/2006/relationships/slide" Target="slide30.xml"/><Relationship Id="rId15" Type="http://schemas.openxmlformats.org/officeDocument/2006/relationships/slide" Target="slide31.xml"/><Relationship Id="rId16" Type="http://schemas.openxmlformats.org/officeDocument/2006/relationships/slide" Target="slide16.xml"/><Relationship Id="rId17" Type="http://schemas.openxmlformats.org/officeDocument/2006/relationships/slide" Target="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7.xml"/><Relationship Id="rId3" Type="http://schemas.openxmlformats.org/officeDocument/2006/relationships/slide" Target="slide19.xml"/><Relationship Id="rId4" Type="http://schemas.openxmlformats.org/officeDocument/2006/relationships/slide" Target="slide20.xml"/><Relationship Id="rId5" Type="http://schemas.openxmlformats.org/officeDocument/2006/relationships/slide" Target="slide21.xml"/><Relationship Id="rId6" Type="http://schemas.openxmlformats.org/officeDocument/2006/relationships/slide" Target="slide22.xml"/><Relationship Id="rId7" Type="http://schemas.openxmlformats.org/officeDocument/2006/relationships/slide" Target="slide23.xml"/><Relationship Id="rId8" Type="http://schemas.openxmlformats.org/officeDocument/2006/relationships/slide" Target="slide24.xml"/><Relationship Id="rId9" Type="http://schemas.openxmlformats.org/officeDocument/2006/relationships/slide" Target="slide25.xml"/><Relationship Id="rId10" Type="http://schemas.openxmlformats.org/officeDocument/2006/relationships/slide" Target="slide26.xml"/><Relationship Id="rId11" Type="http://schemas.openxmlformats.org/officeDocument/2006/relationships/slide" Target="slide27.xml"/><Relationship Id="rId12" Type="http://schemas.openxmlformats.org/officeDocument/2006/relationships/slide" Target="slide28.xml"/><Relationship Id="rId13" Type="http://schemas.openxmlformats.org/officeDocument/2006/relationships/slide" Target="slide29.xml"/><Relationship Id="rId14" Type="http://schemas.openxmlformats.org/officeDocument/2006/relationships/slide" Target="slide30.xml"/><Relationship Id="rId15" Type="http://schemas.openxmlformats.org/officeDocument/2006/relationships/slide" Target="slide31.xml"/><Relationship Id="rId16" Type="http://schemas.openxmlformats.org/officeDocument/2006/relationships/slide" Target="slide16.xml"/><Relationship Id="rId17" Type="http://schemas.openxmlformats.org/officeDocument/2006/relationships/slide" Target="slide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7.xml"/><Relationship Id="rId3" Type="http://schemas.openxmlformats.org/officeDocument/2006/relationships/slide" Target="slide18.xml"/><Relationship Id="rId4" Type="http://schemas.openxmlformats.org/officeDocument/2006/relationships/slide" Target="slide20.xml"/><Relationship Id="rId5" Type="http://schemas.openxmlformats.org/officeDocument/2006/relationships/slide" Target="slide21.xml"/><Relationship Id="rId6" Type="http://schemas.openxmlformats.org/officeDocument/2006/relationships/slide" Target="slide22.xml"/><Relationship Id="rId7" Type="http://schemas.openxmlformats.org/officeDocument/2006/relationships/slide" Target="slide23.xml"/><Relationship Id="rId8" Type="http://schemas.openxmlformats.org/officeDocument/2006/relationships/slide" Target="slide24.xml"/><Relationship Id="rId9" Type="http://schemas.openxmlformats.org/officeDocument/2006/relationships/slide" Target="slide25.xml"/><Relationship Id="rId10" Type="http://schemas.openxmlformats.org/officeDocument/2006/relationships/slide" Target="slide26.xml"/><Relationship Id="rId11" Type="http://schemas.openxmlformats.org/officeDocument/2006/relationships/slide" Target="slide27.xml"/><Relationship Id="rId12" Type="http://schemas.openxmlformats.org/officeDocument/2006/relationships/slide" Target="slide28.xml"/><Relationship Id="rId13" Type="http://schemas.openxmlformats.org/officeDocument/2006/relationships/slide" Target="slide29.xml"/><Relationship Id="rId14" Type="http://schemas.openxmlformats.org/officeDocument/2006/relationships/slide" Target="slide30.xml"/><Relationship Id="rId15" Type="http://schemas.openxmlformats.org/officeDocument/2006/relationships/slide" Target="slide31.xml"/><Relationship Id="rId16" Type="http://schemas.openxmlformats.org/officeDocument/2006/relationships/slide" Target="slide16.xml"/><Relationship Id="rId17" Type="http://schemas.openxmlformats.org/officeDocument/2006/relationships/slide" Target="slide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7.xml"/><Relationship Id="rId3" Type="http://schemas.openxmlformats.org/officeDocument/2006/relationships/slide" Target="slide18.xml"/><Relationship Id="rId4" Type="http://schemas.openxmlformats.org/officeDocument/2006/relationships/slide" Target="slide19.xml"/><Relationship Id="rId5" Type="http://schemas.openxmlformats.org/officeDocument/2006/relationships/slide" Target="slide21.xml"/><Relationship Id="rId6" Type="http://schemas.openxmlformats.org/officeDocument/2006/relationships/slide" Target="slide22.xml"/><Relationship Id="rId7" Type="http://schemas.openxmlformats.org/officeDocument/2006/relationships/slide" Target="slide23.xml"/><Relationship Id="rId8" Type="http://schemas.openxmlformats.org/officeDocument/2006/relationships/slide" Target="slide24.xml"/><Relationship Id="rId9" Type="http://schemas.openxmlformats.org/officeDocument/2006/relationships/slide" Target="slide25.xml"/><Relationship Id="rId10" Type="http://schemas.openxmlformats.org/officeDocument/2006/relationships/slide" Target="slide26.xml"/><Relationship Id="rId11" Type="http://schemas.openxmlformats.org/officeDocument/2006/relationships/slide" Target="slide27.xml"/><Relationship Id="rId12" Type="http://schemas.openxmlformats.org/officeDocument/2006/relationships/slide" Target="slide28.xml"/><Relationship Id="rId13" Type="http://schemas.openxmlformats.org/officeDocument/2006/relationships/slide" Target="slide29.xml"/><Relationship Id="rId14" Type="http://schemas.openxmlformats.org/officeDocument/2006/relationships/slide" Target="slide30.xml"/><Relationship Id="rId15" Type="http://schemas.openxmlformats.org/officeDocument/2006/relationships/slide" Target="slide31.xml"/><Relationship Id="rId16" Type="http://schemas.openxmlformats.org/officeDocument/2006/relationships/slide" Target="slide16.xml"/><Relationship Id="rId17" Type="http://schemas.openxmlformats.org/officeDocument/2006/relationships/slide" Target="slide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7.xml"/><Relationship Id="rId3" Type="http://schemas.openxmlformats.org/officeDocument/2006/relationships/slide" Target="slide18.xml"/><Relationship Id="rId4" Type="http://schemas.openxmlformats.org/officeDocument/2006/relationships/slide" Target="slide19.xml"/><Relationship Id="rId5" Type="http://schemas.openxmlformats.org/officeDocument/2006/relationships/slide" Target="slide20.xml"/><Relationship Id="rId6" Type="http://schemas.openxmlformats.org/officeDocument/2006/relationships/slide" Target="slide22.xml"/><Relationship Id="rId7" Type="http://schemas.openxmlformats.org/officeDocument/2006/relationships/slide" Target="slide23.xml"/><Relationship Id="rId8" Type="http://schemas.openxmlformats.org/officeDocument/2006/relationships/slide" Target="slide24.xml"/><Relationship Id="rId9" Type="http://schemas.openxmlformats.org/officeDocument/2006/relationships/slide" Target="slide25.xml"/><Relationship Id="rId10" Type="http://schemas.openxmlformats.org/officeDocument/2006/relationships/slide" Target="slide26.xml"/><Relationship Id="rId11" Type="http://schemas.openxmlformats.org/officeDocument/2006/relationships/slide" Target="slide27.xml"/><Relationship Id="rId12" Type="http://schemas.openxmlformats.org/officeDocument/2006/relationships/slide" Target="slide28.xml"/><Relationship Id="rId13" Type="http://schemas.openxmlformats.org/officeDocument/2006/relationships/slide" Target="slide29.xml"/><Relationship Id="rId14" Type="http://schemas.openxmlformats.org/officeDocument/2006/relationships/slide" Target="slide30.xml"/><Relationship Id="rId15" Type="http://schemas.openxmlformats.org/officeDocument/2006/relationships/slide" Target="slide31.xml"/><Relationship Id="rId16" Type="http://schemas.openxmlformats.org/officeDocument/2006/relationships/slide" Target="slide16.xml"/><Relationship Id="rId17" Type="http://schemas.openxmlformats.org/officeDocument/2006/relationships/slide" Target="slide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7.xml"/><Relationship Id="rId3" Type="http://schemas.openxmlformats.org/officeDocument/2006/relationships/slide" Target="slide18.xml"/><Relationship Id="rId4" Type="http://schemas.openxmlformats.org/officeDocument/2006/relationships/slide" Target="slide19.xml"/><Relationship Id="rId5" Type="http://schemas.openxmlformats.org/officeDocument/2006/relationships/slide" Target="slide20.xml"/><Relationship Id="rId6" Type="http://schemas.openxmlformats.org/officeDocument/2006/relationships/slide" Target="slide21.xml"/><Relationship Id="rId7" Type="http://schemas.openxmlformats.org/officeDocument/2006/relationships/slide" Target="slide23.xml"/><Relationship Id="rId8" Type="http://schemas.openxmlformats.org/officeDocument/2006/relationships/slide" Target="slide24.xml"/><Relationship Id="rId9" Type="http://schemas.openxmlformats.org/officeDocument/2006/relationships/slide" Target="slide25.xml"/><Relationship Id="rId10" Type="http://schemas.openxmlformats.org/officeDocument/2006/relationships/slide" Target="slide26.xml"/><Relationship Id="rId11" Type="http://schemas.openxmlformats.org/officeDocument/2006/relationships/slide" Target="slide27.xml"/><Relationship Id="rId12" Type="http://schemas.openxmlformats.org/officeDocument/2006/relationships/slide" Target="slide28.xml"/><Relationship Id="rId13" Type="http://schemas.openxmlformats.org/officeDocument/2006/relationships/slide" Target="slide29.xml"/><Relationship Id="rId14" Type="http://schemas.openxmlformats.org/officeDocument/2006/relationships/slide" Target="slide30.xml"/><Relationship Id="rId15" Type="http://schemas.openxmlformats.org/officeDocument/2006/relationships/slide" Target="slide31.xml"/><Relationship Id="rId16" Type="http://schemas.openxmlformats.org/officeDocument/2006/relationships/slide" Target="slide16.xml"/><Relationship Id="rId17" Type="http://schemas.openxmlformats.org/officeDocument/2006/relationships/slide" Target="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7.xml"/><Relationship Id="rId3" Type="http://schemas.openxmlformats.org/officeDocument/2006/relationships/slide" Target="slide18.xml"/><Relationship Id="rId4" Type="http://schemas.openxmlformats.org/officeDocument/2006/relationships/slide" Target="slide19.xml"/><Relationship Id="rId5" Type="http://schemas.openxmlformats.org/officeDocument/2006/relationships/slide" Target="slide20.xml"/><Relationship Id="rId6" Type="http://schemas.openxmlformats.org/officeDocument/2006/relationships/slide" Target="slide21.xml"/><Relationship Id="rId7" Type="http://schemas.openxmlformats.org/officeDocument/2006/relationships/slide" Target="slide22.xml"/><Relationship Id="rId8" Type="http://schemas.openxmlformats.org/officeDocument/2006/relationships/slide" Target="slide24.xml"/><Relationship Id="rId9" Type="http://schemas.openxmlformats.org/officeDocument/2006/relationships/slide" Target="slide25.xml"/><Relationship Id="rId10" Type="http://schemas.openxmlformats.org/officeDocument/2006/relationships/slide" Target="slide26.xml"/><Relationship Id="rId11" Type="http://schemas.openxmlformats.org/officeDocument/2006/relationships/slide" Target="slide27.xml"/><Relationship Id="rId12" Type="http://schemas.openxmlformats.org/officeDocument/2006/relationships/slide" Target="slide28.xml"/><Relationship Id="rId13" Type="http://schemas.openxmlformats.org/officeDocument/2006/relationships/slide" Target="slide29.xml"/><Relationship Id="rId14" Type="http://schemas.openxmlformats.org/officeDocument/2006/relationships/slide" Target="slide30.xml"/><Relationship Id="rId15" Type="http://schemas.openxmlformats.org/officeDocument/2006/relationships/slide" Target="slide31.xml"/><Relationship Id="rId16" Type="http://schemas.openxmlformats.org/officeDocument/2006/relationships/slide" Target="slide16.xml"/><Relationship Id="rId17" Type="http://schemas.openxmlformats.org/officeDocument/2006/relationships/slide" Target="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7.xml"/><Relationship Id="rId3" Type="http://schemas.openxmlformats.org/officeDocument/2006/relationships/slide" Target="slide18.xml"/><Relationship Id="rId4" Type="http://schemas.openxmlformats.org/officeDocument/2006/relationships/slide" Target="slide19.xml"/><Relationship Id="rId5" Type="http://schemas.openxmlformats.org/officeDocument/2006/relationships/slide" Target="slide20.xml"/><Relationship Id="rId6" Type="http://schemas.openxmlformats.org/officeDocument/2006/relationships/slide" Target="slide21.xml"/><Relationship Id="rId7" Type="http://schemas.openxmlformats.org/officeDocument/2006/relationships/slide" Target="slide22.xml"/><Relationship Id="rId8" Type="http://schemas.openxmlformats.org/officeDocument/2006/relationships/slide" Target="slide23.xml"/><Relationship Id="rId9" Type="http://schemas.openxmlformats.org/officeDocument/2006/relationships/slide" Target="slide25.xml"/><Relationship Id="rId10" Type="http://schemas.openxmlformats.org/officeDocument/2006/relationships/slide" Target="slide26.xml"/><Relationship Id="rId11" Type="http://schemas.openxmlformats.org/officeDocument/2006/relationships/slide" Target="slide27.xml"/><Relationship Id="rId12" Type="http://schemas.openxmlformats.org/officeDocument/2006/relationships/slide" Target="slide28.xml"/><Relationship Id="rId13" Type="http://schemas.openxmlformats.org/officeDocument/2006/relationships/slide" Target="slide29.xml"/><Relationship Id="rId14" Type="http://schemas.openxmlformats.org/officeDocument/2006/relationships/slide" Target="slide30.xml"/><Relationship Id="rId15" Type="http://schemas.openxmlformats.org/officeDocument/2006/relationships/slide" Target="slide31.xml"/><Relationship Id="rId16" Type="http://schemas.openxmlformats.org/officeDocument/2006/relationships/slide" Target="slide16.xml"/><Relationship Id="rId17" Type="http://schemas.openxmlformats.org/officeDocument/2006/relationships/slide" Target="slide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7.xml"/><Relationship Id="rId3" Type="http://schemas.openxmlformats.org/officeDocument/2006/relationships/slide" Target="slide18.xml"/><Relationship Id="rId4" Type="http://schemas.openxmlformats.org/officeDocument/2006/relationships/slide" Target="slide19.xml"/><Relationship Id="rId5" Type="http://schemas.openxmlformats.org/officeDocument/2006/relationships/slide" Target="slide20.xml"/><Relationship Id="rId6" Type="http://schemas.openxmlformats.org/officeDocument/2006/relationships/slide" Target="slide21.xml"/><Relationship Id="rId7" Type="http://schemas.openxmlformats.org/officeDocument/2006/relationships/slide" Target="slide22.xml"/><Relationship Id="rId8" Type="http://schemas.openxmlformats.org/officeDocument/2006/relationships/slide" Target="slide23.xml"/><Relationship Id="rId9" Type="http://schemas.openxmlformats.org/officeDocument/2006/relationships/slide" Target="slide24.xml"/><Relationship Id="rId10" Type="http://schemas.openxmlformats.org/officeDocument/2006/relationships/slide" Target="slide26.xml"/><Relationship Id="rId11" Type="http://schemas.openxmlformats.org/officeDocument/2006/relationships/slide" Target="slide27.xml"/><Relationship Id="rId12" Type="http://schemas.openxmlformats.org/officeDocument/2006/relationships/slide" Target="slide28.xml"/><Relationship Id="rId13" Type="http://schemas.openxmlformats.org/officeDocument/2006/relationships/slide" Target="slide29.xml"/><Relationship Id="rId14" Type="http://schemas.openxmlformats.org/officeDocument/2006/relationships/slide" Target="slide30.xml"/><Relationship Id="rId15" Type="http://schemas.openxmlformats.org/officeDocument/2006/relationships/slide" Target="slide31.xml"/><Relationship Id="rId16" Type="http://schemas.openxmlformats.org/officeDocument/2006/relationships/slide" Target="slide16.xml"/><Relationship Id="rId17" Type="http://schemas.openxmlformats.org/officeDocument/2006/relationships/slide" Target="slide1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7.xml"/><Relationship Id="rId3" Type="http://schemas.openxmlformats.org/officeDocument/2006/relationships/slide" Target="slide18.xml"/><Relationship Id="rId4" Type="http://schemas.openxmlformats.org/officeDocument/2006/relationships/slide" Target="slide19.xml"/><Relationship Id="rId5" Type="http://schemas.openxmlformats.org/officeDocument/2006/relationships/slide" Target="slide20.xml"/><Relationship Id="rId6" Type="http://schemas.openxmlformats.org/officeDocument/2006/relationships/slide" Target="slide21.xml"/><Relationship Id="rId7" Type="http://schemas.openxmlformats.org/officeDocument/2006/relationships/slide" Target="slide22.xml"/><Relationship Id="rId8" Type="http://schemas.openxmlformats.org/officeDocument/2006/relationships/slide" Target="slide23.xml"/><Relationship Id="rId9" Type="http://schemas.openxmlformats.org/officeDocument/2006/relationships/slide" Target="slide24.xml"/><Relationship Id="rId10" Type="http://schemas.openxmlformats.org/officeDocument/2006/relationships/slide" Target="slide25.xml"/><Relationship Id="rId11" Type="http://schemas.openxmlformats.org/officeDocument/2006/relationships/slide" Target="slide27.xml"/><Relationship Id="rId12" Type="http://schemas.openxmlformats.org/officeDocument/2006/relationships/slide" Target="slide28.xml"/><Relationship Id="rId13" Type="http://schemas.openxmlformats.org/officeDocument/2006/relationships/slide" Target="slide29.xml"/><Relationship Id="rId14" Type="http://schemas.openxmlformats.org/officeDocument/2006/relationships/slide" Target="slide30.xml"/><Relationship Id="rId15" Type="http://schemas.openxmlformats.org/officeDocument/2006/relationships/slide" Target="slide31.xml"/><Relationship Id="rId16" Type="http://schemas.openxmlformats.org/officeDocument/2006/relationships/slide" Target="slide16.xml"/><Relationship Id="rId17" Type="http://schemas.openxmlformats.org/officeDocument/2006/relationships/slide" Target="slide1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7.xml"/><Relationship Id="rId3" Type="http://schemas.openxmlformats.org/officeDocument/2006/relationships/slide" Target="slide18.xml"/><Relationship Id="rId4" Type="http://schemas.openxmlformats.org/officeDocument/2006/relationships/slide" Target="slide19.xml"/><Relationship Id="rId5" Type="http://schemas.openxmlformats.org/officeDocument/2006/relationships/slide" Target="slide20.xml"/><Relationship Id="rId6" Type="http://schemas.openxmlformats.org/officeDocument/2006/relationships/slide" Target="slide21.xml"/><Relationship Id="rId7" Type="http://schemas.openxmlformats.org/officeDocument/2006/relationships/slide" Target="slide22.xml"/><Relationship Id="rId8" Type="http://schemas.openxmlformats.org/officeDocument/2006/relationships/slide" Target="slide23.xml"/><Relationship Id="rId9" Type="http://schemas.openxmlformats.org/officeDocument/2006/relationships/slide" Target="slide24.xml"/><Relationship Id="rId10" Type="http://schemas.openxmlformats.org/officeDocument/2006/relationships/slide" Target="slide25.xml"/><Relationship Id="rId11" Type="http://schemas.openxmlformats.org/officeDocument/2006/relationships/slide" Target="slide26.xml"/><Relationship Id="rId12" Type="http://schemas.openxmlformats.org/officeDocument/2006/relationships/slide" Target="slide28.xml"/><Relationship Id="rId13" Type="http://schemas.openxmlformats.org/officeDocument/2006/relationships/slide" Target="slide29.xml"/><Relationship Id="rId14" Type="http://schemas.openxmlformats.org/officeDocument/2006/relationships/slide" Target="slide30.xml"/><Relationship Id="rId15" Type="http://schemas.openxmlformats.org/officeDocument/2006/relationships/slide" Target="slide31.xml"/><Relationship Id="rId16" Type="http://schemas.openxmlformats.org/officeDocument/2006/relationships/slide" Target="slide16.xml"/><Relationship Id="rId17" Type="http://schemas.openxmlformats.org/officeDocument/2006/relationships/slide" Target="slide1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7.xml"/><Relationship Id="rId3" Type="http://schemas.openxmlformats.org/officeDocument/2006/relationships/slide" Target="slide18.xml"/><Relationship Id="rId4" Type="http://schemas.openxmlformats.org/officeDocument/2006/relationships/slide" Target="slide19.xml"/><Relationship Id="rId5" Type="http://schemas.openxmlformats.org/officeDocument/2006/relationships/slide" Target="slide20.xml"/><Relationship Id="rId6" Type="http://schemas.openxmlformats.org/officeDocument/2006/relationships/slide" Target="slide21.xml"/><Relationship Id="rId7" Type="http://schemas.openxmlformats.org/officeDocument/2006/relationships/slide" Target="slide22.xml"/><Relationship Id="rId8" Type="http://schemas.openxmlformats.org/officeDocument/2006/relationships/slide" Target="slide23.xml"/><Relationship Id="rId9" Type="http://schemas.openxmlformats.org/officeDocument/2006/relationships/slide" Target="slide24.xml"/><Relationship Id="rId10" Type="http://schemas.openxmlformats.org/officeDocument/2006/relationships/slide" Target="slide25.xml"/><Relationship Id="rId11" Type="http://schemas.openxmlformats.org/officeDocument/2006/relationships/slide" Target="slide26.xml"/><Relationship Id="rId12" Type="http://schemas.openxmlformats.org/officeDocument/2006/relationships/slide" Target="slide27.xml"/><Relationship Id="rId13" Type="http://schemas.openxmlformats.org/officeDocument/2006/relationships/slide" Target="slide29.xml"/><Relationship Id="rId14" Type="http://schemas.openxmlformats.org/officeDocument/2006/relationships/slide" Target="slide30.xml"/><Relationship Id="rId15" Type="http://schemas.openxmlformats.org/officeDocument/2006/relationships/slide" Target="slide31.xml"/><Relationship Id="rId16" Type="http://schemas.openxmlformats.org/officeDocument/2006/relationships/slide" Target="slide16.xml"/><Relationship Id="rId17" Type="http://schemas.openxmlformats.org/officeDocument/2006/relationships/slide" Target="slide1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7.xml"/><Relationship Id="rId3" Type="http://schemas.openxmlformats.org/officeDocument/2006/relationships/slide" Target="slide18.xml"/><Relationship Id="rId4" Type="http://schemas.openxmlformats.org/officeDocument/2006/relationships/slide" Target="slide19.xml"/><Relationship Id="rId5" Type="http://schemas.openxmlformats.org/officeDocument/2006/relationships/slide" Target="slide20.xml"/><Relationship Id="rId6" Type="http://schemas.openxmlformats.org/officeDocument/2006/relationships/slide" Target="slide21.xml"/><Relationship Id="rId7" Type="http://schemas.openxmlformats.org/officeDocument/2006/relationships/slide" Target="slide22.xml"/><Relationship Id="rId8" Type="http://schemas.openxmlformats.org/officeDocument/2006/relationships/slide" Target="slide23.xml"/><Relationship Id="rId9" Type="http://schemas.openxmlformats.org/officeDocument/2006/relationships/slide" Target="slide24.xml"/><Relationship Id="rId10" Type="http://schemas.openxmlformats.org/officeDocument/2006/relationships/slide" Target="slide25.xml"/><Relationship Id="rId11" Type="http://schemas.openxmlformats.org/officeDocument/2006/relationships/slide" Target="slide26.xml"/><Relationship Id="rId12" Type="http://schemas.openxmlformats.org/officeDocument/2006/relationships/slide" Target="slide27.xml"/><Relationship Id="rId13" Type="http://schemas.openxmlformats.org/officeDocument/2006/relationships/slide" Target="slide28.xml"/><Relationship Id="rId14" Type="http://schemas.openxmlformats.org/officeDocument/2006/relationships/slide" Target="slide30.xml"/><Relationship Id="rId15" Type="http://schemas.openxmlformats.org/officeDocument/2006/relationships/slide" Target="slide31.xml"/><Relationship Id="rId16" Type="http://schemas.openxmlformats.org/officeDocument/2006/relationships/slide" Target="slide16.xml"/><Relationship Id="rId17" Type="http://schemas.openxmlformats.org/officeDocument/2006/relationships/slide" Target="slide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7.xml"/><Relationship Id="rId3" Type="http://schemas.openxmlformats.org/officeDocument/2006/relationships/slide" Target="slide18.xml"/><Relationship Id="rId4" Type="http://schemas.openxmlformats.org/officeDocument/2006/relationships/slide" Target="slide19.xml"/><Relationship Id="rId5" Type="http://schemas.openxmlformats.org/officeDocument/2006/relationships/slide" Target="slide20.xml"/><Relationship Id="rId6" Type="http://schemas.openxmlformats.org/officeDocument/2006/relationships/slide" Target="slide21.xml"/><Relationship Id="rId7" Type="http://schemas.openxmlformats.org/officeDocument/2006/relationships/slide" Target="slide22.xml"/><Relationship Id="rId8" Type="http://schemas.openxmlformats.org/officeDocument/2006/relationships/slide" Target="slide23.xml"/><Relationship Id="rId9" Type="http://schemas.openxmlformats.org/officeDocument/2006/relationships/slide" Target="slide24.xml"/><Relationship Id="rId10" Type="http://schemas.openxmlformats.org/officeDocument/2006/relationships/slide" Target="slide25.xml"/><Relationship Id="rId11" Type="http://schemas.openxmlformats.org/officeDocument/2006/relationships/slide" Target="slide26.xml"/><Relationship Id="rId12" Type="http://schemas.openxmlformats.org/officeDocument/2006/relationships/slide" Target="slide27.xml"/><Relationship Id="rId13" Type="http://schemas.openxmlformats.org/officeDocument/2006/relationships/slide" Target="slide28.xml"/><Relationship Id="rId14" Type="http://schemas.openxmlformats.org/officeDocument/2006/relationships/slide" Target="slide29.xml"/><Relationship Id="rId15" Type="http://schemas.openxmlformats.org/officeDocument/2006/relationships/slide" Target="slide31.xml"/><Relationship Id="rId16" Type="http://schemas.openxmlformats.org/officeDocument/2006/relationships/slide" Target="slide16.xml"/><Relationship Id="rId17" Type="http://schemas.openxmlformats.org/officeDocument/2006/relationships/slide" Target="slide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7.xml"/><Relationship Id="rId3" Type="http://schemas.openxmlformats.org/officeDocument/2006/relationships/slide" Target="slide18.xml"/><Relationship Id="rId4" Type="http://schemas.openxmlformats.org/officeDocument/2006/relationships/slide" Target="slide19.xml"/><Relationship Id="rId5" Type="http://schemas.openxmlformats.org/officeDocument/2006/relationships/slide" Target="slide20.xml"/><Relationship Id="rId6" Type="http://schemas.openxmlformats.org/officeDocument/2006/relationships/slide" Target="slide21.xml"/><Relationship Id="rId7" Type="http://schemas.openxmlformats.org/officeDocument/2006/relationships/slide" Target="slide22.xml"/><Relationship Id="rId8" Type="http://schemas.openxmlformats.org/officeDocument/2006/relationships/slide" Target="slide23.xml"/><Relationship Id="rId9" Type="http://schemas.openxmlformats.org/officeDocument/2006/relationships/slide" Target="slide24.xml"/><Relationship Id="rId10" Type="http://schemas.openxmlformats.org/officeDocument/2006/relationships/slide" Target="slide25.xml"/><Relationship Id="rId11" Type="http://schemas.openxmlformats.org/officeDocument/2006/relationships/slide" Target="slide26.xml"/><Relationship Id="rId12" Type="http://schemas.openxmlformats.org/officeDocument/2006/relationships/slide" Target="slide27.xml"/><Relationship Id="rId13" Type="http://schemas.openxmlformats.org/officeDocument/2006/relationships/slide" Target="slide28.xml"/><Relationship Id="rId14" Type="http://schemas.openxmlformats.org/officeDocument/2006/relationships/slide" Target="slide29.xml"/><Relationship Id="rId15" Type="http://schemas.openxmlformats.org/officeDocument/2006/relationships/slide" Target="slide30.xml"/><Relationship Id="rId16" Type="http://schemas.openxmlformats.org/officeDocument/2006/relationships/slide" Target="slide16.xml"/><Relationship Id="rId17" Type="http://schemas.openxmlformats.org/officeDocument/2006/relationships/slide" Target="slide15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666666"/>
                </a:solidFill>
                <a:latin typeface="微软雅黑"/>
                <a:ea typeface="微软雅黑"/>
              </a:rPr>
              <a:t>RNP × 科大讯飞 · 技术交流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8638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C00000"/>
                </a:solidFill>
                <a:latin typeface="微软雅黑"/>
                <a:ea typeface="微软雅黑"/>
              </a:rPr>
              <a:t>国家模型、国家 AI 应用与领域模型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1D1D1A"/>
                </a:solidFill>
                <a:latin typeface="微软雅黑"/>
                <a:ea typeface="微软雅黑"/>
              </a:rPr>
              <a:t>讯飞交付什么、双方怎么分工、能力如何转移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786384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里约热内卢 · </a:t>
            </a:r>
            <a:r>
              <a:rPr sz="1300" b="0">
                <a:solidFill>
                  <a:srgbClr val="0070C0"/>
                </a:solidFill>
                <a:latin typeface="微软雅黑"/>
                <a:ea typeface="微软雅黑"/>
              </a:rPr>
              <a:t>待确认：2026 年 9 月 X 日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汇报：科大讯飞 </a:t>
            </a:r>
            <a:r>
              <a:rPr sz="1300" b="0">
                <a:solidFill>
                  <a:srgbClr val="0070C0"/>
                </a:solidFill>
                <a:latin typeface="微软雅黑"/>
                <a:ea typeface="微软雅黑"/>
              </a:rPr>
              <a:t>待确认：主讲人、方案架构师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讨论稿，内容以 SOW、BOQ 与技术方案为准；第 2 页一页看全，附录按需查阅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12080"/>
            <a:ext cx="78638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图例：</a:t>
            </a: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蓝色文字</a:t>
            </a: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 = 待确认，实施前双方共同确定的数字或范围；黑色文字 = 已写入工作范围（SOW）或讯飞技术方案的做法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版式：红底 = 讯飞主导，蓝底 = RNP 主导，灰底 = 双方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1600200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0" y="1600200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1  国家 AI 能力中心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2478024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2478024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2  巴西葡语国家模型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3355848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3355848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3  国家 AI 应用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4233672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4233672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4  领域模型 DLM ×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5111496"/>
            <a:ext cx="2651760" cy="658368"/>
          </a:xfrm>
          <a:prstGeom prst="roundRect">
            <a:avLst>
              <a:gd name="adj" fmla="val 4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5111496"/>
            <a:ext cx="265176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知识转移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一页看全：讯飞交付的四项成果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四项成果都由讯飞交付，其中平台是三项成果的共用工作平台；每项一句话，细节见后面各页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2626614" cy="248716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1  国家 AI 能力中心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训练与应用开发平台</a:t>
            </a:r>
          </a:p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三项成果都在其上完成</a:t>
            </a:r>
          </a:p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未来 RNP 自主使用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611879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3 个中心 + 审核平台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9846" y="1737360"/>
            <a:ext cx="2626614" cy="248716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1014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2  巴西葡语国家模型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1014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文本、语音识别与合成</a:t>
            </a:r>
          </a:p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讯飞先行增强葡语基座</a:t>
            </a:r>
          </a:p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权重交付 RNP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1014" y="3611879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≥290B 参数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2492" y="1737360"/>
            <a:ext cx="2626614" cy="248716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59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3  国家 AI 应用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3659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国民 APP 与运营平台</a:t>
            </a:r>
          </a:p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面向 RNP 批准的用户</a:t>
            </a:r>
          </a:p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讯飞交付，RNP 运营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3659" y="3611879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1,000 路并发问答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05138" y="1737360"/>
            <a:ext cx="2626614" cy="248716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06306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4  领域模型 DLM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6306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3 个行业场景的模型</a:t>
            </a:r>
          </a:p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训练，讯飞指导</a:t>
            </a:r>
          </a:p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权重归 RNP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6306" y="3611879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3 项 × 1 个场景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07408"/>
            <a:ext cx="11274552" cy="56692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425696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333333"/>
                </a:solidFill>
                <a:latin typeface="微软雅黑"/>
                <a:ea typeface="微软雅黑"/>
              </a:rPr>
              <a:t>知识转移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　两个轮次，合计 1216 课时、约 158 个工作日，累计 260 人次　　</a:t>
            </a:r>
            <a:r>
              <a:rPr sz="1200" b="1">
                <a:solidFill>
                  <a:srgbClr val="333333"/>
                </a:solidFill>
                <a:latin typeface="微软雅黑"/>
                <a:ea typeface="微软雅黑"/>
              </a:rPr>
              <a:t>交付后支持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　现场陪伴 12 个月 + 远程支持 60 个月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175504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术语　1) 文本大模型（NLP）处理文字的理解与生成　2) 语音识别（ASR）将语音转为文字　3) 语音合成（TTS）将文字转为语音　4) Token 是模型计量文本的单位，约等于一个词或词的一部分　5) Stage 1 / Stage 2 是两批算力对应的两个建设阶段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国家 AI 能力中心：三项成果的共用平台，也是 RNP 未来的工作平台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A12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三项成果都在这个平台上完成；四个模块各对应 RNP 的一支团队，验收后由 RNP 自主管理，本次逐一演示约 10 分钟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39595" y="1481328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巴西葡语国家模型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31436" y="1481328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国家 AI 应用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23275" y="1481328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领域模型 DLM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83664"/>
            <a:ext cx="11274552" cy="2066543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56816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国家 AI 能力中心（平台）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322576"/>
            <a:ext cx="2553462" cy="14996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14016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1  语料构建中心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2779776"/>
            <a:ext cx="2260854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1) 导入 2) 清洗 3) 去重 4) 标注 5) 质量统计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" y="3383280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RNP 数据团队与葡语专家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40430" y="2322576"/>
            <a:ext cx="2553462" cy="14996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6734" y="2414016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2  模型训练中心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6734" y="2779776"/>
            <a:ext cx="2260854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1) 数据集管理 2) 训练任务 3) 资源配置 4) 评测 5) 发布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6734" y="3383280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RNP 模型工程师；DLM 在此自主训练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5060" y="2322576"/>
            <a:ext cx="2553462" cy="14996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1364" y="2414016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3  AI 应用创新中心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1364" y="2779776"/>
            <a:ext cx="2260854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1) 模型服务与 API 2) 应用配置 3) 运营统计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1364" y="3383280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RNP 应用与运营团队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49690" y="2322576"/>
            <a:ext cx="2553462" cy="14996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5994" y="2414016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4  安全审核平台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5994" y="2779776"/>
            <a:ext cx="2260854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1) 审核策略 2) 敏感词库 3) 风险样例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5994" y="3383280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RNP 审核与合规团队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096512"/>
            <a:ext cx="5500116" cy="1152144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18795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553712"/>
            <a:ext cx="504291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交付平台软件与授权、部署配置、API 说明、验收报告与运维文档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部署平台、接通接口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产品使用培训：6 个主题、每批 12 名运维工程师，见附录 A12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1636" y="4096512"/>
            <a:ext cx="5500116" cy="1152144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0236" y="418795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0236" y="4553712"/>
            <a:ext cx="504291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提供环境和接口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验收后自主管理，四个模块对应四支团队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组织验收并接管日常运营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39496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44068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本次演示的每一步，都是跟岗和实操阶段 RNP 人员要自己完成的操作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巴西葡语国家模型最终能获得什么？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面向巴西语言、知识、价值与本地需求的国家级基础模型能力；权重、模型卡与评测报告交付 RNP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27448" y="1426464"/>
            <a:ext cx="2734056" cy="2596896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27448" y="1810512"/>
            <a:ext cx="273405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巴西葡语国家模型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7448" y="2212848"/>
            <a:ext cx="273405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Brazilian Portuguese LLM</a:t>
            </a:r>
          </a:p>
        </p:txBody>
      </p:sp>
      <p:sp>
        <p:nvSpPr>
          <p:cNvPr id="7" name="Rectangle 6"/>
          <p:cNvSpPr/>
          <p:nvPr/>
        </p:nvSpPr>
        <p:spPr>
          <a:xfrm>
            <a:off x="5276088" y="2578608"/>
            <a:ext cx="1636776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1768" y="2688336"/>
            <a:ext cx="2185416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NLP 总参数 ≥290B</a:t>
            </a:r>
          </a:p>
          <a:p>
            <a:pPr algn="ctr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语音识别、语音合成各 1 个</a:t>
            </a:r>
          </a:p>
          <a:p>
            <a:pPr algn="ctr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本地语料 500 亿 Token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26464"/>
            <a:ext cx="4160520" cy="124358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517904"/>
            <a:ext cx="372160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1  巴葡原生语言能力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1847088"/>
            <a:ext cx="3721608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理解巴西葡语与本地表达</a:t>
            </a:r>
          </a:p>
          <a:p>
            <a:pPr algn="l" marL="201168" indent="-201168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葡语问答、生成与多轮交互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" y="2359152"/>
            <a:ext cx="3721608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395728"/>
            <a:ext cx="372160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自然表达　|　口语理解　|　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区域多样性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779776"/>
            <a:ext cx="4160520" cy="124358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71216"/>
            <a:ext cx="372160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2  巴西本地知识与语境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3200400"/>
            <a:ext cx="3721608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结合巴西本地数据与机构语境</a:t>
            </a:r>
          </a:p>
          <a:p>
            <a:pPr algn="l" marL="201168" indent="-201168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体现文化、社会与语言多样性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3712464"/>
            <a:ext cx="3721608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3749039"/>
            <a:ext cx="372160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本地语料 500 亿 Token　|　文化多样性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71231" y="1426464"/>
            <a:ext cx="4160520" cy="124358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1517904"/>
            <a:ext cx="372160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3  价值与责任对齐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0688" y="1847088"/>
            <a:ext cx="3721608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数据存放巴西境内，权限与审计归 RNP</a:t>
            </a:r>
          </a:p>
          <a:p>
            <a:pPr algn="l" marL="201168" indent="-201168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配合 LGPD 合规；安全与价值观数据 2 万条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90688" y="2359152"/>
            <a:ext cx="3721608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0688" y="2395728"/>
            <a:ext cx="372160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偏见与安全评测　|　公平包容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71231" y="2779776"/>
            <a:ext cx="4160520" cy="124358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90688" y="2871216"/>
            <a:ext cx="372160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4  自主可控的 AI 底座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90688" y="3200400"/>
            <a:ext cx="3721608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减少对外部通用模型的长期依赖</a:t>
            </a:r>
          </a:p>
          <a:p>
            <a:pPr algn="l" marL="201168" indent="-201168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权重交付 RNP，支撑后续 DLM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90688" y="3712464"/>
            <a:ext cx="3721608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90688" y="3749039"/>
            <a:ext cx="372160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权重归 RNP　|　本地部署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224528"/>
            <a:ext cx="11274552" cy="10515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" y="42976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在本项目中的直接价值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626864"/>
            <a:ext cx="3392424" cy="55778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" y="4672584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巴西葡语国家模型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919472"/>
            <a:ext cx="3099816" cy="2103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更懂巴西的语言、知识与需求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4133088" y="480517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398264" y="4626864"/>
            <a:ext cx="3392424" cy="55778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44568" y="4672584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Health / Space / Biodiversity DLM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44568" y="4919472"/>
            <a:ext cx="3099816" cy="2103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RNP 指定的三个领域；基于国家模型或双方确认的基座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7845552" y="480517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110728" y="4626864"/>
            <a:ext cx="3392424" cy="55778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57032" y="4672584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面向巴西的 AI 应用与服务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57032" y="4919472"/>
            <a:ext cx="3099816" cy="2103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支持公共服务与国家优先领域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553212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557784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效果与覆盖范围按双方确认的评测标准与边界确定，不由讯飞单方判定；权重交付后由 RNP 本地部署、自主演进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巴西葡语国家模型：讯飞先行增强基座，RNP 提供本地语料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A3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第 1 步两条线同时进行：讯飞在中国境内先行增强基座，RNP 在巴西建设本地语料；本地语料就绪、算力到位后进入第 2 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2647188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1691640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1  语料与基座准备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2029968"/>
            <a:ext cx="2391156" cy="1362456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05740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67712"/>
            <a:ext cx="2135124" cy="10881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中国境内采集公开葡语语料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自有算力增强基座葡语能力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公开语料一并提交巴西方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" y="3465576"/>
            <a:ext cx="2391156" cy="1362456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349300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703320"/>
            <a:ext cx="2135124" cy="10881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巴西生产语料并取得授权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规模约 500 亿 Token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协调建成前的处理算力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18104" y="26106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32988" y="1645920"/>
            <a:ext cx="2647188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9292" y="1691640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2  模型训练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61004" y="2029968"/>
            <a:ext cx="2391156" cy="1362456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89020" y="205740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9020" y="2267712"/>
            <a:ext cx="2135124" cy="10881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在增强后的基座上继续训练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产出 NLP、ASR、TTS 模型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按批准的技术方案与里程碑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61004" y="3465576"/>
            <a:ext cx="2391156" cy="1362456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89020" y="349300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9020" y="3703320"/>
            <a:ext cx="2135124" cy="10881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按讯飞规范持续供料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配合抽样质检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路线与次数书面确认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993892" y="26106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08776" y="1645920"/>
            <a:ext cx="2647188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1691640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3  评测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36792" y="2029968"/>
            <a:ext cx="2391156" cy="1362456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4808" y="205740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4808" y="2267712"/>
            <a:ext cx="2135124" cy="10881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出具评测报告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覆盖回归、鲁棒性、偏见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安全与文化适配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36792" y="3465576"/>
            <a:ext cx="2391156" cy="1362456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8" y="349300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4808" y="3703320"/>
            <a:ext cx="2135124" cy="10881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共同定测试集与通过规则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葡语与领域专家评审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8869680" y="26106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084564" y="1645920"/>
            <a:ext cx="2647188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0868" y="1691640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4  本地交付与持续优化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12580" y="2029968"/>
            <a:ext cx="2391156" cy="1362456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40596" y="205740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40596" y="2267712"/>
            <a:ext cx="2135124" cy="10881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巴西环境部署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交付权重与模型卡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12 个月内 NLP 升 3 次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语音各升 1 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12580" y="3465576"/>
            <a:ext cx="2391156" cy="1362456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40596" y="349300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40596" y="3703320"/>
            <a:ext cx="2135124" cy="10881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组织验收与发布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按 A2 的上限提供升级语料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21208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25780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基座增强先行，不占用巴西算力，也不必等本地语料齐备才开始；本地语料和算力到位即可进入训练，工期风险更小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国家 AI 应用最终能获得什么？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面向 RNP 批准的授权用户的统一 AI 服务入口；讯飞交付 APP 与数据运营平台，内容、用户与运营由 RNP 负责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81328"/>
            <a:ext cx="3575304" cy="23317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1609344"/>
            <a:ext cx="3099816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1  国民 APP · 面向授权用户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011680"/>
            <a:ext cx="3099816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问答与检索、文档分析与翻译、写作笔记与演示</a:t>
            </a:r>
          </a:p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巴葡语音输入与朗读；手机、电脑与 Web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3410712"/>
            <a:ext cx="3099816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3465576"/>
            <a:ext cx="309981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统一入口　|　多终端　|　巴葡语音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481328"/>
            <a:ext cx="3575304" cy="23317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609344"/>
            <a:ext cx="3099816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2  数据运营平台 · 面向 RNP 管理者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011680"/>
            <a:ext cx="3099816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组织、用户、租户与权限管理；应用注册与发布</a:t>
            </a:r>
          </a:p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使用日志、访问量、活跃用户与反馈统计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44568" y="3410712"/>
            <a:ext cx="3099816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3465576"/>
            <a:ext cx="309981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用户与租户　|　日志　|　运营报表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1481328"/>
            <a:ext cx="3575304" cy="23317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1609344"/>
            <a:ext cx="3099816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3  内置治理 · 面向合规与自主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2011680"/>
            <a:ext cx="3099816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接入内容安全审核平台，在确认的交互环节执行策略</a:t>
            </a:r>
          </a:p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数据与日志在巴西境内；讯飞扫码登录不是本地运行的必需依赖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94192" y="3410712"/>
            <a:ext cx="3099816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3465576"/>
            <a:ext cx="309981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内容审核　|　权限与日志　|　本地运行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041648"/>
            <a:ext cx="11274552" cy="10515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4114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在本项目中的直接价值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443984"/>
            <a:ext cx="3392424" cy="55778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" y="4489704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模型服务与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" y="4736592"/>
            <a:ext cx="3099816" cy="2103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NLP、语音识别与合成、知识问答、内容安全审核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133088" y="462229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98264" y="4443984"/>
            <a:ext cx="3392424" cy="55778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44568" y="4489704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国民 APP 与数据运营平台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4568" y="4736592"/>
            <a:ext cx="3099816" cy="2103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手机、电脑与 Web；问答 1,000 路并发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845552" y="462229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10728" y="4443984"/>
            <a:ext cx="3392424" cy="55778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57032" y="4489704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面向公共服务的使用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7032" y="4736592"/>
            <a:ext cx="3099816" cy="2103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RNP 审批的授权用户，支撑公共服务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486400"/>
            <a:ext cx="11274552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532120"/>
            <a:ext cx="10817352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讯飞不承担用户增长、内容生产、人工审核与业务托管运营；这些由 RNP 的产品、运营与审核团队承接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国家 AI 应用：讯飞交付软件，RNP 负责内容、用户与运营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A13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面向 RNP 批准的授权用户；问答 1,000 路并发，语音识别与合成各 200 路，按服务分别配置并实测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26464"/>
            <a:ext cx="11274552" cy="969264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46304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产品是什么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1481328"/>
            <a:ext cx="197510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手机 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81328"/>
            <a:ext cx="197510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电脑端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79" y="1481328"/>
            <a:ext cx="197510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数据运营平台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2048256"/>
            <a:ext cx="1708404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048256"/>
            <a:ext cx="170840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问答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3075" y="2048256"/>
            <a:ext cx="1708404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3075" y="2048256"/>
            <a:ext cx="170840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检索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1208" y="2048256"/>
            <a:ext cx="1708404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1208" y="2048256"/>
            <a:ext cx="170840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文档分析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9340" y="2048256"/>
            <a:ext cx="1708404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9340" y="2048256"/>
            <a:ext cx="170840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文档翻译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67472" y="2048256"/>
            <a:ext cx="1708404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7472" y="2048256"/>
            <a:ext cx="170840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语音输入与朗读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5604" y="2048256"/>
            <a:ext cx="1708404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5604" y="2048256"/>
            <a:ext cx="170840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笔记与写作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468880"/>
            <a:ext cx="2647188" cy="2834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" y="2514600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1  明确需求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16" y="2852928"/>
            <a:ext cx="2391156" cy="1133856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288036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3090672"/>
            <a:ext cx="2135124" cy="8595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提供标准产品能力清单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说明可配置项与边界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5216" y="4059936"/>
            <a:ext cx="2391156" cy="1133856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408736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4297680"/>
            <a:ext cx="2135124" cy="8595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参与产品定义与功能设计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定用户范围、内容规则与品牌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3118104" y="331927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332988" y="2468880"/>
            <a:ext cx="2647188" cy="2834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9292" y="2514600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2  本地化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61004" y="2852928"/>
            <a:ext cx="2391156" cy="1133856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89020" y="288036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89020" y="3090672"/>
            <a:ext cx="2135124" cy="8595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葡语界面与本地化配置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接入 RNP 品牌与内容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61004" y="4059936"/>
            <a:ext cx="2391156" cy="1133856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89020" y="408736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89020" y="4297680"/>
            <a:ext cx="2135124" cy="8595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提供品牌素材与栏目内容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葡语 PPT 与公文模板待验证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5993892" y="331927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208776" y="2468880"/>
            <a:ext cx="2647188" cy="2834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2514600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3  系统集成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36792" y="2852928"/>
            <a:ext cx="2391156" cy="1133856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64808" y="288036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64808" y="3090672"/>
            <a:ext cx="2135124" cy="8595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完成接口对接与联调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提供开发者文档与示例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36792" y="4059936"/>
            <a:ext cx="2391156" cy="1133856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64808" y="408736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64808" y="4297680"/>
            <a:ext cx="2135124" cy="8595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提供本地接口与账号凭证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落实第三方 API 额度与许可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8869680" y="331927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084564" y="2468880"/>
            <a:ext cx="2647188" cy="2834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30868" y="2514600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4  上线运营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212580" y="2852928"/>
            <a:ext cx="2391156" cy="1133856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40596" y="288036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40596" y="3090672"/>
            <a:ext cx="2135124" cy="8595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Stage 1 初步交付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Stage 2 扩展运行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移交运维文档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212580" y="4059936"/>
            <a:ext cx="2391156" cy="1133856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40596" y="408736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40596" y="4297680"/>
            <a:ext cx="2135124" cy="8595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审批用户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产品、运营与审核团队承接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可在交付版本上自主演进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57200" y="5541264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5800" y="5586983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产品团队在需求阶段即需到位，运营团队在 Stage 1 交付前到位；交付版本可由 RNP 自主演进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领域模型 DLM 最终能获得什么？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RNP 指定三个领域，每项聚焦 1 个边界清晰的固定场景；</a:t>
            </a:r>
            <a:r>
              <a:rPr sz="1400" b="0">
                <a:solidFill>
                  <a:srgbClr val="0070C0"/>
                </a:solidFill>
                <a:latin typeface="微软雅黑"/>
                <a:ea typeface="微软雅黑"/>
              </a:rPr>
              <a:t>场景由 RNP 提出，逐项签署确认书后启动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08176"/>
            <a:ext cx="35753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Health　卫生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06824" y="1408176"/>
            <a:ext cx="35753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Space　航天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56448" y="1408176"/>
            <a:ext cx="35753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Biodiversity　生物多样性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10512"/>
            <a:ext cx="3575304" cy="20116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956816"/>
            <a:ext cx="3099816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>
                <a:solidFill>
                  <a:srgbClr val="1D1D1A"/>
                </a:solidFill>
                <a:latin typeface="微软雅黑"/>
                <a:ea typeface="微软雅黑"/>
              </a:rPr>
              <a:t>1  读懂领域材料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377440"/>
            <a:ext cx="3099816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理解该领域的专业术语与规范</a:t>
            </a:r>
          </a:p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读懂该领域常用的文档结构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" y="3419856"/>
            <a:ext cx="3099816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3474720"/>
            <a:ext cx="309981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专业术语　|　领域规范　|　文档结构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810512"/>
            <a:ext cx="3575304" cy="20116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956816"/>
            <a:ext cx="3099816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>
                <a:solidFill>
                  <a:srgbClr val="1D1D1A"/>
                </a:solidFill>
                <a:latin typeface="微软雅黑"/>
                <a:ea typeface="微软雅黑"/>
              </a:rPr>
              <a:t>2  回答领域问题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377440"/>
            <a:ext cx="3099816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基于领域知识与已接入资料回答</a:t>
            </a:r>
          </a:p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检索、归纳与要点整理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44568" y="3419856"/>
            <a:ext cx="3099816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3474720"/>
            <a:ext cx="309981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知识问答　|　检索　|　要点整理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6448" y="1810512"/>
            <a:ext cx="3575304" cy="20116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1956816"/>
            <a:ext cx="3099816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>
                <a:solidFill>
                  <a:srgbClr val="1D1D1A"/>
                </a:solidFill>
                <a:latin typeface="微软雅黑"/>
                <a:ea typeface="微软雅黑"/>
              </a:rPr>
              <a:t>3  支持领域工作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377440"/>
            <a:ext cx="3099816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围绕约定场景提供分析与辅助判断</a:t>
            </a:r>
          </a:p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材料归纳与报告草拟辅助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94192" y="3419856"/>
            <a:ext cx="3099816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3474720"/>
            <a:ext cx="309981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场景分析　|　辅助判断　|　报告草拟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968496"/>
            <a:ext cx="11274552" cy="10058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404164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在本项目中的直接价值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370832"/>
            <a:ext cx="3392424" cy="5120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" y="4416552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巴西葡语国家模型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" y="4663440"/>
            <a:ext cx="309981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作为基座，或双方确认的其他基座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133088" y="452628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98264" y="4370832"/>
            <a:ext cx="3392424" cy="5120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44568" y="4416552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Health / Space / Biodiversity DLM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4568" y="4663440"/>
            <a:ext cx="309981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RNP 指定的三个领域，各 1 个固定场景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845552" y="452628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110728" y="4370832"/>
            <a:ext cx="3392424" cy="5120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57032" y="4416552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面向公共服务的应用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7032" y="4663440"/>
            <a:ext cx="309981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支撑 RNP 的公共服务与国家优先领域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138928"/>
            <a:ext cx="1127455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可验证成果</a:t>
            </a:r>
            <a:r>
              <a:rPr sz="1100" b="0">
                <a:solidFill>
                  <a:srgbClr val="1D1D1A"/>
                </a:solidFill>
                <a:latin typeface="微软雅黑"/>
                <a:ea typeface="微软雅黑"/>
              </a:rPr>
              <a:t>　DLM 方案　·　指导记录　·　训练与评测分析报告　·　服务验收确认书　·　模型权重归 RNP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522976"/>
            <a:ext cx="11274552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568696"/>
            <a:ext cx="10817352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训练由 RNP 执行、讯飞提供辅助训练技术服务；模型提供分析与辅助判断，不替代专业判断与决策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领域模型 DLM：RNP 训练，讯飞指导；3 项服务，每项 1 个场景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四个步骤都由 RNP 执行、讯飞在旁指导——这与国家模型相反，是 RNP 第一次自己训练模型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08176"/>
            <a:ext cx="11274552" cy="42062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服务范围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463040"/>
            <a:ext cx="949147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3 项行业模型辅助训练服务，每项 1 个边界清晰的固定场景；领域由 RNP 提出、讯飞评估可行性；模型权重由 RNP 训练产生并归 RNP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01952"/>
            <a:ext cx="2647188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947672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1  确定场景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" y="2286000"/>
            <a:ext cx="2391156" cy="1271016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313432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523744"/>
            <a:ext cx="2135124" cy="9966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评估领域可行性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出具技术方案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核实基座版本、规模与许可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" y="3630168"/>
            <a:ext cx="2391156" cy="1271016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657599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867911"/>
            <a:ext cx="2135124" cy="9966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提出领域与场景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明确用户、输入输出和边界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118104" y="2820924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32988" y="1901952"/>
            <a:ext cx="2647188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9292" y="1947672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2  准备数据与路线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61004" y="2286000"/>
            <a:ext cx="2391156" cy="1271016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89020" y="2313432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9020" y="2523744"/>
            <a:ext cx="2135124" cy="9966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给出训练路线建议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LoRA-SFT、SFT、GRPO 等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每项确认 1 条主要路线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61004" y="3630168"/>
            <a:ext cx="2391156" cy="1271016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89020" y="3657599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89020" y="3867911"/>
            <a:ext cx="2135124" cy="9966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提供训练、验证与安全数据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提供独立评测数据与环境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993892" y="2820924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08776" y="1901952"/>
            <a:ext cx="2647188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1947672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3  训练与评测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36792" y="2286000"/>
            <a:ext cx="2391156" cy="1271016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8" y="2313432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808" y="2523744"/>
            <a:ext cx="2135124" cy="9966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按约定工作量提供参数建议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查看训练日志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协助分析问题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36792" y="3630168"/>
            <a:ext cx="2391156" cy="1271016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4808" y="3657599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4808" y="3867911"/>
            <a:ext cx="2135124" cy="9966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在模型训练中心执行训练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完成评测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8869680" y="2820924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084564" y="1901952"/>
            <a:ext cx="2647188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0868" y="1947672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4  服务验收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12580" y="2286000"/>
            <a:ext cx="2391156" cy="1271016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40596" y="2313432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40596" y="2523744"/>
            <a:ext cx="2135124" cy="9966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基于 RNP 的实际结果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完成分析报告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12580" y="3630168"/>
            <a:ext cx="2391156" cy="1271016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40596" y="3657599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40596" y="3867911"/>
            <a:ext cx="2135124" cy="9966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核对指导记录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完成业务验收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120640"/>
            <a:ext cx="1127455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生产部署、API 开发与应用集成不在本服务内，可另行约定。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5449824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5495544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这是 RNP 首次独立训练模型，需要自己的算法工程师和领域专家；跟岗和指导实操正是为此设计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知识转移：RNP 学到什么、获得什么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A11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A10</a:t>
            </a:r>
          </a:p>
        </p:txBody>
      </p:sp>
      <p:sp>
        <p:nvSpPr>
          <p:cNvPr id="5" name="Rounded Rectangle 4">
            <a:hlinkClick action="ppaction://hlinksldjump" r:id="rId4"/>
          </p:cNvPr>
          <p:cNvSpPr/>
          <p:nvPr/>
        </p:nvSpPr>
        <p:spPr>
          <a:xfrm>
            <a:off x="8769096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A9</a:t>
            </a:r>
          </a:p>
        </p:txBody>
      </p:sp>
      <p:sp>
        <p:nvSpPr>
          <p:cNvPr id="6" name="Rounded Rectangle 5">
            <a:hlinkClick action="ppaction://hlinksldjump" r:id="rId5"/>
          </p:cNvPr>
          <p:cNvSpPr/>
          <p:nvPr/>
        </p:nvSpPr>
        <p:spPr>
          <a:xfrm>
            <a:off x="7781544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12 项课程主题归为 4 个方向，讲师是参与本项目交付的讯飞工程师与方案架构师，研讨在交付的平台和模型上进行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37360"/>
            <a:ext cx="6539240" cy="2697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47088"/>
            <a:ext cx="5990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学到什么：三个层次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40280"/>
            <a:ext cx="599060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276856"/>
            <a:ext cx="4344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1  基础课 · 奠基阶段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3360" y="229514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项目内已含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551176"/>
            <a:ext cx="57162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1) 大模型基础 2) 项目架构 3) 语料到服务全流程 4) 安全与运维基础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53512"/>
            <a:ext cx="599060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990088"/>
            <a:ext cx="4344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2  12 门专题课 · 4 个方向的高级研讨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3360" y="3008376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项目内已含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264408"/>
            <a:ext cx="57162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1) 模型与数据评测 2) 软件栈与生命周期 3) 规模化训练与推理 4) 检索、智能体与安全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66744"/>
            <a:ext cx="599060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703320"/>
            <a:ext cx="4344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3  高端知识转移 · 怎么把这套系统做出来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3360" y="3721607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0070C0"/>
                </a:solidFill>
                <a:latin typeface="微软雅黑"/>
                <a:ea typeface="微软雅黑"/>
              </a:rPr>
              <a:t>需另行预算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977639"/>
            <a:ext cx="57162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1) 集群调度 2) 模型训练 3) 语料 4) 推理；另有专家研讨、一对一咨询、中国考察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70760" y="1737360"/>
            <a:ext cx="4460991" cy="2697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5080" y="1847088"/>
            <a:ext cx="3912351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获得什么：权重、平台、文档、支持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5080" y="2286000"/>
            <a:ext cx="3912351" cy="2057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模型权重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，DLM 权重归 RNP</a:t>
            </a:r>
          </a:p>
          <a:p>
            <a:pPr algn="l" marL="201168" indent="-201168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平台软件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和定制代码</a:t>
            </a:r>
          </a:p>
          <a:p>
            <a:pPr algn="l" marL="201168" indent="-201168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全部文档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，英语或葡语</a:t>
            </a:r>
          </a:p>
          <a:p>
            <a:pPr algn="l" marL="201168" indent="-201168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支持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：现场 12 个月 + 远程 60 个月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61772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709159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074920"/>
            <a:ext cx="5042916" cy="4480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按批准的课程计划授课，使用批准的样本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研讨、带教与移交材料；高端课程按需另行安排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1636" y="461772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0236" y="4709159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0236" y="5074920"/>
            <a:ext cx="5042916" cy="4480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指定核心学员，安排参加研讨与实操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按六类岗位的学习任务组织本方人员，见附录 A10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742432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788152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基础课与专题课在项目范围内，不另收费；</a:t>
            </a:r>
            <a:r>
              <a:rPr sz="1250" b="0">
                <a:solidFill>
                  <a:srgbClr val="0070C0"/>
                </a:solidFill>
                <a:latin typeface="微软雅黑"/>
                <a:ea typeface="微软雅黑"/>
              </a:rPr>
              <a:t>高端研修需先完成华为 AI Developer 全部课程并另行预算，见附录 A11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知识转移：两个轮次，合计 1216 课时、约 158 个工作日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A12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四个阶段每轮共 608 课时，实施两个轮次；移交后 RNP 能独立完成　1) 平台运维　2) 训练提交　3) 模型部署　4) 版本发布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2647188" cy="269748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5564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1  奠基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60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4203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每轮 · 约 10 个工作日 · 50 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2281428" cy="1453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大模型基础与项目架构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语料到服务全流程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安全与运维基础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2988" y="1645920"/>
            <a:ext cx="2647188" cy="269748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15868" y="175564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2  跟岗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5868" y="210312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360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5868" y="254203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每轮 · 约 45 个工作日 · 20 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5868" y="2834640"/>
            <a:ext cx="2281428" cy="1453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讯飞操作，RNP 观察协助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覆盖国家模型训练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12 个月内的模型升级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3 项 DLM 训练等真实任务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645920"/>
            <a:ext cx="2647188" cy="26974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1656" y="175564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3  指导实操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210312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20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6" y="254203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每轮 · 约 3 个工作日 · 20 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2834640"/>
            <a:ext cx="2281428" cy="1453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RNP 操作：数据处理、训练提交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模型部署、监控与故障处理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双方签实操记录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84564" y="1645920"/>
            <a:ext cx="2647188" cy="26974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67444" y="175564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4  正式移交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7444" y="210312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168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7444" y="254203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每轮 · 约 21 个工作日 · 40 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7444" y="2834640"/>
            <a:ext cx="2281428" cy="1453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面向 RNP 运维团队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交接生产环境与运维流程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移交资产许可与运行手册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验证独立操作，双方签确认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462272"/>
            <a:ext cx="5500116" cy="102412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55371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919472"/>
            <a:ext cx="5042916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由参与本项目交付的讯飞工程师带教，检查关键步骤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移交材料与独立操作验证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1636" y="4462272"/>
            <a:ext cx="5500116" cy="102412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0236" y="455371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0236" y="4919472"/>
            <a:ext cx="5042916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指定稳定、具备基础的学员，阶段学员可重合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安排时间，参与真实交付任务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596128"/>
            <a:ext cx="11274552" cy="6217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641848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卡片为单轮数字，两轮合计 1216 课时、约 158 个工作日；工作日是培训活动天数，分散在实施期内，不是连续工期。另有面向运维团队的产品使用培训，不计入这里的课时，见附录 A12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实施路径：两个 Stage、五个步骤、三方分工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五个步骤按条件推进　1) 华为出算力　2) 讯飞出软件和模型　3) RNP 出数据和运营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1127455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节点下方为各步骤的完成标志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91640"/>
            <a:ext cx="5774436" cy="2743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Stage 1 · 基础部署、模型建设与 APP 初交付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0155" y="2011680"/>
            <a:ext cx="5774436" cy="274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7315" y="201168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Stage 2 · 第二批算力就绪后扩展运行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1417320" y="2999232"/>
            <a:ext cx="9354311" cy="4572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16152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平台与语料准备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1) 平台验收 2) 语料试批合格</a:t>
            </a:r>
          </a:p>
        </p:txBody>
      </p:sp>
      <p:sp>
        <p:nvSpPr>
          <p:cNvPr id="13" name="Oval 12"/>
          <p:cNvSpPr/>
          <p:nvPr/>
        </p:nvSpPr>
        <p:spPr>
          <a:xfrm>
            <a:off x="3554729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50058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模型训练与评测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50058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1) 文本模型评测通过 2) 语音模型评测通过</a:t>
            </a:r>
          </a:p>
        </p:txBody>
      </p:sp>
      <p:sp>
        <p:nvSpPr>
          <p:cNvPr id="16" name="Oval 15"/>
          <p:cNvSpPr/>
          <p:nvPr/>
        </p:nvSpPr>
        <p:spPr>
          <a:xfrm>
            <a:off x="5893307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8636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应用与 DLM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8636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1) APP Stage 1 交付 2) DLM 确认书签署</a:t>
            </a:r>
          </a:p>
        </p:txBody>
      </p:sp>
      <p:sp>
        <p:nvSpPr>
          <p:cNvPr id="19" name="Oval 18"/>
          <p:cNvSpPr/>
          <p:nvPr/>
        </p:nvSpPr>
        <p:spPr>
          <a:xfrm>
            <a:off x="8231886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7214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验收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7214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分项验收报告签署</a:t>
            </a:r>
          </a:p>
        </p:txBody>
      </p:sp>
      <p:sp>
        <p:nvSpPr>
          <p:cNvPr id="22" name="Oval 21"/>
          <p:cNvSpPr/>
          <p:nvPr/>
        </p:nvSpPr>
        <p:spPr>
          <a:xfrm>
            <a:off x="10570463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65792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移交与支持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65792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1) 移交确认签署 2) 进入陪伴运维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7320" y="4114800"/>
            <a:ext cx="9354311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4178808"/>
            <a:ext cx="9354311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C00000"/>
                </a:solidFill>
                <a:latin typeface="微软雅黑"/>
                <a:ea typeface="微软雅黑"/>
              </a:rPr>
              <a:t>知识转移四阶段贯穿全程；正式移交在陪伴运维结束前至少 3 个月启动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572000"/>
            <a:ext cx="3575304" cy="658368"/>
          </a:xfrm>
          <a:prstGeom prst="roundRect">
            <a:avLst>
              <a:gd name="adj" fmla="val 4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745736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华为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626864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算力、机房、网络与基础环境，由 RNP 协调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4572000"/>
            <a:ext cx="3575304" cy="65836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07992" y="4745736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21224" y="4626864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平台、模型、应用、知识转移与支持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56448" y="4572000"/>
            <a:ext cx="3575304" cy="65836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57616" y="4745736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70848" y="4626864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语料与授权、DLM 训练、验收与日常运营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39496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44068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各步骤月份实施前双方确定，T0 为第一批算力就绪；RNP 据此编制人力计划，三批到位顺序见下页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RNP 的投入：SOW 规定的职责与三批到位的人员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SOW 规定由 RNP 承担　1) 生产葡语语料并取得授权　2) 自主训练和评测 DLM　3) 审批用户并运营 APP　4) 协调华为算力和环境，组织验收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575304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311810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第 1 批 · 第 1 步起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070C0"/>
                </a:solidFill>
                <a:latin typeface="微软雅黑"/>
                <a:ea typeface="微软雅黑"/>
              </a:rPr>
              <a:t>约 53 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52928"/>
            <a:ext cx="3118104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人员：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1) 数据团队 2) 葡语专家 3) 合规审核 4) 项目统筹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19856"/>
            <a:ext cx="3118104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任务：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1) 采集与标注 2) 质检语料 3) 取得授权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69080" y="269748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06824" y="1828800"/>
            <a:ext cx="3575304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1965960"/>
            <a:ext cx="311810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第 2 批 · 第 2 步起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233172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070C0"/>
                </a:solidFill>
                <a:latin typeface="微软雅黑"/>
                <a:ea typeface="微软雅黑"/>
              </a:rPr>
              <a:t>约 25 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852928"/>
            <a:ext cx="3118104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人员：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1) 算法工程师 2) 测试工程师 3) 业务领域专家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3419856"/>
            <a:ext cx="3118104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任务：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1) 参与国家模型训练评测 2) 随后自主训练 DLM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918704" y="269748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56448" y="1828800"/>
            <a:ext cx="3575304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1965960"/>
            <a:ext cx="311810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第 3 批 · 第 3 步起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233172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070C0"/>
                </a:solidFill>
                <a:latin typeface="微软雅黑"/>
                <a:ea typeface="微软雅黑"/>
              </a:rPr>
              <a:t>约 33 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852928"/>
            <a:ext cx="3118104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人员：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1) 应用开发与运营 2) 平台运维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3419856"/>
            <a:ext cx="3118104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任务：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1) 承接 APP 运营 2) 用户审批 3) 平台运维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114800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人数为参考量级，来自讯飞早期估算，各职能峰值可跨活动复用，不是同时在岗人数；最终按 SOW 分工与工作量确认。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709160"/>
            <a:ext cx="11274552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7548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首批组建数据团队与葡语专家，其次配置算法工程师，应用运营团队第三批到位；知识转移的核心学员从三批人员中指定：每轮奠基 50 人、跟岗与实操各 20 人、移交 40 人，共两轮，累计 260 人次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对照 RNP 的 TR：五层要求分别由谁落地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TR 把国家 AI 软件栈的要求分为五组；下表是承包商整体（华为 + 讯飞）的对应关系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517904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666666"/>
                </a:solidFill>
                <a:latin typeface="微软雅黑"/>
                <a:ea typeface="微软雅黑"/>
              </a:rPr>
              <a:t>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15184" y="1517904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666666"/>
                </a:solidFill>
                <a:latin typeface="微软雅黑"/>
                <a:ea typeface="微软雅黑"/>
              </a:rPr>
              <a:t>要求要点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44383" y="1517904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C00000"/>
                </a:solidFill>
                <a:latin typeface="微软雅黑"/>
                <a:ea typeface="微软雅黑"/>
              </a:rPr>
              <a:t>谁负责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07424" y="1517904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F4E79"/>
                </a:solidFill>
                <a:latin typeface="微软雅黑"/>
                <a:ea typeface="微软雅黑"/>
              </a:rPr>
              <a:t>我们的对应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28800"/>
            <a:ext cx="1920240" cy="768096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1828800"/>
            <a:ext cx="164592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一  底层计算软件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80" y="1828800"/>
            <a:ext cx="4937760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15184" y="1883664"/>
            <a:ext cx="4645152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操作系统、固件与驱动；容器与运行环境；算子、数学库与编译工具；训练与推理框架；分布式通信、容错与编排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828800"/>
            <a:ext cx="1371600" cy="768096"/>
          </a:xfrm>
          <a:prstGeom prst="roundRect">
            <a:avLst>
              <a:gd name="adj" fmla="val 4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1828800"/>
            <a:ext cx="137160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华为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828800"/>
            <a:ext cx="2770632" cy="768096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7424" y="1883664"/>
            <a:ext cx="2478024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华为底层软件栈；讯飞平台在其上运行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670048"/>
            <a:ext cx="1920240" cy="768096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2670048"/>
            <a:ext cx="164592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二  数据模型与应用平台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68880" y="2670048"/>
            <a:ext cx="4937760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15184" y="2724912"/>
            <a:ext cx="4645152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语料建设、模型训练、应用创新三个中心；国家模型；国家 AI 应用；模型服务与 API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2670048"/>
            <a:ext cx="1371600" cy="768096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79" y="2670048"/>
            <a:ext cx="137160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2670048"/>
            <a:ext cx="2770632" cy="768096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07424" y="2724912"/>
            <a:ext cx="2478024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第 3–9 页全部内容；附录 A1–A5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511296"/>
            <a:ext cx="1920240" cy="768096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" y="3511296"/>
            <a:ext cx="164592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三  集成与运行保障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68880" y="3511296"/>
            <a:ext cx="4937760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15184" y="3566160"/>
            <a:ext cx="4645152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接入 RNP 账号、安全与监控；第三方模型与工具迁移；基准测试；多租户隔离；故障恢复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79" y="3511296"/>
            <a:ext cx="1371600" cy="768096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79" y="3511296"/>
            <a:ext cx="137160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讯飞 + RNP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61120" y="3511296"/>
            <a:ext cx="2770632" cy="768096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07424" y="3566160"/>
            <a:ext cx="2478024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附录 A1、A4、A6；</a:t>
            </a:r>
            <a:r>
              <a:rPr sz="1000" b="0">
                <a:solidFill>
                  <a:srgbClr val="0070C0"/>
                </a:solidFill>
                <a:latin typeface="微软雅黑"/>
                <a:ea typeface="微软雅黑"/>
              </a:rPr>
              <a:t>接口与迁移范围逐项确认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352544"/>
            <a:ext cx="1920240" cy="768096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" y="4352544"/>
            <a:ext cx="164592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四  研发与人才能力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468880" y="4352544"/>
            <a:ext cx="4937760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15184" y="4407407"/>
            <a:ext cx="4645152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研发合作计划；接口、工具与技术资料；研发技术支持；实践培训与知识转移；成果留存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98079" y="4352544"/>
            <a:ext cx="1371600" cy="768096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79" y="4352544"/>
            <a:ext cx="137160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讯飞 + RNP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61120" y="4352544"/>
            <a:ext cx="2770632" cy="768096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07424" y="4407407"/>
            <a:ext cx="2478024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第 10、11 页；附录 A8–A11、A14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193792"/>
            <a:ext cx="1920240" cy="768096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3504" y="5193792"/>
            <a:ext cx="164592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五  交付与长期自主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468880" y="5193792"/>
            <a:ext cx="4937760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15184" y="5248655"/>
            <a:ext cx="4645152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资产与许可清单；五年维护与技术更新；期末移交；退出与迁移条款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98079" y="5193792"/>
            <a:ext cx="1371600" cy="768096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98079" y="5193792"/>
            <a:ext cx="137160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61120" y="5193792"/>
            <a:ext cx="2770632" cy="768096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07424" y="5248655"/>
            <a:ext cx="2478024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附录 A6；</a:t>
            </a:r>
            <a:r>
              <a:rPr sz="1000" b="0">
                <a:solidFill>
                  <a:srgbClr val="0070C0"/>
                </a:solidFill>
                <a:latin typeface="微软雅黑"/>
                <a:ea typeface="微软雅黑"/>
              </a:rPr>
              <a:t>技术更新与期末移交条款对齐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附录：15 个问题，按 RNP 的顺序讨论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主汇报讲完后从这页开始；每个问题对应一页附录，点击进入，页面右上角可返回本页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附录内容除在“项目”中注明“方案”外，均为已写入工作范围（SOW）的口径；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蓝字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 = 实施前双方共同确定的待确认项。每页底部导航条可在 15 页附录之间直接互跳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1901952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93392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993392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能否提供一页总览？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22576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总览表：四项成果、怎么建、谁来做、关键数字</a:t>
            </a:r>
          </a:p>
        </p:txBody>
      </p:sp>
      <p:sp>
        <p:nvSpPr>
          <p:cNvPr id="9" name="Rounded Rectangle 8">
            <a:hlinkClick action="ppaction://hlinksldjump" r:id="rId3"/>
          </p:cNvPr>
          <p:cNvSpPr/>
          <p:nvPr/>
        </p:nvSpPr>
        <p:spPr>
          <a:xfrm>
            <a:off x="4306824" y="1901952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9704" y="1993392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4064" y="1993392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平台容量多大、如何验收？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2322576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能力中心：容量与验收</a:t>
            </a:r>
          </a:p>
        </p:txBody>
      </p:sp>
      <p:sp>
        <p:nvSpPr>
          <p:cNvPr id="13" name="Rounded Rectangle 12">
            <a:hlinkClick action="ppaction://hlinksldjump" r:id="rId4"/>
          </p:cNvPr>
          <p:cNvSpPr/>
          <p:nvPr/>
        </p:nvSpPr>
        <p:spPr>
          <a:xfrm>
            <a:off x="8156448" y="1901952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1993392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33688" y="1993392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模型多大、之后如何升级？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2322576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国家模型：规格与升级</a:t>
            </a:r>
          </a:p>
        </p:txBody>
      </p:sp>
      <p:sp>
        <p:nvSpPr>
          <p:cNvPr id="17" name="Rounded Rectangle 16">
            <a:hlinkClick action="ppaction://hlinksldjump" r:id="rId5"/>
          </p:cNvPr>
          <p:cNvSpPr/>
          <p:nvPr/>
        </p:nvSpPr>
        <p:spPr>
          <a:xfrm>
            <a:off x="457200" y="2798064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4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2889504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语料需要多少、谁提供、存放在哪？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218688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语料：规模、质量与数据控制</a:t>
            </a:r>
          </a:p>
        </p:txBody>
      </p:sp>
      <p:sp>
        <p:nvSpPr>
          <p:cNvPr id="21" name="Rounded Rectangle 20">
            <a:hlinkClick action="ppaction://hlinksldjump" r:id="rId6"/>
          </p:cNvPr>
          <p:cNvSpPr/>
          <p:nvPr/>
        </p:nvSpPr>
        <p:spPr>
          <a:xfrm>
            <a:off x="4306824" y="2798064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2889504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4064" y="2889504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APP 有哪些功能、边界在哪？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9704" y="3218688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国家 AI 应用：功能清单与边界</a:t>
            </a:r>
          </a:p>
        </p:txBody>
      </p:sp>
      <p:sp>
        <p:nvSpPr>
          <p:cNvPr id="25" name="Rounded Rectangle 24">
            <a:hlinkClick action="ppaction://hlinksldjump" r:id="rId7"/>
          </p:cNvPr>
          <p:cNvSpPr/>
          <p:nvPr/>
        </p:nvSpPr>
        <p:spPr>
          <a:xfrm>
            <a:off x="8156448" y="2798064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7" y="2889504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3688" y="2889504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DLM 由谁做、做到哪一步？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7" y="3218688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DLM：范围、投入与服务验收</a:t>
            </a:r>
          </a:p>
        </p:txBody>
      </p:sp>
      <p:sp>
        <p:nvSpPr>
          <p:cNvPr id="29" name="Rounded Rectangle 28">
            <a:hlinkClick action="ppaction://hlinksldjump" r:id="rId8"/>
          </p:cNvPr>
          <p:cNvSpPr/>
          <p:nvPr/>
        </p:nvSpPr>
        <p:spPr>
          <a:xfrm>
            <a:off x="457200" y="3694176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785615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3785615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是否会被锁定、后续有哪些费用？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114800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交接、许可与运营支持</a:t>
            </a:r>
          </a:p>
        </p:txBody>
      </p:sp>
      <p:sp>
        <p:nvSpPr>
          <p:cNvPr id="33" name="Rounded Rectangle 32">
            <a:hlinkClick action="ppaction://hlinksldjump" r:id="rId9"/>
          </p:cNvPr>
          <p:cNvSpPr/>
          <p:nvPr/>
        </p:nvSpPr>
        <p:spPr>
          <a:xfrm>
            <a:off x="4306824" y="3694176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9704" y="3785615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84064" y="3785615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每类人员多少、何时到位？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9704" y="4114800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人员配置明细</a:t>
            </a:r>
          </a:p>
        </p:txBody>
      </p:sp>
      <p:sp>
        <p:nvSpPr>
          <p:cNvPr id="37" name="Rounded Rectangle 36">
            <a:hlinkClick action="ppaction://hlinksldjump" r:id="rId10"/>
          </p:cNvPr>
          <p:cNvSpPr/>
          <p:nvPr/>
        </p:nvSpPr>
        <p:spPr>
          <a:xfrm>
            <a:off x="8156448" y="3694176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3785615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33688" y="3785615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每个阶段做什么、多少天、如何签认？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9327" y="4114800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知识转移：四阶段明细</a:t>
            </a:r>
          </a:p>
        </p:txBody>
      </p:sp>
      <p:sp>
        <p:nvSpPr>
          <p:cNvPr id="41" name="Rounded Rectangle 40">
            <a:hlinkClick action="ppaction://hlinksldjump" r:id="rId11"/>
          </p:cNvPr>
          <p:cNvSpPr/>
          <p:nvPr/>
        </p:nvSpPr>
        <p:spPr>
          <a:xfrm>
            <a:off x="457200" y="4590288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681727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4440" y="4681727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具体学什么、有哪些形式？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010912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知识转移：课程主题与交流形式</a:t>
            </a:r>
          </a:p>
        </p:txBody>
      </p:sp>
      <p:sp>
        <p:nvSpPr>
          <p:cNvPr id="45" name="Rounded Rectangle 44">
            <a:hlinkClick action="ppaction://hlinksldjump" r:id="rId12"/>
          </p:cNvPr>
          <p:cNvSpPr/>
          <p:nvPr/>
        </p:nvSpPr>
        <p:spPr>
          <a:xfrm>
            <a:off x="4306824" y="4590288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89704" y="4681727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84064" y="4681727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每类岗位学什么？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89704" y="5010912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知识转移：岗位学习路径</a:t>
            </a:r>
          </a:p>
        </p:txBody>
      </p:sp>
      <p:sp>
        <p:nvSpPr>
          <p:cNvPr id="49" name="Rounded Rectangle 48">
            <a:hlinkClick action="ppaction://hlinksldjump" r:id="rId13"/>
          </p:cNvPr>
          <p:cNvSpPr/>
          <p:nvPr/>
        </p:nvSpPr>
        <p:spPr>
          <a:xfrm>
            <a:off x="8156448" y="4590288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39327" y="4681727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33688" y="4681727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能否学到这套系统是怎么做出来的？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39327" y="5010912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高端知识转移：可选菜单</a:t>
            </a:r>
          </a:p>
        </p:txBody>
      </p:sp>
      <p:sp>
        <p:nvSpPr>
          <p:cNvPr id="53" name="Rounded Rectangle 52">
            <a:hlinkClick action="ppaction://hlinksldjump" r:id="rId14"/>
          </p:cNvPr>
          <p:cNvSpPr/>
          <p:nvPr/>
        </p:nvSpPr>
        <p:spPr>
          <a:xfrm>
            <a:off x="457200" y="5486400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557784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34440" y="557784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平台交付后运维从哪里上手？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5907024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产品使用培训：主题、天数与人数</a:t>
            </a:r>
          </a:p>
        </p:txBody>
      </p:sp>
      <p:sp>
        <p:nvSpPr>
          <p:cNvPr id="57" name="Rounded Rectangle 56">
            <a:hlinkClick action="ppaction://hlinksldjump" r:id="rId15"/>
          </p:cNvPr>
          <p:cNvSpPr/>
          <p:nvPr/>
        </p:nvSpPr>
        <p:spPr>
          <a:xfrm>
            <a:off x="4306824" y="5486400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89704" y="557784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84064" y="557784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APP 交付什么、怎么验收？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89704" y="5907024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国家 AI 应用：交付物与验收</a:t>
            </a:r>
          </a:p>
        </p:txBody>
      </p:sp>
      <p:sp>
        <p:nvSpPr>
          <p:cNvPr id="61" name="Rounded Rectangle 60">
            <a:hlinkClick action="ppaction://hlinksldjump" r:id="rId16"/>
          </p:cNvPr>
          <p:cNvSpPr/>
          <p:nvPr/>
        </p:nvSpPr>
        <p:spPr>
          <a:xfrm>
            <a:off x="8156448" y="5486400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39327" y="557784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33688" y="557784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TR 的研发支持要求怎么响应？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39327" y="5907024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支持巴西自主研发：要求对照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A0 · 总览表：四项成果与关键数字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问：能否提供一页总览？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2 页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932688"/>
          <a:ext cx="11274552" cy="34930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00200"/>
                <a:gridCol w="3246120"/>
                <a:gridCol w="2148840"/>
                <a:gridCol w="2286000"/>
                <a:gridCol w="1993392"/>
              </a:tblGrid>
              <a:tr h="384048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成果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RNP 获得什么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讯飞负责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RNP 负责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关键数字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国家 AI 能力中心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（平台）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语料构建、模型训练、应用创新三个中心和一个安全审核平台；三项成果都在其上完成，未来由 RNP 自主使用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软件实施、测试与培训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基础环境、接口协调，验收后日常运营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个中心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 个安全审核平台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巴西葡语国家模型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 个 NLP 基础模型、1 个 ASR 模型、1 个 TTS 模型（男/女各 1 套发音人）；交付权重、模型卡、评测报告与部署说明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训练、技术评测与交付；交付后 12 个月持续优化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语料生产与授权、专家评审、验收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总参数 ≥290B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本地语料 50B Token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国家 AI 应用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国民 APP 多终端软件与数据运营平台，面向 RNP 批准的授权用户；问答、检索、文档、语音与写作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应用交付、接口联调、平台配置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内容、品牌、接口；用户审批与日常运营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ASR / TTS 各 200 路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安全审核 400 路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领域模型 DLM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项辅助训练服务，每项 1 个固定场景；模型由 RNP 训练，权重归 RNP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方案、过程指导、结果分析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数据、环境、执行训练与评测、业务验收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项服务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每项 1 个场景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457200" y="4535424"/>
            <a:ext cx="11274552" cy="47548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17720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知识转移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4590288"/>
            <a:ext cx="94914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每轮 608 课时、约 79 个工作日：奠基 60、跟岗 360、指导实操 20、正式移交 168 课时，每轮学员 50 / 20 / 20 / 40 人；实施两个轮次，合计 1216 课时、约 158 个工作日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120640"/>
            <a:ext cx="11274552" cy="47548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202936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交付后支持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5175503"/>
            <a:ext cx="94914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现场陪伴运维 12 个月（5×8）+ 远程技术支持 60 个月（7×24），首 12 个月重合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650992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范围以 SOW 与 BOQ 为准；容量按服务分别验证。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 · 国家 AI 能力中心：容量与验收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问：平台容量多大、如何验收？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3 页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1051560"/>
          <a:ext cx="11274552" cy="37673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软件组成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语料构建、模型训练、应用创新三个中心及安全审核平台；配套租户、资源、队列和监控管理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资源纳管授权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平台可纳管的加速卡授权上限 1,024 张；硬件数量以华为资源方案为准，扩容按 BOQ 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推理服务并发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路、ASR 200 路、TTS 200 路、安全审核 400 路；按服务分别配置与实测，不相加为总并发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容量测试条件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实施前确认硬件、模型版本、输入 / 输出长度、音频时长、请求分布、测试工具与通过规则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网络安全产品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 台堡垒机、1 台日志审计、1 台数据库审计、1 台漏洞扫描、2 台 WAF 及对应授权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验收方式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核对 BOQ 与授权；验证部署、功能、容量、安全与许可；提交测试记录并整改阻断问题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57200" y="493776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并发是按服务配置并实测的授权容量基线，不是同时峰值；1,024 张是平台纳管授权上限，不是本期硬件数量。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A2 · 巴西葡语国家模型：规格与升级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问：模型多大、之后如何升级？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5 页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1051560"/>
          <a:ext cx="11274552" cy="4389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模型规模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 个，总参数 ≥290B；ASR 1 个，亿级参数；TTS 1 个，男 / 女各 1 套发音人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基座与权利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交付基础模型实际权重及本地运行配套产物；基础权重与训练后权重分别标识，开放对象按资产与许可矩阵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基座通用葡语增强（方案）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与本地语料生产并行：讯飞在中国境内投入自有算力，采集公开葡语语料并继续训练基础模型，提升其通用葡语能力，作为国家模型训练的起点；不占用巴西侧算力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基座名称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待确认：SOW 是否指明基座为讯飞星火基础模型；未指明则按“讯飞基础模型”表述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建设期训练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按批准的模型技术方案执行；技术路线、次数、初始交付时间与里程碑实施前书面确认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持续优化期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NLP、ASR、TTS 与安全审核平台全部初验后连续 12 个月；正式升级 NLP 3 次、ASR 1 次、TTS 1 次、安全平台 1 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优化数据上限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 个月累计：NLP 文本 ≤10B Token、监督 ≤2 万条、安全对齐 ≤5 千条、ASR ≤1 千小时、TTS ≤10 小时；安全样例、词库、快修另有上限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导出与移植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按已验证的模型、格式、框架与目标环境实施；受模型架构、算子和许可限制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57200" y="5504688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效果升级以 12 个月内约定次数为限，NLP 每次最多 3 项主要优化目标；建设期版本和缺陷整改不计入次数。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A3 · 巴西葡语语料：规模、质量与数据控制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问：语料需要多少、谁提供、存放在哪？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5 页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内容（规模为最低参考量）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无监督文本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50B Token，按批准 Tokenizer 统计有效数据，去重并剔除不合格内容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监督与安全数据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监督调优 20 万条；安全与价值观 2 万条，按完整有效样本计量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语音数据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ASR 1 万小时有效音频（含合格转写）；TTS 10 万条及不少于 100 小时高质量录音，配套发音词典与样本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分工与前置算力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组织数据取得、授权和全量生产；讯飞提供平台、规范、试批指导及抽样质检。</a:t>
                      </a: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数据中心建成前用于语料采集与处理的算力，由 RNP 在巴西本地协调提供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质量规则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批量生产前确认计量、抽样、质量阈值、批次与复验规则；不合格数据不计入有效规模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数据控制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项目数据存储于 RNP 指定的巴西环境，按权限与审计管理；数据权利与使用范围遵循原始许可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讯飞公开语料投入（方案）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讯飞在中国境内投入自有算力，采集并处理公开葡语语料，用于增强基础模型的通用葡语能力；该批公开语料一并提交巴西方。</a:t>
                      </a: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规模与提交方式实施前确认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语料验收按有效数据定义与批准方案计量；模型效果按 A2 的评测规则另行验证。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A4 · 国家 AI 应用：功能清单与边界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问：APP 有哪些功能、边界在哪？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7 页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932688"/>
          <a:ext cx="11274552" cy="48920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4983480"/>
                <a:gridCol w="414223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功能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包含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不含或限制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对话与问答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统一对话入口：文本输入、答案展示、重新生成、反馈与历史会话；通用问答与基于已接入知识库的问答，可显示来源引用；同一会话内多轮追问与历史续聊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不保证回答所有问题或全部答案正确；行业专用对话机器人的定制开发不含；上下文受模型 Token 上限与会话策略限制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检索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在已接入的知识库、应用与授权文档内检索；可展示网络检索结果并跳转来源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未接入系统、全部本地文件或任意互联网内容的检索不含；网络检索依赖外部服务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文档分析与翻译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附件解析与文档问答、摘要、提纲与要点提取；</a:t>
                      </a:r>
                      <a:r>
                        <a:rPr sz="95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对成功解析的文档文本提供翻译辅助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限于产品支持并成功解析的格式；超长文档整篇翻译、复杂版式保留、扫描件完整识别与专业译审不承诺；</a:t>
                      </a:r>
                      <a:r>
                        <a:rPr sz="95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独立语音翻译不含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写作与演示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AI 写作、AI 笔记与 AI 演示创作，支持辅助生成、编辑、模板使用与导出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葡语演示生成与本地公文模板需适配验证后纳入</a:t>
                      </a: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；专业设计制作与任意格式无损转换不含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三个使用方向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学习：问答与文档摘要；办公：笔记、写作、文档处理与应用快捷入口；生活：日常信息查询结合已接入的网络检索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独立教学系统、课程体系与考试评分不含；OA 审批与业务系统自动化不含；预订、支付与生活服务对接不含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巴葡语音与多终端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接入本项目 ASR / TTS，提供语音输入与朗读；Web 端及本项目交付范围内的客户端，按指定浏览器与操作系统版本验证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音频规格、时长、并发与发音人限于已交付语音服务范围；多终端不等于覆盖全部设备与操作系统，最终范围以 BOQ 为准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认证与用户管理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平台账号密码登录，支持经产品验证方式的外部认证；组织、用户、租户、角色与菜单功能权限管理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讯飞扫码登录不是巴西本地运行的必需依赖</a:t>
                      </a: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；MFA 与任意身份系统适配默认不含；外部组织同步依赖已验证接口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内容审核与安全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接入本项目内容安全审核平台，在确认的文本交互环节识别风险并执行策略；账号认证、角色授权、租户访问控制与日志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星火云不替代独立的内容安全审核平台</a:t>
                      </a: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；图片、音频、视频审核默认不含，不保证识别全部风险；不等同于完整网络安全体系或安全运营中心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日志与运营报表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产品实际记录的操作、客户端与服务日志查询与导出；访问量、活跃用户、使用趋势、收藏与反馈统计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不承诺记录每一项业务活动；日志字段、留存期与容量在部署配置时确定；未接入系统统计、定制 BI 与计费结算不含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A5 · 领域模型 DLM：范围、投入与服务验收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问：DLM 由谁做、做到哪一步？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9 页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数量与范围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 DLM 辅助训练技术服务；每项 1 个边界清晰的固定场景，领域由 RNP 提出、讯飞评估可行性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基础模型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双方确认的既有基座；版本、规模、许可与工具链先核实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数据要求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提供合法、足量、有代表性的训练、验证、安全及独立评测数据；规模按专项方案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训练路线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每项确认 1 条主要路线，LoRA-SFT、SFT、GRPO 等按可行性选定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实施模式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执行训练与评测；讯飞按约定工作量提供指导、分析与优化建议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权利与边界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模型权重由 RNP 训练产生并归 RNP；讯飞交付方案、指导记录与分析报告；生产部署、API 开发与应用集成可另行约定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启动确认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逐项签署《DLM 场景及技术方案确认书》，明确周期、工作量、交付形式与通过规则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服务验收核对方案、指导活动和基于 RNP 实际结果的分析；模型效果目标与讯飞服务验收分开。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A6 · 交接、许可与运营支持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问：是否会被锁定、后续有哪些费用？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10 页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模型权利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基础权重、训练后权重及 DLM 产物分别列明交付与许可；权重交付不含背景知识产权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平台与定制代码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平台软件按 BOQ 与许可使用；定制开发部分按清单交付源码与修改权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永久使用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标注永久使用的版本付清后永久有效，服务期结束不失效；维护、支持与升级按各自服务约定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导出与第三方适配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按许可与技术可行性导出迁移，格式、框架与目标环境逐项确认；BOQ 列明 2 项第三方模型推理适配服务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现场与远程支持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现场陪伴运维 12 个月（5×8）；远程技术支持 60 个月（7×24，L3/L4）；首 12 个月重合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首次响应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P1 ≤30 分钟；P2 ≤60 分钟；P3 ≤2 小时；P4 ≤下 1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后续费用与文档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已列支持按 BOQ 执行；扩容、续期、第三方许可与范围外工作按明确条件另行确认；文档采用英语或巴西葡语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响应时间是首次响应，不是恢复时限；远程支持后四年不含固定驻场。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A7 · RNP 人员配置明细：分三批到位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问：每类人员多少、何时到位？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13 页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1051560"/>
          <a:ext cx="11274552" cy="373075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920240"/>
                <a:gridCol w="3291840"/>
                <a:gridCol w="2651760"/>
                <a:gridCol w="1828800"/>
                <a:gridCol w="15819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角色分组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职能构成（参考名额）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主要职责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到位批次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参考名额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项目与产品统筹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项目经理 2、产品经理 4、PMO / 数据中心专家 3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统筹需求、排期、资源和交付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语料生产与数据资源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资源技术 6、数据质检 6、数据标注 20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组织数据、标注及质量检查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32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葡语语言专家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语言专家 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确认葡语质量、标注及语音规范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合规与审核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审核专家 2、法律专家 2、审核负责人 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审核内容、安全及法律合规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业务与领域专家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业务需求 3、领域需求 2、领域专家 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确认业务场景与领域效果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2 批 · 第 2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模型与测试工程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算法工程师 12、测试工程师 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模型训练、评测及技术验证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2 批 · 第 2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18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应用开发与运营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软件开发 15、运营工程师 10、架构师 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应用架构、开发集成及运营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3 批 · 第 3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27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平台运维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O&amp;M 工程师 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运行管理、部署及问题升级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3 批 · 第 3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57200" y="493776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三批小计：第 1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53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、第 2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25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、第 3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33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，合计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111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 为各职能峰值之和，可跨活动复用，不是同时在岗人数。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参考名额来自讯飞早期按全流程交付模式的非约束估算；本 SOW 下 RNP 承担全量数据生产、DLM 训练与日常运营，人数按实际分工复核。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A8 · 知识转移：四阶段明细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问：每个阶段做什么、多少天、如何签认？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9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11 页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1051560"/>
          <a:ext cx="11274552" cy="37490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25880"/>
                <a:gridCol w="3703320"/>
                <a:gridCol w="1371600"/>
                <a:gridCol w="1691640"/>
                <a:gridCol w="1143000"/>
                <a:gridCol w="20391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学习目标与范围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讯飞与 RNP 角色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每轮课时 / 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每轮学员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完成依据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奠基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（AI 基础）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建立对机器学习、深度学习、自然语言处理和大模型的共同理解；覆盖语料准备、训练、评测、模型服务、应用创新、能力中心架构与运维基础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讯飞授课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60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10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达到阶段要求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≥80%）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跟岗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（讯飞操作）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在交付平台上观察并协助讯飞工程师完成数据集管理、训练任务、资源配置、模型评测、发布、服务与基础运维；内容跟随实际交付与运营任务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观察协助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360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45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通过实操考核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≥70%）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指导实操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（RNP 操作）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执行预先约定的任务：平台操作、数据处理、训练任务提交、模型部署、监控、告警与故障分级；讯飞指导并检查关键步骤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讯飞指导检查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3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双方签署实操记录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≥50% 达标）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正式移交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（运营责任）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 SOW、BOQ 和最终验收清单实际交付的平台、许可资产、配置、权限和文档进行移交带教；验证 RNP 独立完成约定任务；确认遗留项与支持安排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独立操作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168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21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40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双方签署移交确认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课时跨主题只计一次；实施两个轮次，学员分批参加；阶段日期按批准的知识转移计划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每轮 608 课时 / 约 79 工作日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两轮 1216 课时 / 约 158 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每轮 50/20/20/40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两轮累计 260 人次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57200" y="5074920"/>
            <a:ext cx="1127455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表中课时与人数为单轮口径，实施两个轮次；工作日是培训活动天数之和，不是连续工期；百分比是合格核心学员的培养目标，不是验收阈值；正式移交至少在一年陪伴运维结束前 3 个月启动，不等于 168 课时从该时点开始。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两轮学员分批参加，各阶段不要求为同一批人；260 为两轮累计人次，同一人参加多个阶段分别计入，不是 260 名不同学员；正式移交面向运维团队，人数相应放宽；口径：SOW 与批准的知识转移计划。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A9 · 知识转移：课程主题与交流形式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问：具体学什么、有哪些形式？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9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10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10 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932688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四个方向 · 12 项 SOW 课程主题的分组，不增加课时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03504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模型与数据评测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模型架构与训练路线：继续预训练、SFT、LoRA、偏好对齐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葡语数据：来源、质量、血缘、隐私与生命周期治理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评测：回归、鲁棒性、偏见、安全、幻觉与文化适配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目标：比较训练路线、检查数据质量、按约定基线评测模型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32988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479292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5052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软件栈与生命周期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9292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软件层次与依赖；版本与兼容管理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MLOps / LLMOps：实验跟踪、发布、监控与回滚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软硬件与算法协同：负载与资源瓶颈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9292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目标：理解依赖关系、生命周期运维和交付平台的能力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08776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55080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规模化训练与推理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资源配置与检查点恢复；数据、张量、流水线与序列并行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模型服务、批处理、KV 缓存；吞吐、时延与容量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量化、剪枝、蒸馏；压缩与能效分析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目标：定位瓶颈，在效果、时延、吞吐与资源成本间权衡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84564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230868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96628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检索、智能体与安全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0868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RAG 与图检索；混合检索与重排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智能体：工具、规划、记忆与多智能体协作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系统与模型安全：提示词、内容审核、供应链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0868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目标：设计带来源核验和风险控制的知识服务与研究助手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56616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四种交流形式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高级 AI 研讨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098548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1D1D1A"/>
                </a:solidFill>
                <a:latin typeface="微软雅黑"/>
                <a:ea typeface="微软雅黑"/>
              </a:rPr>
              <a:t>项目内已含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按批准的课程计划，在交付平台和模型上进行；内容与深度随课程计划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332988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79292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中国 AI 考察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974336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见附录 A11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79292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访问讯飞团队与算力设施；华为方案已含 6 天中国行（100 人），此处为讯飞技术交流形式，避免重复安排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08776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55080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一对一专家咨询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850124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见附录 A11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55080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针对 RNP 工程师提出的问题做设计评审；范围与时长事先约定，不含长期顾问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084564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30868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AI 战略圆桌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725912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建议增加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30868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RNP 领导与讯飞架构师讨论模型路线、技术选型与能力规划；参与人与时间事先约定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5212080"/>
            <a:ext cx="11274552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方向与主题对应：方向 1 = SOW 主题 1、7、8；方向 2 = 2、10、11；方向 3 = 3、4、9；方向 4 = 5、6、12。讲授方法不等于所有交付模型都支持该方法，也不包含新增优化任务；口径：SOW。交流形式中只有高级 AI 研讨在项目范围内，其余三项另行约定。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A10 · 知识转移：岗位学习路径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问：每类岗位学什么？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9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10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1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10 页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1051560"/>
          <a:ext cx="11274552" cy="35478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45920"/>
                <a:gridCol w="1417320"/>
                <a:gridCol w="3108960"/>
                <a:gridCol w="3108960"/>
                <a:gridCol w="19933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角色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培训阶段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参与任务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讯飞支持方式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完成依据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语料采集团队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奠基、跟岗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熟悉数据来源、授权、规范及平台处理流程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教材、工具说明、代表性样例与处理指导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课程、跟岗及问题记录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语言与标注专家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奠基、跟岗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理解标注、语言质量、安全标签及语音规范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规范讲解、样例分析、质量检查方法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约定练习及规则确认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模型工程师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提交训练任务、查看日志与评测，理解模型发布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任务配置、日志分析、评测及发布指导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约定实操结果与指导记录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应用人员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掌握应用配置、用户权限、接口调用与运营统计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应用平台、API 及运营功能使用指导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约定功能及调用演练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运维工程师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指导实操、移交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承接监控、事件、变更、常见故障与支持升级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运行资料、代表性操作与自主验证带教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自主操作及移交确认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行业专家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理解场景、数据及模型效果评估方法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评测方法、报告解读及内容边界说明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参与记录和约定评测练习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57200" y="4754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待确认：四阶段与实施五个步骤的对应关系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；岗位分配和练习由批准的知识转移计划明确；专项 DLM 指导与实施培训不重复计入。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A11 · 高端知识转移：可选菜单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问：能否学到这套系统是怎么做出来的？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9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10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1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2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10 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896112"/>
            <a:ext cx="11274552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项目内的基线支持是文档开放与技术问题解答；以下为可选的主动式高端转移，面向 RNP 核心研发人员与高校课题组，内容可从架构与原理讲到工程经验与源码实践。</a:t>
            </a:r>
            <a:r>
              <a:rPr sz="1050" b="1">
                <a:solidFill>
                  <a:srgbClr val="666666"/>
                </a:solidFill>
                <a:latin typeface="微软雅黑"/>
                <a:ea typeface="微软雅黑"/>
              </a:rPr>
              <a:t>准入</a:t>
            </a: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：需先完成华为 AI Developer 全部课程　</a:t>
            </a:r>
            <a:r>
              <a:rPr sz="1050" b="1">
                <a:solidFill>
                  <a:srgbClr val="666666"/>
                </a:solidFill>
                <a:latin typeface="微软雅黑"/>
                <a:ea typeface="微软雅黑"/>
              </a:rPr>
              <a:t>预算</a:t>
            </a: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：不在本项目范围与报价内，需另行预算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481328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四个方向 · 每个方向约 5 课时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1  千 P 以上集群的算力调度与管理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集群构建与管理、算力调度核心技术解析与方法实践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32988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15868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2  百 B 参数以上模型的长期稳定训练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15868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大规模训练的稳定性保障与优化经验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15868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08776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91656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3  TB 级语料的构建与处理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1656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大规模语料的采集、清洗、处理方法与流水线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91656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84564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67444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4  日产万亿 Token 的推理服务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67444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Token 网关与路由分发、低时延推理的极致性能优化与稳定性保障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67444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65760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三种补充形式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3986784"/>
            <a:ext cx="3575304" cy="13258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096512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专家研讨与案例研究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4443984"/>
            <a:ext cx="3209544" cy="7955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在选定方向上做专家研讨、工程案例复盘与实践讲解；内容结合 RNP 的实际环境定制，例如模型迁移、平台架构与实现原理、在华为算力上的训练适配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06824" y="3986784"/>
            <a:ext cx="3575304" cy="13258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89704" y="4096512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一对一专家咨询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9704" y="4443984"/>
            <a:ext cx="3209544" cy="7955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针对 RNP 工程师提出的具体研发问题做技术问答、方案讨论与工程经验交流，按时长约定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56448" y="3986784"/>
            <a:ext cx="3575304" cy="13258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39327" y="4096512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中国考察与技术交流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39327" y="4443984"/>
            <a:ext cx="3209544" cy="7955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可选形式，结合专家学习与现场技术交流；语言、行程与相关费用另行确定。</a:t>
            </a:r>
            <a:r>
              <a:rPr sz="1000" b="0">
                <a:solidFill>
                  <a:srgbClr val="0070C0"/>
                </a:solidFill>
                <a:latin typeface="微软雅黑"/>
                <a:ea typeface="微软雅黑"/>
              </a:rPr>
              <a:t>与华为方案中的 6 天中国行（100 人）分属不同安排，避免重复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486400"/>
            <a:ext cx="11274552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以上与基础知识转移（四阶段两轮合计 1216 课时）分开，不在当前 SOW 与报价范围内；范围、课时、人数、形式与费用另行约定。口径：方案与建议，非承诺。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A12 · 产品使用培训：交付后运维怎么上手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问：平台交付后运维从哪里上手？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9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10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1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2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3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3 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914400"/>
            <a:ext cx="1127455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讯飞对已交付的软件、模型与安全产品做操作演示、配置指导与移交说明；面向 RNP 运维团队，随陪伴运维启动，与四阶段知识转移并行、不重复计课时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457200" y="1298448"/>
          <a:ext cx="11274552" cy="35478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31720"/>
                <a:gridCol w="6885432"/>
                <a:gridCol w="868680"/>
                <a:gridCol w="1188720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主题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培训内容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每批人数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语料与模型训练平台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数据集流程、质量检查与血缘；容器镜像、训练任务、日志与模型产物；已交付的语音工具与断点续训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算力管理与集群运维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租户、角色、资源池、配额与调度；集群健康、节点状态、日志与告警；资源用量、事件信息与升级路径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应用服务、API 与数据运营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服务凭证、权限、限流与用量；已开通的知识问答与检索服务；API 调用与错误处理；门户配置、应用发布、用户与反馈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基础模型与国家 AI 应用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模型文件、加载、调用与配置；已知限制与运行检查；登录、问答、文档与语音交互；已开通的笔记、写作与演示功能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内容安全与安全产品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风险标签、审核规则、词库与快修；审核日志与已开通功能验证；所供安全产品的接入、策略与日志；基本操作与厂商支持渠道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配置、文档与支持移交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已部署版本、关键配置与文档；支持的备份与恢复方法；遗留问题、支持工单与升级路径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457200" y="4974336"/>
            <a:ext cx="11274552" cy="42062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029200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时间安排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5029200"/>
            <a:ext cx="972007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陪伴运维启动时开展产品使用培训，之后 12 个月陪伴运维期内穿插知识转移活动；正式移交在陪伴运维结束前至少 3 个月启动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468112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六个主题是 SOW 第 7.5 节十二项产品使用主题的归并展示，不构成六门独立计量的课程；培训使用已交付版本与经授权的样本。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批次、天数、参训人数、语言与线上/线下方式实施前双方确定；各主题工作日合计 9 天，联合材料横幅标注约 10 天，实施前确认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　口径：SOW 7.5 / 8.3 / 9.4。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A13 · 国家 AI 应用：交付物与验收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问：APP 交付什么、怎么验收？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9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10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1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2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3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4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7 页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932688"/>
          <a:ext cx="11274552" cy="431596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31720"/>
                <a:gridCol w="4617720"/>
                <a:gridCol w="43251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服务范围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交付物（SOW 8.5）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最低验收标准（SOW 9.6）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应用范围与本地化确认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国家 AI 应用功能与配置说明：实际功能、支持平台、界面本地化、已接服务与使用限制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指定葡语界面与品牌配置完整，关键操作信息可理解、可使用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多终端软件交付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确认平台的软件部署包或客户端安装包、授权材料与版本说明；应用部署记录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确认平台的软件完成部署或安装，可访问、可操作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数据运营平台交付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平台软件与授权材料；数据运营平台配置与使用手册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应用配置、用户权限、日志、反馈与统计功能按用例验证，展示结果与实测数据一致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接口与业务流程集成测试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应用接口与集成测试记录，覆盖实际接入的模型、身份、知识等服务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指定的模型与外部接口完成集成测试；认证、权限与已接内容审核流程通过验证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测试与验收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国家 AI 应用与数据运营平台测试报告；上线发布与验收确认材料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明确清单内的功能通过批准的测试用例；代表性业务流程从用户输入到结果展示可跑通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用户与管理员指导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用户手册；管理员手册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操作材料、测试结果、版本与发布记录已提交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57200" y="5358384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验收流程：核对平台与版本 → 测试接口与功能 → 验证集成与权限 → 参照容量与模型测试 → 整改问题 → 确认应用。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责任边界：RNP 提供品牌素材、知识内容与业务规则，确认葡语术语与界面，审批上线并运营用户、内容与业务；讯飞不承担用户增长、内容生产、人工审核与业务托管运营。口径：SOW 3.9 / 8.5 / 9.6 / 10.7。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A14 · 支持巴西自主研发：TR 要求对照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问：TR 的研发支持要求怎么响应？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9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10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1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2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3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4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5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14 页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932688"/>
          <a:ext cx="11274552" cy="409651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4160520"/>
                <a:gridCol w="49651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TR 要求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要求要点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我们的对应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2179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研发合作计划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目标、支持的研究方向、参与机构、资源、责任、时间安排、指标与验收标准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四个专题方向：集群构建与调度、大模型长时稳定训练、大规模语料构建与处理、高吞吐推理优化；</a:t>
                      </a: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与 RNP 优先任务对应后写入合作计划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接口、工具与技术资料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API、连接器、SDK 与工具链、数据格式与接口说明、日志、性能指标与使用文档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平台已交付接口、开发者文档与示例，见附录 A4；</a:t>
                      </a: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按研究任务确认清单、版本、权限与使用条件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研发技术支持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支持开发、适配、测试与优化，涉及算子、软件库、运行环境、编译器与训练推理框架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专家答疑、专题讲解、方案评审、操作演示、跟岗与定期技术讨论；</a:t>
                      </a: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项目内范围与另行约定的高端服务分开列明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实践培训与知识转移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面向 RNP 指定的研究人员、工程师与运维人员开展实践培训与知识转移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四阶段知识转移，见第 10、11 页与附录 A8；课程主题见 A9，分岗位学习路径见 A10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成果留存与进展报告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有版本记录的技术资料库；定期报告研究进展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课程材料、操作手册与案例分享；</a:t>
                      </a: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脚本、配置、测试结果与进展报告的归档位置与访问权限实施前确定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开放对接与持续使用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互操作与技术方案比较；专有依赖、许可限制、未来成本与可替代方案说明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见附录 A6 交接、许可与运营支持；</a:t>
                      </a: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按组件说明开放范围、修改权与后续使用条件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57200" y="5120640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FP1–FP9 是 RNP 的研究方向（模型构建、模型服务、分布式运行、编译优化、集群管理、数据、跨机构协同、性能、系统安全）；本表说明承包商如何支持这些研究，不代表由讯飞独立承担全部方向。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这组要求面向承包商整体：底层软件栈部分由华为承担，见第 14 页。口径：SOW 与实施前确认的研发合作计划。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7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</Words>
  <Application>Microsoft Office PowerPoint</Application>
  <PresentationFormat>宽屏</PresentationFormat>
  <Paragraphs>37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楷体</vt:lpstr>
      <vt:lpstr>Microsoft YaHei</vt:lpstr>
      <vt:lpstr>Microsoft YaHei</vt:lpstr>
      <vt:lpstr>Arial</vt:lpstr>
      <vt:lpstr>Calibri</vt:lpstr>
      <vt:lpstr>7_章节页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 Hao</dc:creator>
  <cp:lastModifiedBy>Chen Hao</cp:lastModifiedBy>
  <cp:revision>1</cp:revision>
  <dcterms:created xsi:type="dcterms:W3CDTF">2026-08-27T14:04:28Z</dcterms:created>
  <dcterms:modified xsi:type="dcterms:W3CDTF">2026-08-27T14:04:38Z</dcterms:modified>
</cp:coreProperties>
</file>