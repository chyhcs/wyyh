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tiff" ContentType="image/tiff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"/>
  </p:notesMasterIdLst>
  <p:sldIdLst>
    <p:sldId id="2147483630" r:id="rId8"/>
    <p:sldId id="2147483631" r:id="rId9"/>
    <p:sldId id="2147483632" r:id="rId10"/>
    <p:sldId id="2147483633" r:id="rId11"/>
    <p:sldId id="2147483634" r:id="rId12"/>
    <p:sldId id="2147483635" r:id="rId13"/>
    <p:sldId id="2147483636" r:id="rId14"/>
    <p:sldId id="2147483637" r:id="rId15"/>
    <p:sldId id="2147483638" r:id="rId16"/>
    <p:sldId id="2147483639" r:id="rId17"/>
    <p:sldId id="2147483640" r:id="rId18"/>
    <p:sldId id="2147483641" r:id="rId19"/>
    <p:sldId id="2147483642" r:id="rId20"/>
    <p:sldId id="2147483643" r:id="rId21"/>
    <p:sldId id="2147483644" r:id="rId22"/>
    <p:sldId id="2147483645" r:id="rId23"/>
    <p:sldId id="2147483646" r:id="rId24"/>
    <p:sldId id="2147483647" r:id="rId25"/>
    <p:sldId id="256" r:id="rId26"/>
    <p:sldId id="257" r:id="rId27"/>
    <p:sldId id="258" r:id="rId28"/>
    <p:sldId id="259" r:id="rId29"/>
    <p:sldId id="260" r:id="rId30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006" autoAdjust="0"/>
    <p:restoredTop sz="94660"/>
  </p:normalViewPr>
  <p:slideViewPr>
    <p:cSldViewPr snapToGrid="0">
      <p:cViewPr>
        <p:scale>
          <a:sx n="66" d="100"/>
          <a:sy n="66" d="100"/>
        </p:scale>
        <p:origin x="24" y="37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81D33DA-F32C-4BB5-A35D-C2C64315327B}" type="datetimeFigureOut">
              <a:rPr lang="zh-CN" altLang="en-US" smtClean="0"/>
              <a:t>2026/8/27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CA69E06-539E-443E-9D9E-DA313339D2A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573607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简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D2A38214-5857-FC4E-B923-056100E16BC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76894" y="145343"/>
            <a:ext cx="10440017" cy="486841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marL="0" indent="0">
              <a:buNone/>
              <a:defRPr lang="en-US" sz="2797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pPr marL="0" lvl="0" defTabSz="913303">
              <a:spcBef>
                <a:spcPct val="0"/>
              </a:spcBef>
            </a:pPr>
            <a:r>
              <a:rPr lang="zh-CN" altLang="en-US" dirty="0"/>
              <a:t>单击此处添加标题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861448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Relationship Id="rId3" Type="http://schemas.openxmlformats.org/officeDocument/2006/relationships/image" Target="../media/image1.tif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785A3D6-1271-D247-9E96-1B376F4BE7BE}"/>
              </a:ext>
            </a:extLst>
          </p:cNvPr>
          <p:cNvSpPr txBox="1"/>
          <p:nvPr userDrawn="1"/>
        </p:nvSpPr>
        <p:spPr>
          <a:xfrm>
            <a:off x="1095041" y="6356939"/>
            <a:ext cx="350259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b="0" kern="1200" baseline="0" dirty="0">
                <a:solidFill>
                  <a:srgbClr val="1D1D1B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Huawei Proprietary - Restricted Distribution</a:t>
            </a:r>
            <a:endParaRPr lang="en-US" sz="900" b="0" kern="1200" baseline="0" dirty="0">
              <a:solidFill>
                <a:srgbClr val="1D1D1B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ABEE2EE-BF4D-7A4A-B3C6-9E47668CCD98}"/>
              </a:ext>
            </a:extLst>
          </p:cNvPr>
          <p:cNvSpPr txBox="1"/>
          <p:nvPr userDrawn="1"/>
        </p:nvSpPr>
        <p:spPr>
          <a:xfrm>
            <a:off x="733846" y="6402809"/>
            <a:ext cx="499534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89013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3837181-38C6-AD4F-B8BA-B444770388BB}" type="slidenum">
              <a:rPr lang="en-US" sz="900" smtClean="0">
                <a:solidFill>
                  <a:srgbClr val="1D1D1B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marL="0" marR="0" lvl="0" indent="0" algn="l" defTabSz="89013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900" dirty="0">
              <a:solidFill>
                <a:srgbClr val="1D1D1B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88" name="Group 87">
            <a:extLst>
              <a:ext uri="{FF2B5EF4-FFF2-40B4-BE49-F238E27FC236}">
                <a16:creationId xmlns:a16="http://schemas.microsoft.com/office/drawing/2014/main" id="{37333705-F8D6-2847-B3CB-F2FAB51E2A3B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2285671" y="2625392"/>
            <a:ext cx="1967204" cy="4233515"/>
            <a:chOff x="5343885" y="-48857"/>
            <a:chExt cx="3271316" cy="7037279"/>
          </a:xfrm>
        </p:grpSpPr>
        <p:sp>
          <p:nvSpPr>
            <p:cNvPr id="89" name="矩形 13">
              <a:extLst>
                <a:ext uri="{FF2B5EF4-FFF2-40B4-BE49-F238E27FC236}">
                  <a16:creationId xmlns:a16="http://schemas.microsoft.com/office/drawing/2014/main" id="{B14DFA89-D483-CF47-82CC-DD86D7CAB09E}"/>
                </a:ext>
              </a:extLst>
            </p:cNvPr>
            <p:cNvSpPr/>
            <p:nvPr userDrawn="1"/>
          </p:nvSpPr>
          <p:spPr>
            <a:xfrm>
              <a:off x="5356401" y="1934171"/>
              <a:ext cx="791510" cy="664397"/>
            </a:xfrm>
            <a:prstGeom prst="rect">
              <a:avLst/>
            </a:prstGeom>
            <a:solidFill>
              <a:srgbClr val="C4005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196/0/84</a:t>
              </a:r>
            </a:p>
          </p:txBody>
        </p:sp>
        <p:sp>
          <p:nvSpPr>
            <p:cNvPr id="90" name="文本框 15">
              <a:extLst>
                <a:ext uri="{FF2B5EF4-FFF2-40B4-BE49-F238E27FC236}">
                  <a16:creationId xmlns:a16="http://schemas.microsoft.com/office/drawing/2014/main" id="{8223ADA0-340A-794B-93B7-24AFF612A719}"/>
                </a:ext>
              </a:extLst>
            </p:cNvPr>
            <p:cNvSpPr txBox="1"/>
            <p:nvPr userDrawn="1"/>
          </p:nvSpPr>
          <p:spPr>
            <a:xfrm>
              <a:off x="5352723" y="1694497"/>
              <a:ext cx="1052647" cy="204645"/>
            </a:xfrm>
            <a:prstGeom prst="rect">
              <a:avLst/>
            </a:prstGeom>
            <a:noFill/>
          </p:spPr>
          <p:txBody>
            <a:bodyPr wrap="square" lIns="0" tIns="0" rIns="0" bIns="0" rtlCol="0" anchor="b" anchorCtr="0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kumimoji="1" lang="zh-CN" altLang="en-US" sz="800" b="0" i="0" dirty="0">
                  <a:solidFill>
                    <a:schemeClr val="tx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公司辅助色</a:t>
              </a:r>
            </a:p>
          </p:txBody>
        </p:sp>
        <p:sp>
          <p:nvSpPr>
            <p:cNvPr id="91" name="矩形 13">
              <a:extLst>
                <a:ext uri="{FF2B5EF4-FFF2-40B4-BE49-F238E27FC236}">
                  <a16:creationId xmlns:a16="http://schemas.microsoft.com/office/drawing/2014/main" id="{5F63E0E3-4F22-7948-AB1A-40A84ECA92EC}"/>
                </a:ext>
              </a:extLst>
            </p:cNvPr>
            <p:cNvSpPr/>
            <p:nvPr userDrawn="1"/>
          </p:nvSpPr>
          <p:spPr>
            <a:xfrm>
              <a:off x="6184680" y="1934171"/>
              <a:ext cx="791510" cy="664397"/>
            </a:xfrm>
            <a:prstGeom prst="rect">
              <a:avLst/>
            </a:prstGeom>
            <a:solidFill>
              <a:srgbClr val="CB377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203/55/120</a:t>
              </a:r>
            </a:p>
          </p:txBody>
        </p:sp>
        <p:sp>
          <p:nvSpPr>
            <p:cNvPr id="92" name="矩形 13">
              <a:extLst>
                <a:ext uri="{FF2B5EF4-FFF2-40B4-BE49-F238E27FC236}">
                  <a16:creationId xmlns:a16="http://schemas.microsoft.com/office/drawing/2014/main" id="{29C4A3C6-7C7B-7140-8F73-591E9F49143F}"/>
                </a:ext>
              </a:extLst>
            </p:cNvPr>
            <p:cNvSpPr/>
            <p:nvPr userDrawn="1"/>
          </p:nvSpPr>
          <p:spPr>
            <a:xfrm>
              <a:off x="5356401" y="3403061"/>
              <a:ext cx="791510" cy="664397"/>
            </a:xfrm>
            <a:prstGeom prst="rect">
              <a:avLst/>
            </a:prstGeom>
            <a:solidFill>
              <a:srgbClr val="ED6D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237/109/0</a:t>
              </a:r>
            </a:p>
          </p:txBody>
        </p:sp>
        <p:sp>
          <p:nvSpPr>
            <p:cNvPr id="93" name="矩形 13">
              <a:extLst>
                <a:ext uri="{FF2B5EF4-FFF2-40B4-BE49-F238E27FC236}">
                  <a16:creationId xmlns:a16="http://schemas.microsoft.com/office/drawing/2014/main" id="{BE4C9A8D-46B0-5B40-BC47-DB6C4899227F}"/>
                </a:ext>
              </a:extLst>
            </p:cNvPr>
            <p:cNvSpPr/>
            <p:nvPr userDrawn="1"/>
          </p:nvSpPr>
          <p:spPr>
            <a:xfrm>
              <a:off x="6184680" y="2673360"/>
              <a:ext cx="791510" cy="664397"/>
            </a:xfrm>
            <a:prstGeom prst="rect">
              <a:avLst/>
            </a:prstGeom>
            <a:solidFill>
              <a:srgbClr val="99363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3746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153/54/54</a:t>
              </a:r>
            </a:p>
          </p:txBody>
        </p:sp>
        <p:sp>
          <p:nvSpPr>
            <p:cNvPr id="94" name="矩形 13">
              <a:extLst>
                <a:ext uri="{FF2B5EF4-FFF2-40B4-BE49-F238E27FC236}">
                  <a16:creationId xmlns:a16="http://schemas.microsoft.com/office/drawing/2014/main" id="{612F2ED4-F7A4-9E48-95E1-8D07B3BBE962}"/>
                </a:ext>
              </a:extLst>
            </p:cNvPr>
            <p:cNvSpPr/>
            <p:nvPr userDrawn="1"/>
          </p:nvSpPr>
          <p:spPr>
            <a:xfrm>
              <a:off x="5356401" y="4866463"/>
              <a:ext cx="791510" cy="664397"/>
            </a:xfrm>
            <a:prstGeom prst="rect">
              <a:avLst/>
            </a:prstGeom>
            <a:solidFill>
              <a:srgbClr val="62B23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98/178/48</a:t>
              </a:r>
            </a:p>
          </p:txBody>
        </p:sp>
        <p:sp>
          <p:nvSpPr>
            <p:cNvPr id="95" name="矩形 13">
              <a:extLst>
                <a:ext uri="{FF2B5EF4-FFF2-40B4-BE49-F238E27FC236}">
                  <a16:creationId xmlns:a16="http://schemas.microsoft.com/office/drawing/2014/main" id="{A9E1D476-C288-8945-A68A-1F20C557294B}"/>
                </a:ext>
              </a:extLst>
            </p:cNvPr>
            <p:cNvSpPr/>
            <p:nvPr userDrawn="1"/>
          </p:nvSpPr>
          <p:spPr>
            <a:xfrm>
              <a:off x="6184680" y="3415851"/>
              <a:ext cx="791510" cy="664397"/>
            </a:xfrm>
            <a:prstGeom prst="rect">
              <a:avLst/>
            </a:prstGeom>
            <a:solidFill>
              <a:srgbClr val="F2894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242/137/68</a:t>
              </a:r>
              <a:endParaRPr kumimoji="1" lang="mr-IN" altLang="zh-CN" sz="500" b="1" dirty="0">
                <a:solidFill>
                  <a:srgbClr val="FFFFFF"/>
                </a:solidFill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96" name="矩形 13">
              <a:extLst>
                <a:ext uri="{FF2B5EF4-FFF2-40B4-BE49-F238E27FC236}">
                  <a16:creationId xmlns:a16="http://schemas.microsoft.com/office/drawing/2014/main" id="{42823EBB-E62E-F149-AC9A-09950051F283}"/>
                </a:ext>
              </a:extLst>
            </p:cNvPr>
            <p:cNvSpPr/>
            <p:nvPr userDrawn="1"/>
          </p:nvSpPr>
          <p:spPr>
            <a:xfrm>
              <a:off x="5353240" y="184963"/>
              <a:ext cx="791510" cy="664397"/>
            </a:xfrm>
            <a:prstGeom prst="rect">
              <a:avLst/>
            </a:prstGeom>
            <a:solidFill>
              <a:srgbClr val="C7000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PANTONE 185C</a:t>
              </a:r>
            </a:p>
            <a:p>
              <a:pPr algn="ctr">
                <a:lnSpc>
                  <a:spcPts val="620"/>
                </a:lnSpc>
                <a:spcBef>
                  <a:spcPts val="0"/>
                </a:spcBef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199/0/11  </a:t>
              </a:r>
            </a:p>
          </p:txBody>
        </p:sp>
        <p:sp>
          <p:nvSpPr>
            <p:cNvPr id="97" name="文本框 15">
              <a:extLst>
                <a:ext uri="{FF2B5EF4-FFF2-40B4-BE49-F238E27FC236}">
                  <a16:creationId xmlns:a16="http://schemas.microsoft.com/office/drawing/2014/main" id="{EA01C299-6FF2-3642-AAEC-A1DF62D9C654}"/>
                </a:ext>
              </a:extLst>
            </p:cNvPr>
            <p:cNvSpPr txBox="1"/>
            <p:nvPr userDrawn="1"/>
          </p:nvSpPr>
          <p:spPr>
            <a:xfrm>
              <a:off x="5343885" y="-48857"/>
              <a:ext cx="726488" cy="204645"/>
            </a:xfrm>
            <a:prstGeom prst="rect">
              <a:avLst/>
            </a:prstGeom>
            <a:noFill/>
          </p:spPr>
          <p:txBody>
            <a:bodyPr wrap="square" lIns="0" tIns="0" rIns="0" bIns="0" rtlCol="0" anchor="b" anchorCtr="0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kumimoji="1" lang="zh-CN" altLang="en-US" sz="800" b="0" i="0" dirty="0">
                  <a:solidFill>
                    <a:schemeClr val="tx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公司色</a:t>
              </a:r>
            </a:p>
          </p:txBody>
        </p:sp>
        <p:sp>
          <p:nvSpPr>
            <p:cNvPr id="98" name="矩形 13">
              <a:extLst>
                <a:ext uri="{FF2B5EF4-FFF2-40B4-BE49-F238E27FC236}">
                  <a16:creationId xmlns:a16="http://schemas.microsoft.com/office/drawing/2014/main" id="{B84AB502-165F-764A-9621-65CA8CBBEAEA}"/>
                </a:ext>
              </a:extLst>
            </p:cNvPr>
            <p:cNvSpPr/>
            <p:nvPr userDrawn="1"/>
          </p:nvSpPr>
          <p:spPr>
            <a:xfrm>
              <a:off x="5352600" y="918047"/>
              <a:ext cx="791510" cy="664397"/>
            </a:xfrm>
            <a:prstGeom prst="rect">
              <a:avLst/>
            </a:prstGeom>
            <a:solidFill>
              <a:srgbClr val="C8102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PANTONE 186C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200/16/46  </a:t>
              </a:r>
            </a:p>
          </p:txBody>
        </p:sp>
        <p:sp>
          <p:nvSpPr>
            <p:cNvPr id="99" name="矩形 13">
              <a:extLst>
                <a:ext uri="{FF2B5EF4-FFF2-40B4-BE49-F238E27FC236}">
                  <a16:creationId xmlns:a16="http://schemas.microsoft.com/office/drawing/2014/main" id="{CB8870E8-3E95-764C-B621-A168E194CC7A}"/>
                </a:ext>
              </a:extLst>
            </p:cNvPr>
            <p:cNvSpPr/>
            <p:nvPr userDrawn="1"/>
          </p:nvSpPr>
          <p:spPr>
            <a:xfrm>
              <a:off x="5354164" y="2665974"/>
              <a:ext cx="791510" cy="664397"/>
            </a:xfrm>
            <a:prstGeom prst="rect">
              <a:avLst/>
            </a:prstGeom>
            <a:solidFill>
              <a:srgbClr val="7F000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127/0/1</a:t>
              </a:r>
            </a:p>
          </p:txBody>
        </p:sp>
        <p:sp>
          <p:nvSpPr>
            <p:cNvPr id="100" name="矩形 13">
              <a:extLst>
                <a:ext uri="{FF2B5EF4-FFF2-40B4-BE49-F238E27FC236}">
                  <a16:creationId xmlns:a16="http://schemas.microsoft.com/office/drawing/2014/main" id="{356EF69A-1936-544F-A95F-0664F4E186D5}"/>
                </a:ext>
              </a:extLst>
            </p:cNvPr>
            <p:cNvSpPr/>
            <p:nvPr userDrawn="1"/>
          </p:nvSpPr>
          <p:spPr>
            <a:xfrm>
              <a:off x="5354164" y="4134866"/>
              <a:ext cx="791510" cy="664397"/>
            </a:xfrm>
            <a:prstGeom prst="rect">
              <a:avLst/>
            </a:prstGeom>
            <a:solidFill>
              <a:srgbClr val="FCC8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52/200/0</a:t>
              </a:r>
            </a:p>
          </p:txBody>
        </p:sp>
        <p:sp>
          <p:nvSpPr>
            <p:cNvPr id="101" name="矩形 13">
              <a:extLst>
                <a:ext uri="{FF2B5EF4-FFF2-40B4-BE49-F238E27FC236}">
                  <a16:creationId xmlns:a16="http://schemas.microsoft.com/office/drawing/2014/main" id="{03EBAB43-95A5-1C4A-8458-B86EB3D51FCA}"/>
                </a:ext>
              </a:extLst>
            </p:cNvPr>
            <p:cNvSpPr/>
            <p:nvPr userDrawn="1"/>
          </p:nvSpPr>
          <p:spPr>
            <a:xfrm>
              <a:off x="5354164" y="5596166"/>
              <a:ext cx="791510" cy="664397"/>
            </a:xfrm>
            <a:prstGeom prst="rect">
              <a:avLst/>
            </a:prstGeom>
            <a:solidFill>
              <a:srgbClr val="30B5C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48/181/197</a:t>
              </a:r>
            </a:p>
          </p:txBody>
        </p:sp>
        <p:sp>
          <p:nvSpPr>
            <p:cNvPr id="102" name="矩形 13">
              <a:extLst>
                <a:ext uri="{FF2B5EF4-FFF2-40B4-BE49-F238E27FC236}">
                  <a16:creationId xmlns:a16="http://schemas.microsoft.com/office/drawing/2014/main" id="{371A8520-F934-304C-B57F-B49F768694E2}"/>
                </a:ext>
              </a:extLst>
            </p:cNvPr>
            <p:cNvSpPr/>
            <p:nvPr userDrawn="1"/>
          </p:nvSpPr>
          <p:spPr>
            <a:xfrm>
              <a:off x="6184543" y="4866463"/>
              <a:ext cx="791510" cy="664398"/>
            </a:xfrm>
            <a:prstGeom prst="rect">
              <a:avLst/>
            </a:prstGeom>
            <a:solidFill>
              <a:srgbClr val="81C15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129/193/95</a:t>
              </a:r>
            </a:p>
          </p:txBody>
        </p:sp>
        <p:sp>
          <p:nvSpPr>
            <p:cNvPr id="103" name="矩形 13">
              <a:extLst>
                <a:ext uri="{FF2B5EF4-FFF2-40B4-BE49-F238E27FC236}">
                  <a16:creationId xmlns:a16="http://schemas.microsoft.com/office/drawing/2014/main" id="{B83004D7-279B-C14E-9FCF-870FA1B74FDF}"/>
                </a:ext>
              </a:extLst>
            </p:cNvPr>
            <p:cNvSpPr/>
            <p:nvPr userDrawn="1"/>
          </p:nvSpPr>
          <p:spPr>
            <a:xfrm>
              <a:off x="6182308" y="4134866"/>
              <a:ext cx="791510" cy="664398"/>
            </a:xfrm>
            <a:prstGeom prst="rect">
              <a:avLst/>
            </a:prstGeom>
            <a:solidFill>
              <a:srgbClr val="FDD35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253/211/81</a:t>
              </a:r>
            </a:p>
          </p:txBody>
        </p:sp>
        <p:sp>
          <p:nvSpPr>
            <p:cNvPr id="104" name="矩形 13">
              <a:extLst>
                <a:ext uri="{FF2B5EF4-FFF2-40B4-BE49-F238E27FC236}">
                  <a16:creationId xmlns:a16="http://schemas.microsoft.com/office/drawing/2014/main" id="{99635968-4E69-CC41-9D78-6DF253FE3035}"/>
                </a:ext>
              </a:extLst>
            </p:cNvPr>
            <p:cNvSpPr/>
            <p:nvPr userDrawn="1"/>
          </p:nvSpPr>
          <p:spPr>
            <a:xfrm>
              <a:off x="6177324" y="5596166"/>
              <a:ext cx="791510" cy="664398"/>
            </a:xfrm>
            <a:prstGeom prst="rect">
              <a:avLst/>
            </a:prstGeom>
            <a:solidFill>
              <a:srgbClr val="56C4D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86/196/210</a:t>
              </a:r>
            </a:p>
          </p:txBody>
        </p:sp>
        <p:sp>
          <p:nvSpPr>
            <p:cNvPr id="105" name="矩形 13">
              <a:extLst>
                <a:ext uri="{FF2B5EF4-FFF2-40B4-BE49-F238E27FC236}">
                  <a16:creationId xmlns:a16="http://schemas.microsoft.com/office/drawing/2014/main" id="{BDBE4949-07B7-F046-AD95-68E4B0C11CCD}"/>
                </a:ext>
              </a:extLst>
            </p:cNvPr>
            <p:cNvSpPr/>
            <p:nvPr/>
          </p:nvSpPr>
          <p:spPr>
            <a:xfrm>
              <a:off x="6186245" y="184963"/>
              <a:ext cx="791510" cy="664397"/>
            </a:xfrm>
            <a:prstGeom prst="rect">
              <a:avLst/>
            </a:prstGeom>
            <a:solidFill>
              <a:srgbClr val="D3394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211/57/65</a:t>
              </a:r>
            </a:p>
          </p:txBody>
        </p:sp>
        <p:sp>
          <p:nvSpPr>
            <p:cNvPr id="106" name="矩形 13">
              <a:extLst>
                <a:ext uri="{FF2B5EF4-FFF2-40B4-BE49-F238E27FC236}">
                  <a16:creationId xmlns:a16="http://schemas.microsoft.com/office/drawing/2014/main" id="{AA9F9E00-6A31-F14B-A2E4-79908835FD14}"/>
                </a:ext>
              </a:extLst>
            </p:cNvPr>
            <p:cNvSpPr/>
            <p:nvPr/>
          </p:nvSpPr>
          <p:spPr>
            <a:xfrm>
              <a:off x="6185604" y="918047"/>
              <a:ext cx="791510" cy="664397"/>
            </a:xfrm>
            <a:prstGeom prst="rect">
              <a:avLst/>
            </a:prstGeom>
            <a:solidFill>
              <a:srgbClr val="D3385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211/56/89</a:t>
              </a:r>
            </a:p>
          </p:txBody>
        </p:sp>
        <p:sp>
          <p:nvSpPr>
            <p:cNvPr id="107" name="矩形 13">
              <a:extLst>
                <a:ext uri="{FF2B5EF4-FFF2-40B4-BE49-F238E27FC236}">
                  <a16:creationId xmlns:a16="http://schemas.microsoft.com/office/drawing/2014/main" id="{38715A31-485E-B744-B409-43F9F04B48F7}"/>
                </a:ext>
              </a:extLst>
            </p:cNvPr>
            <p:cNvSpPr/>
            <p:nvPr/>
          </p:nvSpPr>
          <p:spPr>
            <a:xfrm>
              <a:off x="6996262" y="1934171"/>
              <a:ext cx="791510" cy="664397"/>
            </a:xfrm>
            <a:prstGeom prst="rect">
              <a:avLst/>
            </a:prstGeom>
            <a:solidFill>
              <a:srgbClr val="DD80A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221/128/170</a:t>
              </a:r>
            </a:p>
          </p:txBody>
        </p:sp>
        <p:sp>
          <p:nvSpPr>
            <p:cNvPr id="108" name="矩形 13">
              <a:extLst>
                <a:ext uri="{FF2B5EF4-FFF2-40B4-BE49-F238E27FC236}">
                  <a16:creationId xmlns:a16="http://schemas.microsoft.com/office/drawing/2014/main" id="{4AE1609B-25DD-2C4A-B05B-D18ADBC39C71}"/>
                </a:ext>
              </a:extLst>
            </p:cNvPr>
            <p:cNvSpPr/>
            <p:nvPr/>
          </p:nvSpPr>
          <p:spPr>
            <a:xfrm>
              <a:off x="6996262" y="2673360"/>
              <a:ext cx="791510" cy="664397"/>
            </a:xfrm>
            <a:prstGeom prst="rect">
              <a:avLst/>
            </a:prstGeom>
            <a:solidFill>
              <a:srgbClr val="BF808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3746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191/128/130</a:t>
              </a:r>
            </a:p>
          </p:txBody>
        </p:sp>
        <p:sp>
          <p:nvSpPr>
            <p:cNvPr id="109" name="矩形 13">
              <a:extLst>
                <a:ext uri="{FF2B5EF4-FFF2-40B4-BE49-F238E27FC236}">
                  <a16:creationId xmlns:a16="http://schemas.microsoft.com/office/drawing/2014/main" id="{ECE90F9F-DBBC-0B49-A42C-8B62397E473E}"/>
                </a:ext>
              </a:extLst>
            </p:cNvPr>
            <p:cNvSpPr/>
            <p:nvPr/>
          </p:nvSpPr>
          <p:spPr>
            <a:xfrm>
              <a:off x="6996262" y="3415851"/>
              <a:ext cx="791510" cy="664397"/>
            </a:xfrm>
            <a:prstGeom prst="rect">
              <a:avLst/>
            </a:prstGeom>
            <a:solidFill>
              <a:srgbClr val="F6B78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246/183/140</a:t>
              </a:r>
              <a:endParaRPr kumimoji="1" lang="mr-IN" altLang="zh-CN" sz="500" b="1" dirty="0">
                <a:solidFill>
                  <a:srgbClr val="595757"/>
                </a:solidFill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110" name="矩形 13">
              <a:extLst>
                <a:ext uri="{FF2B5EF4-FFF2-40B4-BE49-F238E27FC236}">
                  <a16:creationId xmlns:a16="http://schemas.microsoft.com/office/drawing/2014/main" id="{D5B387BA-F8B8-B54E-966E-F24E271747C4}"/>
                </a:ext>
              </a:extLst>
            </p:cNvPr>
            <p:cNvSpPr/>
            <p:nvPr/>
          </p:nvSpPr>
          <p:spPr>
            <a:xfrm>
              <a:off x="7006093" y="4866463"/>
              <a:ext cx="791510" cy="664397"/>
            </a:xfrm>
            <a:prstGeom prst="rect">
              <a:avLst/>
            </a:prstGeom>
            <a:solidFill>
              <a:srgbClr val="AFD89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176/216/156</a:t>
              </a:r>
            </a:p>
          </p:txBody>
        </p:sp>
        <p:sp>
          <p:nvSpPr>
            <p:cNvPr id="111" name="矩形 13">
              <a:extLst>
                <a:ext uri="{FF2B5EF4-FFF2-40B4-BE49-F238E27FC236}">
                  <a16:creationId xmlns:a16="http://schemas.microsoft.com/office/drawing/2014/main" id="{E6C9B99E-8C1C-2B49-B82E-3C754B8E5C02}"/>
                </a:ext>
              </a:extLst>
            </p:cNvPr>
            <p:cNvSpPr/>
            <p:nvPr/>
          </p:nvSpPr>
          <p:spPr>
            <a:xfrm>
              <a:off x="7003856" y="4134866"/>
              <a:ext cx="791510" cy="664397"/>
            </a:xfrm>
            <a:prstGeom prst="rect">
              <a:avLst/>
            </a:prstGeom>
            <a:solidFill>
              <a:srgbClr val="FDE39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253/227/181</a:t>
              </a:r>
            </a:p>
          </p:txBody>
        </p:sp>
        <p:sp>
          <p:nvSpPr>
            <p:cNvPr id="112" name="矩形 13">
              <a:extLst>
                <a:ext uri="{FF2B5EF4-FFF2-40B4-BE49-F238E27FC236}">
                  <a16:creationId xmlns:a16="http://schemas.microsoft.com/office/drawing/2014/main" id="{0106BFA2-9DE1-3A42-A6C6-69BCE0FA34F4}"/>
                </a:ext>
              </a:extLst>
            </p:cNvPr>
            <p:cNvSpPr/>
            <p:nvPr/>
          </p:nvSpPr>
          <p:spPr>
            <a:xfrm>
              <a:off x="7003856" y="5596166"/>
              <a:ext cx="791510" cy="664397"/>
            </a:xfrm>
            <a:prstGeom prst="rect">
              <a:avLst/>
            </a:prstGeom>
            <a:solidFill>
              <a:srgbClr val="94DAE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148/218/226</a:t>
              </a:r>
            </a:p>
          </p:txBody>
        </p:sp>
        <p:sp>
          <p:nvSpPr>
            <p:cNvPr id="113" name="矩形 13">
              <a:extLst>
                <a:ext uri="{FF2B5EF4-FFF2-40B4-BE49-F238E27FC236}">
                  <a16:creationId xmlns:a16="http://schemas.microsoft.com/office/drawing/2014/main" id="{F760C1C5-4342-C346-A7D2-D101978EDF66}"/>
                </a:ext>
              </a:extLst>
            </p:cNvPr>
            <p:cNvSpPr/>
            <p:nvPr/>
          </p:nvSpPr>
          <p:spPr>
            <a:xfrm>
              <a:off x="6997826" y="184963"/>
              <a:ext cx="791510" cy="664397"/>
            </a:xfrm>
            <a:prstGeom prst="rect">
              <a:avLst/>
            </a:prstGeom>
            <a:solidFill>
              <a:srgbClr val="E2818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226/129/137</a:t>
              </a:r>
            </a:p>
          </p:txBody>
        </p:sp>
        <p:sp>
          <p:nvSpPr>
            <p:cNvPr id="114" name="矩形 13">
              <a:extLst>
                <a:ext uri="{FF2B5EF4-FFF2-40B4-BE49-F238E27FC236}">
                  <a16:creationId xmlns:a16="http://schemas.microsoft.com/office/drawing/2014/main" id="{5BB50A4A-0B64-7E4C-824C-1EBCA1A992CF}"/>
                </a:ext>
              </a:extLst>
            </p:cNvPr>
            <p:cNvSpPr/>
            <p:nvPr/>
          </p:nvSpPr>
          <p:spPr>
            <a:xfrm>
              <a:off x="6997185" y="918047"/>
              <a:ext cx="791510" cy="664397"/>
            </a:xfrm>
            <a:prstGeom prst="rect">
              <a:avLst/>
            </a:prstGeom>
            <a:solidFill>
              <a:srgbClr val="E2819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226/129/152</a:t>
              </a:r>
            </a:p>
          </p:txBody>
        </p:sp>
        <p:sp>
          <p:nvSpPr>
            <p:cNvPr id="115" name="矩形 13">
              <a:extLst>
                <a:ext uri="{FF2B5EF4-FFF2-40B4-BE49-F238E27FC236}">
                  <a16:creationId xmlns:a16="http://schemas.microsoft.com/office/drawing/2014/main" id="{756A7E25-6C44-8A44-A8C5-61D19BC9EDAF}"/>
                </a:ext>
              </a:extLst>
            </p:cNvPr>
            <p:cNvSpPr/>
            <p:nvPr userDrawn="1"/>
          </p:nvSpPr>
          <p:spPr>
            <a:xfrm>
              <a:off x="7806130" y="1934171"/>
              <a:ext cx="791510" cy="664397"/>
            </a:xfrm>
            <a:prstGeom prst="rect">
              <a:avLst/>
            </a:prstGeom>
            <a:solidFill>
              <a:srgbClr val="EBB3C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235/179/204</a:t>
              </a:r>
            </a:p>
          </p:txBody>
        </p:sp>
        <p:sp>
          <p:nvSpPr>
            <p:cNvPr id="116" name="矩形 13">
              <a:extLst>
                <a:ext uri="{FF2B5EF4-FFF2-40B4-BE49-F238E27FC236}">
                  <a16:creationId xmlns:a16="http://schemas.microsoft.com/office/drawing/2014/main" id="{96588389-39CD-DF4E-B9AC-92091E25724E}"/>
                </a:ext>
              </a:extLst>
            </p:cNvPr>
            <p:cNvSpPr/>
            <p:nvPr/>
          </p:nvSpPr>
          <p:spPr>
            <a:xfrm>
              <a:off x="7806130" y="2673360"/>
              <a:ext cx="791510" cy="664397"/>
            </a:xfrm>
            <a:prstGeom prst="rect">
              <a:avLst/>
            </a:prstGeom>
            <a:solidFill>
              <a:srgbClr val="D8B3B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3746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216/179/179</a:t>
              </a:r>
            </a:p>
          </p:txBody>
        </p:sp>
        <p:sp>
          <p:nvSpPr>
            <p:cNvPr id="117" name="矩形 13">
              <a:extLst>
                <a:ext uri="{FF2B5EF4-FFF2-40B4-BE49-F238E27FC236}">
                  <a16:creationId xmlns:a16="http://schemas.microsoft.com/office/drawing/2014/main" id="{20725C9F-31AE-DB44-B70A-B4ECDEC0BC00}"/>
                </a:ext>
              </a:extLst>
            </p:cNvPr>
            <p:cNvSpPr/>
            <p:nvPr/>
          </p:nvSpPr>
          <p:spPr>
            <a:xfrm>
              <a:off x="7811114" y="3415851"/>
              <a:ext cx="791510" cy="664398"/>
            </a:xfrm>
            <a:prstGeom prst="rect">
              <a:avLst/>
            </a:prstGeom>
            <a:solidFill>
              <a:srgbClr val="FAD3B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250/211/187</a:t>
              </a:r>
              <a:endParaRPr kumimoji="1" lang="mr-IN" altLang="zh-CN" sz="500" b="1" dirty="0">
                <a:solidFill>
                  <a:srgbClr val="595757"/>
                </a:solidFill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118" name="矩形 13">
              <a:extLst>
                <a:ext uri="{FF2B5EF4-FFF2-40B4-BE49-F238E27FC236}">
                  <a16:creationId xmlns:a16="http://schemas.microsoft.com/office/drawing/2014/main" id="{AC5BCC27-B68D-0743-8E0B-E25F8D01C3A4}"/>
                </a:ext>
              </a:extLst>
            </p:cNvPr>
            <p:cNvSpPr/>
            <p:nvPr/>
          </p:nvSpPr>
          <p:spPr>
            <a:xfrm>
              <a:off x="7820945" y="4866463"/>
              <a:ext cx="791510" cy="664398"/>
            </a:xfrm>
            <a:prstGeom prst="rect">
              <a:avLst/>
            </a:prstGeom>
            <a:solidFill>
              <a:srgbClr val="D0E8C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208/232/196</a:t>
              </a:r>
            </a:p>
          </p:txBody>
        </p:sp>
        <p:sp>
          <p:nvSpPr>
            <p:cNvPr id="119" name="矩形 13">
              <a:extLst>
                <a:ext uri="{FF2B5EF4-FFF2-40B4-BE49-F238E27FC236}">
                  <a16:creationId xmlns:a16="http://schemas.microsoft.com/office/drawing/2014/main" id="{51C2E83A-C975-6945-B2FD-5B22BBB53DB7}"/>
                </a:ext>
              </a:extLst>
            </p:cNvPr>
            <p:cNvSpPr/>
            <p:nvPr/>
          </p:nvSpPr>
          <p:spPr>
            <a:xfrm>
              <a:off x="7818707" y="4134866"/>
              <a:ext cx="791510" cy="664398"/>
            </a:xfrm>
            <a:prstGeom prst="rect">
              <a:avLst/>
            </a:prstGeom>
            <a:solidFill>
              <a:srgbClr val="FEEE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254/238/193</a:t>
              </a:r>
            </a:p>
          </p:txBody>
        </p:sp>
        <p:sp>
          <p:nvSpPr>
            <p:cNvPr id="120" name="矩形 13">
              <a:extLst>
                <a:ext uri="{FF2B5EF4-FFF2-40B4-BE49-F238E27FC236}">
                  <a16:creationId xmlns:a16="http://schemas.microsoft.com/office/drawing/2014/main" id="{BEE9A95F-6965-354F-A2C7-2E8C81DDA52F}"/>
                </a:ext>
              </a:extLst>
            </p:cNvPr>
            <p:cNvSpPr/>
            <p:nvPr/>
          </p:nvSpPr>
          <p:spPr>
            <a:xfrm>
              <a:off x="7823691" y="5596166"/>
              <a:ext cx="791510" cy="664398"/>
            </a:xfrm>
            <a:prstGeom prst="rect">
              <a:avLst/>
            </a:prstGeom>
            <a:solidFill>
              <a:srgbClr val="BEE9E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190/233/238</a:t>
              </a:r>
            </a:p>
          </p:txBody>
        </p:sp>
        <p:sp>
          <p:nvSpPr>
            <p:cNvPr id="121" name="矩形 13">
              <a:extLst>
                <a:ext uri="{FF2B5EF4-FFF2-40B4-BE49-F238E27FC236}">
                  <a16:creationId xmlns:a16="http://schemas.microsoft.com/office/drawing/2014/main" id="{509164EB-3DC4-7A4F-9E7C-06EBC981CD0A}"/>
                </a:ext>
              </a:extLst>
            </p:cNvPr>
            <p:cNvSpPr/>
            <p:nvPr/>
          </p:nvSpPr>
          <p:spPr>
            <a:xfrm>
              <a:off x="7807694" y="184963"/>
              <a:ext cx="791510" cy="664397"/>
            </a:xfrm>
            <a:prstGeom prst="rect">
              <a:avLst/>
            </a:prstGeom>
            <a:solidFill>
              <a:srgbClr val="EEB3B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239/178/184</a:t>
              </a:r>
            </a:p>
          </p:txBody>
        </p:sp>
        <p:sp>
          <p:nvSpPr>
            <p:cNvPr id="122" name="矩形 13">
              <a:extLst>
                <a:ext uri="{FF2B5EF4-FFF2-40B4-BE49-F238E27FC236}">
                  <a16:creationId xmlns:a16="http://schemas.microsoft.com/office/drawing/2014/main" id="{667867DD-D3E6-3040-A7B5-39345C0CE2E3}"/>
                </a:ext>
              </a:extLst>
            </p:cNvPr>
            <p:cNvSpPr/>
            <p:nvPr/>
          </p:nvSpPr>
          <p:spPr>
            <a:xfrm>
              <a:off x="7807054" y="918047"/>
              <a:ext cx="791510" cy="664397"/>
            </a:xfrm>
            <a:prstGeom prst="rect">
              <a:avLst/>
            </a:prstGeom>
            <a:solidFill>
              <a:srgbClr val="EEB3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238/179/193</a:t>
              </a:r>
            </a:p>
          </p:txBody>
        </p:sp>
        <p:sp>
          <p:nvSpPr>
            <p:cNvPr id="123" name="矩形 13">
              <a:extLst>
                <a:ext uri="{FF2B5EF4-FFF2-40B4-BE49-F238E27FC236}">
                  <a16:creationId xmlns:a16="http://schemas.microsoft.com/office/drawing/2014/main" id="{9EE10597-3782-AB46-8453-89FA049C6C46}"/>
                </a:ext>
              </a:extLst>
            </p:cNvPr>
            <p:cNvSpPr/>
            <p:nvPr userDrawn="1"/>
          </p:nvSpPr>
          <p:spPr>
            <a:xfrm>
              <a:off x="5354169" y="6324025"/>
              <a:ext cx="513579" cy="664397"/>
            </a:xfrm>
            <a:prstGeom prst="rect">
              <a:avLst/>
            </a:prstGeom>
            <a:solidFill>
              <a:srgbClr val="22181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0/0/0</a:t>
              </a:r>
            </a:p>
          </p:txBody>
        </p:sp>
        <p:sp>
          <p:nvSpPr>
            <p:cNvPr id="124" name="矩形 13">
              <a:extLst>
                <a:ext uri="{FF2B5EF4-FFF2-40B4-BE49-F238E27FC236}">
                  <a16:creationId xmlns:a16="http://schemas.microsoft.com/office/drawing/2014/main" id="{966B3529-B594-884C-BED0-5887B34BBBB8}"/>
                </a:ext>
              </a:extLst>
            </p:cNvPr>
            <p:cNvSpPr/>
            <p:nvPr userDrawn="1"/>
          </p:nvSpPr>
          <p:spPr>
            <a:xfrm>
              <a:off x="5900626" y="6324025"/>
              <a:ext cx="513579" cy="664397"/>
            </a:xfrm>
            <a:prstGeom prst="rect">
              <a:avLst/>
            </a:prstGeom>
            <a:solidFill>
              <a:srgbClr val="59575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89/87/87</a:t>
              </a:r>
            </a:p>
          </p:txBody>
        </p:sp>
        <p:sp>
          <p:nvSpPr>
            <p:cNvPr id="125" name="矩形 13">
              <a:extLst>
                <a:ext uri="{FF2B5EF4-FFF2-40B4-BE49-F238E27FC236}">
                  <a16:creationId xmlns:a16="http://schemas.microsoft.com/office/drawing/2014/main" id="{0B0545C9-147F-584F-80D2-EF13876D7D33}"/>
                </a:ext>
              </a:extLst>
            </p:cNvPr>
            <p:cNvSpPr/>
            <p:nvPr userDrawn="1"/>
          </p:nvSpPr>
          <p:spPr>
            <a:xfrm>
              <a:off x="6445335" y="6324024"/>
              <a:ext cx="513579" cy="664398"/>
            </a:xfrm>
            <a:prstGeom prst="rect">
              <a:avLst/>
            </a:prstGeom>
            <a:solidFill>
              <a:srgbClr val="88888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137/137/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137</a:t>
              </a:r>
            </a:p>
          </p:txBody>
        </p:sp>
        <p:sp>
          <p:nvSpPr>
            <p:cNvPr id="126" name="矩形 13">
              <a:extLst>
                <a:ext uri="{FF2B5EF4-FFF2-40B4-BE49-F238E27FC236}">
                  <a16:creationId xmlns:a16="http://schemas.microsoft.com/office/drawing/2014/main" id="{44FD0A0B-0D45-3340-A523-465AC24134BF}"/>
                </a:ext>
              </a:extLst>
            </p:cNvPr>
            <p:cNvSpPr/>
            <p:nvPr userDrawn="1"/>
          </p:nvSpPr>
          <p:spPr>
            <a:xfrm>
              <a:off x="7003279" y="6324024"/>
              <a:ext cx="513579" cy="664398"/>
            </a:xfrm>
            <a:prstGeom prst="rect">
              <a:avLst/>
            </a:prstGeom>
            <a:solidFill>
              <a:srgbClr val="B5B5B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181/181/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181</a:t>
              </a:r>
            </a:p>
          </p:txBody>
        </p:sp>
        <p:sp>
          <p:nvSpPr>
            <p:cNvPr id="127" name="矩形 13">
              <a:extLst>
                <a:ext uri="{FF2B5EF4-FFF2-40B4-BE49-F238E27FC236}">
                  <a16:creationId xmlns:a16="http://schemas.microsoft.com/office/drawing/2014/main" id="{2C404A07-276B-3648-BB25-4EDB5905448C}"/>
                </a:ext>
              </a:extLst>
            </p:cNvPr>
            <p:cNvSpPr/>
            <p:nvPr userDrawn="1"/>
          </p:nvSpPr>
          <p:spPr>
            <a:xfrm>
              <a:off x="7551547" y="6324024"/>
              <a:ext cx="513579" cy="664398"/>
            </a:xfrm>
            <a:prstGeom prst="rect">
              <a:avLst/>
            </a:prstGeom>
            <a:solidFill>
              <a:srgbClr val="DDDDD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221/221/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221</a:t>
              </a:r>
            </a:p>
          </p:txBody>
        </p:sp>
        <p:sp>
          <p:nvSpPr>
            <p:cNvPr id="128" name="矩形 13">
              <a:extLst>
                <a:ext uri="{FF2B5EF4-FFF2-40B4-BE49-F238E27FC236}">
                  <a16:creationId xmlns:a16="http://schemas.microsoft.com/office/drawing/2014/main" id="{72B0F29C-A346-8946-9B8E-8F1B9DFF7AD0}"/>
                </a:ext>
              </a:extLst>
            </p:cNvPr>
            <p:cNvSpPr/>
            <p:nvPr userDrawn="1"/>
          </p:nvSpPr>
          <p:spPr>
            <a:xfrm>
              <a:off x="8098559" y="6324024"/>
              <a:ext cx="513579" cy="664398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B5B5B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255/255/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255</a:t>
              </a:r>
            </a:p>
          </p:txBody>
        </p:sp>
      </p:grpSp>
      <p:pic>
        <p:nvPicPr>
          <p:cNvPr id="47" name="Picture 46">
            <a:extLst>
              <a:ext uri="{FF2B5EF4-FFF2-40B4-BE49-F238E27FC236}">
                <a16:creationId xmlns:a16="http://schemas.microsoft.com/office/drawing/2014/main" id="{92D9040A-3082-2F49-987E-B51574332EF5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92194" y="6323416"/>
            <a:ext cx="1270304" cy="2750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6314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</p:sldLayoutIdLst>
  <p:hf hdr="0" ftr="0" dt="0"/>
  <p:txStyles>
    <p:titleStyle>
      <a:lvl1pPr algn="l" defTabSz="1186848" rtl="0" eaLnBrk="1" latinLnBrk="0" hangingPunct="1">
        <a:lnSpc>
          <a:spcPct val="90000"/>
        </a:lnSpc>
        <a:spcBef>
          <a:spcPct val="0"/>
        </a:spcBef>
        <a:buNone/>
        <a:defRPr sz="5712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96712" indent="-296712" algn="l" defTabSz="1186848" rtl="0" eaLnBrk="1" latinLnBrk="0" hangingPunct="1">
        <a:lnSpc>
          <a:spcPct val="90000"/>
        </a:lnSpc>
        <a:spcBef>
          <a:spcPts val="1297"/>
        </a:spcBef>
        <a:buFont typeface="Arial" panose="020B0604020202020204" pitchFamily="34" charset="0"/>
        <a:buChar char="•"/>
        <a:defRPr sz="3634" kern="1200">
          <a:solidFill>
            <a:schemeClr val="tx1"/>
          </a:solidFill>
          <a:latin typeface="+mn-lt"/>
          <a:ea typeface="+mn-ea"/>
          <a:cs typeface="+mn-cs"/>
        </a:defRPr>
      </a:lvl1pPr>
      <a:lvl2pPr marL="890137" indent="-296712" algn="l" defTabSz="118684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3116" kern="1200">
          <a:solidFill>
            <a:schemeClr val="tx1"/>
          </a:solidFill>
          <a:latin typeface="+mn-lt"/>
          <a:ea typeface="+mn-ea"/>
          <a:cs typeface="+mn-cs"/>
        </a:defRPr>
      </a:lvl2pPr>
      <a:lvl3pPr marL="1483560" indent="-296712" algn="l" defTabSz="118684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596" kern="1200">
          <a:solidFill>
            <a:schemeClr val="tx1"/>
          </a:solidFill>
          <a:latin typeface="+mn-lt"/>
          <a:ea typeface="+mn-ea"/>
          <a:cs typeface="+mn-cs"/>
        </a:defRPr>
      </a:lvl3pPr>
      <a:lvl4pPr marL="2076986" indent="-296712" algn="l" defTabSz="118684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6" kern="1200">
          <a:solidFill>
            <a:schemeClr val="tx1"/>
          </a:solidFill>
          <a:latin typeface="+mn-lt"/>
          <a:ea typeface="+mn-ea"/>
          <a:cs typeface="+mn-cs"/>
        </a:defRPr>
      </a:lvl4pPr>
      <a:lvl5pPr marL="2670409" indent="-296712" algn="l" defTabSz="118684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6" kern="1200">
          <a:solidFill>
            <a:schemeClr val="tx1"/>
          </a:solidFill>
          <a:latin typeface="+mn-lt"/>
          <a:ea typeface="+mn-ea"/>
          <a:cs typeface="+mn-cs"/>
        </a:defRPr>
      </a:lvl5pPr>
      <a:lvl6pPr marL="3263834" indent="-296712" algn="l" defTabSz="118684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6" kern="1200">
          <a:solidFill>
            <a:schemeClr val="tx1"/>
          </a:solidFill>
          <a:latin typeface="+mn-lt"/>
          <a:ea typeface="+mn-ea"/>
          <a:cs typeface="+mn-cs"/>
        </a:defRPr>
      </a:lvl6pPr>
      <a:lvl7pPr marL="3857258" indent="-296712" algn="l" defTabSz="118684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6" kern="1200">
          <a:solidFill>
            <a:schemeClr val="tx1"/>
          </a:solidFill>
          <a:latin typeface="+mn-lt"/>
          <a:ea typeface="+mn-ea"/>
          <a:cs typeface="+mn-cs"/>
        </a:defRPr>
      </a:lvl7pPr>
      <a:lvl8pPr marL="4450682" indent="-296712" algn="l" defTabSz="118684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6" kern="1200">
          <a:solidFill>
            <a:schemeClr val="tx1"/>
          </a:solidFill>
          <a:latin typeface="+mn-lt"/>
          <a:ea typeface="+mn-ea"/>
          <a:cs typeface="+mn-cs"/>
        </a:defRPr>
      </a:lvl8pPr>
      <a:lvl9pPr marL="5044107" indent="-296712" algn="l" defTabSz="118684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6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186848" rtl="0" eaLnBrk="1" latinLnBrk="0" hangingPunct="1">
        <a:defRPr sz="2336" kern="1200">
          <a:solidFill>
            <a:schemeClr val="tx1"/>
          </a:solidFill>
          <a:latin typeface="+mn-lt"/>
          <a:ea typeface="+mn-ea"/>
          <a:cs typeface="+mn-cs"/>
        </a:defRPr>
      </a:lvl1pPr>
      <a:lvl2pPr marL="593425" algn="l" defTabSz="1186848" rtl="0" eaLnBrk="1" latinLnBrk="0" hangingPunct="1">
        <a:defRPr sz="2336" kern="1200">
          <a:solidFill>
            <a:schemeClr val="tx1"/>
          </a:solidFill>
          <a:latin typeface="+mn-lt"/>
          <a:ea typeface="+mn-ea"/>
          <a:cs typeface="+mn-cs"/>
        </a:defRPr>
      </a:lvl2pPr>
      <a:lvl3pPr marL="1186848" algn="l" defTabSz="1186848" rtl="0" eaLnBrk="1" latinLnBrk="0" hangingPunct="1">
        <a:defRPr sz="2336" kern="1200">
          <a:solidFill>
            <a:schemeClr val="tx1"/>
          </a:solidFill>
          <a:latin typeface="+mn-lt"/>
          <a:ea typeface="+mn-ea"/>
          <a:cs typeface="+mn-cs"/>
        </a:defRPr>
      </a:lvl3pPr>
      <a:lvl4pPr marL="1780274" algn="l" defTabSz="1186848" rtl="0" eaLnBrk="1" latinLnBrk="0" hangingPunct="1">
        <a:defRPr sz="2336" kern="1200">
          <a:solidFill>
            <a:schemeClr val="tx1"/>
          </a:solidFill>
          <a:latin typeface="+mn-lt"/>
          <a:ea typeface="+mn-ea"/>
          <a:cs typeface="+mn-cs"/>
        </a:defRPr>
      </a:lvl4pPr>
      <a:lvl5pPr marL="2373698" algn="l" defTabSz="1186848" rtl="0" eaLnBrk="1" latinLnBrk="0" hangingPunct="1">
        <a:defRPr sz="2336" kern="1200">
          <a:solidFill>
            <a:schemeClr val="tx1"/>
          </a:solidFill>
          <a:latin typeface="+mn-lt"/>
          <a:ea typeface="+mn-ea"/>
          <a:cs typeface="+mn-cs"/>
        </a:defRPr>
      </a:lvl5pPr>
      <a:lvl6pPr marL="2967122" algn="l" defTabSz="1186848" rtl="0" eaLnBrk="1" latinLnBrk="0" hangingPunct="1">
        <a:defRPr sz="2336" kern="1200">
          <a:solidFill>
            <a:schemeClr val="tx1"/>
          </a:solidFill>
          <a:latin typeface="+mn-lt"/>
          <a:ea typeface="+mn-ea"/>
          <a:cs typeface="+mn-cs"/>
        </a:defRPr>
      </a:lvl6pPr>
      <a:lvl7pPr marL="3560546" algn="l" defTabSz="1186848" rtl="0" eaLnBrk="1" latinLnBrk="0" hangingPunct="1">
        <a:defRPr sz="2336" kern="1200">
          <a:solidFill>
            <a:schemeClr val="tx1"/>
          </a:solidFill>
          <a:latin typeface="+mn-lt"/>
          <a:ea typeface="+mn-ea"/>
          <a:cs typeface="+mn-cs"/>
        </a:defRPr>
      </a:lvl7pPr>
      <a:lvl8pPr marL="4153972" algn="l" defTabSz="1186848" rtl="0" eaLnBrk="1" latinLnBrk="0" hangingPunct="1">
        <a:defRPr sz="2336" kern="1200">
          <a:solidFill>
            <a:schemeClr val="tx1"/>
          </a:solidFill>
          <a:latin typeface="+mn-lt"/>
          <a:ea typeface="+mn-ea"/>
          <a:cs typeface="+mn-cs"/>
        </a:defRPr>
      </a:lvl8pPr>
      <a:lvl9pPr marL="4747395" algn="l" defTabSz="1186848" rtl="0" eaLnBrk="1" latinLnBrk="0" hangingPunct="1">
        <a:defRPr sz="2336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" Target="slide14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" Target="slide15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" Target="slide17.xml"/><Relationship Id="rId3" Type="http://schemas.openxmlformats.org/officeDocument/2006/relationships/slide" Target="slide1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" Target="slide18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" Target="slide19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" Target="slide2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" Target="slide2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" Target="slide20.xml"/><Relationship Id="rId3" Type="http://schemas.openxmlformats.org/officeDocument/2006/relationships/slide" Target="slide24.xml"/><Relationship Id="rId4" Type="http://schemas.openxmlformats.org/officeDocument/2006/relationships/slide" Target="slide23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" Target="slide14.xml"/><Relationship Id="rId3" Type="http://schemas.openxmlformats.org/officeDocument/2006/relationships/slide" Target="slide15.xml"/><Relationship Id="rId4" Type="http://schemas.openxmlformats.org/officeDocument/2006/relationships/slide" Target="slide16.xml"/><Relationship Id="rId5" Type="http://schemas.openxmlformats.org/officeDocument/2006/relationships/slide" Target="slide17.xml"/><Relationship Id="rId6" Type="http://schemas.openxmlformats.org/officeDocument/2006/relationships/slide" Target="slide18.xml"/><Relationship Id="rId7" Type="http://schemas.openxmlformats.org/officeDocument/2006/relationships/slide" Target="slide19.xml"/><Relationship Id="rId8" Type="http://schemas.openxmlformats.org/officeDocument/2006/relationships/slide" Target="slide20.xml"/><Relationship Id="rId9" Type="http://schemas.openxmlformats.org/officeDocument/2006/relationships/slide" Target="slide21.xml"/><Relationship Id="rId10" Type="http://schemas.openxmlformats.org/officeDocument/2006/relationships/slide" Target="slide22.xml"/><Relationship Id="rId11" Type="http://schemas.openxmlformats.org/officeDocument/2006/relationships/slide" Target="slide23.xml"/><Relationship Id="rId12" Type="http://schemas.openxmlformats.org/officeDocument/2006/relationships/slide" Target="slide24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" Target="slide1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" Target="slide13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" Target="slide13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" Target="slide13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" Target="slide13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" Target="slide13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" Target="slide13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" Target="slide13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" Target="slide13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" Target="slide1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" Target="slide13.xml"/></Relationships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 wrap="square" lIns="45720" tIns="0" rIns="45720" bIns="0" anchor="b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86384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1">
                <a:solidFill>
                  <a:srgbClr val="666666"/>
                </a:solidFill>
                <a:latin typeface="微软雅黑"/>
                <a:ea typeface="微软雅黑"/>
              </a:rPr>
              <a:t>RNP × 科大讯飞 · 技术交流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7863840" cy="914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3200" b="1">
                <a:solidFill>
                  <a:srgbClr val="C00000"/>
                </a:solidFill>
                <a:latin typeface="微软雅黑"/>
                <a:ea typeface="微软雅黑"/>
              </a:rPr>
              <a:t>国家模型、国家 AI 应用与领域模型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743200"/>
            <a:ext cx="7863840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000" b="1">
                <a:solidFill>
                  <a:srgbClr val="1D1D1A"/>
                </a:solidFill>
                <a:latin typeface="微软雅黑"/>
                <a:ea typeface="微软雅黑"/>
              </a:rPr>
              <a:t>讯飞交付什么、双方怎么分工、能力如何转移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749039"/>
            <a:ext cx="7863840" cy="11887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300" b="0">
                <a:solidFill>
                  <a:srgbClr val="333333"/>
                </a:solidFill>
                <a:latin typeface="微软雅黑"/>
                <a:ea typeface="微软雅黑"/>
              </a:rPr>
              <a:t>里约热内卢 · </a:t>
            </a:r>
            <a:r>
              <a:rPr sz="1300" b="0">
                <a:solidFill>
                  <a:srgbClr val="0070C0"/>
                </a:solidFill>
                <a:latin typeface="微软雅黑"/>
                <a:ea typeface="微软雅黑"/>
              </a:rPr>
              <a:t>待确认：2026 年 9 月 X 日</a:t>
            </a:r>
          </a:p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300" b="0">
                <a:solidFill>
                  <a:srgbClr val="333333"/>
                </a:solidFill>
                <a:latin typeface="微软雅黑"/>
                <a:ea typeface="微软雅黑"/>
              </a:rPr>
              <a:t>汇报：科大讯飞 </a:t>
            </a:r>
            <a:r>
              <a:rPr sz="1300" b="0">
                <a:solidFill>
                  <a:srgbClr val="0070C0"/>
                </a:solidFill>
                <a:latin typeface="微软雅黑"/>
                <a:ea typeface="微软雅黑"/>
              </a:rPr>
              <a:t>待确认：主讲人、方案架构师</a:t>
            </a:r>
          </a:p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300" b="0">
                <a:solidFill>
                  <a:srgbClr val="333333"/>
                </a:solidFill>
                <a:latin typeface="微软雅黑"/>
                <a:ea typeface="微软雅黑"/>
              </a:rPr>
              <a:t>讨论稿，内容以 SOW、BOQ 与技术方案为准；第 2 页一页看全，附录按需查阅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212080"/>
            <a:ext cx="7863840" cy="7315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  <a:spcAft>
                <a:spcPts val="300"/>
              </a:spcAft>
            </a:pPr>
            <a:r>
              <a:rPr sz="1050" b="0">
                <a:solidFill>
                  <a:srgbClr val="666666"/>
                </a:solidFill>
                <a:latin typeface="微软雅黑"/>
                <a:ea typeface="微软雅黑"/>
              </a:rPr>
              <a:t>图例：</a:t>
            </a:r>
            <a:r>
              <a:rPr sz="1050" b="0">
                <a:solidFill>
                  <a:srgbClr val="0070C0"/>
                </a:solidFill>
                <a:latin typeface="微软雅黑"/>
                <a:ea typeface="微软雅黑"/>
              </a:rPr>
              <a:t>蓝色文字</a:t>
            </a:r>
            <a:r>
              <a:rPr sz="1050" b="0">
                <a:solidFill>
                  <a:srgbClr val="666666"/>
                </a:solidFill>
                <a:latin typeface="微软雅黑"/>
                <a:ea typeface="微软雅黑"/>
              </a:rPr>
              <a:t> = 待确认，实施前双方共同确定的数字或范围；黑色文字 = 已写入工作范围（SOW）或讯飞技术方案的做法</a:t>
            </a:r>
          </a:p>
          <a:p>
            <a:pPr algn="l">
              <a:lnSpc>
                <a:spcPct val="130000"/>
              </a:lnSpc>
              <a:spcAft>
                <a:spcPts val="300"/>
              </a:spcAft>
            </a:pPr>
            <a:r>
              <a:rPr sz="1050" b="0">
                <a:solidFill>
                  <a:srgbClr val="666666"/>
                </a:solidFill>
                <a:latin typeface="微软雅黑"/>
                <a:ea typeface="微软雅黑"/>
              </a:rPr>
              <a:t>版式：红底 = 讯飞主导，蓝底 = RNP 主导，灰底 = 双方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052560" y="1600200"/>
            <a:ext cx="2651760" cy="713232"/>
          </a:xfrm>
          <a:prstGeom prst="roundRect">
            <a:avLst>
              <a:gd name="adj" fmla="val 4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0" y="1600200"/>
            <a:ext cx="2194560" cy="7132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1D1D1A"/>
                </a:solidFill>
                <a:latin typeface="微软雅黑"/>
                <a:ea typeface="微软雅黑"/>
              </a:rPr>
              <a:t>1  国家 AI 能力中心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052560" y="2478024"/>
            <a:ext cx="2651760" cy="713232"/>
          </a:xfrm>
          <a:prstGeom prst="roundRect">
            <a:avLst>
              <a:gd name="adj" fmla="val 4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0" y="2478024"/>
            <a:ext cx="2194560" cy="7132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1D1D1A"/>
                </a:solidFill>
                <a:latin typeface="微软雅黑"/>
                <a:ea typeface="微软雅黑"/>
              </a:rPr>
              <a:t>2  巴西葡语国家模型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052560" y="3355848"/>
            <a:ext cx="2651760" cy="713232"/>
          </a:xfrm>
          <a:prstGeom prst="roundRect">
            <a:avLst>
              <a:gd name="adj" fmla="val 4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0" y="3355848"/>
            <a:ext cx="2194560" cy="7132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1D1D1A"/>
                </a:solidFill>
                <a:latin typeface="微软雅黑"/>
                <a:ea typeface="微软雅黑"/>
              </a:rPr>
              <a:t>3  国家 AI 应用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052560" y="4233672"/>
            <a:ext cx="2651760" cy="713232"/>
          </a:xfrm>
          <a:prstGeom prst="roundRect">
            <a:avLst>
              <a:gd name="adj" fmla="val 4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26880" y="4233672"/>
            <a:ext cx="2194560" cy="7132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1D1D1A"/>
                </a:solidFill>
                <a:latin typeface="微软雅黑"/>
                <a:ea typeface="微软雅黑"/>
              </a:rPr>
              <a:t>4  领域模型 DLM × 3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52560" y="5111496"/>
            <a:ext cx="2651760" cy="658368"/>
          </a:xfrm>
          <a:prstGeom prst="roundRect">
            <a:avLst>
              <a:gd name="adj" fmla="val 4000"/>
            </a:avLst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052560" y="5111496"/>
            <a:ext cx="2651760" cy="65836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</a:rPr>
              <a:t>知识转移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 wrap="square" lIns="45720" tIns="0" rIns="45720" bIns="0" anchor="b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>
                <a:solidFill>
                  <a:srgbClr val="C00000"/>
                </a:solidFill>
                <a:latin typeface="微软雅黑"/>
                <a:ea typeface="微软雅黑"/>
              </a:rPr>
              <a:t>一页看全：讯飞交付的四项成果</a:t>
            </a:r>
          </a:p>
        </p:txBody>
      </p:sp>
      <p:sp>
        <p:nvSpPr>
          <p:cNvPr id="3" name="Rounded Rectangle 2">
            <a:hlinkClick action="ppaction://hlinksldjump" r:id="rId2"/>
          </p:cNvPr>
          <p:cNvSpPr/>
          <p:nvPr/>
        </p:nvSpPr>
        <p:spPr>
          <a:xfrm>
            <a:off x="10744200" y="292608"/>
            <a:ext cx="91440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950" b="1">
                <a:solidFill>
                  <a:srgbClr val="1F4E79"/>
                </a:solidFill>
                <a:latin typeface="微软雅黑"/>
                <a:ea typeface="微软雅黑"/>
              </a:rPr>
              <a:t>附录 A0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60120"/>
            <a:ext cx="11274552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400" b="0">
                <a:solidFill>
                  <a:srgbClr val="1D1D1A"/>
                </a:solidFill>
                <a:latin typeface="微软雅黑"/>
                <a:ea typeface="微软雅黑"/>
              </a:rPr>
              <a:t>四项成果都由讯飞交付，其中平台是三项成果的共用工作平台；每项一句话，细节见后面各页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737360"/>
            <a:ext cx="2626614" cy="2286000"/>
          </a:xfrm>
          <a:prstGeom prst="roundRect">
            <a:avLst>
              <a:gd name="adj" fmla="val 4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883664"/>
            <a:ext cx="2224278" cy="40233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>
                <a:solidFill>
                  <a:srgbClr val="1D1D1A"/>
                </a:solidFill>
                <a:latin typeface="微软雅黑"/>
                <a:ea typeface="微软雅黑"/>
              </a:rPr>
              <a:t>1  国家 AI 能力中心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2395728"/>
            <a:ext cx="2224278" cy="10058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200" b="0">
                <a:solidFill>
                  <a:srgbClr val="333333"/>
                </a:solidFill>
                <a:latin typeface="微软雅黑"/>
                <a:ea typeface="微软雅黑"/>
              </a:rPr>
              <a:t>训练模型、开发应用的工作平台；三项成果都在其上完成，未来由 RNP 自主使用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3429000"/>
            <a:ext cx="2224278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1">
                <a:solidFill>
                  <a:srgbClr val="C00000"/>
                </a:solidFill>
                <a:latin typeface="微软雅黑"/>
                <a:ea typeface="微软雅黑"/>
              </a:rPr>
              <a:t>3 个中心 + 审核平台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39846" y="1737360"/>
            <a:ext cx="2626614" cy="2286000"/>
          </a:xfrm>
          <a:prstGeom prst="roundRect">
            <a:avLst>
              <a:gd name="adj" fmla="val 4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41014" y="1883664"/>
            <a:ext cx="2224278" cy="40233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>
                <a:solidFill>
                  <a:srgbClr val="1D1D1A"/>
                </a:solidFill>
                <a:latin typeface="微软雅黑"/>
                <a:ea typeface="微软雅黑"/>
              </a:rPr>
              <a:t>2  巴西葡语国家模型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41014" y="2395728"/>
            <a:ext cx="2224278" cy="10058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200" b="0">
                <a:solidFill>
                  <a:srgbClr val="333333"/>
                </a:solidFill>
                <a:latin typeface="微软雅黑"/>
                <a:ea typeface="微软雅黑"/>
              </a:rPr>
              <a:t>文本大模型加语音识别、语音合成；讯飞训练，权重交付 RNP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41014" y="3429000"/>
            <a:ext cx="2224278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1">
                <a:solidFill>
                  <a:srgbClr val="C00000"/>
                </a:solidFill>
                <a:latin typeface="微软雅黑"/>
                <a:ea typeface="微软雅黑"/>
              </a:rPr>
              <a:t>≥290B 参数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22492" y="1737360"/>
            <a:ext cx="2626614" cy="2286000"/>
          </a:xfrm>
          <a:prstGeom prst="roundRect">
            <a:avLst>
              <a:gd name="adj" fmla="val 4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23659" y="1883664"/>
            <a:ext cx="2224278" cy="40233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>
                <a:solidFill>
                  <a:srgbClr val="1D1D1A"/>
                </a:solidFill>
                <a:latin typeface="微软雅黑"/>
                <a:ea typeface="微软雅黑"/>
              </a:rPr>
              <a:t>3  国家 AI 应用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23659" y="2395728"/>
            <a:ext cx="2224278" cy="10058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200" b="0">
                <a:solidFill>
                  <a:srgbClr val="333333"/>
                </a:solidFill>
                <a:latin typeface="微软雅黑"/>
                <a:ea typeface="微软雅黑"/>
              </a:rPr>
              <a:t>面向授权用户的国民 APP 和运营平台；讯飞交付软件，RNP 负责运营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23659" y="3429000"/>
            <a:ext cx="2224278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1">
                <a:solidFill>
                  <a:srgbClr val="C00000"/>
                </a:solidFill>
                <a:latin typeface="微软雅黑"/>
                <a:ea typeface="微软雅黑"/>
              </a:rPr>
              <a:t>1,000 路并发问答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05138" y="1737360"/>
            <a:ext cx="2626614" cy="2286000"/>
          </a:xfrm>
          <a:prstGeom prst="roundRect">
            <a:avLst>
              <a:gd name="adj" fmla="val 4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306306" y="1883664"/>
            <a:ext cx="2224278" cy="40233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>
                <a:solidFill>
                  <a:srgbClr val="1D1D1A"/>
                </a:solidFill>
                <a:latin typeface="微软雅黑"/>
                <a:ea typeface="微软雅黑"/>
              </a:rPr>
              <a:t>4  领域模型 DLM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06306" y="2395728"/>
            <a:ext cx="2224278" cy="10058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200" b="0">
                <a:solidFill>
                  <a:srgbClr val="333333"/>
                </a:solidFill>
                <a:latin typeface="微软雅黑"/>
                <a:ea typeface="微软雅黑"/>
              </a:rPr>
              <a:t>3 个行业场景的模型；RNP 训练，讯飞指导，权重归 RNP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06306" y="3429000"/>
            <a:ext cx="2224278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1">
                <a:solidFill>
                  <a:srgbClr val="C00000"/>
                </a:solidFill>
                <a:latin typeface="微软雅黑"/>
                <a:ea typeface="微软雅黑"/>
              </a:rPr>
              <a:t>3 项 × 1 个场景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4206240"/>
            <a:ext cx="11274552" cy="566928"/>
          </a:xfrm>
          <a:prstGeom prst="roundRect">
            <a:avLst>
              <a:gd name="adj" fmla="val 4000"/>
            </a:avLst>
          </a:prstGeom>
          <a:solidFill>
            <a:srgbClr val="F7F7F7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5800" y="4224528"/>
            <a:ext cx="10817352" cy="53035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1">
                <a:solidFill>
                  <a:srgbClr val="333333"/>
                </a:solidFill>
                <a:latin typeface="微软雅黑"/>
                <a:ea typeface="微软雅黑"/>
              </a:rPr>
              <a:t>知识转移</a:t>
            </a:r>
            <a:r>
              <a:rPr sz="1200" b="0">
                <a:solidFill>
                  <a:srgbClr val="333333"/>
                </a:solidFill>
                <a:latin typeface="微软雅黑"/>
                <a:ea typeface="微软雅黑"/>
              </a:rPr>
              <a:t>　四阶段共 578 课时、约 74 个工作日，RNP 核心团队从跟岗到独立操作　　</a:t>
            </a:r>
            <a:r>
              <a:rPr sz="1200" b="1">
                <a:solidFill>
                  <a:srgbClr val="333333"/>
                </a:solidFill>
                <a:latin typeface="微软雅黑"/>
                <a:ea typeface="微软雅黑"/>
              </a:rPr>
              <a:t>交付后支持</a:t>
            </a:r>
            <a:r>
              <a:rPr sz="1200" b="0">
                <a:solidFill>
                  <a:srgbClr val="333333"/>
                </a:solidFill>
                <a:latin typeface="微软雅黑"/>
                <a:ea typeface="微软雅黑"/>
              </a:rPr>
              <a:t>　现场陪伴 12 个月 + 远程支持 60 个月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4937760"/>
            <a:ext cx="11274552" cy="640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050" b="0">
                <a:solidFill>
                  <a:srgbClr val="666666"/>
                </a:solidFill>
                <a:latin typeface="微软雅黑"/>
                <a:ea typeface="微软雅黑"/>
              </a:rPr>
              <a:t>术语：文本大模型（NLP）处理文字的理解与生成；语音识别（ASR）将语音转为文字；语音合成（TTS）将文字转为语音；Token 是模型计量文本的单位，约等于一个词或词的一部分；Stage 1 / Stage 2 是两批算力对应的两个建设阶段。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 wrap="square" lIns="45720" tIns="0" rIns="45720" bIns="0" anchor="b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100" b="1">
                <a:solidFill>
                  <a:srgbClr val="C00000"/>
                </a:solidFill>
                <a:latin typeface="微软雅黑"/>
                <a:ea typeface="微软雅黑"/>
              </a:rPr>
              <a:t>国家 AI 能力中心：三项成果的共用平台，也是 RNP 未来的工作平台</a:t>
            </a:r>
          </a:p>
        </p:txBody>
      </p:sp>
      <p:sp>
        <p:nvSpPr>
          <p:cNvPr id="3" name="Rounded Rectangle 2">
            <a:hlinkClick action="ppaction://hlinksldjump" r:id="rId2"/>
          </p:cNvPr>
          <p:cNvSpPr/>
          <p:nvPr/>
        </p:nvSpPr>
        <p:spPr>
          <a:xfrm>
            <a:off x="10744200" y="292608"/>
            <a:ext cx="91440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950" b="1">
                <a:solidFill>
                  <a:srgbClr val="1F4E79"/>
                </a:solidFill>
                <a:latin typeface="微软雅黑"/>
                <a:ea typeface="微软雅黑"/>
              </a:rPr>
              <a:t>附录 A1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60120"/>
            <a:ext cx="11274552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400" b="0">
                <a:solidFill>
                  <a:srgbClr val="1D1D1A"/>
                </a:solidFill>
                <a:latin typeface="微软雅黑"/>
                <a:ea typeface="微软雅黑"/>
              </a:rPr>
              <a:t>平台软件及授权、部署配置、API 接入说明、验收报告与运维文档；验收后由 RNP 管理，讯飞现场陪伴 12 个月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27632"/>
            <a:ext cx="11274552" cy="2560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666666"/>
                </a:solidFill>
                <a:latin typeface="微软雅黑"/>
                <a:ea typeface="微软雅黑"/>
              </a:rPr>
              <a:t>三项成果都在平台上完成；四个模块各对应 RNP 的一支团队，本次逐一演示，约 10 分钟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339595" y="1920240"/>
            <a:ext cx="2926080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100" b="1">
                <a:solidFill>
                  <a:srgbClr val="1D1D1A"/>
                </a:solidFill>
                <a:latin typeface="微软雅黑"/>
                <a:ea typeface="微软雅黑"/>
              </a:rPr>
              <a:t>巴西葡语国家模型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631436" y="1920240"/>
            <a:ext cx="2926080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100" b="1">
                <a:solidFill>
                  <a:srgbClr val="1D1D1A"/>
                </a:solidFill>
                <a:latin typeface="微软雅黑"/>
                <a:ea typeface="微软雅黑"/>
              </a:rPr>
              <a:t>国家 AI 应用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923275" y="1920240"/>
            <a:ext cx="2926080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100" b="1">
                <a:solidFill>
                  <a:srgbClr val="1D1D1A"/>
                </a:solidFill>
                <a:latin typeface="微软雅黑"/>
                <a:ea typeface="微软雅黑"/>
              </a:rPr>
              <a:t>领域模型 DLM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2331720"/>
            <a:ext cx="11274552" cy="1783080"/>
          </a:xfrm>
          <a:prstGeom prst="roundRect">
            <a:avLst>
              <a:gd name="adj" fmla="val 4000"/>
            </a:avLst>
          </a:prstGeom>
          <a:solidFill>
            <a:srgbClr val="F7F7F7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2404872"/>
            <a:ext cx="365760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C00000"/>
                </a:solidFill>
                <a:latin typeface="微软雅黑"/>
                <a:ea typeface="微软雅黑"/>
              </a:rPr>
              <a:t>国家 AI 能力中心（平台）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2770632"/>
            <a:ext cx="2553462" cy="121615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2104" y="2862072"/>
            <a:ext cx="2260854" cy="3291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1">
                <a:solidFill>
                  <a:srgbClr val="1D1D1A"/>
                </a:solidFill>
                <a:latin typeface="微软雅黑"/>
                <a:ea typeface="微软雅黑"/>
              </a:rPr>
              <a:t>1  语料构建中心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2104" y="3227832"/>
            <a:ext cx="2260854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>
                <a:solidFill>
                  <a:srgbClr val="333333"/>
                </a:solidFill>
                <a:latin typeface="微软雅黑"/>
                <a:ea typeface="微软雅黑"/>
              </a:rPr>
              <a:t>导入、清洗、去重、标注、质量统计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2104" y="3639311"/>
            <a:ext cx="2260854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1">
                <a:solidFill>
                  <a:srgbClr val="333333"/>
                </a:solidFill>
                <a:latin typeface="微软雅黑"/>
                <a:ea typeface="微软雅黑"/>
              </a:rPr>
              <a:t>对应：</a:t>
            </a:r>
            <a:r>
              <a:rPr sz="1100" b="0">
                <a:solidFill>
                  <a:srgbClr val="333333"/>
                </a:solidFill>
                <a:latin typeface="微软雅黑"/>
                <a:ea typeface="微软雅黑"/>
              </a:rPr>
              <a:t>RNP 数据团队与葡语专家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440430" y="2770632"/>
            <a:ext cx="2553462" cy="121615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86734" y="2862072"/>
            <a:ext cx="2260854" cy="3291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1">
                <a:solidFill>
                  <a:srgbClr val="1D1D1A"/>
                </a:solidFill>
                <a:latin typeface="微软雅黑"/>
                <a:ea typeface="微软雅黑"/>
              </a:rPr>
              <a:t>2  模型训练中心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86734" y="3227832"/>
            <a:ext cx="2260854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>
                <a:solidFill>
                  <a:srgbClr val="333333"/>
                </a:solidFill>
                <a:latin typeface="微软雅黑"/>
                <a:ea typeface="微软雅黑"/>
              </a:rPr>
              <a:t>数据集管理、训练任务、资源配置、评测、发布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86734" y="3639311"/>
            <a:ext cx="2260854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1">
                <a:solidFill>
                  <a:srgbClr val="333333"/>
                </a:solidFill>
                <a:latin typeface="微软雅黑"/>
                <a:ea typeface="微软雅黑"/>
              </a:rPr>
              <a:t>对应：</a:t>
            </a:r>
            <a:r>
              <a:rPr sz="1100" b="0">
                <a:solidFill>
                  <a:srgbClr val="333333"/>
                </a:solidFill>
                <a:latin typeface="微软雅黑"/>
                <a:ea typeface="微软雅黑"/>
              </a:rPr>
              <a:t>RNP 模型工程师；DLM 在此自主训练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95060" y="2770632"/>
            <a:ext cx="2553462" cy="121615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41364" y="2862072"/>
            <a:ext cx="2260854" cy="3291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1">
                <a:solidFill>
                  <a:srgbClr val="1D1D1A"/>
                </a:solidFill>
                <a:latin typeface="微软雅黑"/>
                <a:ea typeface="微软雅黑"/>
              </a:rPr>
              <a:t>3  AI 应用创新中心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41364" y="3227832"/>
            <a:ext cx="2260854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>
                <a:solidFill>
                  <a:srgbClr val="333333"/>
                </a:solidFill>
                <a:latin typeface="微软雅黑"/>
                <a:ea typeface="微软雅黑"/>
              </a:rPr>
              <a:t>模型服务与 API、应用配置、运营统计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41364" y="3639311"/>
            <a:ext cx="2260854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1">
                <a:solidFill>
                  <a:srgbClr val="333333"/>
                </a:solidFill>
                <a:latin typeface="微软雅黑"/>
                <a:ea typeface="微软雅黑"/>
              </a:rPr>
              <a:t>对应：</a:t>
            </a:r>
            <a:r>
              <a:rPr sz="1100" b="0">
                <a:solidFill>
                  <a:srgbClr val="333333"/>
                </a:solidFill>
                <a:latin typeface="微软雅黑"/>
                <a:ea typeface="微软雅黑"/>
              </a:rPr>
              <a:t>RNP 应用与运营团队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949690" y="2770632"/>
            <a:ext cx="2553462" cy="121615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095994" y="2862072"/>
            <a:ext cx="2260854" cy="3291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1">
                <a:solidFill>
                  <a:srgbClr val="1D1D1A"/>
                </a:solidFill>
                <a:latin typeface="微软雅黑"/>
                <a:ea typeface="微软雅黑"/>
              </a:rPr>
              <a:t>4  安全审核平台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95994" y="3227832"/>
            <a:ext cx="2260854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>
                <a:solidFill>
                  <a:srgbClr val="333333"/>
                </a:solidFill>
                <a:latin typeface="微软雅黑"/>
                <a:ea typeface="微软雅黑"/>
              </a:rPr>
              <a:t>审核策略、敏感词库、风险样例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95994" y="3639311"/>
            <a:ext cx="2260854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1">
                <a:solidFill>
                  <a:srgbClr val="333333"/>
                </a:solidFill>
                <a:latin typeface="微软雅黑"/>
                <a:ea typeface="微软雅黑"/>
              </a:rPr>
              <a:t>对应：</a:t>
            </a:r>
            <a:r>
              <a:rPr sz="1100" b="0">
                <a:solidFill>
                  <a:srgbClr val="333333"/>
                </a:solidFill>
                <a:latin typeface="微软雅黑"/>
                <a:ea typeface="微软雅黑"/>
              </a:rPr>
              <a:t>RNP 审核与合规团队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7200" y="4297680"/>
            <a:ext cx="5500116" cy="1051560"/>
          </a:xfrm>
          <a:prstGeom prst="roundRect">
            <a:avLst>
              <a:gd name="adj" fmla="val 4000"/>
            </a:avLst>
          </a:prstGeom>
          <a:solidFill>
            <a:srgbClr val="FB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85800" y="4389120"/>
            <a:ext cx="274320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C00000"/>
                </a:solidFill>
                <a:latin typeface="微软雅黑"/>
                <a:ea typeface="微软雅黑"/>
              </a:rPr>
              <a:t>讯飞负责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" y="4754880"/>
            <a:ext cx="5042916" cy="53949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164592" indent="-164592">
              <a:lnSpc>
                <a:spcPct val="115000"/>
              </a:lnSpc>
              <a:spcAft>
                <a:spcPts val="300"/>
              </a:spcAft>
              <a:buClr>
                <a:srgbClr val="C00000"/>
              </a:buClr>
              <a:buSzPct val="100000"/>
              <a:buFont typeface="Arial"/>
              <a:buChar char="•"/>
            </a:pPr>
            <a:r>
              <a:rPr sz="1150" b="0">
                <a:solidFill>
                  <a:srgbClr val="333333"/>
                </a:solidFill>
                <a:latin typeface="微软雅黑"/>
                <a:ea typeface="微软雅黑"/>
              </a:rPr>
              <a:t>部署平台、接通接口</a:t>
            </a:r>
          </a:p>
          <a:p>
            <a:pPr algn="l" marL="164592" indent="-164592">
              <a:lnSpc>
                <a:spcPct val="115000"/>
              </a:lnSpc>
              <a:spcAft>
                <a:spcPts val="300"/>
              </a:spcAft>
              <a:buClr>
                <a:srgbClr val="C00000"/>
              </a:buClr>
              <a:buSzPct val="100000"/>
              <a:buFont typeface="Arial"/>
              <a:buChar char="•"/>
            </a:pPr>
            <a:r>
              <a:rPr sz="1150" b="0">
                <a:solidFill>
                  <a:srgbClr val="333333"/>
                </a:solidFill>
                <a:latin typeface="微软雅黑"/>
                <a:ea typeface="微软雅黑"/>
              </a:rPr>
              <a:t>培训 RNP 人员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231636" y="4297680"/>
            <a:ext cx="5500116" cy="1051560"/>
          </a:xfrm>
          <a:prstGeom prst="roundRect">
            <a:avLst>
              <a:gd name="adj" fmla="val 4000"/>
            </a:avLst>
          </a:prstGeom>
          <a:solidFill>
            <a:srgbClr val="E8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60236" y="4389120"/>
            <a:ext cx="274320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1F4E79"/>
                </a:solidFill>
                <a:latin typeface="微软雅黑"/>
                <a:ea typeface="微软雅黑"/>
              </a:rPr>
              <a:t>RNP 怎么参与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60236" y="4754880"/>
            <a:ext cx="5042916" cy="53949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164592" indent="-164592">
              <a:lnSpc>
                <a:spcPct val="115000"/>
              </a:lnSpc>
              <a:spcAft>
                <a:spcPts val="300"/>
              </a:spcAft>
              <a:buClr>
                <a:srgbClr val="1F4E79"/>
              </a:buClr>
              <a:buSzPct val="100000"/>
              <a:buFont typeface="Arial"/>
              <a:buChar char="•"/>
            </a:pPr>
            <a:r>
              <a:rPr sz="1150" b="0">
                <a:solidFill>
                  <a:srgbClr val="333333"/>
                </a:solidFill>
                <a:latin typeface="微软雅黑"/>
                <a:ea typeface="微软雅黑"/>
              </a:rPr>
              <a:t>提供环境和接口</a:t>
            </a:r>
          </a:p>
          <a:p>
            <a:pPr algn="l" marL="164592" indent="-164592">
              <a:lnSpc>
                <a:spcPct val="115000"/>
              </a:lnSpc>
              <a:spcAft>
                <a:spcPts val="300"/>
              </a:spcAft>
              <a:buClr>
                <a:srgbClr val="1F4E79"/>
              </a:buClr>
              <a:buSzPct val="100000"/>
              <a:buFont typeface="Arial"/>
              <a:buChar char="•"/>
            </a:pPr>
            <a:r>
              <a:rPr sz="1150" b="0">
                <a:solidFill>
                  <a:srgbClr val="333333"/>
                </a:solidFill>
                <a:latin typeface="微软雅黑"/>
                <a:ea typeface="微软雅黑"/>
              </a:rPr>
              <a:t>验收后自主管理，四个模块对应四支团队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57200" y="5486400"/>
            <a:ext cx="11274552" cy="5486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85800" y="5532120"/>
            <a:ext cx="10817352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50" b="1">
                <a:solidFill>
                  <a:srgbClr val="1F4E79"/>
                </a:solidFill>
                <a:latin typeface="微软雅黑"/>
                <a:ea typeface="微软雅黑"/>
              </a:rPr>
              <a:t>对 RNP 意味着</a:t>
            </a:r>
            <a:r>
              <a:rPr sz="1250" b="0">
                <a:solidFill>
                  <a:srgbClr val="1F4E79"/>
                </a:solidFill>
                <a:latin typeface="微软雅黑"/>
                <a:ea typeface="微软雅黑"/>
              </a:rPr>
              <a:t>　本次演示的每一步，都是跟岗和实操阶段 RNP 人员要自己完成的操作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 wrap="square" lIns="45720" tIns="0" rIns="45720" bIns="0" anchor="b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100" b="1">
                <a:solidFill>
                  <a:srgbClr val="C00000"/>
                </a:solidFill>
                <a:latin typeface="微软雅黑"/>
                <a:ea typeface="微软雅黑"/>
              </a:rPr>
              <a:t>巴西葡语国家模型：讯飞训练，RNP 提供语料，权重交付 RNP</a:t>
            </a:r>
          </a:p>
        </p:txBody>
      </p:sp>
      <p:sp>
        <p:nvSpPr>
          <p:cNvPr id="3" name="Rounded Rectangle 2">
            <a:hlinkClick action="ppaction://hlinksldjump" r:id="rId2"/>
          </p:cNvPr>
          <p:cNvSpPr/>
          <p:nvPr/>
        </p:nvSpPr>
        <p:spPr>
          <a:xfrm>
            <a:off x="10744200" y="292608"/>
            <a:ext cx="91440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950" b="1">
                <a:solidFill>
                  <a:srgbClr val="1F4E79"/>
                </a:solidFill>
                <a:latin typeface="微软雅黑"/>
                <a:ea typeface="微软雅黑"/>
              </a:rPr>
              <a:t>附录 A3</a:t>
            </a:r>
          </a:p>
        </p:txBody>
      </p:sp>
      <p:sp>
        <p:nvSpPr>
          <p:cNvPr id="4" name="Rounded Rectangle 3">
            <a:hlinkClick action="ppaction://hlinksldjump" r:id="rId3"/>
          </p:cNvPr>
          <p:cNvSpPr/>
          <p:nvPr/>
        </p:nvSpPr>
        <p:spPr>
          <a:xfrm>
            <a:off x="9756648" y="292608"/>
            <a:ext cx="91440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950" b="1">
                <a:solidFill>
                  <a:srgbClr val="1F4E79"/>
                </a:solidFill>
                <a:latin typeface="微软雅黑"/>
                <a:ea typeface="微软雅黑"/>
              </a:rPr>
              <a:t>附录 A2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60120"/>
            <a:ext cx="11274552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400" b="0">
                <a:solidFill>
                  <a:srgbClr val="1D1D1A"/>
                </a:solidFill>
                <a:latin typeface="微软雅黑"/>
                <a:ea typeface="微软雅黑"/>
              </a:rPr>
              <a:t>文本大模型（≥290B 参数）、语音识别、语音合成各 1 个；权重、版本清单、模型卡、评测报告和部署说明交付 RNP</a:t>
            </a:r>
          </a:p>
        </p:txBody>
      </p:sp>
      <p:sp>
        <p:nvSpPr>
          <p:cNvPr id="6" name="Rectangle 5"/>
          <p:cNvSpPr/>
          <p:nvPr/>
        </p:nvSpPr>
        <p:spPr>
          <a:xfrm>
            <a:off x="7982712" y="1682496"/>
            <a:ext cx="201168" cy="146304"/>
          </a:xfrm>
          <a:prstGeom prst="rect">
            <a:avLst/>
          </a:prstGeom>
          <a:solidFill>
            <a:srgbClr val="FBE5E9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38744" y="1627632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666666"/>
                </a:solidFill>
                <a:latin typeface="微软雅黑"/>
                <a:ea typeface="微软雅黑"/>
              </a:rPr>
              <a:t>讯飞主导</a:t>
            </a:r>
          </a:p>
        </p:txBody>
      </p:sp>
      <p:sp>
        <p:nvSpPr>
          <p:cNvPr id="8" name="Rectangle 7"/>
          <p:cNvSpPr/>
          <p:nvPr/>
        </p:nvSpPr>
        <p:spPr>
          <a:xfrm>
            <a:off x="9217152" y="1682496"/>
            <a:ext cx="201168" cy="146304"/>
          </a:xfrm>
          <a:prstGeom prst="rect">
            <a:avLst/>
          </a:prstGeom>
          <a:solidFill>
            <a:srgbClr val="E8F0FA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473184" y="1627632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666666"/>
                </a:solidFill>
                <a:latin typeface="微软雅黑"/>
                <a:ea typeface="微软雅黑"/>
              </a:rPr>
              <a:t>RNP 主导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451592" y="1682496"/>
            <a:ext cx="201168" cy="146304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707624" y="1627632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666666"/>
                </a:solidFill>
                <a:latin typeface="微软雅黑"/>
                <a:ea typeface="微软雅黑"/>
              </a:rPr>
              <a:t>双方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1920240"/>
            <a:ext cx="2647188" cy="1371600"/>
          </a:xfrm>
          <a:prstGeom prst="roundRect">
            <a:avLst>
              <a:gd name="adj" fmla="val 4000"/>
            </a:avLst>
          </a:prstGeom>
          <a:solidFill>
            <a:srgbClr val="E8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2048256"/>
            <a:ext cx="2281428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1D1D1A"/>
                </a:solidFill>
                <a:latin typeface="微软雅黑"/>
                <a:ea typeface="微软雅黑"/>
              </a:rPr>
              <a:t>1  语料准备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2487168"/>
            <a:ext cx="2281428" cy="7315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200" b="0">
                <a:solidFill>
                  <a:srgbClr val="333333"/>
                </a:solidFill>
                <a:latin typeface="微软雅黑"/>
                <a:ea typeface="微软雅黑"/>
              </a:rPr>
              <a:t>RNP 生产葡语语料；讯飞提供规范、工具、试批和抽样质检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3122676" y="2121408"/>
            <a:ext cx="201168" cy="201168"/>
          </a:xfrm>
          <a:prstGeom prst="rightArrow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3332988" y="1920240"/>
            <a:ext cx="2647188" cy="1371600"/>
          </a:xfrm>
          <a:prstGeom prst="roundRect">
            <a:avLst>
              <a:gd name="adj" fmla="val 4000"/>
            </a:avLst>
          </a:prstGeom>
          <a:solidFill>
            <a:srgbClr val="FB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15868" y="2048256"/>
            <a:ext cx="2281428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1D1D1A"/>
                </a:solidFill>
                <a:latin typeface="微软雅黑"/>
                <a:ea typeface="微软雅黑"/>
              </a:rPr>
              <a:t>2  模型训练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15868" y="2487168"/>
            <a:ext cx="2281428" cy="7315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200" b="0">
                <a:solidFill>
                  <a:srgbClr val="333333"/>
                </a:solidFill>
                <a:latin typeface="微软雅黑"/>
                <a:ea typeface="微软雅黑"/>
              </a:rPr>
              <a:t>在讯飞已有的基础模型上，用葡语语料继续训练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5998464" y="2121408"/>
            <a:ext cx="201168" cy="201168"/>
          </a:xfrm>
          <a:prstGeom prst="rightArrow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208776" y="1920240"/>
            <a:ext cx="2647188" cy="1371600"/>
          </a:xfrm>
          <a:prstGeom prst="roundRect">
            <a:avLst>
              <a:gd name="adj" fmla="val 4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91656" y="2048256"/>
            <a:ext cx="2281428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1D1D1A"/>
                </a:solidFill>
                <a:latin typeface="微软雅黑"/>
                <a:ea typeface="微软雅黑"/>
              </a:rPr>
              <a:t>3  评测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91656" y="2487168"/>
            <a:ext cx="2281428" cy="7315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200" b="0">
                <a:solidFill>
                  <a:srgbClr val="333333"/>
                </a:solidFill>
                <a:latin typeface="微软雅黑"/>
                <a:ea typeface="微软雅黑"/>
              </a:rPr>
              <a:t>测试集与通过规则双方确定；讯飞出评测报告，RNP 专家评审</a:t>
            </a:r>
          </a:p>
        </p:txBody>
      </p:sp>
      <p:sp>
        <p:nvSpPr>
          <p:cNvPr id="23" name="Right Arrow 22"/>
          <p:cNvSpPr/>
          <p:nvPr/>
        </p:nvSpPr>
        <p:spPr>
          <a:xfrm>
            <a:off x="8874252" y="2121408"/>
            <a:ext cx="201168" cy="201168"/>
          </a:xfrm>
          <a:prstGeom prst="rightArrow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9084564" y="1920240"/>
            <a:ext cx="2647188" cy="1371600"/>
          </a:xfrm>
          <a:prstGeom prst="roundRect">
            <a:avLst>
              <a:gd name="adj" fmla="val 4000"/>
            </a:avLst>
          </a:prstGeom>
          <a:solidFill>
            <a:srgbClr val="FB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267444" y="2048256"/>
            <a:ext cx="2281428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1D1D1A"/>
                </a:solidFill>
                <a:latin typeface="微软雅黑"/>
                <a:ea typeface="微软雅黑"/>
              </a:rPr>
              <a:t>4  本地交付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67444" y="2487168"/>
            <a:ext cx="2281428" cy="7315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200" b="0">
                <a:solidFill>
                  <a:srgbClr val="333333"/>
                </a:solidFill>
                <a:latin typeface="微软雅黑"/>
                <a:ea typeface="微软雅黑"/>
              </a:rPr>
              <a:t>部署在巴西环境，交付权重；12 个月内文本模型升级 3 次、语音各 1 次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7200" y="3520440"/>
            <a:ext cx="5500116" cy="1325880"/>
          </a:xfrm>
          <a:prstGeom prst="roundRect">
            <a:avLst>
              <a:gd name="adj" fmla="val 4000"/>
            </a:avLst>
          </a:prstGeom>
          <a:solidFill>
            <a:srgbClr val="FB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85800" y="3611880"/>
            <a:ext cx="274320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C00000"/>
                </a:solidFill>
                <a:latin typeface="微软雅黑"/>
                <a:ea typeface="微软雅黑"/>
              </a:rPr>
              <a:t>讯飞负责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" y="3977639"/>
            <a:ext cx="5042916" cy="81381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164592" indent="-164592">
              <a:lnSpc>
                <a:spcPct val="115000"/>
              </a:lnSpc>
              <a:spcAft>
                <a:spcPts val="300"/>
              </a:spcAft>
              <a:buClr>
                <a:srgbClr val="C00000"/>
              </a:buClr>
              <a:buSzPct val="100000"/>
              <a:buFont typeface="Arial"/>
              <a:buChar char="•"/>
            </a:pPr>
            <a:r>
              <a:rPr sz="1200" b="0">
                <a:solidFill>
                  <a:srgbClr val="333333"/>
                </a:solidFill>
                <a:latin typeface="微软雅黑"/>
                <a:ea typeface="微软雅黑"/>
              </a:rPr>
              <a:t>训练、评测、交付</a:t>
            </a:r>
          </a:p>
          <a:p>
            <a:pPr algn="l" marL="164592" indent="-164592">
              <a:lnSpc>
                <a:spcPct val="115000"/>
              </a:lnSpc>
              <a:spcAft>
                <a:spcPts val="300"/>
              </a:spcAft>
              <a:buClr>
                <a:srgbClr val="C00000"/>
              </a:buClr>
              <a:buSzPct val="100000"/>
              <a:buFont typeface="Arial"/>
              <a:buChar char="•"/>
            </a:pPr>
            <a:r>
              <a:rPr sz="1200" b="0">
                <a:solidFill>
                  <a:srgbClr val="333333"/>
                </a:solidFill>
                <a:latin typeface="微软雅黑"/>
                <a:ea typeface="微软雅黑"/>
              </a:rPr>
              <a:t>交付后 12 个月持续优化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231636" y="3520440"/>
            <a:ext cx="5500116" cy="1325880"/>
          </a:xfrm>
          <a:prstGeom prst="roundRect">
            <a:avLst>
              <a:gd name="adj" fmla="val 4000"/>
            </a:avLst>
          </a:prstGeom>
          <a:solidFill>
            <a:srgbClr val="E8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60236" y="3611880"/>
            <a:ext cx="274320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1F4E79"/>
                </a:solidFill>
                <a:latin typeface="微软雅黑"/>
                <a:ea typeface="微软雅黑"/>
              </a:rPr>
              <a:t>RNP 怎么参与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60236" y="3977639"/>
            <a:ext cx="5042916" cy="81381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164592" indent="-164592">
              <a:lnSpc>
                <a:spcPct val="115000"/>
              </a:lnSpc>
              <a:spcAft>
                <a:spcPts val="300"/>
              </a:spcAft>
              <a:buClr>
                <a:srgbClr val="1F4E79"/>
              </a:buClr>
              <a:buSzPct val="100000"/>
              <a:buFont typeface="Arial"/>
              <a:buChar char="•"/>
            </a:pPr>
            <a:r>
              <a:rPr sz="1200" b="0">
                <a:solidFill>
                  <a:srgbClr val="333333"/>
                </a:solidFill>
                <a:latin typeface="微软雅黑"/>
                <a:ea typeface="微软雅黑"/>
              </a:rPr>
              <a:t>生产葡语语料并取得授权，约 500 亿 Token</a:t>
            </a:r>
          </a:p>
          <a:p>
            <a:pPr algn="l" marL="164592" indent="-164592">
              <a:lnSpc>
                <a:spcPct val="115000"/>
              </a:lnSpc>
              <a:spcAft>
                <a:spcPts val="300"/>
              </a:spcAft>
              <a:buClr>
                <a:srgbClr val="1F4E79"/>
              </a:buClr>
              <a:buSzPct val="100000"/>
              <a:buFont typeface="Arial"/>
              <a:buChar char="•"/>
            </a:pPr>
            <a:r>
              <a:rPr sz="1200" b="0">
                <a:solidFill>
                  <a:srgbClr val="333333"/>
                </a:solidFill>
                <a:latin typeface="微软雅黑"/>
                <a:ea typeface="微软雅黑"/>
              </a:rPr>
              <a:t>专家参与评测评审；组织验收与发布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57200" y="5074920"/>
            <a:ext cx="11274552" cy="5486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85800" y="5120640"/>
            <a:ext cx="10817352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50" b="1">
                <a:solidFill>
                  <a:srgbClr val="1F4E79"/>
                </a:solidFill>
                <a:latin typeface="微软雅黑"/>
                <a:ea typeface="微软雅黑"/>
              </a:rPr>
              <a:t>对 RNP 意味着</a:t>
            </a:r>
            <a:r>
              <a:rPr sz="1250" b="0">
                <a:solidFill>
                  <a:srgbClr val="1F4E79"/>
                </a:solidFill>
                <a:latin typeface="微软雅黑"/>
                <a:ea typeface="微软雅黑"/>
              </a:rPr>
              <a:t>　第一阶段工作量最大的是语料；数据团队和葡语专家需最早到位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 wrap="square" lIns="45720" tIns="0" rIns="45720" bIns="0" anchor="b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100" b="1">
                <a:solidFill>
                  <a:srgbClr val="C00000"/>
                </a:solidFill>
                <a:latin typeface="微软雅黑"/>
                <a:ea typeface="微软雅黑"/>
              </a:rPr>
              <a:t>国家 AI 应用：讯飞交付软件，RNP 负责内容、用户与运营</a:t>
            </a:r>
          </a:p>
        </p:txBody>
      </p:sp>
      <p:sp>
        <p:nvSpPr>
          <p:cNvPr id="3" name="Rounded Rectangle 2">
            <a:hlinkClick action="ppaction://hlinksldjump" r:id="rId2"/>
          </p:cNvPr>
          <p:cNvSpPr/>
          <p:nvPr/>
        </p:nvSpPr>
        <p:spPr>
          <a:xfrm>
            <a:off x="10744200" y="292608"/>
            <a:ext cx="91440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950" b="1">
                <a:solidFill>
                  <a:srgbClr val="1F4E79"/>
                </a:solidFill>
                <a:latin typeface="微软雅黑"/>
                <a:ea typeface="微软雅黑"/>
              </a:rPr>
              <a:t>附录 A4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60120"/>
            <a:ext cx="11274552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400" b="0">
                <a:solidFill>
                  <a:srgbClr val="1D1D1A"/>
                </a:solidFill>
                <a:latin typeface="微软雅黑"/>
                <a:ea typeface="微软雅黑"/>
              </a:rPr>
              <a:t>国民 APP（手机、电脑多终端）和数据运营平台，面向 RNP 批准的用户；提供问答、检索、文档阅读、语音对话、写作</a:t>
            </a:r>
          </a:p>
        </p:txBody>
      </p:sp>
      <p:sp>
        <p:nvSpPr>
          <p:cNvPr id="5" name="Rectangle 4"/>
          <p:cNvSpPr/>
          <p:nvPr/>
        </p:nvSpPr>
        <p:spPr>
          <a:xfrm>
            <a:off x="7982712" y="1682496"/>
            <a:ext cx="201168" cy="146304"/>
          </a:xfrm>
          <a:prstGeom prst="rect">
            <a:avLst/>
          </a:prstGeom>
          <a:solidFill>
            <a:srgbClr val="FBE5E9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38744" y="1627632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666666"/>
                </a:solidFill>
                <a:latin typeface="微软雅黑"/>
                <a:ea typeface="微软雅黑"/>
              </a:rPr>
              <a:t>讯飞主导</a:t>
            </a:r>
          </a:p>
        </p:txBody>
      </p:sp>
      <p:sp>
        <p:nvSpPr>
          <p:cNvPr id="7" name="Rectangle 6"/>
          <p:cNvSpPr/>
          <p:nvPr/>
        </p:nvSpPr>
        <p:spPr>
          <a:xfrm>
            <a:off x="9217152" y="1682496"/>
            <a:ext cx="201168" cy="146304"/>
          </a:xfrm>
          <a:prstGeom prst="rect">
            <a:avLst/>
          </a:prstGeom>
          <a:solidFill>
            <a:srgbClr val="E8F0FA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473184" y="1627632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666666"/>
                </a:solidFill>
                <a:latin typeface="微软雅黑"/>
                <a:ea typeface="微软雅黑"/>
              </a:rPr>
              <a:t>RNP 主导</a:t>
            </a:r>
          </a:p>
        </p:txBody>
      </p:sp>
      <p:sp>
        <p:nvSpPr>
          <p:cNvPr id="9" name="Rectangle 8"/>
          <p:cNvSpPr/>
          <p:nvPr/>
        </p:nvSpPr>
        <p:spPr>
          <a:xfrm>
            <a:off x="10451592" y="1682496"/>
            <a:ext cx="201168" cy="146304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707624" y="1627632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666666"/>
                </a:solidFill>
                <a:latin typeface="微软雅黑"/>
                <a:ea typeface="微软雅黑"/>
              </a:rPr>
              <a:t>双方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1920240"/>
            <a:ext cx="2647188" cy="1371600"/>
          </a:xfrm>
          <a:prstGeom prst="roundRect">
            <a:avLst>
              <a:gd name="adj" fmla="val 4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2048256"/>
            <a:ext cx="2281428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1D1D1A"/>
                </a:solidFill>
                <a:latin typeface="微软雅黑"/>
                <a:ea typeface="微软雅黑"/>
              </a:rPr>
              <a:t>1  明确需求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2487168"/>
            <a:ext cx="2281428" cy="7315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200" b="0">
                <a:solidFill>
                  <a:srgbClr val="333333"/>
                </a:solidFill>
                <a:latin typeface="微软雅黑"/>
                <a:ea typeface="微软雅黑"/>
              </a:rPr>
              <a:t>功能、用户范围、内容规则双方共同确定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3122676" y="2121408"/>
            <a:ext cx="201168" cy="201168"/>
          </a:xfrm>
          <a:prstGeom prst="rightArrow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3332988" y="1920240"/>
            <a:ext cx="2647188" cy="1371600"/>
          </a:xfrm>
          <a:prstGeom prst="roundRect">
            <a:avLst>
              <a:gd name="adj" fmla="val 4000"/>
            </a:avLst>
          </a:prstGeom>
          <a:solidFill>
            <a:srgbClr val="FB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15868" y="2048256"/>
            <a:ext cx="2281428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1D1D1A"/>
                </a:solidFill>
                <a:latin typeface="微软雅黑"/>
                <a:ea typeface="微软雅黑"/>
              </a:rPr>
              <a:t>2  本地化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15868" y="2487168"/>
            <a:ext cx="2281428" cy="7315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200" b="0">
                <a:solidFill>
                  <a:srgbClr val="333333"/>
                </a:solidFill>
                <a:latin typeface="微软雅黑"/>
                <a:ea typeface="微软雅黑"/>
              </a:rPr>
              <a:t>葡语界面，采用 RNP 的品牌和内容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5998464" y="2121408"/>
            <a:ext cx="201168" cy="201168"/>
          </a:xfrm>
          <a:prstGeom prst="rightArrow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208776" y="1920240"/>
            <a:ext cx="2647188" cy="1371600"/>
          </a:xfrm>
          <a:prstGeom prst="roundRect">
            <a:avLst>
              <a:gd name="adj" fmla="val 4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91656" y="2048256"/>
            <a:ext cx="2281428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1D1D1A"/>
                </a:solidFill>
                <a:latin typeface="微软雅黑"/>
                <a:ea typeface="微软雅黑"/>
              </a:rPr>
              <a:t>3  系统集成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91656" y="2487168"/>
            <a:ext cx="2281428" cy="7315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200" b="0">
                <a:solidFill>
                  <a:srgbClr val="333333"/>
                </a:solidFill>
                <a:latin typeface="微软雅黑"/>
                <a:ea typeface="微软雅黑"/>
              </a:rPr>
              <a:t>RNP 提供本地系统接口、账号凭证与搜索等第三方服务，讯飞完成集成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8874252" y="2121408"/>
            <a:ext cx="201168" cy="201168"/>
          </a:xfrm>
          <a:prstGeom prst="rightArrow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9084564" y="1920240"/>
            <a:ext cx="2647188" cy="1371600"/>
          </a:xfrm>
          <a:prstGeom prst="roundRect">
            <a:avLst>
              <a:gd name="adj" fmla="val 4000"/>
            </a:avLst>
          </a:prstGeom>
          <a:solidFill>
            <a:srgbClr val="E8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267444" y="2048256"/>
            <a:ext cx="2281428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1D1D1A"/>
                </a:solidFill>
                <a:latin typeface="微软雅黑"/>
                <a:ea typeface="微软雅黑"/>
              </a:rPr>
              <a:t>4  上线运营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67444" y="2487168"/>
            <a:ext cx="2281428" cy="7315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200" b="0">
                <a:solidFill>
                  <a:srgbClr val="333333"/>
                </a:solidFill>
                <a:latin typeface="微软雅黑"/>
                <a:ea typeface="微软雅黑"/>
              </a:rPr>
              <a:t>Stage 1 初步交付，Stage 2 扩展运行；之后由 RNP 运营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57200" y="3520440"/>
            <a:ext cx="5500116" cy="1325880"/>
          </a:xfrm>
          <a:prstGeom prst="roundRect">
            <a:avLst>
              <a:gd name="adj" fmla="val 4000"/>
            </a:avLst>
          </a:prstGeom>
          <a:solidFill>
            <a:srgbClr val="FB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5800" y="3611880"/>
            <a:ext cx="274320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C00000"/>
                </a:solidFill>
                <a:latin typeface="微软雅黑"/>
                <a:ea typeface="微软雅黑"/>
              </a:rPr>
              <a:t>讯飞负责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" y="3977639"/>
            <a:ext cx="5042916" cy="81381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164592" indent="-164592">
              <a:lnSpc>
                <a:spcPct val="115000"/>
              </a:lnSpc>
              <a:spcAft>
                <a:spcPts val="300"/>
              </a:spcAft>
              <a:buClr>
                <a:srgbClr val="C00000"/>
              </a:buClr>
              <a:buSzPct val="100000"/>
              <a:buFont typeface="Arial"/>
              <a:buChar char="•"/>
            </a:pPr>
            <a:r>
              <a:rPr sz="1200" b="0">
                <a:solidFill>
                  <a:srgbClr val="333333"/>
                </a:solidFill>
                <a:latin typeface="微软雅黑"/>
                <a:ea typeface="微软雅黑"/>
              </a:rPr>
              <a:t>交付应用软件；接通接口、配置平台</a:t>
            </a:r>
          </a:p>
          <a:p>
            <a:pPr algn="l" marL="164592" indent="-164592">
              <a:lnSpc>
                <a:spcPct val="115000"/>
              </a:lnSpc>
              <a:spcAft>
                <a:spcPts val="300"/>
              </a:spcAft>
              <a:buClr>
                <a:srgbClr val="C00000"/>
              </a:buClr>
              <a:buSzPct val="100000"/>
              <a:buFont typeface="Arial"/>
              <a:buChar char="•"/>
            </a:pPr>
            <a:r>
              <a:rPr sz="1200" b="0">
                <a:solidFill>
                  <a:srgbClr val="333333"/>
                </a:solidFill>
                <a:latin typeface="微软雅黑"/>
                <a:ea typeface="微软雅黑"/>
              </a:rPr>
              <a:t>APP 演示已在第 3 页平台演示中安排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231636" y="3520440"/>
            <a:ext cx="5500116" cy="1325880"/>
          </a:xfrm>
          <a:prstGeom prst="roundRect">
            <a:avLst>
              <a:gd name="adj" fmla="val 4000"/>
            </a:avLst>
          </a:prstGeom>
          <a:solidFill>
            <a:srgbClr val="E8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60236" y="3611880"/>
            <a:ext cx="274320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1F4E79"/>
                </a:solidFill>
                <a:latin typeface="微软雅黑"/>
                <a:ea typeface="微软雅黑"/>
              </a:rPr>
              <a:t>RNP 怎么参与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60236" y="3977639"/>
            <a:ext cx="5042916" cy="81381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164592" indent="-164592">
              <a:lnSpc>
                <a:spcPct val="115000"/>
              </a:lnSpc>
              <a:spcAft>
                <a:spcPts val="300"/>
              </a:spcAft>
              <a:buClr>
                <a:srgbClr val="1F4E79"/>
              </a:buClr>
              <a:buSzPct val="100000"/>
              <a:buFont typeface="Arial"/>
              <a:buChar char="•"/>
            </a:pPr>
            <a:r>
              <a:rPr sz="1200" b="0">
                <a:solidFill>
                  <a:srgbClr val="333333"/>
                </a:solidFill>
                <a:latin typeface="微软雅黑"/>
                <a:ea typeface="微软雅黑"/>
              </a:rPr>
              <a:t>提供内容、品牌、本地系统接口与搜索等第三方服务</a:t>
            </a:r>
          </a:p>
          <a:p>
            <a:pPr algn="l" marL="164592" indent="-164592">
              <a:lnSpc>
                <a:spcPct val="115000"/>
              </a:lnSpc>
              <a:spcAft>
                <a:spcPts val="300"/>
              </a:spcAft>
              <a:buClr>
                <a:srgbClr val="1F4E79"/>
              </a:buClr>
              <a:buSzPct val="100000"/>
              <a:buFont typeface="Arial"/>
              <a:buChar char="•"/>
            </a:pPr>
            <a:r>
              <a:rPr sz="1200" b="0">
                <a:solidFill>
                  <a:srgbClr val="333333"/>
                </a:solidFill>
                <a:latin typeface="微软雅黑"/>
                <a:ea typeface="微软雅黑"/>
              </a:rPr>
              <a:t>审批用户；上线后由产品、运营和审核团队承接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57200" y="5074920"/>
            <a:ext cx="11274552" cy="5486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85800" y="5120640"/>
            <a:ext cx="10817352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50" b="1">
                <a:solidFill>
                  <a:srgbClr val="1F4E79"/>
                </a:solidFill>
                <a:latin typeface="微软雅黑"/>
                <a:ea typeface="微软雅黑"/>
              </a:rPr>
              <a:t>对 RNP 意味着</a:t>
            </a:r>
            <a:r>
              <a:rPr sz="1250" b="0">
                <a:solidFill>
                  <a:srgbClr val="1F4E79"/>
                </a:solidFill>
                <a:latin typeface="微软雅黑"/>
                <a:ea typeface="微软雅黑"/>
              </a:rPr>
              <a:t>　容量按 1,000 路并发问答配置并实测；上线后的运营团队要在 Stage 1 交付前到位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 wrap="square" lIns="45720" tIns="0" rIns="45720" bIns="0" anchor="b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100" b="1">
                <a:solidFill>
                  <a:srgbClr val="C00000"/>
                </a:solidFill>
                <a:latin typeface="微软雅黑"/>
                <a:ea typeface="微软雅黑"/>
              </a:rPr>
              <a:t>领域模型 DLM：RNP 训练，讯飞指导；3 项服务，每项 1 个场景</a:t>
            </a:r>
          </a:p>
        </p:txBody>
      </p:sp>
      <p:sp>
        <p:nvSpPr>
          <p:cNvPr id="3" name="Rounded Rectangle 2">
            <a:hlinkClick action="ppaction://hlinksldjump" r:id="rId2"/>
          </p:cNvPr>
          <p:cNvSpPr/>
          <p:nvPr/>
        </p:nvSpPr>
        <p:spPr>
          <a:xfrm>
            <a:off x="10744200" y="292608"/>
            <a:ext cx="91440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950" b="1">
                <a:solidFill>
                  <a:srgbClr val="1F4E79"/>
                </a:solidFill>
                <a:latin typeface="微软雅黑"/>
                <a:ea typeface="微软雅黑"/>
              </a:rPr>
              <a:t>附录 A5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60120"/>
            <a:ext cx="11274552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400" b="0">
                <a:solidFill>
                  <a:srgbClr val="1D1D1A"/>
                </a:solidFill>
                <a:latin typeface="微软雅黑"/>
                <a:ea typeface="微软雅黑"/>
              </a:rPr>
              <a:t>3 项行业模型辅助训练服务，每项 1 个固定场景；讯飞交付可行性分析、方案、指导记录和分析报告，模型权重由 RNP 训练产生、归 RNP</a:t>
            </a:r>
          </a:p>
        </p:txBody>
      </p:sp>
      <p:sp>
        <p:nvSpPr>
          <p:cNvPr id="5" name="Rectangle 4"/>
          <p:cNvSpPr/>
          <p:nvPr/>
        </p:nvSpPr>
        <p:spPr>
          <a:xfrm>
            <a:off x="7982712" y="1682496"/>
            <a:ext cx="201168" cy="146304"/>
          </a:xfrm>
          <a:prstGeom prst="rect">
            <a:avLst/>
          </a:prstGeom>
          <a:solidFill>
            <a:srgbClr val="FBE5E9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38744" y="1627632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666666"/>
                </a:solidFill>
                <a:latin typeface="微软雅黑"/>
                <a:ea typeface="微软雅黑"/>
              </a:rPr>
              <a:t>讯飞主导</a:t>
            </a:r>
          </a:p>
        </p:txBody>
      </p:sp>
      <p:sp>
        <p:nvSpPr>
          <p:cNvPr id="7" name="Rectangle 6"/>
          <p:cNvSpPr/>
          <p:nvPr/>
        </p:nvSpPr>
        <p:spPr>
          <a:xfrm>
            <a:off x="9217152" y="1682496"/>
            <a:ext cx="201168" cy="146304"/>
          </a:xfrm>
          <a:prstGeom prst="rect">
            <a:avLst/>
          </a:prstGeom>
          <a:solidFill>
            <a:srgbClr val="E8F0FA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473184" y="1627632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666666"/>
                </a:solidFill>
                <a:latin typeface="微软雅黑"/>
                <a:ea typeface="微软雅黑"/>
              </a:rPr>
              <a:t>RNP 主导</a:t>
            </a:r>
          </a:p>
        </p:txBody>
      </p:sp>
      <p:sp>
        <p:nvSpPr>
          <p:cNvPr id="9" name="Rectangle 8"/>
          <p:cNvSpPr/>
          <p:nvPr/>
        </p:nvSpPr>
        <p:spPr>
          <a:xfrm>
            <a:off x="10451592" y="1682496"/>
            <a:ext cx="201168" cy="146304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707624" y="1627632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666666"/>
                </a:solidFill>
                <a:latin typeface="微软雅黑"/>
                <a:ea typeface="微软雅黑"/>
              </a:rPr>
              <a:t>双方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1920240"/>
            <a:ext cx="2647188" cy="1371600"/>
          </a:xfrm>
          <a:prstGeom prst="roundRect">
            <a:avLst>
              <a:gd name="adj" fmla="val 4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2048256"/>
            <a:ext cx="2281428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1D1D1A"/>
                </a:solidFill>
                <a:latin typeface="微软雅黑"/>
                <a:ea typeface="微软雅黑"/>
              </a:rPr>
              <a:t>1  确定场景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2487168"/>
            <a:ext cx="2281428" cy="7315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200" b="0">
                <a:solidFill>
                  <a:srgbClr val="333333"/>
                </a:solidFill>
                <a:latin typeface="微软雅黑"/>
                <a:ea typeface="微软雅黑"/>
              </a:rPr>
              <a:t>明确用户、输入输出和边界，签署确认书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3122676" y="2121408"/>
            <a:ext cx="201168" cy="201168"/>
          </a:xfrm>
          <a:prstGeom prst="rightArrow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3332988" y="1920240"/>
            <a:ext cx="2647188" cy="1371600"/>
          </a:xfrm>
          <a:prstGeom prst="roundRect">
            <a:avLst>
              <a:gd name="adj" fmla="val 4000"/>
            </a:avLst>
          </a:prstGeom>
          <a:solidFill>
            <a:srgbClr val="E8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15868" y="2048256"/>
            <a:ext cx="2281428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1D1D1A"/>
                </a:solidFill>
                <a:latin typeface="微软雅黑"/>
                <a:ea typeface="微软雅黑"/>
              </a:rPr>
              <a:t>2  准备数据与路线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15868" y="2487168"/>
            <a:ext cx="2281428" cy="7315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200" b="0">
                <a:solidFill>
                  <a:srgbClr val="333333"/>
                </a:solidFill>
                <a:latin typeface="微软雅黑"/>
                <a:ea typeface="微软雅黑"/>
              </a:rPr>
              <a:t>RNP 准备训练、验证与独立评测数据和环境；训练路线双方共同确定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5998464" y="2121408"/>
            <a:ext cx="201168" cy="201168"/>
          </a:xfrm>
          <a:prstGeom prst="rightArrow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208776" y="1920240"/>
            <a:ext cx="2647188" cy="1371600"/>
          </a:xfrm>
          <a:prstGeom prst="roundRect">
            <a:avLst>
              <a:gd name="adj" fmla="val 4000"/>
            </a:avLst>
          </a:prstGeom>
          <a:solidFill>
            <a:srgbClr val="E8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91656" y="2048256"/>
            <a:ext cx="2281428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1D1D1A"/>
                </a:solidFill>
                <a:latin typeface="微软雅黑"/>
                <a:ea typeface="微软雅黑"/>
              </a:rPr>
              <a:t>3  训练与评测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91656" y="2487168"/>
            <a:ext cx="2281428" cy="7315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200" b="0">
                <a:solidFill>
                  <a:srgbClr val="333333"/>
                </a:solidFill>
                <a:latin typeface="微软雅黑"/>
                <a:ea typeface="微软雅黑"/>
              </a:rPr>
              <a:t>RNP 在训练中心训练；讯飞给参数建议、看训练日志、协助分析问题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8874252" y="2121408"/>
            <a:ext cx="201168" cy="201168"/>
          </a:xfrm>
          <a:prstGeom prst="rightArrow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9084564" y="1920240"/>
            <a:ext cx="2647188" cy="1371600"/>
          </a:xfrm>
          <a:prstGeom prst="roundRect">
            <a:avLst>
              <a:gd name="adj" fmla="val 4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267444" y="2048256"/>
            <a:ext cx="2281428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1D1D1A"/>
                </a:solidFill>
                <a:latin typeface="微软雅黑"/>
                <a:ea typeface="微软雅黑"/>
              </a:rPr>
              <a:t>4  服务验收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67444" y="2487168"/>
            <a:ext cx="2281428" cy="7315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200" b="0">
                <a:solidFill>
                  <a:srgbClr val="333333"/>
                </a:solidFill>
                <a:latin typeface="微软雅黑"/>
                <a:ea typeface="微软雅黑"/>
              </a:rPr>
              <a:t>基于 RNP 的实际结果完成分析，核对指导记录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57200" y="3520440"/>
            <a:ext cx="5500116" cy="1325880"/>
          </a:xfrm>
          <a:prstGeom prst="roundRect">
            <a:avLst>
              <a:gd name="adj" fmla="val 4000"/>
            </a:avLst>
          </a:prstGeom>
          <a:solidFill>
            <a:srgbClr val="FB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5800" y="3611880"/>
            <a:ext cx="274320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C00000"/>
                </a:solidFill>
                <a:latin typeface="微软雅黑"/>
                <a:ea typeface="微软雅黑"/>
              </a:rPr>
              <a:t>讯飞负责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" y="3977639"/>
            <a:ext cx="5042916" cy="81381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164592" indent="-164592">
              <a:lnSpc>
                <a:spcPct val="115000"/>
              </a:lnSpc>
              <a:spcAft>
                <a:spcPts val="300"/>
              </a:spcAft>
              <a:buClr>
                <a:srgbClr val="C00000"/>
              </a:buClr>
              <a:buSzPct val="100000"/>
              <a:buFont typeface="Arial"/>
              <a:buChar char="•"/>
            </a:pPr>
            <a:r>
              <a:rPr sz="1200" b="0">
                <a:solidFill>
                  <a:srgbClr val="333333"/>
                </a:solidFill>
                <a:latin typeface="微软雅黑"/>
                <a:ea typeface="微软雅黑"/>
              </a:rPr>
              <a:t>可行性分析与技术方案</a:t>
            </a:r>
          </a:p>
          <a:p>
            <a:pPr algn="l" marL="164592" indent="-164592">
              <a:lnSpc>
                <a:spcPct val="115000"/>
              </a:lnSpc>
              <a:spcAft>
                <a:spcPts val="300"/>
              </a:spcAft>
              <a:buClr>
                <a:srgbClr val="C00000"/>
              </a:buClr>
              <a:buSzPct val="100000"/>
              <a:buFont typeface="Arial"/>
              <a:buChar char="•"/>
            </a:pPr>
            <a:r>
              <a:rPr sz="1200" b="0">
                <a:solidFill>
                  <a:srgbClr val="333333"/>
                </a:solidFill>
                <a:latin typeface="微软雅黑"/>
                <a:ea typeface="微软雅黑"/>
              </a:rPr>
              <a:t>过程指导：参数建议、训练日志、问题分析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231636" y="3520440"/>
            <a:ext cx="5500116" cy="1325880"/>
          </a:xfrm>
          <a:prstGeom prst="roundRect">
            <a:avLst>
              <a:gd name="adj" fmla="val 4000"/>
            </a:avLst>
          </a:prstGeom>
          <a:solidFill>
            <a:srgbClr val="E8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60236" y="3611880"/>
            <a:ext cx="274320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1F4E79"/>
                </a:solidFill>
                <a:latin typeface="微软雅黑"/>
                <a:ea typeface="微软雅黑"/>
              </a:rPr>
              <a:t>RNP 怎么参与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60236" y="3977639"/>
            <a:ext cx="5042916" cy="81381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164592" indent="-164592">
              <a:lnSpc>
                <a:spcPct val="115000"/>
              </a:lnSpc>
              <a:spcAft>
                <a:spcPts val="300"/>
              </a:spcAft>
              <a:buClr>
                <a:srgbClr val="1F4E79"/>
              </a:buClr>
              <a:buSzPct val="100000"/>
              <a:buFont typeface="Arial"/>
              <a:buChar char="•"/>
            </a:pPr>
            <a:r>
              <a:rPr sz="1200" b="0">
                <a:solidFill>
                  <a:srgbClr val="333333"/>
                </a:solidFill>
                <a:latin typeface="微软雅黑"/>
                <a:ea typeface="微软雅黑"/>
              </a:rPr>
              <a:t>提出场景，准备数据、环境与领域专家</a:t>
            </a:r>
          </a:p>
          <a:p>
            <a:pPr algn="l" marL="164592" indent="-164592">
              <a:lnSpc>
                <a:spcPct val="115000"/>
              </a:lnSpc>
              <a:spcAft>
                <a:spcPts val="300"/>
              </a:spcAft>
              <a:buClr>
                <a:srgbClr val="1F4E79"/>
              </a:buClr>
              <a:buSzPct val="100000"/>
              <a:buFont typeface="Arial"/>
              <a:buChar char="•"/>
            </a:pPr>
            <a:r>
              <a:rPr sz="1200" b="0">
                <a:solidFill>
                  <a:srgbClr val="333333"/>
                </a:solidFill>
                <a:latin typeface="微软雅黑"/>
                <a:ea typeface="微软雅黑"/>
              </a:rPr>
              <a:t>执行训练、评测与业务验收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57200" y="5074920"/>
            <a:ext cx="11274552" cy="5486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85800" y="5120640"/>
            <a:ext cx="10817352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50" b="1">
                <a:solidFill>
                  <a:srgbClr val="1F4E79"/>
                </a:solidFill>
                <a:latin typeface="微软雅黑"/>
                <a:ea typeface="微软雅黑"/>
              </a:rPr>
              <a:t>对 RNP 意味着</a:t>
            </a:r>
            <a:r>
              <a:rPr sz="1250" b="0">
                <a:solidFill>
                  <a:srgbClr val="1F4E79"/>
                </a:solidFill>
                <a:latin typeface="微软雅黑"/>
                <a:ea typeface="微软雅黑"/>
              </a:rPr>
              <a:t>　这是 RNP 首次独立训练模型，需要自己的算法工程师和领域专家；跟岗和指导实操正是为此设计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 wrap="square" lIns="45720" tIns="0" rIns="45720" bIns="0" anchor="b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100" b="1">
                <a:solidFill>
                  <a:srgbClr val="C00000"/>
                </a:solidFill>
                <a:latin typeface="微软雅黑"/>
                <a:ea typeface="微软雅黑"/>
              </a:rPr>
              <a:t>实施路径：两个 Stage、五个步骤、三方分工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60120"/>
            <a:ext cx="11274552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400" b="0">
                <a:solidFill>
                  <a:srgbClr val="1D1D1A"/>
                </a:solidFill>
                <a:latin typeface="微软雅黑"/>
                <a:ea typeface="微软雅黑"/>
              </a:rPr>
              <a:t>五个步骤按条件推进：华为出算力，讯飞出软件和模型，RNP 出数据和运营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81328"/>
            <a:ext cx="11274552" cy="2377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666666"/>
                </a:solidFill>
                <a:latin typeface="微软雅黑"/>
                <a:ea typeface="微软雅黑"/>
              </a:rPr>
              <a:t>节点下方为各步骤的完成标志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199" y="1691640"/>
            <a:ext cx="5911595" cy="274320"/>
          </a:xfrm>
          <a:prstGeom prst="roundRect">
            <a:avLst>
              <a:gd name="adj" fmla="val 4000"/>
            </a:avLst>
          </a:prstGeom>
          <a:solidFill>
            <a:srgbClr val="F7F7F7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59" y="1691640"/>
            <a:ext cx="502920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1">
                <a:solidFill>
                  <a:srgbClr val="1D1D1A"/>
                </a:solidFill>
                <a:latin typeface="微软雅黑"/>
                <a:ea typeface="微软雅黑"/>
              </a:rPr>
              <a:t>Stage 1 · 基础部署、模型建设与 APP 初交付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820155" y="2011680"/>
            <a:ext cx="5911596" cy="2743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57315" y="2011680"/>
            <a:ext cx="502920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1">
                <a:solidFill>
                  <a:srgbClr val="1D1D1A"/>
                </a:solidFill>
                <a:latin typeface="微软雅黑"/>
                <a:ea typeface="微软雅黑"/>
              </a:rPr>
              <a:t>Stage 2 · 第二批算力就绪后扩展运行</a:t>
            </a:r>
          </a:p>
        </p:txBody>
      </p:sp>
      <p:sp>
        <p:nvSpPr>
          <p:cNvPr id="9" name="Rectangle 8"/>
          <p:cNvSpPr/>
          <p:nvPr/>
        </p:nvSpPr>
        <p:spPr>
          <a:xfrm>
            <a:off x="1280160" y="2999232"/>
            <a:ext cx="9628632" cy="45720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078992" y="2816351"/>
            <a:ext cx="402336" cy="402336"/>
          </a:xfrm>
          <a:prstGeom prst="ellipse">
            <a:avLst/>
          </a:prstGeom>
          <a:solidFill>
            <a:srgbClr val="E900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微软雅黑"/>
                <a:ea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8600" y="2359152"/>
            <a:ext cx="2103120" cy="36576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250" b="1">
                <a:solidFill>
                  <a:srgbClr val="1D1D1A"/>
                </a:solidFill>
                <a:latin typeface="微软雅黑"/>
                <a:ea typeface="微软雅黑"/>
              </a:rPr>
              <a:t>平台与语料准备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8600" y="3310127"/>
            <a:ext cx="2103120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100" b="0">
                <a:solidFill>
                  <a:srgbClr val="666666"/>
                </a:solidFill>
                <a:latin typeface="微软雅黑"/>
                <a:ea typeface="微软雅黑"/>
              </a:rPr>
              <a:t>平台验收，语料试批合格</a:t>
            </a:r>
          </a:p>
        </p:txBody>
      </p:sp>
      <p:sp>
        <p:nvSpPr>
          <p:cNvPr id="13" name="Oval 12"/>
          <p:cNvSpPr/>
          <p:nvPr/>
        </p:nvSpPr>
        <p:spPr>
          <a:xfrm>
            <a:off x="3486149" y="2816351"/>
            <a:ext cx="402336" cy="402336"/>
          </a:xfrm>
          <a:prstGeom prst="ellipse">
            <a:avLst/>
          </a:prstGeom>
          <a:solidFill>
            <a:srgbClr val="E900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微软雅黑"/>
                <a:ea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35758" y="2359152"/>
            <a:ext cx="2103120" cy="36576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250" b="1">
                <a:solidFill>
                  <a:srgbClr val="1D1D1A"/>
                </a:solidFill>
                <a:latin typeface="微软雅黑"/>
                <a:ea typeface="微软雅黑"/>
              </a:rPr>
              <a:t>模型训练与评测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35758" y="3310127"/>
            <a:ext cx="2103120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100" b="0">
                <a:solidFill>
                  <a:srgbClr val="666666"/>
                </a:solidFill>
                <a:latin typeface="微软雅黑"/>
                <a:ea typeface="微软雅黑"/>
              </a:rPr>
              <a:t>文本与语音模型评测通过</a:t>
            </a:r>
          </a:p>
        </p:txBody>
      </p:sp>
      <p:sp>
        <p:nvSpPr>
          <p:cNvPr id="16" name="Oval 15"/>
          <p:cNvSpPr/>
          <p:nvPr/>
        </p:nvSpPr>
        <p:spPr>
          <a:xfrm>
            <a:off x="5893307" y="2816351"/>
            <a:ext cx="402336" cy="402336"/>
          </a:xfrm>
          <a:prstGeom prst="ellipse">
            <a:avLst/>
          </a:prstGeom>
          <a:solidFill>
            <a:srgbClr val="E900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微软雅黑"/>
                <a:ea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42915" y="2359152"/>
            <a:ext cx="2103120" cy="36576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250" b="1">
                <a:solidFill>
                  <a:srgbClr val="1D1D1A"/>
                </a:solidFill>
                <a:latin typeface="微软雅黑"/>
                <a:ea typeface="微软雅黑"/>
              </a:rPr>
              <a:t>应用与 DLM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42915" y="3310127"/>
            <a:ext cx="2103120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100" b="0">
                <a:solidFill>
                  <a:srgbClr val="666666"/>
                </a:solidFill>
                <a:latin typeface="微软雅黑"/>
                <a:ea typeface="微软雅黑"/>
              </a:rPr>
              <a:t>APP Stage 1 交付；DLM 确认书签署</a:t>
            </a:r>
          </a:p>
        </p:txBody>
      </p:sp>
      <p:sp>
        <p:nvSpPr>
          <p:cNvPr id="19" name="Oval 18"/>
          <p:cNvSpPr/>
          <p:nvPr/>
        </p:nvSpPr>
        <p:spPr>
          <a:xfrm>
            <a:off x="8300465" y="2816351"/>
            <a:ext cx="402336" cy="402336"/>
          </a:xfrm>
          <a:prstGeom prst="ellipse">
            <a:avLst/>
          </a:prstGeom>
          <a:solidFill>
            <a:srgbClr val="E900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微软雅黑"/>
                <a:ea typeface="微软雅黑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50073" y="2359152"/>
            <a:ext cx="2103120" cy="36576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250" b="1">
                <a:solidFill>
                  <a:srgbClr val="1D1D1A"/>
                </a:solidFill>
                <a:latin typeface="微软雅黑"/>
                <a:ea typeface="微软雅黑"/>
              </a:rPr>
              <a:t>验收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50073" y="3310127"/>
            <a:ext cx="2103120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100" b="0">
                <a:solidFill>
                  <a:srgbClr val="666666"/>
                </a:solidFill>
                <a:latin typeface="微软雅黑"/>
                <a:ea typeface="微软雅黑"/>
              </a:rPr>
              <a:t>分项验收报告签署</a:t>
            </a:r>
          </a:p>
        </p:txBody>
      </p:sp>
      <p:sp>
        <p:nvSpPr>
          <p:cNvPr id="22" name="Oval 21"/>
          <p:cNvSpPr/>
          <p:nvPr/>
        </p:nvSpPr>
        <p:spPr>
          <a:xfrm>
            <a:off x="10707624" y="2816351"/>
            <a:ext cx="402336" cy="402336"/>
          </a:xfrm>
          <a:prstGeom prst="ellipse">
            <a:avLst/>
          </a:prstGeom>
          <a:solidFill>
            <a:srgbClr val="E900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微软雅黑"/>
                <a:ea typeface="微软雅黑"/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857232" y="2359152"/>
            <a:ext cx="2103120" cy="36576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250" b="1">
                <a:solidFill>
                  <a:srgbClr val="1D1D1A"/>
                </a:solidFill>
                <a:latin typeface="微软雅黑"/>
                <a:ea typeface="微软雅黑"/>
              </a:rPr>
              <a:t>移交与支持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857232" y="3310127"/>
            <a:ext cx="2103120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100" b="0">
                <a:solidFill>
                  <a:srgbClr val="666666"/>
                </a:solidFill>
                <a:latin typeface="微软雅黑"/>
                <a:ea typeface="微软雅黑"/>
              </a:rPr>
              <a:t>移交确认签署，进入陪伴运维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280160" y="4114800"/>
            <a:ext cx="9628632" cy="45720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280160" y="4178808"/>
            <a:ext cx="9628632" cy="2560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C00000"/>
                </a:solidFill>
                <a:latin typeface="微软雅黑"/>
                <a:ea typeface="微软雅黑"/>
              </a:rPr>
              <a:t>知识转移四阶段贯穿全程；正式移交在陪伴运维结束前至少 3 个月启动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7200" y="4572000"/>
            <a:ext cx="3575304" cy="658368"/>
          </a:xfrm>
          <a:prstGeom prst="roundRect">
            <a:avLst>
              <a:gd name="adj" fmla="val 4000"/>
            </a:avLst>
          </a:prstGeom>
          <a:solidFill>
            <a:srgbClr val="EFEF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8368" y="4745736"/>
            <a:ext cx="73152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1D1D1A"/>
                </a:solidFill>
                <a:latin typeface="微软雅黑"/>
                <a:ea typeface="微软雅黑"/>
              </a:rPr>
              <a:t>华为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371600" y="4626864"/>
            <a:ext cx="2478024" cy="5486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50" b="0">
                <a:solidFill>
                  <a:srgbClr val="333333"/>
                </a:solidFill>
                <a:latin typeface="微软雅黑"/>
                <a:ea typeface="微软雅黑"/>
              </a:rPr>
              <a:t>算力、机房、网络与基础环境，由 RNP 协调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06824" y="4572000"/>
            <a:ext cx="3575304" cy="658368"/>
          </a:xfrm>
          <a:prstGeom prst="roundRect">
            <a:avLst>
              <a:gd name="adj" fmla="val 4000"/>
            </a:avLst>
          </a:prstGeom>
          <a:solidFill>
            <a:srgbClr val="FB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07992" y="4745736"/>
            <a:ext cx="73152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C00000"/>
                </a:solidFill>
                <a:latin typeface="微软雅黑"/>
                <a:ea typeface="微软雅黑"/>
              </a:rPr>
              <a:t>讯飞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221224" y="4626864"/>
            <a:ext cx="2478024" cy="5486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50" b="0">
                <a:solidFill>
                  <a:srgbClr val="333333"/>
                </a:solidFill>
                <a:latin typeface="微软雅黑"/>
                <a:ea typeface="微软雅黑"/>
              </a:rPr>
              <a:t>平台、模型、应用、知识转移与支持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156448" y="4572000"/>
            <a:ext cx="3575304" cy="658368"/>
          </a:xfrm>
          <a:prstGeom prst="roundRect">
            <a:avLst>
              <a:gd name="adj" fmla="val 4000"/>
            </a:avLst>
          </a:prstGeom>
          <a:solidFill>
            <a:srgbClr val="E8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357616" y="4745736"/>
            <a:ext cx="73152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1F4E79"/>
                </a:solidFill>
                <a:latin typeface="微软雅黑"/>
                <a:ea typeface="微软雅黑"/>
              </a:rPr>
              <a:t>RNP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070848" y="4626864"/>
            <a:ext cx="2478024" cy="5486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50" b="0">
                <a:solidFill>
                  <a:srgbClr val="333333"/>
                </a:solidFill>
                <a:latin typeface="微软雅黑"/>
                <a:ea typeface="微软雅黑"/>
              </a:rPr>
              <a:t>语料与授权、DLM 训练、验收与日常运营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57200" y="5394960"/>
            <a:ext cx="11274552" cy="5486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85800" y="5440680"/>
            <a:ext cx="10817352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50" b="1">
                <a:solidFill>
                  <a:srgbClr val="1F4E79"/>
                </a:solidFill>
                <a:latin typeface="微软雅黑"/>
                <a:ea typeface="微软雅黑"/>
              </a:rPr>
              <a:t>对 RNP 意味着</a:t>
            </a:r>
            <a:r>
              <a:rPr sz="1250" b="0">
                <a:solidFill>
                  <a:srgbClr val="1F4E79"/>
                </a:solidFill>
                <a:latin typeface="微软雅黑"/>
                <a:ea typeface="微软雅黑"/>
              </a:rPr>
              <a:t>　各步骤月份实施前双方确定，T0 为第一批算力就绪；RNP 据此编制人力计划，三批到位顺序见下页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 wrap="square" lIns="45720" tIns="0" rIns="45720" bIns="0" anchor="b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100" b="1">
                <a:solidFill>
                  <a:srgbClr val="C00000"/>
                </a:solidFill>
                <a:latin typeface="微软雅黑"/>
                <a:ea typeface="微软雅黑"/>
              </a:rPr>
              <a:t>RNP 的投入：SOW 规定的职责与三批到位的人员</a:t>
            </a:r>
          </a:p>
        </p:txBody>
      </p:sp>
      <p:sp>
        <p:nvSpPr>
          <p:cNvPr id="3" name="Rounded Rectangle 2">
            <a:hlinkClick action="ppaction://hlinksldjump" r:id="rId2"/>
          </p:cNvPr>
          <p:cNvSpPr/>
          <p:nvPr/>
        </p:nvSpPr>
        <p:spPr>
          <a:xfrm>
            <a:off x="10744200" y="292608"/>
            <a:ext cx="91440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950" b="1">
                <a:solidFill>
                  <a:srgbClr val="1F4E79"/>
                </a:solidFill>
                <a:latin typeface="微软雅黑"/>
                <a:ea typeface="微软雅黑"/>
              </a:rPr>
              <a:t>附录 A7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60120"/>
            <a:ext cx="11274552" cy="6400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400" b="0">
                <a:solidFill>
                  <a:srgbClr val="1D1D1A"/>
                </a:solidFill>
                <a:latin typeface="微软雅黑"/>
                <a:ea typeface="微软雅黑"/>
              </a:rPr>
              <a:t>SOW 规定由 RNP 承担：生产葡语语料并取得授权；自主训练和评测 DLM；审批用户并运营 APP；协调华为算力和环境，组织验收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828800"/>
            <a:ext cx="3575304" cy="2148840"/>
          </a:xfrm>
          <a:prstGeom prst="roundRect">
            <a:avLst>
              <a:gd name="adj" fmla="val 4000"/>
            </a:avLst>
          </a:prstGeom>
          <a:solidFill>
            <a:srgbClr val="E8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965960"/>
            <a:ext cx="3118104" cy="3291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1F4E79"/>
                </a:solidFill>
                <a:latin typeface="微软雅黑"/>
                <a:ea typeface="微软雅黑"/>
              </a:rPr>
              <a:t>第 1 批 · 第 1 步起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331720"/>
            <a:ext cx="3118104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000" b="1">
                <a:solidFill>
                  <a:srgbClr val="0070C0"/>
                </a:solidFill>
                <a:latin typeface="微软雅黑"/>
                <a:ea typeface="微软雅黑"/>
              </a:rPr>
              <a:t>约 53 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880360"/>
            <a:ext cx="3118104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50" b="1">
                <a:solidFill>
                  <a:srgbClr val="333333"/>
                </a:solidFill>
                <a:latin typeface="微软雅黑"/>
                <a:ea typeface="微软雅黑"/>
              </a:rPr>
              <a:t>人员：</a:t>
            </a:r>
            <a:r>
              <a:rPr sz="1150" b="0">
                <a:solidFill>
                  <a:srgbClr val="333333"/>
                </a:solidFill>
                <a:latin typeface="微软雅黑"/>
                <a:ea typeface="微软雅黑"/>
              </a:rPr>
              <a:t>数据团队、葡语专家、合规审核、项目统筹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383280"/>
            <a:ext cx="3118104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50" b="1">
                <a:solidFill>
                  <a:srgbClr val="333333"/>
                </a:solidFill>
                <a:latin typeface="微软雅黑"/>
                <a:ea typeface="微软雅黑"/>
              </a:rPr>
              <a:t>任务：</a:t>
            </a:r>
            <a:r>
              <a:rPr sz="1150" b="0">
                <a:solidFill>
                  <a:srgbClr val="333333"/>
                </a:solidFill>
                <a:latin typeface="微软雅黑"/>
                <a:ea typeface="微软雅黑"/>
              </a:rPr>
              <a:t>采集、标注、质检语料并取得授权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4069080" y="2697480"/>
            <a:ext cx="201168" cy="201168"/>
          </a:xfrm>
          <a:prstGeom prst="rightArrow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306824" y="1828800"/>
            <a:ext cx="3575304" cy="2148840"/>
          </a:xfrm>
          <a:prstGeom prst="roundRect">
            <a:avLst>
              <a:gd name="adj" fmla="val 4000"/>
            </a:avLst>
          </a:prstGeom>
          <a:solidFill>
            <a:srgbClr val="E8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35424" y="1965960"/>
            <a:ext cx="3118104" cy="3291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1F4E79"/>
                </a:solidFill>
                <a:latin typeface="微软雅黑"/>
                <a:ea typeface="微软雅黑"/>
              </a:rPr>
              <a:t>第 2 批 · 第 2 步起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35424" y="2331720"/>
            <a:ext cx="3118104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000" b="1">
                <a:solidFill>
                  <a:srgbClr val="0070C0"/>
                </a:solidFill>
                <a:latin typeface="微软雅黑"/>
                <a:ea typeface="微软雅黑"/>
              </a:rPr>
              <a:t>约 25 人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35424" y="2880360"/>
            <a:ext cx="3118104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50" b="1">
                <a:solidFill>
                  <a:srgbClr val="333333"/>
                </a:solidFill>
                <a:latin typeface="微软雅黑"/>
                <a:ea typeface="微软雅黑"/>
              </a:rPr>
              <a:t>人员：</a:t>
            </a:r>
            <a:r>
              <a:rPr sz="1150" b="0">
                <a:solidFill>
                  <a:srgbClr val="333333"/>
                </a:solidFill>
                <a:latin typeface="微软雅黑"/>
                <a:ea typeface="微软雅黑"/>
              </a:rPr>
              <a:t>算法与测试工程师、业务领域专家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35424" y="3383280"/>
            <a:ext cx="3118104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50" b="1">
                <a:solidFill>
                  <a:srgbClr val="333333"/>
                </a:solidFill>
                <a:latin typeface="微软雅黑"/>
                <a:ea typeface="微软雅黑"/>
              </a:rPr>
              <a:t>任务：</a:t>
            </a:r>
            <a:r>
              <a:rPr sz="1150" b="0">
                <a:solidFill>
                  <a:srgbClr val="333333"/>
                </a:solidFill>
                <a:latin typeface="微软雅黑"/>
                <a:ea typeface="微软雅黑"/>
              </a:rPr>
              <a:t>参与国家模型训练评测，随后自主训练 DLM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7918704" y="2697480"/>
            <a:ext cx="201168" cy="201168"/>
          </a:xfrm>
          <a:prstGeom prst="rightArrow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156448" y="1828800"/>
            <a:ext cx="3575304" cy="2148840"/>
          </a:xfrm>
          <a:prstGeom prst="roundRect">
            <a:avLst>
              <a:gd name="adj" fmla="val 4000"/>
            </a:avLst>
          </a:prstGeom>
          <a:solidFill>
            <a:srgbClr val="E8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85048" y="1965960"/>
            <a:ext cx="3118104" cy="3291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1F4E79"/>
                </a:solidFill>
                <a:latin typeface="微软雅黑"/>
                <a:ea typeface="微软雅黑"/>
              </a:rPr>
              <a:t>第 3 批 · 第 3 步起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85048" y="2331720"/>
            <a:ext cx="3118104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000" b="1">
                <a:solidFill>
                  <a:srgbClr val="0070C0"/>
                </a:solidFill>
                <a:latin typeface="微软雅黑"/>
                <a:ea typeface="微软雅黑"/>
              </a:rPr>
              <a:t>约 33 人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85048" y="2880360"/>
            <a:ext cx="3118104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50" b="1">
                <a:solidFill>
                  <a:srgbClr val="333333"/>
                </a:solidFill>
                <a:latin typeface="微软雅黑"/>
                <a:ea typeface="微软雅黑"/>
              </a:rPr>
              <a:t>人员：</a:t>
            </a:r>
            <a:r>
              <a:rPr sz="1150" b="0">
                <a:solidFill>
                  <a:srgbClr val="333333"/>
                </a:solidFill>
                <a:latin typeface="微软雅黑"/>
                <a:ea typeface="微软雅黑"/>
              </a:rPr>
              <a:t>应用开发与运营、平台运维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85048" y="3383280"/>
            <a:ext cx="3118104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50" b="1">
                <a:solidFill>
                  <a:srgbClr val="333333"/>
                </a:solidFill>
                <a:latin typeface="微软雅黑"/>
                <a:ea typeface="微软雅黑"/>
              </a:rPr>
              <a:t>任务：</a:t>
            </a:r>
            <a:r>
              <a:rPr sz="1150" b="0">
                <a:solidFill>
                  <a:srgbClr val="333333"/>
                </a:solidFill>
                <a:latin typeface="微软雅黑"/>
                <a:ea typeface="微软雅黑"/>
              </a:rPr>
              <a:t>承接 APP 运营、用户审批与平台运维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4114800"/>
            <a:ext cx="11274552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0">
                <a:solidFill>
                  <a:srgbClr val="666666"/>
                </a:solidFill>
                <a:latin typeface="微软雅黑"/>
                <a:ea typeface="微软雅黑"/>
              </a:rPr>
              <a:t>人数为参考量级，来自讯飞早期估算，各职能峰值可跨活动复用，不是同时在岗人数；最终按 SOW 分工与工作量确认。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4709160"/>
            <a:ext cx="11274552" cy="6400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5800" y="4754880"/>
            <a:ext cx="10817352" cy="5486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50" b="1">
                <a:solidFill>
                  <a:srgbClr val="1F4E79"/>
                </a:solidFill>
                <a:latin typeface="微软雅黑"/>
                <a:ea typeface="微软雅黑"/>
              </a:rPr>
              <a:t>对 RNP 意味着</a:t>
            </a:r>
            <a:r>
              <a:rPr sz="1250" b="0">
                <a:solidFill>
                  <a:srgbClr val="1F4E79"/>
                </a:solidFill>
                <a:latin typeface="微软雅黑"/>
                <a:ea typeface="微软雅黑"/>
              </a:rPr>
              <a:t>　首批组建数据团队与葡语专家，其次配置算法工程师，应用运营团队第三批到位；知识转移的 30 名核心学员从三批人员中指定，名额另计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 wrap="square" lIns="45720" tIns="0" rIns="45720" bIns="0" anchor="b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100" b="1">
                <a:solidFill>
                  <a:srgbClr val="C00000"/>
                </a:solidFill>
                <a:latin typeface="微软雅黑"/>
                <a:ea typeface="微软雅黑"/>
              </a:rPr>
              <a:t>知识转移的四个阶段：578 课时、约 74 个工作日</a:t>
            </a:r>
          </a:p>
        </p:txBody>
      </p:sp>
      <p:sp>
        <p:nvSpPr>
          <p:cNvPr id="3" name="Rounded Rectangle 2">
            <a:hlinkClick action="ppaction://hlinksldjump" r:id="rId2"/>
          </p:cNvPr>
          <p:cNvSpPr/>
          <p:nvPr/>
        </p:nvSpPr>
        <p:spPr>
          <a:xfrm>
            <a:off x="10744200" y="292608"/>
            <a:ext cx="91440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950" b="1">
                <a:solidFill>
                  <a:srgbClr val="1F4E79"/>
                </a:solidFill>
                <a:latin typeface="微软雅黑"/>
                <a:ea typeface="微软雅黑"/>
              </a:rPr>
              <a:t>附录 A8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60120"/>
            <a:ext cx="11274552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400" b="0">
                <a:solidFill>
                  <a:srgbClr val="1D1D1A"/>
                </a:solidFill>
                <a:latin typeface="微软雅黑"/>
                <a:ea typeface="微软雅黑"/>
              </a:rPr>
              <a:t>一支核心团队，移交后能独立完成约定的平台运维、训练提交、模型部署与发布；30 人建立基础，10 人深入到独立操作</a:t>
            </a:r>
          </a:p>
        </p:txBody>
      </p:sp>
      <p:sp>
        <p:nvSpPr>
          <p:cNvPr id="5" name="Rectangle 4"/>
          <p:cNvSpPr/>
          <p:nvPr/>
        </p:nvSpPr>
        <p:spPr>
          <a:xfrm>
            <a:off x="7982712" y="1682496"/>
            <a:ext cx="201168" cy="146304"/>
          </a:xfrm>
          <a:prstGeom prst="rect">
            <a:avLst/>
          </a:prstGeom>
          <a:solidFill>
            <a:srgbClr val="FBE5E9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38744" y="1627632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666666"/>
                </a:solidFill>
                <a:latin typeface="微软雅黑"/>
                <a:ea typeface="微软雅黑"/>
              </a:rPr>
              <a:t>讯飞主导</a:t>
            </a:r>
          </a:p>
        </p:txBody>
      </p:sp>
      <p:sp>
        <p:nvSpPr>
          <p:cNvPr id="7" name="Rectangle 6"/>
          <p:cNvSpPr/>
          <p:nvPr/>
        </p:nvSpPr>
        <p:spPr>
          <a:xfrm>
            <a:off x="9217152" y="1682496"/>
            <a:ext cx="201168" cy="146304"/>
          </a:xfrm>
          <a:prstGeom prst="rect">
            <a:avLst/>
          </a:prstGeom>
          <a:solidFill>
            <a:srgbClr val="E8F0FA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473184" y="1627632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666666"/>
                </a:solidFill>
                <a:latin typeface="微软雅黑"/>
                <a:ea typeface="微软雅黑"/>
              </a:rPr>
              <a:t>RNP 主导</a:t>
            </a:r>
          </a:p>
        </p:txBody>
      </p:sp>
      <p:sp>
        <p:nvSpPr>
          <p:cNvPr id="9" name="Rectangle 8"/>
          <p:cNvSpPr/>
          <p:nvPr/>
        </p:nvSpPr>
        <p:spPr>
          <a:xfrm>
            <a:off x="10451592" y="1682496"/>
            <a:ext cx="201168" cy="146304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707624" y="1627632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666666"/>
                </a:solidFill>
                <a:latin typeface="微软雅黑"/>
                <a:ea typeface="微软雅黑"/>
              </a:rPr>
              <a:t>双方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1920240"/>
            <a:ext cx="2647188" cy="2011680"/>
          </a:xfrm>
          <a:prstGeom prst="roundRect">
            <a:avLst>
              <a:gd name="adj" fmla="val 4000"/>
            </a:avLst>
          </a:prstGeom>
          <a:solidFill>
            <a:srgbClr val="FB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2029968"/>
            <a:ext cx="2281428" cy="3291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1D1D1A"/>
                </a:solidFill>
                <a:latin typeface="微软雅黑"/>
                <a:ea typeface="微软雅黑"/>
              </a:rPr>
              <a:t>1  奠基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2377440"/>
            <a:ext cx="2281428" cy="42062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>
                <a:solidFill>
                  <a:srgbClr val="C00000"/>
                </a:solidFill>
                <a:latin typeface="微软雅黑"/>
                <a:ea typeface="微软雅黑"/>
              </a:rPr>
              <a:t>30</a:t>
            </a:r>
            <a:r>
              <a:rPr sz="1200" b="0">
                <a:solidFill>
                  <a:srgbClr val="1D1D1A"/>
                </a:solidFill>
                <a:latin typeface="微软雅黑"/>
                <a:ea typeface="微软雅黑"/>
              </a:rPr>
              <a:t> 课时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2816352"/>
            <a:ext cx="2281428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>
                <a:solidFill>
                  <a:srgbClr val="666666"/>
                </a:solidFill>
                <a:latin typeface="微软雅黑"/>
                <a:ea typeface="微软雅黑"/>
              </a:rPr>
              <a:t>约 5 个工作日 · 30 人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3127248"/>
            <a:ext cx="2281428" cy="75895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100" b="0">
                <a:solidFill>
                  <a:srgbClr val="333333"/>
                </a:solidFill>
                <a:latin typeface="微软雅黑"/>
                <a:ea typeface="微软雅黑"/>
              </a:rPr>
              <a:t>大模型基础、项目架构、语料到服务全流程、安全与运维基础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332988" y="1920240"/>
            <a:ext cx="2647188" cy="2011680"/>
          </a:xfrm>
          <a:prstGeom prst="roundRect">
            <a:avLst>
              <a:gd name="adj" fmla="val 4000"/>
            </a:avLst>
          </a:prstGeom>
          <a:solidFill>
            <a:srgbClr val="FB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15868" y="2029968"/>
            <a:ext cx="2281428" cy="3291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1D1D1A"/>
                </a:solidFill>
                <a:latin typeface="微软雅黑"/>
                <a:ea typeface="微软雅黑"/>
              </a:rPr>
              <a:t>2  跟岗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15868" y="2377440"/>
            <a:ext cx="2281428" cy="42062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>
                <a:solidFill>
                  <a:srgbClr val="C00000"/>
                </a:solidFill>
                <a:latin typeface="微软雅黑"/>
                <a:ea typeface="微软雅黑"/>
              </a:rPr>
              <a:t>360</a:t>
            </a:r>
            <a:r>
              <a:rPr sz="1200" b="0">
                <a:solidFill>
                  <a:srgbClr val="1D1D1A"/>
                </a:solidFill>
                <a:latin typeface="微软雅黑"/>
                <a:ea typeface="微软雅黑"/>
              </a:rPr>
              <a:t> 课时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15868" y="2816352"/>
            <a:ext cx="2281428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>
                <a:solidFill>
                  <a:srgbClr val="666666"/>
                </a:solidFill>
                <a:latin typeface="微软雅黑"/>
                <a:ea typeface="微软雅黑"/>
              </a:rPr>
              <a:t>约 45 个工作日 · 10 人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15868" y="3127248"/>
            <a:ext cx="2281428" cy="75895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100" b="0">
                <a:solidFill>
                  <a:srgbClr val="333333"/>
                </a:solidFill>
                <a:latin typeface="微软雅黑"/>
                <a:ea typeface="微软雅黑"/>
              </a:rPr>
              <a:t>讯飞操作，RNP 观察协助：数据集、训练任务、评测、发布、基础运维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08776" y="1920240"/>
            <a:ext cx="2647188" cy="2011680"/>
          </a:xfrm>
          <a:prstGeom prst="roundRect">
            <a:avLst>
              <a:gd name="adj" fmla="val 4000"/>
            </a:avLst>
          </a:prstGeom>
          <a:solidFill>
            <a:srgbClr val="E8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91656" y="2029968"/>
            <a:ext cx="2281428" cy="3291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1D1D1A"/>
                </a:solidFill>
                <a:latin typeface="微软雅黑"/>
                <a:ea typeface="微软雅黑"/>
              </a:rPr>
              <a:t>3  指导实操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91656" y="2377440"/>
            <a:ext cx="2281428" cy="42062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>
                <a:solidFill>
                  <a:srgbClr val="C00000"/>
                </a:solidFill>
                <a:latin typeface="微软雅黑"/>
                <a:ea typeface="微软雅黑"/>
              </a:rPr>
              <a:t>20</a:t>
            </a:r>
            <a:r>
              <a:rPr sz="1200" b="0">
                <a:solidFill>
                  <a:srgbClr val="1D1D1A"/>
                </a:solidFill>
                <a:latin typeface="微软雅黑"/>
                <a:ea typeface="微软雅黑"/>
              </a:rPr>
              <a:t> 课时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91656" y="2816352"/>
            <a:ext cx="2281428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>
                <a:solidFill>
                  <a:srgbClr val="666666"/>
                </a:solidFill>
                <a:latin typeface="微软雅黑"/>
                <a:ea typeface="微软雅黑"/>
              </a:rPr>
              <a:t>约 3 个工作日 · 10 人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91656" y="3127248"/>
            <a:ext cx="2281428" cy="75895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100" b="0">
                <a:solidFill>
                  <a:srgbClr val="333333"/>
                </a:solidFill>
                <a:latin typeface="微软雅黑"/>
                <a:ea typeface="微软雅黑"/>
              </a:rPr>
              <a:t>RNP 操作：数据处理、训练提交、模型部署、监控与故障处理；双方签实操记录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084564" y="1920240"/>
            <a:ext cx="2647188" cy="2011680"/>
          </a:xfrm>
          <a:prstGeom prst="roundRect">
            <a:avLst>
              <a:gd name="adj" fmla="val 4000"/>
            </a:avLst>
          </a:prstGeom>
          <a:solidFill>
            <a:srgbClr val="E8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267444" y="2029968"/>
            <a:ext cx="2281428" cy="3291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1D1D1A"/>
                </a:solidFill>
                <a:latin typeface="微软雅黑"/>
                <a:ea typeface="微软雅黑"/>
              </a:rPr>
              <a:t>4  正式移交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67444" y="2377440"/>
            <a:ext cx="2281428" cy="42062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>
                <a:solidFill>
                  <a:srgbClr val="C00000"/>
                </a:solidFill>
                <a:latin typeface="微软雅黑"/>
                <a:ea typeface="微软雅黑"/>
              </a:rPr>
              <a:t>168</a:t>
            </a:r>
            <a:r>
              <a:rPr sz="1200" b="0">
                <a:solidFill>
                  <a:srgbClr val="1D1D1A"/>
                </a:solidFill>
                <a:latin typeface="微软雅黑"/>
                <a:ea typeface="微软雅黑"/>
              </a:rPr>
              <a:t> 课时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67444" y="2816352"/>
            <a:ext cx="2281428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>
                <a:solidFill>
                  <a:srgbClr val="666666"/>
                </a:solidFill>
                <a:latin typeface="微软雅黑"/>
                <a:ea typeface="微软雅黑"/>
              </a:rPr>
              <a:t>约 21 个工作日 · 10 人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267444" y="3127248"/>
            <a:ext cx="2281428" cy="75895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100" b="0">
                <a:solidFill>
                  <a:srgbClr val="333333"/>
                </a:solidFill>
                <a:latin typeface="微软雅黑"/>
                <a:ea typeface="微软雅黑"/>
              </a:rPr>
              <a:t>移交资产、许可、配置、接口文档与运行手册；验证独立操作，双方签确认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57200" y="4160520"/>
            <a:ext cx="5500116" cy="1097280"/>
          </a:xfrm>
          <a:prstGeom prst="roundRect">
            <a:avLst>
              <a:gd name="adj" fmla="val 4000"/>
            </a:avLst>
          </a:prstGeom>
          <a:solidFill>
            <a:srgbClr val="FB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85800" y="4251959"/>
            <a:ext cx="274320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C00000"/>
                </a:solidFill>
                <a:latin typeface="微软雅黑"/>
                <a:ea typeface="微软雅黑"/>
              </a:rPr>
              <a:t>讯飞负责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5800" y="4617720"/>
            <a:ext cx="5042916" cy="58521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164592" indent="-164592">
              <a:lnSpc>
                <a:spcPct val="115000"/>
              </a:lnSpc>
              <a:spcAft>
                <a:spcPts val="300"/>
              </a:spcAft>
              <a:buClr>
                <a:srgbClr val="C00000"/>
              </a:buClr>
              <a:buSzPct val="100000"/>
              <a:buFont typeface="Arial"/>
              <a:buChar char="•"/>
            </a:pPr>
            <a:r>
              <a:rPr sz="1150" b="0">
                <a:solidFill>
                  <a:srgbClr val="333333"/>
                </a:solidFill>
                <a:latin typeface="微软雅黑"/>
                <a:ea typeface="微软雅黑"/>
              </a:rPr>
              <a:t>由参与本项目交付的讯飞工程师带教，检查关键步骤</a:t>
            </a:r>
          </a:p>
          <a:p>
            <a:pPr algn="l" marL="164592" indent="-164592">
              <a:lnSpc>
                <a:spcPct val="115000"/>
              </a:lnSpc>
              <a:spcAft>
                <a:spcPts val="300"/>
              </a:spcAft>
              <a:buClr>
                <a:srgbClr val="C00000"/>
              </a:buClr>
              <a:buSzPct val="100000"/>
              <a:buFont typeface="Arial"/>
              <a:buChar char="•"/>
            </a:pPr>
            <a:r>
              <a:rPr sz="1150" b="0">
                <a:solidFill>
                  <a:srgbClr val="333333"/>
                </a:solidFill>
                <a:latin typeface="微软雅黑"/>
                <a:ea typeface="微软雅黑"/>
              </a:rPr>
              <a:t>移交材料与独立操作验证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231636" y="4160520"/>
            <a:ext cx="5500116" cy="1097280"/>
          </a:xfrm>
          <a:prstGeom prst="roundRect">
            <a:avLst>
              <a:gd name="adj" fmla="val 4000"/>
            </a:avLst>
          </a:prstGeom>
          <a:solidFill>
            <a:srgbClr val="E8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60236" y="4251959"/>
            <a:ext cx="274320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1F4E79"/>
                </a:solidFill>
                <a:latin typeface="微软雅黑"/>
                <a:ea typeface="微软雅黑"/>
              </a:rPr>
              <a:t>RNP 怎么参与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60236" y="4617720"/>
            <a:ext cx="5042916" cy="58521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164592" indent="-164592">
              <a:lnSpc>
                <a:spcPct val="115000"/>
              </a:lnSpc>
              <a:spcAft>
                <a:spcPts val="300"/>
              </a:spcAft>
              <a:buClr>
                <a:srgbClr val="1F4E79"/>
              </a:buClr>
              <a:buSzPct val="100000"/>
              <a:buFont typeface="Arial"/>
              <a:buChar char="•"/>
            </a:pPr>
            <a:r>
              <a:rPr sz="1150" b="0">
                <a:solidFill>
                  <a:srgbClr val="333333"/>
                </a:solidFill>
                <a:latin typeface="微软雅黑"/>
                <a:ea typeface="微软雅黑"/>
              </a:rPr>
              <a:t>指定稳定、具备基础的学员，阶段学员可重合</a:t>
            </a:r>
          </a:p>
          <a:p>
            <a:pPr algn="l" marL="164592" indent="-164592">
              <a:lnSpc>
                <a:spcPct val="115000"/>
              </a:lnSpc>
              <a:spcAft>
                <a:spcPts val="300"/>
              </a:spcAft>
              <a:buClr>
                <a:srgbClr val="1F4E79"/>
              </a:buClr>
              <a:buSzPct val="100000"/>
              <a:buFont typeface="Arial"/>
              <a:buChar char="•"/>
            </a:pPr>
            <a:r>
              <a:rPr sz="1150" b="0">
                <a:solidFill>
                  <a:srgbClr val="333333"/>
                </a:solidFill>
                <a:latin typeface="微软雅黑"/>
                <a:ea typeface="微软雅黑"/>
              </a:rPr>
              <a:t>安排时间，参与真实交付任务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57200" y="5394960"/>
            <a:ext cx="11274552" cy="5486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85800" y="5440680"/>
            <a:ext cx="10817352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50" b="1">
                <a:solidFill>
                  <a:srgbClr val="1F4E79"/>
                </a:solidFill>
                <a:latin typeface="微软雅黑"/>
                <a:ea typeface="微软雅黑"/>
              </a:rPr>
              <a:t>对 RNP 意味着</a:t>
            </a:r>
            <a:r>
              <a:rPr sz="1250" b="0">
                <a:solidFill>
                  <a:srgbClr val="1F4E79"/>
                </a:solidFill>
                <a:latin typeface="微软雅黑"/>
                <a:ea typeface="微软雅黑"/>
              </a:rPr>
              <a:t>　74 个工作日是培训活动天数，分散在实施期内，不是连续工期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 wrap="square" lIns="45720" tIns="0" rIns="45720" bIns="0" anchor="b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100" b="1">
                <a:solidFill>
                  <a:srgbClr val="C00000"/>
                </a:solidFill>
                <a:latin typeface="微软雅黑"/>
                <a:ea typeface="微软雅黑"/>
              </a:rPr>
              <a:t>知识转移：RNP 学到什么、获得什么</a:t>
            </a:r>
          </a:p>
        </p:txBody>
      </p:sp>
      <p:sp>
        <p:nvSpPr>
          <p:cNvPr id="3" name="Rounded Rectangle 2">
            <a:hlinkClick action="ppaction://hlinksldjump" r:id="rId2"/>
          </p:cNvPr>
          <p:cNvSpPr/>
          <p:nvPr/>
        </p:nvSpPr>
        <p:spPr>
          <a:xfrm>
            <a:off x="10744200" y="292608"/>
            <a:ext cx="91440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950" b="1">
                <a:solidFill>
                  <a:srgbClr val="1F4E79"/>
                </a:solidFill>
                <a:latin typeface="微软雅黑"/>
                <a:ea typeface="微软雅黑"/>
              </a:rPr>
              <a:t>附录 A6</a:t>
            </a:r>
          </a:p>
        </p:txBody>
      </p:sp>
      <p:sp>
        <p:nvSpPr>
          <p:cNvPr id="4" name="Rounded Rectangle 3">
            <a:hlinkClick action="ppaction://hlinksldjump" r:id="rId3"/>
          </p:cNvPr>
          <p:cNvSpPr/>
          <p:nvPr/>
        </p:nvSpPr>
        <p:spPr>
          <a:xfrm>
            <a:off x="9756648" y="292608"/>
            <a:ext cx="91440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950" b="1">
                <a:solidFill>
                  <a:srgbClr val="1F4E79"/>
                </a:solidFill>
                <a:latin typeface="微软雅黑"/>
                <a:ea typeface="微软雅黑"/>
              </a:rPr>
              <a:t>附录 A10</a:t>
            </a:r>
          </a:p>
        </p:txBody>
      </p:sp>
      <p:sp>
        <p:nvSpPr>
          <p:cNvPr id="5" name="Rounded Rectangle 4">
            <a:hlinkClick action="ppaction://hlinksldjump" r:id="rId4"/>
          </p:cNvPr>
          <p:cNvSpPr/>
          <p:nvPr/>
        </p:nvSpPr>
        <p:spPr>
          <a:xfrm>
            <a:off x="8769096" y="292608"/>
            <a:ext cx="91440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950" b="1">
                <a:solidFill>
                  <a:srgbClr val="1F4E79"/>
                </a:solidFill>
                <a:latin typeface="微软雅黑"/>
                <a:ea typeface="微软雅黑"/>
              </a:rPr>
              <a:t>附录 A9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960120"/>
            <a:ext cx="11274552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400" b="0">
                <a:solidFill>
                  <a:srgbClr val="1D1D1A"/>
                </a:solidFill>
                <a:latin typeface="微软雅黑"/>
                <a:ea typeface="微软雅黑"/>
              </a:rPr>
              <a:t>12 项课程主题归为 4 个方向，讲师是参与本项目交付的讯飞工程师与方案架构师，研讨在交付的平台和模型上进行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737360"/>
            <a:ext cx="5454396" cy="2286000"/>
          </a:xfrm>
          <a:prstGeom prst="roundRect">
            <a:avLst>
              <a:gd name="adj" fmla="val 4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874519"/>
            <a:ext cx="4905756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1D1D1A"/>
                </a:solidFill>
                <a:latin typeface="微软雅黑"/>
                <a:ea typeface="微软雅黑"/>
              </a:rPr>
              <a:t>学到什么：4 个方向，学完能做什么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304288"/>
            <a:ext cx="4905756" cy="1645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164592" indent="-164592">
              <a:lnSpc>
                <a:spcPct val="115000"/>
              </a:lnSpc>
              <a:spcAft>
                <a:spcPts val="500"/>
              </a:spcAft>
              <a:buClr>
                <a:srgbClr val="C00000"/>
              </a:buClr>
              <a:buSzPct val="100000"/>
              <a:buFont typeface="Arial"/>
              <a:buChar char="•"/>
            </a:pPr>
            <a:r>
              <a:rPr sz="1150" b="1">
                <a:solidFill>
                  <a:srgbClr val="333333"/>
                </a:solidFill>
                <a:latin typeface="微软雅黑"/>
                <a:ea typeface="微软雅黑"/>
              </a:rPr>
              <a:t>模型与数据评测</a:t>
            </a:r>
            <a:r>
              <a:rPr sz="1150" b="0">
                <a:solidFill>
                  <a:srgbClr val="333333"/>
                </a:solidFill>
                <a:latin typeface="微软雅黑"/>
                <a:ea typeface="微软雅黑"/>
              </a:rPr>
              <a:t>：能比较训练路线、检查数据质量、按约定基线评测模型</a:t>
            </a:r>
          </a:p>
          <a:p>
            <a:pPr algn="l" marL="164592" indent="-164592">
              <a:lnSpc>
                <a:spcPct val="115000"/>
              </a:lnSpc>
              <a:spcAft>
                <a:spcPts val="500"/>
              </a:spcAft>
              <a:buClr>
                <a:srgbClr val="C00000"/>
              </a:buClr>
              <a:buSzPct val="100000"/>
              <a:buFont typeface="Arial"/>
              <a:buChar char="•"/>
            </a:pPr>
            <a:r>
              <a:rPr sz="1150" b="1">
                <a:solidFill>
                  <a:srgbClr val="333333"/>
                </a:solidFill>
                <a:latin typeface="微软雅黑"/>
                <a:ea typeface="微软雅黑"/>
              </a:rPr>
              <a:t>软件栈与生命周期</a:t>
            </a:r>
            <a:r>
              <a:rPr sz="1150" b="0">
                <a:solidFill>
                  <a:srgbClr val="333333"/>
                </a:solidFill>
                <a:latin typeface="微软雅黑"/>
                <a:ea typeface="微软雅黑"/>
              </a:rPr>
              <a:t>：能规划环境、管理依赖与版本、定位故障</a:t>
            </a:r>
          </a:p>
          <a:p>
            <a:pPr algn="l" marL="164592" indent="-164592">
              <a:lnSpc>
                <a:spcPct val="115000"/>
              </a:lnSpc>
              <a:spcAft>
                <a:spcPts val="500"/>
              </a:spcAft>
              <a:buClr>
                <a:srgbClr val="C00000"/>
              </a:buClr>
              <a:buSzPct val="100000"/>
              <a:buFont typeface="Arial"/>
              <a:buChar char="•"/>
            </a:pPr>
            <a:r>
              <a:rPr sz="1150" b="1">
                <a:solidFill>
                  <a:srgbClr val="333333"/>
                </a:solidFill>
                <a:latin typeface="微软雅黑"/>
                <a:ea typeface="微软雅黑"/>
              </a:rPr>
              <a:t>规模化训练与推理</a:t>
            </a:r>
            <a:r>
              <a:rPr sz="1150" b="0">
                <a:solidFill>
                  <a:srgbClr val="333333"/>
                </a:solidFill>
                <a:latin typeface="微软雅黑"/>
                <a:ea typeface="微软雅黑"/>
              </a:rPr>
              <a:t>：能定位算力瓶颈，在效果、时延、吞吐与成本间权衡</a:t>
            </a:r>
          </a:p>
          <a:p>
            <a:pPr algn="l" marL="164592" indent="-164592">
              <a:lnSpc>
                <a:spcPct val="115000"/>
              </a:lnSpc>
              <a:spcAft>
                <a:spcPts val="500"/>
              </a:spcAft>
              <a:buClr>
                <a:srgbClr val="C00000"/>
              </a:buClr>
              <a:buSzPct val="100000"/>
              <a:buFont typeface="Arial"/>
              <a:buChar char="•"/>
            </a:pPr>
            <a:r>
              <a:rPr sz="1150" b="1">
                <a:solidFill>
                  <a:srgbClr val="333333"/>
                </a:solidFill>
                <a:latin typeface="微软雅黑"/>
                <a:ea typeface="微软雅黑"/>
              </a:rPr>
              <a:t>检索、智能体与安全</a:t>
            </a:r>
            <a:r>
              <a:rPr sz="1150" b="0">
                <a:solidFill>
                  <a:srgbClr val="333333"/>
                </a:solidFill>
                <a:latin typeface="微软雅黑"/>
                <a:ea typeface="微软雅黑"/>
              </a:rPr>
              <a:t>：能设计带来源核验和风险控制的知识服务与研究助手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77356" y="1737360"/>
            <a:ext cx="5454396" cy="2286000"/>
          </a:xfrm>
          <a:prstGeom prst="roundRect">
            <a:avLst>
              <a:gd name="adj" fmla="val 4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51676" y="1874519"/>
            <a:ext cx="4905756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1D1D1A"/>
                </a:solidFill>
                <a:latin typeface="微软雅黑"/>
                <a:ea typeface="微软雅黑"/>
              </a:rPr>
              <a:t>获得什么：权重、平台、文档、支持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51676" y="2304288"/>
            <a:ext cx="4905756" cy="1645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164592" indent="-164592">
              <a:lnSpc>
                <a:spcPct val="115000"/>
              </a:lnSpc>
              <a:spcAft>
                <a:spcPts val="500"/>
              </a:spcAft>
              <a:buClr>
                <a:srgbClr val="C00000"/>
              </a:buClr>
              <a:buSzPct val="100000"/>
              <a:buFont typeface="Arial"/>
              <a:buChar char="•"/>
            </a:pPr>
            <a:r>
              <a:rPr sz="1150" b="1">
                <a:solidFill>
                  <a:srgbClr val="333333"/>
                </a:solidFill>
                <a:latin typeface="微软雅黑"/>
                <a:ea typeface="微软雅黑"/>
              </a:rPr>
              <a:t>模型权重</a:t>
            </a:r>
            <a:r>
              <a:rPr sz="1150" b="0">
                <a:solidFill>
                  <a:srgbClr val="333333"/>
                </a:solidFill>
                <a:latin typeface="微软雅黑"/>
                <a:ea typeface="微软雅黑"/>
              </a:rPr>
              <a:t>，DLM 权重归 RNP</a:t>
            </a:r>
          </a:p>
          <a:p>
            <a:pPr algn="l" marL="164592" indent="-164592">
              <a:lnSpc>
                <a:spcPct val="115000"/>
              </a:lnSpc>
              <a:spcAft>
                <a:spcPts val="500"/>
              </a:spcAft>
              <a:buClr>
                <a:srgbClr val="C00000"/>
              </a:buClr>
              <a:buSzPct val="100000"/>
              <a:buFont typeface="Arial"/>
              <a:buChar char="•"/>
            </a:pPr>
            <a:r>
              <a:rPr sz="1150" b="1">
                <a:solidFill>
                  <a:srgbClr val="333333"/>
                </a:solidFill>
                <a:latin typeface="微软雅黑"/>
                <a:ea typeface="微软雅黑"/>
              </a:rPr>
              <a:t>平台软件</a:t>
            </a:r>
            <a:r>
              <a:rPr sz="1150" b="0">
                <a:solidFill>
                  <a:srgbClr val="333333"/>
                </a:solidFill>
                <a:latin typeface="微软雅黑"/>
                <a:ea typeface="微软雅黑"/>
              </a:rPr>
              <a:t>和定制代码</a:t>
            </a:r>
          </a:p>
          <a:p>
            <a:pPr algn="l" marL="164592" indent="-164592">
              <a:lnSpc>
                <a:spcPct val="115000"/>
              </a:lnSpc>
              <a:spcAft>
                <a:spcPts val="500"/>
              </a:spcAft>
              <a:buClr>
                <a:srgbClr val="C00000"/>
              </a:buClr>
              <a:buSzPct val="100000"/>
              <a:buFont typeface="Arial"/>
              <a:buChar char="•"/>
            </a:pPr>
            <a:r>
              <a:rPr sz="1150" b="1">
                <a:solidFill>
                  <a:srgbClr val="333333"/>
                </a:solidFill>
                <a:latin typeface="微软雅黑"/>
                <a:ea typeface="微软雅黑"/>
              </a:rPr>
              <a:t>全部文档</a:t>
            </a:r>
            <a:r>
              <a:rPr sz="1150" b="0">
                <a:solidFill>
                  <a:srgbClr val="333333"/>
                </a:solidFill>
                <a:latin typeface="微软雅黑"/>
                <a:ea typeface="微软雅黑"/>
              </a:rPr>
              <a:t>，英语或葡语</a:t>
            </a:r>
          </a:p>
          <a:p>
            <a:pPr algn="l" marL="164592" indent="-164592">
              <a:lnSpc>
                <a:spcPct val="115000"/>
              </a:lnSpc>
              <a:spcAft>
                <a:spcPts val="500"/>
              </a:spcAft>
              <a:buClr>
                <a:srgbClr val="C00000"/>
              </a:buClr>
              <a:buSzPct val="100000"/>
              <a:buFont typeface="Arial"/>
              <a:buChar char="•"/>
            </a:pPr>
            <a:r>
              <a:rPr sz="1150" b="1">
                <a:solidFill>
                  <a:srgbClr val="333333"/>
                </a:solidFill>
                <a:latin typeface="微软雅黑"/>
                <a:ea typeface="微软雅黑"/>
              </a:rPr>
              <a:t>支持</a:t>
            </a:r>
            <a:r>
              <a:rPr sz="1150" b="0">
                <a:solidFill>
                  <a:srgbClr val="333333"/>
                </a:solidFill>
                <a:latin typeface="微软雅黑"/>
                <a:ea typeface="微软雅黑"/>
              </a:rPr>
              <a:t>：现场 12 个月 + 远程 60 个月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4206240"/>
            <a:ext cx="5500116" cy="1051560"/>
          </a:xfrm>
          <a:prstGeom prst="roundRect">
            <a:avLst>
              <a:gd name="adj" fmla="val 4000"/>
            </a:avLst>
          </a:prstGeom>
          <a:solidFill>
            <a:srgbClr val="FB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4297679"/>
            <a:ext cx="274320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C00000"/>
                </a:solidFill>
                <a:latin typeface="微软雅黑"/>
                <a:ea typeface="微软雅黑"/>
              </a:rPr>
              <a:t>讯飞负责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4663440"/>
            <a:ext cx="5042916" cy="53949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164592" indent="-164592">
              <a:lnSpc>
                <a:spcPct val="115000"/>
              </a:lnSpc>
              <a:spcAft>
                <a:spcPts val="300"/>
              </a:spcAft>
              <a:buClr>
                <a:srgbClr val="C00000"/>
              </a:buClr>
              <a:buSzPct val="100000"/>
              <a:buFont typeface="Arial"/>
              <a:buChar char="•"/>
            </a:pPr>
            <a:r>
              <a:rPr sz="1150" b="0">
                <a:solidFill>
                  <a:srgbClr val="333333"/>
                </a:solidFill>
                <a:latin typeface="微软雅黑"/>
                <a:ea typeface="微软雅黑"/>
              </a:rPr>
              <a:t>按批准的课程计划授课，使用批准的样本</a:t>
            </a:r>
          </a:p>
          <a:p>
            <a:pPr algn="l" marL="164592" indent="-164592">
              <a:lnSpc>
                <a:spcPct val="115000"/>
              </a:lnSpc>
              <a:spcAft>
                <a:spcPts val="300"/>
              </a:spcAft>
              <a:buClr>
                <a:srgbClr val="C00000"/>
              </a:buClr>
              <a:buSzPct val="100000"/>
              <a:buFont typeface="Arial"/>
              <a:buChar char="•"/>
            </a:pPr>
            <a:r>
              <a:rPr sz="1150" b="0">
                <a:solidFill>
                  <a:srgbClr val="333333"/>
                </a:solidFill>
                <a:latin typeface="微软雅黑"/>
                <a:ea typeface="微软雅黑"/>
              </a:rPr>
              <a:t>研讨、带教与移交材料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31636" y="4206240"/>
            <a:ext cx="5500116" cy="1051560"/>
          </a:xfrm>
          <a:prstGeom prst="roundRect">
            <a:avLst>
              <a:gd name="adj" fmla="val 4000"/>
            </a:avLst>
          </a:prstGeom>
          <a:solidFill>
            <a:srgbClr val="E8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60236" y="4297679"/>
            <a:ext cx="274320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1F4E79"/>
                </a:solidFill>
                <a:latin typeface="微软雅黑"/>
                <a:ea typeface="微软雅黑"/>
              </a:rPr>
              <a:t>RNP 怎么参与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60236" y="4663440"/>
            <a:ext cx="5042916" cy="53949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164592" indent="-164592">
              <a:lnSpc>
                <a:spcPct val="115000"/>
              </a:lnSpc>
              <a:spcAft>
                <a:spcPts val="300"/>
              </a:spcAft>
              <a:buClr>
                <a:srgbClr val="1F4E79"/>
              </a:buClr>
              <a:buSzPct val="100000"/>
              <a:buFont typeface="Arial"/>
              <a:buChar char="•"/>
            </a:pPr>
            <a:r>
              <a:rPr sz="1150" b="0">
                <a:solidFill>
                  <a:srgbClr val="333333"/>
                </a:solidFill>
                <a:latin typeface="微软雅黑"/>
                <a:ea typeface="微软雅黑"/>
              </a:rPr>
              <a:t>指定核心学员，安排参加研讨与实操</a:t>
            </a:r>
          </a:p>
          <a:p>
            <a:pPr algn="l" marL="164592" indent="-164592">
              <a:lnSpc>
                <a:spcPct val="115000"/>
              </a:lnSpc>
              <a:spcAft>
                <a:spcPts val="300"/>
              </a:spcAft>
              <a:buClr>
                <a:srgbClr val="1F4E79"/>
              </a:buClr>
              <a:buSzPct val="100000"/>
              <a:buFont typeface="Arial"/>
              <a:buChar char="•"/>
            </a:pPr>
            <a:r>
              <a:rPr sz="1150" b="0">
                <a:solidFill>
                  <a:srgbClr val="333333"/>
                </a:solidFill>
                <a:latin typeface="微软雅黑"/>
                <a:ea typeface="微软雅黑"/>
              </a:rPr>
              <a:t>按六类岗位的学习任务组织本方人员，见附录 A10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5440680"/>
            <a:ext cx="11274552" cy="5486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" y="5486400"/>
            <a:ext cx="10817352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50" b="1">
                <a:solidFill>
                  <a:srgbClr val="1F4E79"/>
                </a:solidFill>
                <a:latin typeface="微软雅黑"/>
                <a:ea typeface="微软雅黑"/>
              </a:rPr>
              <a:t>对 RNP 意味着</a:t>
            </a:r>
            <a:r>
              <a:rPr sz="1250" b="0">
                <a:solidFill>
                  <a:srgbClr val="1F4E79"/>
                </a:solidFill>
                <a:latin typeface="微软雅黑"/>
                <a:ea typeface="微软雅黑"/>
              </a:rPr>
              <a:t>　研讨课程在批准的课程计划内；</a:t>
            </a:r>
            <a:r>
              <a:rPr sz="1250" b="0">
                <a:solidFill>
                  <a:srgbClr val="0070C0"/>
                </a:solidFill>
                <a:latin typeface="微软雅黑"/>
                <a:ea typeface="微软雅黑"/>
              </a:rPr>
              <a:t>赴华参访、专家交流、战略圆桌为建议增加，另行约定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 wrap="square" lIns="45720" tIns="0" rIns="45720" bIns="0" anchor="b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100" b="1">
                <a:solidFill>
                  <a:srgbClr val="C00000"/>
                </a:solidFill>
                <a:latin typeface="微软雅黑"/>
                <a:ea typeface="微软雅黑"/>
              </a:rPr>
              <a:t>本次需确认：范围边界与六项事项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60120"/>
            <a:ext cx="11274552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400" b="0">
                <a:solidFill>
                  <a:srgbClr val="1D1D1A"/>
                </a:solidFill>
                <a:latin typeface="微软雅黑"/>
                <a:ea typeface="微软雅黑"/>
              </a:rPr>
              <a:t>验收按 SOW、BOQ、功能清单与批准方案执行；新增需求按书面变更处理。会中记录结论，会后形成双方行动清单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691640"/>
            <a:ext cx="3575304" cy="1371600"/>
          </a:xfrm>
          <a:prstGeom prst="roundRect">
            <a:avLst>
              <a:gd name="adj" fmla="val 4000"/>
            </a:avLst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83080"/>
            <a:ext cx="3209544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1D1D1A"/>
                </a:solidFill>
                <a:latin typeface="微软雅黑"/>
                <a:ea typeface="微软雅黑"/>
              </a:rPr>
              <a:t>SOW 已列基线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112264"/>
            <a:ext cx="3209544" cy="914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164592" indent="-164592">
              <a:lnSpc>
                <a:spcPct val="115000"/>
              </a:lnSpc>
              <a:spcAft>
                <a:spcPts val="300"/>
              </a:spcAft>
              <a:buClr>
                <a:srgbClr val="8C8C8C"/>
              </a:buClr>
              <a:buSzPct val="100000"/>
              <a:buFont typeface="Arial"/>
              <a:buChar char="•"/>
            </a:pPr>
            <a:r>
              <a:rPr sz="1100" b="0">
                <a:solidFill>
                  <a:srgbClr val="333333"/>
                </a:solidFill>
                <a:latin typeface="微软雅黑"/>
                <a:ea typeface="微软雅黑"/>
              </a:rPr>
              <a:t>平台、国家模型、AI 应用、安全产品</a:t>
            </a:r>
          </a:p>
          <a:p>
            <a:pPr algn="l" marL="164592" indent="-164592">
              <a:lnSpc>
                <a:spcPct val="115000"/>
              </a:lnSpc>
              <a:spcAft>
                <a:spcPts val="300"/>
              </a:spcAft>
              <a:buClr>
                <a:srgbClr val="8C8C8C"/>
              </a:buClr>
              <a:buSzPct val="100000"/>
              <a:buFont typeface="Arial"/>
              <a:buChar char="•"/>
            </a:pPr>
            <a:r>
              <a:rPr sz="1100" b="0">
                <a:solidFill>
                  <a:srgbClr val="333333"/>
                </a:solidFill>
                <a:latin typeface="微软雅黑"/>
                <a:ea typeface="微软雅黑"/>
              </a:rPr>
              <a:t>3 项 DLM 辅助训练；2 项推理适配</a:t>
            </a:r>
          </a:p>
          <a:p>
            <a:pPr algn="l" marL="164592" indent="-164592">
              <a:lnSpc>
                <a:spcPct val="115000"/>
              </a:lnSpc>
              <a:spcAft>
                <a:spcPts val="300"/>
              </a:spcAft>
              <a:buClr>
                <a:srgbClr val="8C8C8C"/>
              </a:buClr>
              <a:buSzPct val="100000"/>
              <a:buFont typeface="Arial"/>
              <a:buChar char="•"/>
            </a:pPr>
            <a:r>
              <a:rPr sz="1100" b="0">
                <a:solidFill>
                  <a:srgbClr val="333333"/>
                </a:solidFill>
                <a:latin typeface="微软雅黑"/>
                <a:ea typeface="微软雅黑"/>
              </a:rPr>
              <a:t>四阶段知识转移；12 + 60 个月支持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06824" y="1691640"/>
            <a:ext cx="3575304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9704" y="1783080"/>
            <a:ext cx="3209544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1D1D1A"/>
                </a:solidFill>
                <a:latin typeface="微软雅黑"/>
                <a:ea typeface="微软雅黑"/>
              </a:rPr>
              <a:t>范围外 · 另行约定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89704" y="2112264"/>
            <a:ext cx="3209544" cy="914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164592" indent="-164592">
              <a:lnSpc>
                <a:spcPct val="115000"/>
              </a:lnSpc>
              <a:spcAft>
                <a:spcPts val="300"/>
              </a:spcAft>
              <a:buClr>
                <a:srgbClr val="8C8C8C"/>
              </a:buClr>
              <a:buSzPct val="100000"/>
              <a:buFont typeface="Arial"/>
              <a:buChar char="•"/>
            </a:pPr>
            <a:r>
              <a:rPr sz="1100" b="0">
                <a:solidFill>
                  <a:srgbClr val="333333"/>
                </a:solidFill>
                <a:latin typeface="微软雅黑"/>
                <a:ea typeface="微软雅黑"/>
              </a:rPr>
              <a:t>新增模型、场景、终端、接口</a:t>
            </a:r>
          </a:p>
          <a:p>
            <a:pPr algn="l" marL="164592" indent="-164592">
              <a:lnSpc>
                <a:spcPct val="115000"/>
              </a:lnSpc>
              <a:spcAft>
                <a:spcPts val="300"/>
              </a:spcAft>
              <a:buClr>
                <a:srgbClr val="8C8C8C"/>
              </a:buClr>
              <a:buSzPct val="100000"/>
              <a:buFont typeface="Arial"/>
              <a:buChar char="•"/>
            </a:pPr>
            <a:r>
              <a:rPr sz="1100" b="0">
                <a:solidFill>
                  <a:srgbClr val="333333"/>
                </a:solidFill>
                <a:latin typeface="微软雅黑"/>
                <a:ea typeface="微软雅黑"/>
              </a:rPr>
              <a:t>额外语言、学员批次、专题培训</a:t>
            </a:r>
          </a:p>
          <a:p>
            <a:pPr algn="l" marL="164592" indent="-164592">
              <a:lnSpc>
                <a:spcPct val="115000"/>
              </a:lnSpc>
              <a:spcAft>
                <a:spcPts val="300"/>
              </a:spcAft>
              <a:buClr>
                <a:srgbClr val="8C8C8C"/>
              </a:buClr>
              <a:buSzPct val="100000"/>
              <a:buFont typeface="Arial"/>
              <a:buChar char="•"/>
            </a:pPr>
            <a:r>
              <a:rPr sz="1100" b="0">
                <a:solidFill>
                  <a:srgbClr val="333333"/>
                </a:solidFill>
                <a:latin typeface="微软雅黑"/>
                <a:ea typeface="微软雅黑"/>
              </a:rPr>
              <a:t>扩容、续期、第三方许可费用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56448" y="1691640"/>
            <a:ext cx="3575304" cy="1371600"/>
          </a:xfrm>
          <a:prstGeom prst="roundRect">
            <a:avLst>
              <a:gd name="adj" fmla="val 4000"/>
            </a:avLst>
          </a:prstGeom>
          <a:solidFill>
            <a:srgbClr val="E8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39327" y="1783080"/>
            <a:ext cx="3209544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1F4E79"/>
                </a:solidFill>
                <a:latin typeface="微软雅黑"/>
                <a:ea typeface="微软雅黑"/>
              </a:rPr>
              <a:t>RNP 承担与前置条件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39327" y="2112264"/>
            <a:ext cx="3209544" cy="914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164592" indent="-164592">
              <a:lnSpc>
                <a:spcPct val="115000"/>
              </a:lnSpc>
              <a:spcAft>
                <a:spcPts val="300"/>
              </a:spcAft>
              <a:buClr>
                <a:srgbClr val="1F4E79"/>
              </a:buClr>
              <a:buSzPct val="100000"/>
              <a:buFont typeface="Arial"/>
              <a:buChar char="•"/>
            </a:pPr>
            <a:r>
              <a:rPr sz="1100" b="0">
                <a:solidFill>
                  <a:srgbClr val="333333"/>
                </a:solidFill>
                <a:latin typeface="微软雅黑"/>
                <a:ea typeface="微软雅黑"/>
              </a:rPr>
              <a:t>数据、授权、专家、环境</a:t>
            </a:r>
          </a:p>
          <a:p>
            <a:pPr algn="l" marL="164592" indent="-164592">
              <a:lnSpc>
                <a:spcPct val="115000"/>
              </a:lnSpc>
              <a:spcAft>
                <a:spcPts val="300"/>
              </a:spcAft>
              <a:buClr>
                <a:srgbClr val="1F4E79"/>
              </a:buClr>
              <a:buSzPct val="100000"/>
              <a:buFont typeface="Arial"/>
              <a:buChar char="•"/>
            </a:pPr>
            <a:r>
              <a:rPr sz="1100" b="0">
                <a:solidFill>
                  <a:srgbClr val="333333"/>
                </a:solidFill>
                <a:latin typeface="微软雅黑"/>
                <a:ea typeface="微软雅黑"/>
              </a:rPr>
              <a:t>接口与第三方 API 条件</a:t>
            </a:r>
          </a:p>
          <a:p>
            <a:pPr algn="l" marL="164592" indent="-164592">
              <a:lnSpc>
                <a:spcPct val="115000"/>
              </a:lnSpc>
              <a:spcAft>
                <a:spcPts val="300"/>
              </a:spcAft>
              <a:buClr>
                <a:srgbClr val="1F4E79"/>
              </a:buClr>
              <a:buSzPct val="100000"/>
              <a:buFont typeface="Arial"/>
              <a:buChar char="•"/>
            </a:pPr>
            <a:r>
              <a:rPr sz="1100" b="0">
                <a:solidFill>
                  <a:srgbClr val="333333"/>
                </a:solidFill>
                <a:latin typeface="微软雅黑"/>
                <a:ea typeface="微软雅黑"/>
              </a:rPr>
              <a:t>DLM 训练、验收、用户与运营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200400"/>
            <a:ext cx="365760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1">
                <a:solidFill>
                  <a:srgbClr val="1D1D1A"/>
                </a:solidFill>
                <a:latin typeface="微软雅黑"/>
                <a:ea typeface="微软雅黑"/>
              </a:rPr>
              <a:t>六项确认事项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3520440"/>
            <a:ext cx="3575304" cy="10058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3611880"/>
            <a:ext cx="3209544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1D1D1A"/>
                </a:solidFill>
                <a:latin typeface="微软雅黑"/>
                <a:ea typeface="微软雅黑"/>
              </a:rPr>
              <a:t>1  资产、交付与许可矩阵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3922776"/>
            <a:ext cx="3209544" cy="2377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66666"/>
                </a:solidFill>
                <a:latin typeface="微软雅黑"/>
                <a:ea typeface="微软雅黑"/>
              </a:rPr>
              <a:t>RNP + 讯飞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160520"/>
            <a:ext cx="3209544" cy="3291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>
                <a:solidFill>
                  <a:srgbClr val="333333"/>
                </a:solidFill>
                <a:latin typeface="微软雅黑"/>
                <a:ea typeface="微软雅黑"/>
              </a:rPr>
              <a:t>确定版本、数量、权利与费用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06824" y="3520440"/>
            <a:ext cx="3575304" cy="10058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489704" y="3611880"/>
            <a:ext cx="3209544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1D1D1A"/>
                </a:solidFill>
                <a:latin typeface="微软雅黑"/>
                <a:ea typeface="微软雅黑"/>
              </a:rPr>
              <a:t>2  模型与容量验收规则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89704" y="3922776"/>
            <a:ext cx="3209544" cy="2377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66666"/>
                </a:solidFill>
                <a:latin typeface="微软雅黑"/>
                <a:ea typeface="微软雅黑"/>
              </a:rPr>
              <a:t>RNP + 讯飞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89704" y="4160520"/>
            <a:ext cx="3209544" cy="3291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>
                <a:solidFill>
                  <a:srgbClr val="333333"/>
                </a:solidFill>
                <a:latin typeface="微软雅黑"/>
                <a:ea typeface="微软雅黑"/>
              </a:rPr>
              <a:t>确定测试集、通过规则与负载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156448" y="3520440"/>
            <a:ext cx="3575304" cy="10058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39327" y="3611880"/>
            <a:ext cx="3209544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1D1D1A"/>
                </a:solidFill>
                <a:latin typeface="微软雅黑"/>
                <a:ea typeface="微软雅黑"/>
              </a:rPr>
              <a:t>3  三项 DLM 场景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39327" y="3922776"/>
            <a:ext cx="3209544" cy="2377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66666"/>
                </a:solidFill>
                <a:latin typeface="微软雅黑"/>
                <a:ea typeface="微软雅黑"/>
              </a:rPr>
              <a:t>RNP + 讯飞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39327" y="4160520"/>
            <a:ext cx="3209544" cy="3291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>
                <a:solidFill>
                  <a:srgbClr val="333333"/>
                </a:solidFill>
                <a:latin typeface="微软雅黑"/>
                <a:ea typeface="微软雅黑"/>
              </a:rPr>
              <a:t>逐项确定场景、数据、路线，签署确认书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57200" y="4709160"/>
            <a:ext cx="3575304" cy="10058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" y="4800600"/>
            <a:ext cx="3209544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1D1D1A"/>
                </a:solidFill>
                <a:latin typeface="微软雅黑"/>
                <a:ea typeface="微软雅黑"/>
              </a:rPr>
              <a:t>4  资源与实施计划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5111496"/>
            <a:ext cx="3209544" cy="2377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66666"/>
                </a:solidFill>
                <a:latin typeface="微软雅黑"/>
                <a:ea typeface="微软雅黑"/>
              </a:rPr>
              <a:t>RNP / 华为 + 讯飞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" y="5349240"/>
            <a:ext cx="3209544" cy="3291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>
                <a:solidFill>
                  <a:srgbClr val="333333"/>
                </a:solidFill>
                <a:latin typeface="微软雅黑"/>
                <a:ea typeface="微软雅黑"/>
              </a:rPr>
              <a:t>确定两批环境到位时间与里程碑月份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06824" y="4709160"/>
            <a:ext cx="3575304" cy="10058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489704" y="4800600"/>
            <a:ext cx="3209544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1D1D1A"/>
                </a:solidFill>
                <a:latin typeface="微软雅黑"/>
                <a:ea typeface="微软雅黑"/>
              </a:rPr>
              <a:t>5  培训与移交计划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489704" y="5111496"/>
            <a:ext cx="3209544" cy="2377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66666"/>
                </a:solidFill>
                <a:latin typeface="微软雅黑"/>
                <a:ea typeface="微软雅黑"/>
              </a:rPr>
              <a:t>RNP + 讯飞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489704" y="5349240"/>
            <a:ext cx="3209544" cy="3291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>
                <a:solidFill>
                  <a:srgbClr val="333333"/>
                </a:solidFill>
                <a:latin typeface="微软雅黑"/>
                <a:ea typeface="微软雅黑"/>
              </a:rPr>
              <a:t>确定课时、学员名单、语言与日程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156448" y="4709160"/>
            <a:ext cx="3575304" cy="10058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339327" y="4800600"/>
            <a:ext cx="3209544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1D1D1A"/>
                </a:solidFill>
                <a:latin typeface="微软雅黑"/>
                <a:ea typeface="微软雅黑"/>
              </a:rPr>
              <a:t>6  SOW 待对齐条款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39327" y="5111496"/>
            <a:ext cx="3209544" cy="2377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66666"/>
                </a:solidFill>
                <a:latin typeface="微软雅黑"/>
                <a:ea typeface="微软雅黑"/>
              </a:rPr>
              <a:t>RNP + 讯飞 + 华为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339327" y="5349240"/>
            <a:ext cx="3209544" cy="3291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>
                <a:solidFill>
                  <a:srgbClr val="0070C0"/>
                </a:solidFill>
                <a:latin typeface="微软雅黑"/>
                <a:ea typeface="微软雅黑"/>
              </a:rPr>
              <a:t>待确认：是否本次讨论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 wrap="square" lIns="45720" tIns="0" rIns="45720" bIns="0" anchor="b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>
                <a:solidFill>
                  <a:srgbClr val="C00000"/>
                </a:solidFill>
                <a:latin typeface="微软雅黑"/>
                <a:ea typeface="微软雅黑"/>
              </a:rPr>
              <a:t>附录：11 个问题，按 RNP 的顺序讨论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60120"/>
            <a:ext cx="11274552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400" b="0">
                <a:solidFill>
                  <a:srgbClr val="1D1D1A"/>
                </a:solidFill>
                <a:latin typeface="微软雅黑"/>
                <a:ea typeface="微软雅黑"/>
              </a:rPr>
              <a:t>主汇报讲完后从这页开始；每个问题对应一页附录，点击进入，页面右上角可返回本页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11274552" cy="2560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666666"/>
                </a:solidFill>
                <a:latin typeface="微软雅黑"/>
                <a:ea typeface="微软雅黑"/>
              </a:rPr>
              <a:t>附录表格“口径”列：SOW = 已写入工作范围　·　方案 = 讯飞技术方案的做法　·　</a:t>
            </a:r>
            <a:r>
              <a:rPr sz="950" b="0">
                <a:solidFill>
                  <a:srgbClr val="0070C0"/>
                </a:solidFill>
                <a:latin typeface="微软雅黑"/>
                <a:ea typeface="微软雅黑"/>
              </a:rPr>
              <a:t>待确认</a:t>
            </a:r>
            <a:r>
              <a:rPr sz="950" b="0">
                <a:solidFill>
                  <a:srgbClr val="666666"/>
                </a:solidFill>
                <a:latin typeface="微软雅黑"/>
                <a:ea typeface="微软雅黑"/>
              </a:rPr>
              <a:t> = 实施前双方共同确定，蓝字</a:t>
            </a:r>
          </a:p>
        </p:txBody>
      </p:sp>
      <p:sp>
        <p:nvSpPr>
          <p:cNvPr id="5" name="Rounded Rectangle 4">
            <a:hlinkClick action="ppaction://hlinksldjump" r:id="rId2"/>
          </p:cNvPr>
          <p:cNvSpPr/>
          <p:nvPr/>
        </p:nvSpPr>
        <p:spPr>
          <a:xfrm>
            <a:off x="457200" y="2057400"/>
            <a:ext cx="3575304" cy="84124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2148840"/>
            <a:ext cx="64008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C00000"/>
                </a:solidFill>
                <a:latin typeface="微软雅黑"/>
                <a:ea typeface="微软雅黑"/>
              </a:rPr>
              <a:t>A0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2148840"/>
            <a:ext cx="2615184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1D1D1A"/>
                </a:solidFill>
                <a:latin typeface="微软雅黑"/>
                <a:ea typeface="微软雅黑"/>
              </a:rPr>
              <a:t>能否提供一页总览？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514600"/>
            <a:ext cx="3209544" cy="29260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66666"/>
                </a:solidFill>
                <a:latin typeface="微软雅黑"/>
                <a:ea typeface="微软雅黑"/>
              </a:rPr>
              <a:t>总览表：四项成果、怎么建、谁来做、关键数字</a:t>
            </a:r>
          </a:p>
        </p:txBody>
      </p:sp>
      <p:sp>
        <p:nvSpPr>
          <p:cNvPr id="9" name="Rounded Rectangle 8">
            <a:hlinkClick action="ppaction://hlinksldjump" r:id="rId3"/>
          </p:cNvPr>
          <p:cNvSpPr/>
          <p:nvPr/>
        </p:nvSpPr>
        <p:spPr>
          <a:xfrm>
            <a:off x="4306824" y="2057400"/>
            <a:ext cx="3575304" cy="84124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89704" y="2148840"/>
            <a:ext cx="64008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C00000"/>
                </a:solidFill>
                <a:latin typeface="微软雅黑"/>
                <a:ea typeface="微软雅黑"/>
              </a:rPr>
              <a:t>A1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84064" y="2148840"/>
            <a:ext cx="2615184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1D1D1A"/>
                </a:solidFill>
                <a:latin typeface="微软雅黑"/>
                <a:ea typeface="微软雅黑"/>
              </a:rPr>
              <a:t>平台容量多大、如何验收？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9704" y="2514600"/>
            <a:ext cx="3209544" cy="29260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66666"/>
                </a:solidFill>
                <a:latin typeface="微软雅黑"/>
                <a:ea typeface="微软雅黑"/>
              </a:rPr>
              <a:t>能力中心：容量与验收</a:t>
            </a:r>
          </a:p>
        </p:txBody>
      </p:sp>
      <p:sp>
        <p:nvSpPr>
          <p:cNvPr id="13" name="Rounded Rectangle 12">
            <a:hlinkClick action="ppaction://hlinksldjump" r:id="rId4"/>
          </p:cNvPr>
          <p:cNvSpPr/>
          <p:nvPr/>
        </p:nvSpPr>
        <p:spPr>
          <a:xfrm>
            <a:off x="8156448" y="2057400"/>
            <a:ext cx="3575304" cy="84124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39327" y="2148840"/>
            <a:ext cx="64008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C00000"/>
                </a:solidFill>
                <a:latin typeface="微软雅黑"/>
                <a:ea typeface="微软雅黑"/>
              </a:rPr>
              <a:t>A2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33688" y="2148840"/>
            <a:ext cx="2615184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1D1D1A"/>
                </a:solidFill>
                <a:latin typeface="微软雅黑"/>
                <a:ea typeface="微软雅黑"/>
              </a:rPr>
              <a:t>模型多大、之后如何升级？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39327" y="2514600"/>
            <a:ext cx="3209544" cy="29260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66666"/>
                </a:solidFill>
                <a:latin typeface="微软雅黑"/>
                <a:ea typeface="微软雅黑"/>
              </a:rPr>
              <a:t>国家模型：规格与升级</a:t>
            </a:r>
          </a:p>
        </p:txBody>
      </p:sp>
      <p:sp>
        <p:nvSpPr>
          <p:cNvPr id="17" name="Rounded Rectangle 16">
            <a:hlinkClick action="ppaction://hlinksldjump" r:id="rId5"/>
          </p:cNvPr>
          <p:cNvSpPr/>
          <p:nvPr/>
        </p:nvSpPr>
        <p:spPr>
          <a:xfrm>
            <a:off x="457200" y="3063240"/>
            <a:ext cx="3575304" cy="84124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3154680"/>
            <a:ext cx="64008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C00000"/>
                </a:solidFill>
                <a:latin typeface="微软雅黑"/>
                <a:ea typeface="微软雅黑"/>
              </a:rPr>
              <a:t>A3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34440" y="3154680"/>
            <a:ext cx="2615184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1D1D1A"/>
                </a:solidFill>
                <a:latin typeface="微软雅黑"/>
                <a:ea typeface="微软雅黑"/>
              </a:rPr>
              <a:t>语料需要多少、谁提供、存放在哪？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3520440"/>
            <a:ext cx="3209544" cy="29260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66666"/>
                </a:solidFill>
                <a:latin typeface="微软雅黑"/>
                <a:ea typeface="微软雅黑"/>
              </a:rPr>
              <a:t>语料：规模、质量与数据控制</a:t>
            </a:r>
          </a:p>
        </p:txBody>
      </p:sp>
      <p:sp>
        <p:nvSpPr>
          <p:cNvPr id="21" name="Rounded Rectangle 20">
            <a:hlinkClick action="ppaction://hlinksldjump" r:id="rId6"/>
          </p:cNvPr>
          <p:cNvSpPr/>
          <p:nvPr/>
        </p:nvSpPr>
        <p:spPr>
          <a:xfrm>
            <a:off x="4306824" y="3063240"/>
            <a:ext cx="3575304" cy="84124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489704" y="3154680"/>
            <a:ext cx="64008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C00000"/>
                </a:solidFill>
                <a:latin typeface="微软雅黑"/>
                <a:ea typeface="微软雅黑"/>
              </a:rPr>
              <a:t>A4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84064" y="3154680"/>
            <a:ext cx="2615184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1D1D1A"/>
                </a:solidFill>
                <a:latin typeface="微软雅黑"/>
                <a:ea typeface="微软雅黑"/>
              </a:rPr>
              <a:t>APP 谁能用、能接入什么？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89704" y="3520440"/>
            <a:ext cx="3209544" cy="29260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66666"/>
                </a:solidFill>
                <a:latin typeface="微软雅黑"/>
                <a:ea typeface="微软雅黑"/>
              </a:rPr>
              <a:t>国家 AI 应用：服务、容量与接口</a:t>
            </a:r>
          </a:p>
        </p:txBody>
      </p:sp>
      <p:sp>
        <p:nvSpPr>
          <p:cNvPr id="25" name="Rounded Rectangle 24">
            <a:hlinkClick action="ppaction://hlinksldjump" r:id="rId7"/>
          </p:cNvPr>
          <p:cNvSpPr/>
          <p:nvPr/>
        </p:nvSpPr>
        <p:spPr>
          <a:xfrm>
            <a:off x="8156448" y="3063240"/>
            <a:ext cx="3575304" cy="84124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339327" y="3154680"/>
            <a:ext cx="64008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C00000"/>
                </a:solidFill>
                <a:latin typeface="微软雅黑"/>
                <a:ea typeface="微软雅黑"/>
              </a:rPr>
              <a:t>A5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933688" y="3154680"/>
            <a:ext cx="2615184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1D1D1A"/>
                </a:solidFill>
                <a:latin typeface="微软雅黑"/>
                <a:ea typeface="微软雅黑"/>
              </a:rPr>
              <a:t>DLM 由谁做、做到哪一步？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39327" y="3520440"/>
            <a:ext cx="3209544" cy="29260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66666"/>
                </a:solidFill>
                <a:latin typeface="微软雅黑"/>
                <a:ea typeface="微软雅黑"/>
              </a:rPr>
              <a:t>DLM：范围、投入与服务验收</a:t>
            </a:r>
          </a:p>
        </p:txBody>
      </p:sp>
      <p:sp>
        <p:nvSpPr>
          <p:cNvPr id="29" name="Rounded Rectangle 28">
            <a:hlinkClick action="ppaction://hlinksldjump" r:id="rId8"/>
          </p:cNvPr>
          <p:cNvSpPr/>
          <p:nvPr/>
        </p:nvSpPr>
        <p:spPr>
          <a:xfrm>
            <a:off x="457200" y="4069080"/>
            <a:ext cx="3575304" cy="84124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" y="4160520"/>
            <a:ext cx="64008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C00000"/>
                </a:solidFill>
                <a:latin typeface="微软雅黑"/>
                <a:ea typeface="微软雅黑"/>
              </a:rPr>
              <a:t>A6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234440" y="4160520"/>
            <a:ext cx="2615184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1D1D1A"/>
                </a:solidFill>
                <a:latin typeface="微软雅黑"/>
                <a:ea typeface="微软雅黑"/>
              </a:rPr>
              <a:t>是否会被锁定、后续有哪些费用？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" y="4526280"/>
            <a:ext cx="3209544" cy="29260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66666"/>
                </a:solidFill>
                <a:latin typeface="微软雅黑"/>
                <a:ea typeface="微软雅黑"/>
              </a:rPr>
              <a:t>交接、许可与运营支持</a:t>
            </a:r>
          </a:p>
        </p:txBody>
      </p:sp>
      <p:sp>
        <p:nvSpPr>
          <p:cNvPr id="33" name="Rounded Rectangle 32">
            <a:hlinkClick action="ppaction://hlinksldjump" r:id="rId9"/>
          </p:cNvPr>
          <p:cNvSpPr/>
          <p:nvPr/>
        </p:nvSpPr>
        <p:spPr>
          <a:xfrm>
            <a:off x="4306824" y="4069080"/>
            <a:ext cx="3575304" cy="84124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489704" y="4160520"/>
            <a:ext cx="64008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C00000"/>
                </a:solidFill>
                <a:latin typeface="微软雅黑"/>
                <a:ea typeface="微软雅黑"/>
              </a:rPr>
              <a:t>A7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084064" y="4160520"/>
            <a:ext cx="2615184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1D1D1A"/>
                </a:solidFill>
                <a:latin typeface="微软雅黑"/>
                <a:ea typeface="微软雅黑"/>
              </a:rPr>
              <a:t>每类人员多少、何时到位？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489704" y="4526280"/>
            <a:ext cx="3209544" cy="29260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66666"/>
                </a:solidFill>
                <a:latin typeface="微软雅黑"/>
                <a:ea typeface="微软雅黑"/>
              </a:rPr>
              <a:t>RNP 人员配置明细</a:t>
            </a:r>
          </a:p>
        </p:txBody>
      </p:sp>
      <p:sp>
        <p:nvSpPr>
          <p:cNvPr id="37" name="Rounded Rectangle 36">
            <a:hlinkClick action="ppaction://hlinksldjump" r:id="rId10"/>
          </p:cNvPr>
          <p:cNvSpPr/>
          <p:nvPr/>
        </p:nvSpPr>
        <p:spPr>
          <a:xfrm>
            <a:off x="8156448" y="4069080"/>
            <a:ext cx="3575304" cy="84124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339327" y="4160520"/>
            <a:ext cx="64008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C00000"/>
                </a:solidFill>
                <a:latin typeface="微软雅黑"/>
                <a:ea typeface="微软雅黑"/>
              </a:rPr>
              <a:t>A8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933688" y="4160520"/>
            <a:ext cx="2615184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1D1D1A"/>
                </a:solidFill>
                <a:latin typeface="微软雅黑"/>
                <a:ea typeface="微软雅黑"/>
              </a:rPr>
              <a:t>每个阶段做什么、多少天、如何签认？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339327" y="4526280"/>
            <a:ext cx="3209544" cy="29260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66666"/>
                </a:solidFill>
                <a:latin typeface="微软雅黑"/>
                <a:ea typeface="微软雅黑"/>
              </a:rPr>
              <a:t>知识转移：四阶段明细</a:t>
            </a:r>
          </a:p>
        </p:txBody>
      </p:sp>
      <p:sp>
        <p:nvSpPr>
          <p:cNvPr id="41" name="Rounded Rectangle 40">
            <a:hlinkClick action="ppaction://hlinksldjump" r:id="rId11"/>
          </p:cNvPr>
          <p:cNvSpPr/>
          <p:nvPr/>
        </p:nvSpPr>
        <p:spPr>
          <a:xfrm>
            <a:off x="457200" y="5074920"/>
            <a:ext cx="3575304" cy="84124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40080" y="5166360"/>
            <a:ext cx="64008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C00000"/>
                </a:solidFill>
                <a:latin typeface="微软雅黑"/>
                <a:ea typeface="微软雅黑"/>
              </a:rPr>
              <a:t>A9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234440" y="5166360"/>
            <a:ext cx="2615184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1D1D1A"/>
                </a:solidFill>
                <a:latin typeface="微软雅黑"/>
                <a:ea typeface="微软雅黑"/>
              </a:rPr>
              <a:t>具体学什么、有哪些形式？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40080" y="5532120"/>
            <a:ext cx="3209544" cy="29260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66666"/>
                </a:solidFill>
                <a:latin typeface="微软雅黑"/>
                <a:ea typeface="微软雅黑"/>
              </a:rPr>
              <a:t>知识转移：课程主题与交流形式</a:t>
            </a:r>
          </a:p>
        </p:txBody>
      </p:sp>
      <p:sp>
        <p:nvSpPr>
          <p:cNvPr id="45" name="Rounded Rectangle 44">
            <a:hlinkClick action="ppaction://hlinksldjump" r:id="rId12"/>
          </p:cNvPr>
          <p:cNvSpPr/>
          <p:nvPr/>
        </p:nvSpPr>
        <p:spPr>
          <a:xfrm>
            <a:off x="4306824" y="5074920"/>
            <a:ext cx="3575304" cy="84124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489704" y="5166360"/>
            <a:ext cx="64008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C00000"/>
                </a:solidFill>
                <a:latin typeface="微软雅黑"/>
                <a:ea typeface="微软雅黑"/>
              </a:rPr>
              <a:t>A10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084064" y="5166360"/>
            <a:ext cx="2615184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1D1D1A"/>
                </a:solidFill>
                <a:latin typeface="微软雅黑"/>
                <a:ea typeface="微软雅黑"/>
              </a:rPr>
              <a:t>每类岗位学什么？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489704" y="5532120"/>
            <a:ext cx="3209544" cy="29260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66666"/>
                </a:solidFill>
                <a:latin typeface="微软雅黑"/>
                <a:ea typeface="微软雅黑"/>
              </a:rPr>
              <a:t>知识转移：岗位学习路径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 wrap="square" lIns="45720" tIns="0" rIns="45720" bIns="0" anchor="b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>
                <a:solidFill>
                  <a:srgbClr val="C00000"/>
                </a:solidFill>
                <a:latin typeface="微软雅黑"/>
                <a:ea typeface="微软雅黑"/>
              </a:rPr>
              <a:t>A0 · 总览表：四项成果与关键数字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165592" y="274320"/>
            <a:ext cx="356616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00" b="1">
                <a:solidFill>
                  <a:srgbClr val="1D1D1A"/>
                </a:solidFill>
                <a:latin typeface="微软雅黑"/>
                <a:ea typeface="微软雅黑"/>
              </a:rPr>
              <a:t>问：能否提供一页总览？</a:t>
            </a:r>
          </a:p>
        </p:txBody>
      </p:sp>
      <p:sp>
        <p:nvSpPr>
          <p:cNvPr id="4" name="Rounded Rectangle 3">
            <a:hlinkClick action="ppaction://hlinksldjump" r:id="rId2"/>
          </p:cNvPr>
          <p:cNvSpPr/>
          <p:nvPr/>
        </p:nvSpPr>
        <p:spPr>
          <a:xfrm>
            <a:off x="7114032" y="274320"/>
            <a:ext cx="96012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950" b="1">
                <a:solidFill>
                  <a:srgbClr val="1F4E79"/>
                </a:solidFill>
                <a:latin typeface="微软雅黑"/>
                <a:ea typeface="微软雅黑"/>
              </a:rPr>
              <a:t>返回目录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960120"/>
          <a:ext cx="11274552" cy="3675888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1600200"/>
                <a:gridCol w="3246120"/>
                <a:gridCol w="2148840"/>
                <a:gridCol w="2286000"/>
                <a:gridCol w="1993392"/>
              </a:tblGrid>
              <a:tr h="384048"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成果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RNP 获得什么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讯飞负责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RNP 负责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关键数字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</a:tr>
              <a:tr h="822960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国家 AI 能力中心</a:t>
                      </a:r>
                    </a:p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（平台）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语料构建、模型训练、应用创新三个中心和一个安全审核平台；三项成果都在其上完成，未来由 RNP 自主使用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软件实施、测试与培训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基础环境、接口协调，验收后日常运营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3 个中心</a:t>
                      </a:r>
                    </a:p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1 个安全审核平台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巴西葡语国家模型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1 个 NLP 基础模型、1 个 ASR 模型、1 个 TTS 模型（男/女各 1 套发音人）；交付权重、模型卡、评测报告与部署说明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训练、技术评测与交付；交付后 12 个月持续优化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语料生产与授权、专家评审、验收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NLP 总参数 ≥290B</a:t>
                      </a:r>
                    </a:p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本地语料 50B Token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国家 AI 应用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国民 APP 多终端软件与数据运营平台，面向 RNP 批准的授权用户；问答、检索、文档、语音与写作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应用交付、接口联调、平台配置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内容、品牌、接口；用户审批与日常运营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NLP 1,000 路</a:t>
                      </a:r>
                    </a:p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ASR / TTS 各 200 路</a:t>
                      </a:r>
                    </a:p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安全审核 400 路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领域模型 DLM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3 项辅助训练服务，每项 1 个固定场景；模型由 RNP 训练，权重归 RNP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方案、过程指导、结果分析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数据、环境、执行训练与评测、业务验收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3 项服务</a:t>
                      </a:r>
                    </a:p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每项 1 个场景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457200" y="4754880"/>
            <a:ext cx="11274552" cy="475488"/>
          </a:xfrm>
          <a:prstGeom prst="roundRect">
            <a:avLst>
              <a:gd name="adj" fmla="val 4000"/>
            </a:avLst>
          </a:prstGeom>
          <a:solidFill>
            <a:srgbClr val="FB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4837176"/>
            <a:ext cx="132588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C00000"/>
                </a:solidFill>
                <a:latin typeface="微软雅黑"/>
                <a:ea typeface="微软雅黑"/>
              </a:rPr>
              <a:t>知识转移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11680" y="4809744"/>
            <a:ext cx="9491472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>
                <a:solidFill>
                  <a:srgbClr val="333333"/>
                </a:solidFill>
                <a:latin typeface="微软雅黑"/>
                <a:ea typeface="微软雅黑"/>
              </a:rPr>
              <a:t>四阶段共 578 课时、约 74 个工作日：奠基 30、跟岗 360、指导实操 20、正式移交 168 课时；核心学员 30 / 10 / 10 / 10 人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5340096"/>
            <a:ext cx="11274552" cy="475488"/>
          </a:xfrm>
          <a:prstGeom prst="roundRect">
            <a:avLst>
              <a:gd name="adj" fmla="val 4000"/>
            </a:avLst>
          </a:prstGeom>
          <a:solidFill>
            <a:srgbClr val="F7F7F7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5422392"/>
            <a:ext cx="132588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C00000"/>
                </a:solidFill>
                <a:latin typeface="微软雅黑"/>
                <a:ea typeface="微软雅黑"/>
              </a:rPr>
              <a:t>交付后支持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11680" y="5394959"/>
            <a:ext cx="9491472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>
                <a:solidFill>
                  <a:srgbClr val="333333"/>
                </a:solidFill>
                <a:latin typeface="微软雅黑"/>
                <a:ea typeface="微软雅黑"/>
              </a:rPr>
              <a:t>现场陪伴运维 12 个月（5×8）+ 远程技术支持 60 个月（7×24），首 12 个月重合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5897880"/>
            <a:ext cx="11274552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666666"/>
                </a:solidFill>
                <a:latin typeface="微软雅黑"/>
                <a:ea typeface="微软雅黑"/>
              </a:rPr>
              <a:t>范围以 SOW 与 BOQ 为准；容量按服务分别验证。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 wrap="square" lIns="45720" tIns="0" rIns="45720" bIns="0" anchor="b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>
                <a:solidFill>
                  <a:srgbClr val="C00000"/>
                </a:solidFill>
                <a:latin typeface="微软雅黑"/>
                <a:ea typeface="微软雅黑"/>
              </a:rPr>
              <a:t>A1 · 国家 AI 能力中心：容量与验收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165592" y="274320"/>
            <a:ext cx="356616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00" b="1">
                <a:solidFill>
                  <a:srgbClr val="1D1D1A"/>
                </a:solidFill>
                <a:latin typeface="微软雅黑"/>
                <a:ea typeface="微软雅黑"/>
              </a:rPr>
              <a:t>问：平台容量多大、如何验收？</a:t>
            </a:r>
          </a:p>
        </p:txBody>
      </p:sp>
      <p:sp>
        <p:nvSpPr>
          <p:cNvPr id="4" name="Rounded Rectangle 3">
            <a:hlinkClick action="ppaction://hlinksldjump" r:id="rId2"/>
          </p:cNvPr>
          <p:cNvSpPr/>
          <p:nvPr/>
        </p:nvSpPr>
        <p:spPr>
          <a:xfrm>
            <a:off x="7114032" y="274320"/>
            <a:ext cx="96012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950" b="1">
                <a:solidFill>
                  <a:srgbClr val="1F4E79"/>
                </a:solidFill>
                <a:latin typeface="微软雅黑"/>
                <a:ea typeface="微软雅黑"/>
              </a:rPr>
              <a:t>返回目录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051560"/>
          <a:ext cx="11274552" cy="3657600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1828800"/>
                <a:gridCol w="8138160"/>
                <a:gridCol w="1307592"/>
              </a:tblGrid>
              <a:tr h="365760"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项目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内容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口径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</a:tr>
              <a:tr h="548640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软件组成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语料构建、模型训练、应用创新三个中心及安全审核平台；配套租户、资源、队列和监控管理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SOW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资源纳管授权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平台可纳管的加速卡授权上限 1,024 张；硬件数量以华为资源方案为准，扩容按 BOQ 确认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SOW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推理服务并发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NLP 1,000 路、ASR 200 路、TTS 200 路、安全审核 400 路；按服务分别配置与实测，不相加为总并发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SOW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容量测试条件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实施前确认硬件、模型版本、输入 / 输出长度、音频时长、请求分布、测试工具与通过规则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SOW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网络安全产品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2 台堡垒机、1 台日志审计、1 台数据库审计、1 台漏洞扫描、2 台 WAF 及对应授权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SOW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验收方式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核对 BOQ 与授权；验证部署、功能、容量、安全与许可；提交测试记录并整改阻断问题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SOW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4937760"/>
            <a:ext cx="11274552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666666"/>
                </a:solidFill>
                <a:latin typeface="微软雅黑"/>
                <a:ea typeface="微软雅黑"/>
              </a:rPr>
              <a:t>并发是按服务配置并实测的授权容量基线，不是同时峰值；1,024 张是平台纳管授权上限，不是本期硬件数量。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 wrap="square" lIns="45720" tIns="0" rIns="45720" bIns="0" anchor="b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>
                <a:solidFill>
                  <a:srgbClr val="C00000"/>
                </a:solidFill>
                <a:latin typeface="微软雅黑"/>
                <a:ea typeface="微软雅黑"/>
              </a:rPr>
              <a:t>A2 · 巴西葡语国家模型：规格与升级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165592" y="274320"/>
            <a:ext cx="356616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00" b="1">
                <a:solidFill>
                  <a:srgbClr val="1D1D1A"/>
                </a:solidFill>
                <a:latin typeface="微软雅黑"/>
                <a:ea typeface="微软雅黑"/>
              </a:rPr>
              <a:t>问：模型多大、之后如何升级？</a:t>
            </a:r>
          </a:p>
        </p:txBody>
      </p:sp>
      <p:sp>
        <p:nvSpPr>
          <p:cNvPr id="4" name="Rounded Rectangle 3">
            <a:hlinkClick action="ppaction://hlinksldjump" r:id="rId2"/>
          </p:cNvPr>
          <p:cNvSpPr/>
          <p:nvPr/>
        </p:nvSpPr>
        <p:spPr>
          <a:xfrm>
            <a:off x="7114032" y="274320"/>
            <a:ext cx="96012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950" b="1">
                <a:solidFill>
                  <a:srgbClr val="1F4E79"/>
                </a:solidFill>
                <a:latin typeface="微软雅黑"/>
                <a:ea typeface="微软雅黑"/>
              </a:rPr>
              <a:t>返回目录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051560"/>
          <a:ext cx="11274552" cy="3950208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1828800"/>
                <a:gridCol w="8138160"/>
                <a:gridCol w="1307592"/>
              </a:tblGrid>
              <a:tr h="365760"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项目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内容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口径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</a:tr>
              <a:tr h="512064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模型规模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NLP 1 个，总参数 ≥290B；ASR 1 个，亿级参数；TTS 1 个，男 / 女各 1 套发音人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SOW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基座与权利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交付基础模型实际权重及本地运行配套产物；基础权重与训练后权重分别标识，开放对象按资产与许可矩阵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SOW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基座名称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0070C0"/>
                          </a:solidFill>
                          <a:latin typeface="微软雅黑"/>
                          <a:ea typeface="微软雅黑"/>
                        </a:rPr>
                        <a:t>待确认：SOW 是否指明基座为讯飞星火基础模型；未指明则按“讯飞基础模型”表述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0070C0"/>
                          </a:solidFill>
                          <a:latin typeface="微软雅黑"/>
                          <a:ea typeface="微软雅黑"/>
                        </a:rPr>
                        <a:t>待确认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建设期训练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按批准的模型技术方案执行；技术路线、次数、初始交付时间与里程碑实施前书面确认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SOW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持续优化期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NLP、ASR、TTS 与安全审核平台全部初验后连续 12 个月；正式升级 NLP 3 次、ASR 1 次、TTS 1 次、安全平台 1 次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SOW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优化数据上限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12 个月累计：NLP 文本 ≤10B Token、监督 ≤2 万条、安全对齐 ≤5 千条、ASR ≤1 千小时、TTS ≤10 小时；安全样例、词库、快修另有上限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SOW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导出与移植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按已验证的模型、格式、框架与目标环境实施；受模型架构、算子和许可限制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SOW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5120640"/>
            <a:ext cx="11274552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666666"/>
                </a:solidFill>
                <a:latin typeface="微软雅黑"/>
                <a:ea typeface="微软雅黑"/>
              </a:rPr>
              <a:t>效果升级以 12 个月内约定次数为限，NLP 每次最多 3 项主要优化目标；建设期版本和缺陷整改不计入次数。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 wrap="square" lIns="45720" tIns="0" rIns="45720" bIns="0" anchor="b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>
                <a:solidFill>
                  <a:srgbClr val="C00000"/>
                </a:solidFill>
                <a:latin typeface="微软雅黑"/>
                <a:ea typeface="微软雅黑"/>
              </a:rPr>
              <a:t>A3 · 巴西葡语语料：规模、质量与数据控制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165592" y="274320"/>
            <a:ext cx="356616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00" b="1">
                <a:solidFill>
                  <a:srgbClr val="1D1D1A"/>
                </a:solidFill>
                <a:latin typeface="微软雅黑"/>
                <a:ea typeface="微软雅黑"/>
              </a:rPr>
              <a:t>问：语料需要多少、谁提供、存放在哪？</a:t>
            </a:r>
          </a:p>
        </p:txBody>
      </p:sp>
      <p:sp>
        <p:nvSpPr>
          <p:cNvPr id="4" name="Rounded Rectangle 3">
            <a:hlinkClick action="ppaction://hlinksldjump" r:id="rId2"/>
          </p:cNvPr>
          <p:cNvSpPr/>
          <p:nvPr/>
        </p:nvSpPr>
        <p:spPr>
          <a:xfrm>
            <a:off x="7114032" y="274320"/>
            <a:ext cx="96012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950" b="1">
                <a:solidFill>
                  <a:srgbClr val="1F4E79"/>
                </a:solidFill>
                <a:latin typeface="微软雅黑"/>
                <a:ea typeface="微软雅黑"/>
              </a:rPr>
              <a:t>返回目录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051560"/>
          <a:ext cx="11274552" cy="3950208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1828800"/>
                <a:gridCol w="8138160"/>
                <a:gridCol w="1307592"/>
              </a:tblGrid>
              <a:tr h="365760"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项目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内容（规模为最低参考量）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口径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</a:tr>
              <a:tr h="512064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无监督文本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50B Token，按批准 Tokenizer 统计有效数据，去重并剔除不合格内容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SOW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监督与安全数据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监督调优 20 万条；安全与价值观 2 万条，按完整有效样本计量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SOW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语音数据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ASR 1 万小时有效音频（含合格转写）；TTS 10 万条及不少于 100 小时高质量录音，配套发音词典与样本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SOW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分工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RNP 组织数据取得、授权和全量生产；讯飞提供平台、规范、试批指导及抽样质检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SOW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质量规则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批量生产前确认计量、抽样、质量阈值、批次与复验规则；不合格数据不计入有效规模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SOW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数据控制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项目数据存储于 RNP 指定的巴西环境，按权限与审计管理；数据权利与使用范围遵循原始许可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SOW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通用语料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0070C0"/>
                          </a:solidFill>
                          <a:latin typeface="微软雅黑"/>
                          <a:ea typeface="微软雅黑"/>
                        </a:rPr>
                        <a:t>待确认：讯飞通用语料的投入方式与规模（5/8 答复曾写 300B 以上）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0070C0"/>
                          </a:solidFill>
                          <a:latin typeface="微软雅黑"/>
                          <a:ea typeface="微软雅黑"/>
                        </a:rPr>
                        <a:t>待确认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5120640"/>
            <a:ext cx="11274552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666666"/>
                </a:solidFill>
                <a:latin typeface="微软雅黑"/>
                <a:ea typeface="微软雅黑"/>
              </a:rPr>
              <a:t>语料验收按有效数据定义与批准方案计量；模型效果按 A2 的评测规则另行验证。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 wrap="square" lIns="45720" tIns="0" rIns="45720" bIns="0" anchor="b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>
                <a:solidFill>
                  <a:srgbClr val="C00000"/>
                </a:solidFill>
                <a:latin typeface="微软雅黑"/>
                <a:ea typeface="微软雅黑"/>
              </a:rPr>
              <a:t>A4 · 国家 AI 应用：服务、容量与接口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165592" y="274320"/>
            <a:ext cx="356616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00" b="1">
                <a:solidFill>
                  <a:srgbClr val="1D1D1A"/>
                </a:solidFill>
                <a:latin typeface="微软雅黑"/>
                <a:ea typeface="微软雅黑"/>
              </a:rPr>
              <a:t>问：APP 谁能用、能接入什么？</a:t>
            </a:r>
          </a:p>
        </p:txBody>
      </p:sp>
      <p:sp>
        <p:nvSpPr>
          <p:cNvPr id="4" name="Rounded Rectangle 3">
            <a:hlinkClick action="ppaction://hlinksldjump" r:id="rId2"/>
          </p:cNvPr>
          <p:cNvSpPr/>
          <p:nvPr/>
        </p:nvSpPr>
        <p:spPr>
          <a:xfrm>
            <a:off x="7114032" y="274320"/>
            <a:ext cx="96012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950" b="1">
                <a:solidFill>
                  <a:srgbClr val="1F4E79"/>
                </a:solidFill>
                <a:latin typeface="微软雅黑"/>
                <a:ea typeface="微软雅黑"/>
              </a:rPr>
              <a:t>返回目录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051560"/>
          <a:ext cx="11274552" cy="3950208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1828800"/>
                <a:gridCol w="8138160"/>
                <a:gridCol w="1307592"/>
              </a:tblGrid>
              <a:tr h="365760"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项目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内容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口径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</a:tr>
              <a:tr h="512064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服务对象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RNP 批准的特定授权用户；用户、租户、功能和终端范围实施前确认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SOW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交付形态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国民 APP 多终端软件及数据运营平台；Web 端和纳入 BOQ 的客户端按指定浏览器 / 操作系统验证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SOW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核心功能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问答、检索、文档分析、研究辅助、语音输入与朗读、笔记、写作及已验证的办公功能；葡语 PPT 生成与本地公文模板待适配验证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SOW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服务并发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NLP 1,000 路、ASR 200 路、TTS 200 路、安全审核 400 路，按服务分别配置与实测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SOW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模型接入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接入模型按确认的型号、版本、规模、精度、框架与硬件组合验证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SOW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程序化访问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约定的 HTTP/HTTPS、REST、JSON、WebSocket 或等效接口；提供开发者文档及确认语言的示例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SOW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外部依赖与不含项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搜索和第三方 API 的额度、许可及费用由 RNP 或相应责任方落实；独立语音翻译不在当前功能清单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SOW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5120640"/>
            <a:ext cx="11274552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666666"/>
                </a:solidFill>
                <a:latin typeface="微软雅黑"/>
                <a:ea typeface="微软雅黑"/>
              </a:rPr>
              <a:t>并发按服务单独实测；容量测试前确认硬件、模型版本、输入输出长度、请求分布与测试工具。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 wrap="square" lIns="45720" tIns="0" rIns="45720" bIns="0" anchor="b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>
                <a:solidFill>
                  <a:srgbClr val="C00000"/>
                </a:solidFill>
                <a:latin typeface="微软雅黑"/>
                <a:ea typeface="微软雅黑"/>
              </a:rPr>
              <a:t>A5 · 领域模型 DLM：范围、投入与服务验收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165592" y="274320"/>
            <a:ext cx="356616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00" b="1">
                <a:solidFill>
                  <a:srgbClr val="1D1D1A"/>
                </a:solidFill>
                <a:latin typeface="微软雅黑"/>
                <a:ea typeface="微软雅黑"/>
              </a:rPr>
              <a:t>问：DLM 由谁做、做到哪一步？</a:t>
            </a:r>
          </a:p>
        </p:txBody>
      </p:sp>
      <p:sp>
        <p:nvSpPr>
          <p:cNvPr id="4" name="Rounded Rectangle 3">
            <a:hlinkClick action="ppaction://hlinksldjump" r:id="rId2"/>
          </p:cNvPr>
          <p:cNvSpPr/>
          <p:nvPr/>
        </p:nvSpPr>
        <p:spPr>
          <a:xfrm>
            <a:off x="7114032" y="274320"/>
            <a:ext cx="96012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950" b="1">
                <a:solidFill>
                  <a:srgbClr val="1F4E79"/>
                </a:solidFill>
                <a:latin typeface="微软雅黑"/>
                <a:ea typeface="微软雅黑"/>
              </a:rPr>
              <a:t>返回目录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051560"/>
          <a:ext cx="11274552" cy="3950208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1828800"/>
                <a:gridCol w="8138160"/>
                <a:gridCol w="1307592"/>
              </a:tblGrid>
              <a:tr h="365760"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项目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内容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口径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</a:tr>
              <a:tr h="512064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数量与范围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3 项 DLM 辅助训练技术服务；每项 1 个边界清晰的固定场景，领域由 RNP 提出、讯飞评估可行性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SOW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基础模型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双方确认的既有基座；版本、规模、许可与工具链先核实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SOW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数据要求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RNP 提供合法、足量、有代表性的训练、验证、安全及独立评测数据；规模按专项方案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SOW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训练路线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每项确认 1 条主要路线，LoRA-SFT、SFT、GRPO 等按可行性选定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SOW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实施模式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RNP 执行训练与评测；讯飞按约定工作量提供指导、分析与优化建议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SOW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权利与边界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模型权重由 RNP 训练产生并归 RNP；讯飞交付方案、指导记录与分析报告；生产部署、API 开发与应用集成可另行约定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SOW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启动确认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逐项签署《DLM 场景及技术方案确认书》，明确周期、工作量、交付形式与通过规则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SOW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5120640"/>
            <a:ext cx="11274552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666666"/>
                </a:solidFill>
                <a:latin typeface="微软雅黑"/>
                <a:ea typeface="微软雅黑"/>
              </a:rPr>
              <a:t>服务验收核对方案、指导活动和基于 RNP 实际结果的分析；模型效果目标与讯飞服务验收分开。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 wrap="square" lIns="45720" tIns="0" rIns="45720" bIns="0" anchor="b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>
                <a:solidFill>
                  <a:srgbClr val="C00000"/>
                </a:solidFill>
                <a:latin typeface="微软雅黑"/>
                <a:ea typeface="微软雅黑"/>
              </a:rPr>
              <a:t>A6 · 交接、许可与运营支持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165592" y="274320"/>
            <a:ext cx="356616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00" b="1">
                <a:solidFill>
                  <a:srgbClr val="1D1D1A"/>
                </a:solidFill>
                <a:latin typeface="微软雅黑"/>
                <a:ea typeface="微软雅黑"/>
              </a:rPr>
              <a:t>问：是否会被锁定、后续有哪些费用？</a:t>
            </a:r>
          </a:p>
        </p:txBody>
      </p:sp>
      <p:sp>
        <p:nvSpPr>
          <p:cNvPr id="4" name="Rounded Rectangle 3">
            <a:hlinkClick action="ppaction://hlinksldjump" r:id="rId2"/>
          </p:cNvPr>
          <p:cNvSpPr/>
          <p:nvPr/>
        </p:nvSpPr>
        <p:spPr>
          <a:xfrm>
            <a:off x="7114032" y="274320"/>
            <a:ext cx="96012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950" b="1">
                <a:solidFill>
                  <a:srgbClr val="1F4E79"/>
                </a:solidFill>
                <a:latin typeface="微软雅黑"/>
                <a:ea typeface="微软雅黑"/>
              </a:rPr>
              <a:t>返回目录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051560"/>
          <a:ext cx="11274552" cy="3950208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1828800"/>
                <a:gridCol w="8138160"/>
                <a:gridCol w="1307592"/>
              </a:tblGrid>
              <a:tr h="365760"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项目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内容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口径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</a:tr>
              <a:tr h="512064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模型权利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基础权重、训练后权重及 DLM 产物分别列明交付与许可；权重交付不含背景知识产权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SOW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平台与定制代码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平台软件按 BOQ 与许可使用；定制开发部分按清单交付源码与修改权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SOW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永久使用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标注永久使用的版本付清后永久有效，服务期结束不失效；维护、支持与升级按各自服务约定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SOW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导出与第三方适配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按许可与技术可行性导出迁移，格式、框架与目标环境逐项确认；BOQ 列明 2 项第三方模型推理适配服务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SOW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现场与远程支持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现场陪伴运维 12 个月（5×8）；远程技术支持 60 个月（7×24，L3/L4）；首 12 个月重合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SOW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首次响应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P1 ≤30 分钟；P2 ≤60 分钟；P3 ≤2 小时；P4 ≤下 1 个工作日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SOW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后续费用与文档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已列支持按 BOQ 执行；扩容、续期、第三方许可与范围外工作按明确条件另行确认；文档采用英语或巴西葡语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SOW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5120640"/>
            <a:ext cx="11274552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666666"/>
                </a:solidFill>
                <a:latin typeface="微软雅黑"/>
                <a:ea typeface="微软雅黑"/>
              </a:rPr>
              <a:t>响应时间是首次响应，不是恢复时限；远程支持后四年不含固定驻场。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 wrap="square" lIns="45720" tIns="0" rIns="45720" bIns="0" anchor="b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>
                <a:solidFill>
                  <a:srgbClr val="C00000"/>
                </a:solidFill>
                <a:latin typeface="微软雅黑"/>
                <a:ea typeface="微软雅黑"/>
              </a:rPr>
              <a:t>A7 · RNP 人员配置明细：分三批到位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165592" y="274320"/>
            <a:ext cx="356616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00" b="1">
                <a:solidFill>
                  <a:srgbClr val="1D1D1A"/>
                </a:solidFill>
                <a:latin typeface="微软雅黑"/>
                <a:ea typeface="微软雅黑"/>
              </a:rPr>
              <a:t>问：每类人员多少、何时到位？</a:t>
            </a:r>
          </a:p>
        </p:txBody>
      </p:sp>
      <p:sp>
        <p:nvSpPr>
          <p:cNvPr id="4" name="Rounded Rectangle 3">
            <a:hlinkClick action="ppaction://hlinksldjump" r:id="rId2"/>
          </p:cNvPr>
          <p:cNvSpPr/>
          <p:nvPr/>
        </p:nvSpPr>
        <p:spPr>
          <a:xfrm>
            <a:off x="7114032" y="274320"/>
            <a:ext cx="96012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950" b="1">
                <a:solidFill>
                  <a:srgbClr val="1F4E79"/>
                </a:solidFill>
                <a:latin typeface="微软雅黑"/>
                <a:ea typeface="微软雅黑"/>
              </a:rPr>
              <a:t>返回目录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051560"/>
          <a:ext cx="11274552" cy="3730752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1920240"/>
                <a:gridCol w="3291840"/>
                <a:gridCol w="2651760"/>
                <a:gridCol w="1828800"/>
                <a:gridCol w="1581912"/>
              </a:tblGrid>
              <a:tr h="365760"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角色分组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职能构成（参考名额）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主要职责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到位批次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参考名额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</a:tr>
              <a:tr h="420624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项目与产品统筹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项目经理 2、产品经理 4、PMO / 数据中心专家 3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统筹需求、排期、资源和交付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第 1 批 · 第 1 步起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0070C0"/>
                          </a:solidFill>
                          <a:latin typeface="微软雅黑"/>
                          <a:ea typeface="微软雅黑"/>
                        </a:rPr>
                        <a:t>9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语料生产与数据资源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资源技术 6、数据质检 6、数据标注 20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组织数据、标注及质量检查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第 1 批 · 第 1 步起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0070C0"/>
                          </a:solidFill>
                          <a:latin typeface="微软雅黑"/>
                          <a:ea typeface="微软雅黑"/>
                        </a:rPr>
                        <a:t>32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葡语语言专家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语言专家 6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确认葡语质量、标注及语音规范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第 1 批 · 第 1 步起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0070C0"/>
                          </a:solidFill>
                          <a:latin typeface="微软雅黑"/>
                          <a:ea typeface="微软雅黑"/>
                        </a:rPr>
                        <a:t>6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合规与审核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审核专家 2、法律专家 2、审核负责人 2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审核内容、安全及法律合规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第 1 批 · 第 1 步起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0070C0"/>
                          </a:solidFill>
                          <a:latin typeface="微软雅黑"/>
                          <a:ea typeface="微软雅黑"/>
                        </a:rPr>
                        <a:t>6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业务与领域专家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业务需求 3、领域需求 2、领域专家 2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确认业务场景与领域效果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第 2 批 · 第 2 步起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0070C0"/>
                          </a:solidFill>
                          <a:latin typeface="微软雅黑"/>
                          <a:ea typeface="微软雅黑"/>
                        </a:rPr>
                        <a:t>7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模型与测试工程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算法工程师 12、测试工程师 6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模型训练、评测及技术验证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第 2 批 · 第 2 步起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0070C0"/>
                          </a:solidFill>
                          <a:latin typeface="微软雅黑"/>
                          <a:ea typeface="微软雅黑"/>
                        </a:rPr>
                        <a:t>18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应用开发与运营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软件开发 15、运营工程师 10、架构师 2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应用架构、开发集成及运营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第 3 批 · 第 3 步起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0070C0"/>
                          </a:solidFill>
                          <a:latin typeface="微软雅黑"/>
                          <a:ea typeface="微软雅黑"/>
                        </a:rPr>
                        <a:t>27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平台运维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O&amp;M 工程师 6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运行管理、部署及问题升级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第 3 批 · 第 3 步起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0070C0"/>
                          </a:solidFill>
                          <a:latin typeface="微软雅黑"/>
                          <a:ea typeface="微软雅黑"/>
                        </a:rPr>
                        <a:t>6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4937760"/>
            <a:ext cx="11274552" cy="6400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666666"/>
                </a:solidFill>
                <a:latin typeface="微软雅黑"/>
                <a:ea typeface="微软雅黑"/>
              </a:rPr>
              <a:t>三批小计：第 1 批 </a:t>
            </a:r>
            <a:r>
              <a:rPr sz="950" b="0">
                <a:solidFill>
                  <a:srgbClr val="0070C0"/>
                </a:solidFill>
                <a:latin typeface="微软雅黑"/>
                <a:ea typeface="微软雅黑"/>
              </a:rPr>
              <a:t>约 53</a:t>
            </a:r>
            <a:r>
              <a:rPr sz="950" b="0">
                <a:solidFill>
                  <a:srgbClr val="666666"/>
                </a:solidFill>
                <a:latin typeface="微软雅黑"/>
                <a:ea typeface="微软雅黑"/>
              </a:rPr>
              <a:t>、第 2 批 </a:t>
            </a:r>
            <a:r>
              <a:rPr sz="950" b="0">
                <a:solidFill>
                  <a:srgbClr val="0070C0"/>
                </a:solidFill>
                <a:latin typeface="微软雅黑"/>
                <a:ea typeface="微软雅黑"/>
              </a:rPr>
              <a:t>约 25</a:t>
            </a:r>
            <a:r>
              <a:rPr sz="950" b="0">
                <a:solidFill>
                  <a:srgbClr val="666666"/>
                </a:solidFill>
                <a:latin typeface="微软雅黑"/>
                <a:ea typeface="微软雅黑"/>
              </a:rPr>
              <a:t>、第 3 批 </a:t>
            </a:r>
            <a:r>
              <a:rPr sz="950" b="0">
                <a:solidFill>
                  <a:srgbClr val="0070C0"/>
                </a:solidFill>
                <a:latin typeface="微软雅黑"/>
                <a:ea typeface="微软雅黑"/>
              </a:rPr>
              <a:t>约 33</a:t>
            </a:r>
            <a:r>
              <a:rPr sz="950" b="0">
                <a:solidFill>
                  <a:srgbClr val="666666"/>
                </a:solidFill>
                <a:latin typeface="微软雅黑"/>
                <a:ea typeface="微软雅黑"/>
              </a:rPr>
              <a:t>，合计 </a:t>
            </a:r>
            <a:r>
              <a:rPr sz="950" b="0">
                <a:solidFill>
                  <a:srgbClr val="0070C0"/>
                </a:solidFill>
                <a:latin typeface="微软雅黑"/>
                <a:ea typeface="微软雅黑"/>
              </a:rPr>
              <a:t>111</a:t>
            </a:r>
            <a:r>
              <a:rPr sz="950" b="0">
                <a:solidFill>
                  <a:srgbClr val="666666"/>
                </a:solidFill>
                <a:latin typeface="微软雅黑"/>
                <a:ea typeface="微软雅黑"/>
              </a:rPr>
              <a:t> 为各职能峰值之和，可跨活动复用，不是同时在岗人数。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666666"/>
                </a:solidFill>
                <a:latin typeface="微软雅黑"/>
                <a:ea typeface="微软雅黑"/>
              </a:rPr>
              <a:t>参考名额来自讯飞早期按全流程交付模式的非约束估算；本 SOW 下 RNP 承担全量数据生产、DLM 训练与日常运营，人数按实际分工复核。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 wrap="square" lIns="45720" tIns="0" rIns="45720" bIns="0" anchor="b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>
                <a:solidFill>
                  <a:srgbClr val="C00000"/>
                </a:solidFill>
                <a:latin typeface="微软雅黑"/>
                <a:ea typeface="微软雅黑"/>
              </a:rPr>
              <a:t>A8 · 知识转移：四阶段明细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165592" y="274320"/>
            <a:ext cx="356616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00" b="1">
                <a:solidFill>
                  <a:srgbClr val="1D1D1A"/>
                </a:solidFill>
                <a:latin typeface="微软雅黑"/>
                <a:ea typeface="微软雅黑"/>
              </a:rPr>
              <a:t>问：每个阶段做什么、多少天、如何签认？</a:t>
            </a:r>
          </a:p>
        </p:txBody>
      </p:sp>
      <p:sp>
        <p:nvSpPr>
          <p:cNvPr id="4" name="Rounded Rectangle 3">
            <a:hlinkClick action="ppaction://hlinksldjump" r:id="rId2"/>
          </p:cNvPr>
          <p:cNvSpPr/>
          <p:nvPr/>
        </p:nvSpPr>
        <p:spPr>
          <a:xfrm>
            <a:off x="7114032" y="274320"/>
            <a:ext cx="96012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950" b="1">
                <a:solidFill>
                  <a:srgbClr val="1F4E79"/>
                </a:solidFill>
                <a:latin typeface="微软雅黑"/>
                <a:ea typeface="微软雅黑"/>
              </a:rPr>
              <a:t>返回目录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051560"/>
          <a:ext cx="11274552" cy="3749040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1325880"/>
                <a:gridCol w="3931920"/>
                <a:gridCol w="1417320"/>
                <a:gridCol w="1417320"/>
                <a:gridCol w="1143000"/>
                <a:gridCol w="2039112"/>
              </a:tblGrid>
              <a:tr h="365760"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阶段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学习目标与范围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讯飞与 RNP 角色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课时 / 工作日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核心学员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完成依据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</a:tr>
              <a:tr h="731520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奠基</a:t>
                      </a:r>
                    </a:p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（AI 基础）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建立对机器学习、深度学习、自然语言处理和大模型的共同理解；覆盖语料准备、训练、评测、模型服务、应用创新、能力中心架构与运维基础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讯飞授课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30 课时</a:t>
                      </a:r>
                    </a:p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约 5 个工作日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30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达到阶段要求</a:t>
                      </a:r>
                    </a:p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（目标 ≥80%）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跟岗</a:t>
                      </a:r>
                    </a:p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（讯飞操作）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在交付平台上观察并协助讯飞工程师完成数据集管理、训练任务、资源配置、模型评测、发布、服务与基础运维；内容跟随实际交付与运营任务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讯飞操作</a:t>
                      </a:r>
                    </a:p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RNP 观察协助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360 课时</a:t>
                      </a:r>
                    </a:p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约 45 个工作日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10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通过实操考核</a:t>
                      </a:r>
                    </a:p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（目标 ≥70%）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指导实操</a:t>
                      </a:r>
                    </a:p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（RNP 操作）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RNP 执行预先约定的任务：平台操作、数据处理、训练任务提交、模型部署、监控、告警与故障分级；讯飞指导并检查关键步骤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RNP 操作</a:t>
                      </a:r>
                    </a:p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讯飞指导检查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20 课时</a:t>
                      </a:r>
                    </a:p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约 3 个工作日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10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双方签署实操记录</a:t>
                      </a:r>
                    </a:p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（目标 ≥50% 达标）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正式移交</a:t>
                      </a:r>
                    </a:p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（运营责任）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按 SOW、BOQ 和最终验收清单实际交付的平台、许可资产、配置、权限和文档进行移交带教；验证 RNP 独立完成约定任务；确认遗留项与支持安排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RNP 独立操作</a:t>
                      </a:r>
                    </a:p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讯飞验证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168 课时</a:t>
                      </a:r>
                    </a:p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约 21 个工作日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10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双方签署移交确认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合计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课时跨主题只计一次；阶段日期按批准的知识转移计划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578 课时</a:t>
                      </a:r>
                    </a:p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约 74 个工作日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30/10/10/10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4937760"/>
            <a:ext cx="11274552" cy="6858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666666"/>
                </a:solidFill>
                <a:latin typeface="微软雅黑"/>
                <a:ea typeface="微软雅黑"/>
              </a:rPr>
              <a:t>74 个工作日是培训活动天数之和，不是连续工期；百分比是合格核心学员的培养目标，不是验收阈值；正式移交至少在一年陪伴运维结束前 3 个月启动，不等于 168 课时从该时点开始。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666666"/>
                </a:solidFill>
                <a:latin typeface="微软雅黑"/>
                <a:ea typeface="微软雅黑"/>
              </a:rPr>
              <a:t>学员安排不要求从 30 人中固定选出 10 人或各阶段同一批人，由 RNP 指定稳定且具备基础的学员；口径：SOW。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 wrap="square" lIns="45720" tIns="0" rIns="45720" bIns="0" anchor="b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>
                <a:solidFill>
                  <a:srgbClr val="C00000"/>
                </a:solidFill>
                <a:latin typeface="微软雅黑"/>
                <a:ea typeface="微软雅黑"/>
              </a:rPr>
              <a:t>A9 · 知识转移：课程主题与交流形式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165592" y="274320"/>
            <a:ext cx="356616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00" b="1">
                <a:solidFill>
                  <a:srgbClr val="1D1D1A"/>
                </a:solidFill>
                <a:latin typeface="微软雅黑"/>
                <a:ea typeface="微软雅黑"/>
              </a:rPr>
              <a:t>问：具体学什么、有哪些形式？</a:t>
            </a:r>
          </a:p>
        </p:txBody>
      </p:sp>
      <p:sp>
        <p:nvSpPr>
          <p:cNvPr id="4" name="Rounded Rectangle 3">
            <a:hlinkClick action="ppaction://hlinksldjump" r:id="rId2"/>
          </p:cNvPr>
          <p:cNvSpPr/>
          <p:nvPr/>
        </p:nvSpPr>
        <p:spPr>
          <a:xfrm>
            <a:off x="7114032" y="274320"/>
            <a:ext cx="96012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950" b="1">
                <a:solidFill>
                  <a:srgbClr val="1F4E79"/>
                </a:solidFill>
                <a:latin typeface="微软雅黑"/>
                <a:ea typeface="微软雅黑"/>
              </a:rPr>
              <a:t>返回目录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32688"/>
            <a:ext cx="731520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1D1D1A"/>
                </a:solidFill>
                <a:latin typeface="微软雅黑"/>
                <a:ea typeface="微软雅黑"/>
              </a:rPr>
              <a:t>四个方向 · 12 项 SOW 课程主题的分组，不增加课时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280160"/>
            <a:ext cx="2647188" cy="2148840"/>
          </a:xfrm>
          <a:prstGeom prst="roundRect">
            <a:avLst>
              <a:gd name="adj" fmla="val 4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03504" y="1408176"/>
            <a:ext cx="292608" cy="292608"/>
          </a:xfrm>
          <a:prstGeom prst="ellipse">
            <a:avLst/>
          </a:prstGeom>
          <a:solidFill>
            <a:srgbClr val="E900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微软雅黑"/>
                <a:ea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9264" y="1371600"/>
            <a:ext cx="2007108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1D1D1A"/>
                </a:solidFill>
                <a:latin typeface="微软雅黑"/>
                <a:ea typeface="微软雅黑"/>
              </a:rPr>
              <a:t>模型与数据评测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" y="1810512"/>
            <a:ext cx="2354580" cy="1143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164592" indent="-164592">
              <a:lnSpc>
                <a:spcPct val="115000"/>
              </a:lnSpc>
              <a:spcAft>
                <a:spcPts val="200"/>
              </a:spcAft>
              <a:buClr>
                <a:srgbClr val="C00000"/>
              </a:buClr>
              <a:buSzPct val="100000"/>
              <a:buFont typeface="Arial"/>
              <a:buChar char="•"/>
            </a:pPr>
            <a:r>
              <a:rPr sz="950" b="0">
                <a:solidFill>
                  <a:srgbClr val="333333"/>
                </a:solidFill>
                <a:latin typeface="微软雅黑"/>
                <a:ea typeface="微软雅黑"/>
              </a:rPr>
              <a:t>模型架构与训练路线：继续预训练、SFT、LoRA、偏好对齐</a:t>
            </a:r>
          </a:p>
          <a:p>
            <a:pPr algn="l" marL="164592" indent="-164592">
              <a:lnSpc>
                <a:spcPct val="115000"/>
              </a:lnSpc>
              <a:spcAft>
                <a:spcPts val="200"/>
              </a:spcAft>
              <a:buClr>
                <a:srgbClr val="C00000"/>
              </a:buClr>
              <a:buSzPct val="100000"/>
              <a:buFont typeface="Arial"/>
              <a:buChar char="•"/>
            </a:pPr>
            <a:r>
              <a:rPr sz="950" b="0">
                <a:solidFill>
                  <a:srgbClr val="333333"/>
                </a:solidFill>
                <a:latin typeface="微软雅黑"/>
                <a:ea typeface="微软雅黑"/>
              </a:rPr>
              <a:t>葡语数据：来源、质量、血缘、隐私与生命周期治理</a:t>
            </a:r>
          </a:p>
          <a:p>
            <a:pPr algn="l" marL="164592" indent="-164592">
              <a:lnSpc>
                <a:spcPct val="115000"/>
              </a:lnSpc>
              <a:spcAft>
                <a:spcPts val="200"/>
              </a:spcAft>
              <a:buClr>
                <a:srgbClr val="C00000"/>
              </a:buClr>
              <a:buSzPct val="100000"/>
              <a:buFont typeface="Arial"/>
              <a:buChar char="•"/>
            </a:pPr>
            <a:r>
              <a:rPr sz="950" b="0">
                <a:solidFill>
                  <a:srgbClr val="333333"/>
                </a:solidFill>
                <a:latin typeface="微软雅黑"/>
                <a:ea typeface="微软雅黑"/>
              </a:rPr>
              <a:t>评测：回归、鲁棒性、偏见、安全、幻觉与文化适配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3504" y="2971800"/>
            <a:ext cx="2354580" cy="42062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0">
                <a:solidFill>
                  <a:srgbClr val="666666"/>
                </a:solidFill>
                <a:latin typeface="微软雅黑"/>
                <a:ea typeface="微软雅黑"/>
              </a:rPr>
              <a:t>目标：比较训练路线、检查数据质量、按约定基线评测模型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32988" y="1280160"/>
            <a:ext cx="2647188" cy="2148840"/>
          </a:xfrm>
          <a:prstGeom prst="roundRect">
            <a:avLst>
              <a:gd name="adj" fmla="val 4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479292" y="1408176"/>
            <a:ext cx="292608" cy="292608"/>
          </a:xfrm>
          <a:prstGeom prst="ellipse">
            <a:avLst/>
          </a:prstGeom>
          <a:solidFill>
            <a:srgbClr val="E900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微软雅黑"/>
                <a:ea typeface="微软雅黑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45052" y="1371600"/>
            <a:ext cx="2007108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1D1D1A"/>
                </a:solidFill>
                <a:latin typeface="微软雅黑"/>
                <a:ea typeface="微软雅黑"/>
              </a:rPr>
              <a:t>软件栈与生命周期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79292" y="1810512"/>
            <a:ext cx="2354580" cy="1143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164592" indent="-164592">
              <a:lnSpc>
                <a:spcPct val="115000"/>
              </a:lnSpc>
              <a:spcAft>
                <a:spcPts val="200"/>
              </a:spcAft>
              <a:buClr>
                <a:srgbClr val="C00000"/>
              </a:buClr>
              <a:buSzPct val="100000"/>
              <a:buFont typeface="Arial"/>
              <a:buChar char="•"/>
            </a:pPr>
            <a:r>
              <a:rPr sz="950" b="0">
                <a:solidFill>
                  <a:srgbClr val="333333"/>
                </a:solidFill>
                <a:latin typeface="微软雅黑"/>
                <a:ea typeface="微软雅黑"/>
              </a:rPr>
              <a:t>软件层次与依赖；版本与兼容管理</a:t>
            </a:r>
          </a:p>
          <a:p>
            <a:pPr algn="l" marL="164592" indent="-164592">
              <a:lnSpc>
                <a:spcPct val="115000"/>
              </a:lnSpc>
              <a:spcAft>
                <a:spcPts val="200"/>
              </a:spcAft>
              <a:buClr>
                <a:srgbClr val="C00000"/>
              </a:buClr>
              <a:buSzPct val="100000"/>
              <a:buFont typeface="Arial"/>
              <a:buChar char="•"/>
            </a:pPr>
            <a:r>
              <a:rPr sz="950" b="0">
                <a:solidFill>
                  <a:srgbClr val="333333"/>
                </a:solidFill>
                <a:latin typeface="微软雅黑"/>
                <a:ea typeface="微软雅黑"/>
              </a:rPr>
              <a:t>MLOps / LLMOps：实验跟踪、发布、监控与回滚</a:t>
            </a:r>
          </a:p>
          <a:p>
            <a:pPr algn="l" marL="164592" indent="-164592">
              <a:lnSpc>
                <a:spcPct val="115000"/>
              </a:lnSpc>
              <a:spcAft>
                <a:spcPts val="200"/>
              </a:spcAft>
              <a:buClr>
                <a:srgbClr val="C00000"/>
              </a:buClr>
              <a:buSzPct val="100000"/>
              <a:buFont typeface="Arial"/>
              <a:buChar char="•"/>
            </a:pPr>
            <a:r>
              <a:rPr sz="950" b="0">
                <a:solidFill>
                  <a:srgbClr val="333333"/>
                </a:solidFill>
                <a:latin typeface="微软雅黑"/>
                <a:ea typeface="微软雅黑"/>
              </a:rPr>
              <a:t>软硬件与算法协同：负载与资源瓶颈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79292" y="2971800"/>
            <a:ext cx="2354580" cy="42062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0">
                <a:solidFill>
                  <a:srgbClr val="666666"/>
                </a:solidFill>
                <a:latin typeface="微软雅黑"/>
                <a:ea typeface="微软雅黑"/>
              </a:rPr>
              <a:t>目标：理解依赖关系、生命周期运维和交付平台的能力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08776" y="1280160"/>
            <a:ext cx="2647188" cy="2148840"/>
          </a:xfrm>
          <a:prstGeom prst="roundRect">
            <a:avLst>
              <a:gd name="adj" fmla="val 4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355080" y="1408176"/>
            <a:ext cx="292608" cy="292608"/>
          </a:xfrm>
          <a:prstGeom prst="ellipse">
            <a:avLst/>
          </a:prstGeom>
          <a:solidFill>
            <a:srgbClr val="E900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微软雅黑"/>
                <a:ea typeface="微软雅黑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20840" y="1371600"/>
            <a:ext cx="2007108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1D1D1A"/>
                </a:solidFill>
                <a:latin typeface="微软雅黑"/>
                <a:ea typeface="微软雅黑"/>
              </a:rPr>
              <a:t>规模化训练与推理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55080" y="1810512"/>
            <a:ext cx="2354580" cy="1143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164592" indent="-164592">
              <a:lnSpc>
                <a:spcPct val="115000"/>
              </a:lnSpc>
              <a:spcAft>
                <a:spcPts val="200"/>
              </a:spcAft>
              <a:buClr>
                <a:srgbClr val="C00000"/>
              </a:buClr>
              <a:buSzPct val="100000"/>
              <a:buFont typeface="Arial"/>
              <a:buChar char="•"/>
            </a:pPr>
            <a:r>
              <a:rPr sz="950" b="0">
                <a:solidFill>
                  <a:srgbClr val="333333"/>
                </a:solidFill>
                <a:latin typeface="微软雅黑"/>
                <a:ea typeface="微软雅黑"/>
              </a:rPr>
              <a:t>资源配置与检查点恢复；数据、张量、流水线与序列并行</a:t>
            </a:r>
          </a:p>
          <a:p>
            <a:pPr algn="l" marL="164592" indent="-164592">
              <a:lnSpc>
                <a:spcPct val="115000"/>
              </a:lnSpc>
              <a:spcAft>
                <a:spcPts val="200"/>
              </a:spcAft>
              <a:buClr>
                <a:srgbClr val="C00000"/>
              </a:buClr>
              <a:buSzPct val="100000"/>
              <a:buFont typeface="Arial"/>
              <a:buChar char="•"/>
            </a:pPr>
            <a:r>
              <a:rPr sz="950" b="0">
                <a:solidFill>
                  <a:srgbClr val="333333"/>
                </a:solidFill>
                <a:latin typeface="微软雅黑"/>
                <a:ea typeface="微软雅黑"/>
              </a:rPr>
              <a:t>模型服务、批处理、KV 缓存；吞吐、时延与容量</a:t>
            </a:r>
          </a:p>
          <a:p>
            <a:pPr algn="l" marL="164592" indent="-164592">
              <a:lnSpc>
                <a:spcPct val="115000"/>
              </a:lnSpc>
              <a:spcAft>
                <a:spcPts val="200"/>
              </a:spcAft>
              <a:buClr>
                <a:srgbClr val="C00000"/>
              </a:buClr>
              <a:buSzPct val="100000"/>
              <a:buFont typeface="Arial"/>
              <a:buChar char="•"/>
            </a:pPr>
            <a:r>
              <a:rPr sz="950" b="0">
                <a:solidFill>
                  <a:srgbClr val="333333"/>
                </a:solidFill>
                <a:latin typeface="微软雅黑"/>
                <a:ea typeface="微软雅黑"/>
              </a:rPr>
              <a:t>量化、剪枝、蒸馏；压缩与能效分析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55080" y="2971800"/>
            <a:ext cx="2354580" cy="42062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0">
                <a:solidFill>
                  <a:srgbClr val="666666"/>
                </a:solidFill>
                <a:latin typeface="微软雅黑"/>
                <a:ea typeface="微软雅黑"/>
              </a:rPr>
              <a:t>目标：定位瓶颈，在效果、时延、吞吐与资源成本间权衡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084564" y="1280160"/>
            <a:ext cx="2647188" cy="2148840"/>
          </a:xfrm>
          <a:prstGeom prst="roundRect">
            <a:avLst>
              <a:gd name="adj" fmla="val 4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230868" y="1408176"/>
            <a:ext cx="292608" cy="292608"/>
          </a:xfrm>
          <a:prstGeom prst="ellipse">
            <a:avLst/>
          </a:prstGeom>
          <a:solidFill>
            <a:srgbClr val="E900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微软雅黑"/>
                <a:ea typeface="微软雅黑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596628" y="1371600"/>
            <a:ext cx="2007108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1D1D1A"/>
                </a:solidFill>
                <a:latin typeface="微软雅黑"/>
                <a:ea typeface="微软雅黑"/>
              </a:rPr>
              <a:t>检索、智能体与安全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30868" y="1810512"/>
            <a:ext cx="2354580" cy="1143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164592" indent="-164592">
              <a:lnSpc>
                <a:spcPct val="115000"/>
              </a:lnSpc>
              <a:spcAft>
                <a:spcPts val="200"/>
              </a:spcAft>
              <a:buClr>
                <a:srgbClr val="C00000"/>
              </a:buClr>
              <a:buSzPct val="100000"/>
              <a:buFont typeface="Arial"/>
              <a:buChar char="•"/>
            </a:pPr>
            <a:r>
              <a:rPr sz="950" b="0">
                <a:solidFill>
                  <a:srgbClr val="333333"/>
                </a:solidFill>
                <a:latin typeface="微软雅黑"/>
                <a:ea typeface="微软雅黑"/>
              </a:rPr>
              <a:t>RAG 与图检索；混合检索与重排</a:t>
            </a:r>
          </a:p>
          <a:p>
            <a:pPr algn="l" marL="164592" indent="-164592">
              <a:lnSpc>
                <a:spcPct val="115000"/>
              </a:lnSpc>
              <a:spcAft>
                <a:spcPts val="200"/>
              </a:spcAft>
              <a:buClr>
                <a:srgbClr val="C00000"/>
              </a:buClr>
              <a:buSzPct val="100000"/>
              <a:buFont typeface="Arial"/>
              <a:buChar char="•"/>
            </a:pPr>
            <a:r>
              <a:rPr sz="950" b="0">
                <a:solidFill>
                  <a:srgbClr val="333333"/>
                </a:solidFill>
                <a:latin typeface="微软雅黑"/>
                <a:ea typeface="微软雅黑"/>
              </a:rPr>
              <a:t>智能体：工具、规划、记忆与多智能体协作</a:t>
            </a:r>
          </a:p>
          <a:p>
            <a:pPr algn="l" marL="164592" indent="-164592">
              <a:lnSpc>
                <a:spcPct val="115000"/>
              </a:lnSpc>
              <a:spcAft>
                <a:spcPts val="200"/>
              </a:spcAft>
              <a:buClr>
                <a:srgbClr val="C00000"/>
              </a:buClr>
              <a:buSzPct val="100000"/>
              <a:buFont typeface="Arial"/>
              <a:buChar char="•"/>
            </a:pPr>
            <a:r>
              <a:rPr sz="950" b="0">
                <a:solidFill>
                  <a:srgbClr val="333333"/>
                </a:solidFill>
                <a:latin typeface="微软雅黑"/>
                <a:ea typeface="微软雅黑"/>
              </a:rPr>
              <a:t>系统与模型安全：提示词、内容审核、供应链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30868" y="2971800"/>
            <a:ext cx="2354580" cy="42062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0">
                <a:solidFill>
                  <a:srgbClr val="666666"/>
                </a:solidFill>
                <a:latin typeface="微软雅黑"/>
                <a:ea typeface="微软雅黑"/>
              </a:rPr>
              <a:t>目标：设计带来源核验和风险控制的知识服务与研究助手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3566160"/>
            <a:ext cx="731520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1D1D1A"/>
                </a:solidFill>
                <a:latin typeface="微软雅黑"/>
                <a:ea typeface="微软雅黑"/>
              </a:rPr>
              <a:t>四种交流形式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7200" y="3886200"/>
            <a:ext cx="2647188" cy="1188720"/>
          </a:xfrm>
          <a:prstGeom prst="roundRect">
            <a:avLst>
              <a:gd name="adj" fmla="val 4000"/>
            </a:avLst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03504" y="3977639"/>
            <a:ext cx="1458468" cy="3291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1">
                <a:solidFill>
                  <a:srgbClr val="1D1D1A"/>
                </a:solidFill>
                <a:latin typeface="微软雅黑"/>
                <a:ea typeface="微软雅黑"/>
              </a:rPr>
              <a:t>高级 AI 研讨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098548" y="4005072"/>
            <a:ext cx="868680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8C8C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50" b="1">
                <a:solidFill>
                  <a:srgbClr val="1D1D1A"/>
                </a:solidFill>
                <a:latin typeface="微软雅黑"/>
                <a:ea typeface="微软雅黑"/>
              </a:rPr>
              <a:t>计划内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03504" y="4361688"/>
            <a:ext cx="2354580" cy="685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0">
                <a:solidFill>
                  <a:srgbClr val="333333"/>
                </a:solidFill>
                <a:latin typeface="微软雅黑"/>
                <a:ea typeface="微软雅黑"/>
              </a:rPr>
              <a:t>按批准的课程计划，在交付平台和模型上进行；内容与深度随课程计划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332988" y="3886200"/>
            <a:ext cx="2647188" cy="1188720"/>
          </a:xfrm>
          <a:prstGeom prst="roundRect">
            <a:avLst>
              <a:gd name="adj" fmla="val 4000"/>
            </a:avLst>
          </a:prstGeom>
          <a:solidFill>
            <a:srgbClr val="E8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479292" y="3977639"/>
            <a:ext cx="1458468" cy="3291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1">
                <a:solidFill>
                  <a:srgbClr val="1D1D1A"/>
                </a:solidFill>
                <a:latin typeface="微软雅黑"/>
                <a:ea typeface="微软雅黑"/>
              </a:rPr>
              <a:t>中国 AI 考察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974336" y="4005072"/>
            <a:ext cx="868680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50" b="1">
                <a:solidFill>
                  <a:srgbClr val="0070C0"/>
                </a:solidFill>
                <a:latin typeface="微软雅黑"/>
                <a:ea typeface="微软雅黑"/>
              </a:rPr>
              <a:t>建议增加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479292" y="4361688"/>
            <a:ext cx="2354580" cy="685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0">
                <a:solidFill>
                  <a:srgbClr val="333333"/>
                </a:solidFill>
                <a:latin typeface="微软雅黑"/>
                <a:ea typeface="微软雅黑"/>
              </a:rPr>
              <a:t>拟访问讯飞团队与相关算力设施；行程、时长、语言和费用另行约定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208776" y="3886200"/>
            <a:ext cx="2647188" cy="1188720"/>
          </a:xfrm>
          <a:prstGeom prst="roundRect">
            <a:avLst>
              <a:gd name="adj" fmla="val 4000"/>
            </a:avLst>
          </a:prstGeom>
          <a:solidFill>
            <a:srgbClr val="E8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355080" y="3977639"/>
            <a:ext cx="1458468" cy="3291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1">
                <a:solidFill>
                  <a:srgbClr val="1D1D1A"/>
                </a:solidFill>
                <a:latin typeface="微软雅黑"/>
                <a:ea typeface="微软雅黑"/>
              </a:rPr>
              <a:t>一对一专家交流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850124" y="4005072"/>
            <a:ext cx="868680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50" b="1">
                <a:solidFill>
                  <a:srgbClr val="0070C0"/>
                </a:solidFill>
                <a:latin typeface="微软雅黑"/>
                <a:ea typeface="微软雅黑"/>
              </a:rPr>
              <a:t>建议增加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355080" y="4361688"/>
            <a:ext cx="2354580" cy="685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0">
                <a:solidFill>
                  <a:srgbClr val="333333"/>
                </a:solidFill>
                <a:latin typeface="微软雅黑"/>
                <a:ea typeface="微软雅黑"/>
              </a:rPr>
              <a:t>针对 RNP 工程师提出的问题做设计评审；范围与时长事先约定，不含长期顾问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084564" y="3886200"/>
            <a:ext cx="2647188" cy="1188720"/>
          </a:xfrm>
          <a:prstGeom prst="roundRect">
            <a:avLst>
              <a:gd name="adj" fmla="val 4000"/>
            </a:avLst>
          </a:prstGeom>
          <a:solidFill>
            <a:srgbClr val="E8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230868" y="3977639"/>
            <a:ext cx="1458468" cy="3291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1">
                <a:solidFill>
                  <a:srgbClr val="1D1D1A"/>
                </a:solidFill>
                <a:latin typeface="微软雅黑"/>
                <a:ea typeface="微软雅黑"/>
              </a:rPr>
              <a:t>AI 战略圆桌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10725912" y="4005072"/>
            <a:ext cx="868680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50" b="1">
                <a:solidFill>
                  <a:srgbClr val="0070C0"/>
                </a:solidFill>
                <a:latin typeface="微软雅黑"/>
                <a:ea typeface="微软雅黑"/>
              </a:rPr>
              <a:t>建议增加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230868" y="4361688"/>
            <a:ext cx="2354580" cy="685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0">
                <a:solidFill>
                  <a:srgbClr val="333333"/>
                </a:solidFill>
                <a:latin typeface="微软雅黑"/>
                <a:ea typeface="微软雅黑"/>
              </a:rPr>
              <a:t>RNP 领导与讯飞架构师讨论模型路线、技术选型与能力规划；参与人与时间事先约定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57200" y="5212080"/>
            <a:ext cx="11274552" cy="5029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666666"/>
                </a:solidFill>
                <a:latin typeface="微软雅黑"/>
                <a:ea typeface="微软雅黑"/>
              </a:rPr>
              <a:t>方向与主题对应：方向 1 = SOW 主题 1、7、8；方向 2 = 2、10、11；方向 3 = 3、4、9；方向 4 = 5、6、12。讲授方法不等于所有交付模型都支持该方法，也不包含新增优化任务；口径：SOW，交流形式中三项为建议。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 wrap="square" lIns="45720" tIns="0" rIns="45720" bIns="0" anchor="b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>
                <a:solidFill>
                  <a:srgbClr val="C00000"/>
                </a:solidFill>
                <a:latin typeface="微软雅黑"/>
                <a:ea typeface="微软雅黑"/>
              </a:rPr>
              <a:t>A10 · 知识转移：岗位学习路径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165592" y="274320"/>
            <a:ext cx="356616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00" b="1">
                <a:solidFill>
                  <a:srgbClr val="1D1D1A"/>
                </a:solidFill>
                <a:latin typeface="微软雅黑"/>
                <a:ea typeface="微软雅黑"/>
              </a:rPr>
              <a:t>问：每类岗位学什么？</a:t>
            </a:r>
          </a:p>
        </p:txBody>
      </p:sp>
      <p:sp>
        <p:nvSpPr>
          <p:cNvPr id="4" name="Rounded Rectangle 3">
            <a:hlinkClick action="ppaction://hlinksldjump" r:id="rId2"/>
          </p:cNvPr>
          <p:cNvSpPr/>
          <p:nvPr/>
        </p:nvSpPr>
        <p:spPr>
          <a:xfrm>
            <a:off x="7114032" y="274320"/>
            <a:ext cx="96012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950" b="1">
                <a:solidFill>
                  <a:srgbClr val="1F4E79"/>
                </a:solidFill>
                <a:latin typeface="微软雅黑"/>
                <a:ea typeface="微软雅黑"/>
              </a:rPr>
              <a:t>返回目录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051560"/>
          <a:ext cx="11274552" cy="3547872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1645920"/>
                <a:gridCol w="1417320"/>
                <a:gridCol w="3108960"/>
                <a:gridCol w="3108960"/>
                <a:gridCol w="1993392"/>
              </a:tblGrid>
              <a:tr h="365760"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角色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培训阶段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参与任务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讯飞支持方式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完成依据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</a:tr>
              <a:tr h="530352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语料采集团队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奠基、跟岗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熟悉数据来源、授权、规范及平台处理流程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教材、工具说明、代表性样例与处理指导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课程、跟岗及问题记录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语言与标注专家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奠基、跟岗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理解标注、语言质量、安全标签及语音规范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规范讲解、样例分析、质量检查方法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约定练习及规则确认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模型工程师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跟岗、指导实操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提交训练任务、查看日志与评测，理解模型发布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任务配置、日志分析、评测及发布指导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约定实操结果与指导记录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应用人员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跟岗、指导实操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掌握应用配置、用户权限、接口调用与运营统计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应用平台、API 及运营功能使用指导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约定功能及调用演练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运维工程师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指导实操、移交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承接监控、事件、变更、常见故障与支持升级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运行资料、代表性操作与自主验证带教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自主操作及移交确认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行业专家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跟岗、指导实操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理解场景、数据及模型效果评估方法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评测方法、报告解读及内容边界说明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参与记录和约定评测练习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4754880"/>
            <a:ext cx="11274552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0070C0"/>
                </a:solidFill>
                <a:latin typeface="微软雅黑"/>
                <a:ea typeface="微软雅黑"/>
              </a:rPr>
              <a:t>待确认：四阶段与实施五个步骤的对应关系</a:t>
            </a:r>
            <a:r>
              <a:rPr sz="950" b="0">
                <a:solidFill>
                  <a:srgbClr val="666666"/>
                </a:solidFill>
                <a:latin typeface="微软雅黑"/>
                <a:ea typeface="微软雅黑"/>
              </a:rPr>
              <a:t>；岗位分配和练习由批准的知识转移计划明确；专项 DLM 指导与实施培训不重复计入。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7_章节页">
  <a:themeElements>
    <a:clrScheme name="HuaWei colour 3">
      <a:dk1>
        <a:srgbClr val="1D1D1A"/>
      </a:dk1>
      <a:lt1>
        <a:srgbClr val="666666"/>
      </a:lt1>
      <a:dk2>
        <a:srgbClr val="FFFFFF"/>
      </a:dk2>
      <a:lt2>
        <a:srgbClr val="DDDDDD"/>
      </a:lt2>
      <a:accent1>
        <a:srgbClr val="E9002F"/>
      </a:accent1>
      <a:accent2>
        <a:srgbClr val="7F0000"/>
      </a:accent2>
      <a:accent3>
        <a:srgbClr val="ED6D00"/>
      </a:accent3>
      <a:accent4>
        <a:srgbClr val="FCC800"/>
      </a:accent4>
      <a:accent5>
        <a:srgbClr val="61B230"/>
      </a:accent5>
      <a:accent6>
        <a:srgbClr val="30B5C5"/>
      </a:accent6>
      <a:hlink>
        <a:srgbClr val="C7000B"/>
      </a:hlink>
      <a:folHlink>
        <a:srgbClr val="666666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spAutoFit/>
      </a:bodyPr>
      <a:lstStyle>
        <a:defPPr algn="l">
          <a:defRPr kumimoji="1" dirty="0" smtClean="0">
            <a:solidFill>
              <a:srgbClr val="000000"/>
            </a:solidFill>
            <a:latin typeface="Microsoft YaHei" panose="020B0503020204020204" pitchFamily="34" charset="-122"/>
            <a:ea typeface="Microsoft YaHei" panose="020B0503020204020204" pitchFamily="34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PT 模板" id="{9BBB633E-5E45-41C7-B61B-A7FDDADD335C}" vid="{FC34AD67-7538-4717-9A73-50191031DBF3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307</Words>
  <Application>Microsoft Office PowerPoint</Application>
  <PresentationFormat>宽屏</PresentationFormat>
  <Paragraphs>37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8" baseType="lpstr">
      <vt:lpstr>等线</vt:lpstr>
      <vt:lpstr>楷体</vt:lpstr>
      <vt:lpstr>Microsoft YaHei</vt:lpstr>
      <vt:lpstr>Microsoft YaHei</vt:lpstr>
      <vt:lpstr>Arial</vt:lpstr>
      <vt:lpstr>Calibri</vt:lpstr>
      <vt:lpstr>7_章节页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Chen Hao</dc:creator>
  <cp:lastModifiedBy>Chen Hao</cp:lastModifiedBy>
  <cp:revision>1</cp:revision>
  <dcterms:created xsi:type="dcterms:W3CDTF">2026-08-27T14:04:28Z</dcterms:created>
  <dcterms:modified xsi:type="dcterms:W3CDTF">2026-08-27T14:04:38Z</dcterms:modified>
</cp:coreProperties>
</file>