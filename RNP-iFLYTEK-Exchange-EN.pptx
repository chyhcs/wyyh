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83630" r:id="rId8"/>
    <p:sldId id="2147483631" r:id="rId9"/>
    <p:sldId id="2147483632" r:id="rId10"/>
    <p:sldId id="2147483633" r:id="rId11"/>
    <p:sldId id="2147483634" r:id="rId12"/>
    <p:sldId id="2147483635" r:id="rId13"/>
    <p:sldId id="2147483636" r:id="rId14"/>
    <p:sldId id="2147483637" r:id="rId15"/>
    <p:sldId id="2147483638" r:id="rId16"/>
    <p:sldId id="2147483639" r:id="rId17"/>
    <p:sldId id="2147483640" r:id="rId18"/>
    <p:sldId id="2147483641" r:id="rId19"/>
    <p:sldId id="2147483642" r:id="rId20"/>
    <p:sldId id="2147483643" r:id="rId21"/>
    <p:sldId id="2147483644" r:id="rId22"/>
    <p:sldId id="2147483645" r:id="rId23"/>
    <p:sldId id="2147483646" r:id="rId24"/>
    <p:sldId id="2147483647" r:id="rId25"/>
    <p:sldId id="256" r:id="rId26"/>
    <p:sldId id="257" r:id="rId27"/>
    <p:sldId id="258" r:id="rId28"/>
    <p:sldId id="259" r:id="rId29"/>
    <p:sldId id="260" r:id="rId30"/>
    <p:sldId id="261" r:id="rId31"/>
    <p:sldId id="262" r:id="rId32"/>
    <p:sldId id="263" r:id="rId33"/>
    <p:sldId id="264" r:id="rId34"/>
    <p:sldId id="265" r:id="rId35"/>
    <p:sldId id="266" r:id="rId36"/>
    <p:sldId id="267"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p:scale>
          <a:sx n="66" d="100"/>
          <a:sy n="66" d="100"/>
        </p:scale>
        <p:origin x="24" y="3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1D33DA-F32C-4BB5-A35D-C2C64315327B}" type="datetimeFigureOut">
              <a:rPr lang="zh-CN" altLang="en-US" smtClean="0"/>
              <a:t>2026/8/27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69E06-539E-443E-9D9E-DA313339D2AB}" type="slidenum">
              <a:rPr lang="zh-CN" altLang="en-US" smtClean="0"/>
              <a:t>‹#›</a:t>
            </a:fld>
            <a:endParaRPr lang="zh-CN" altLang="en-US"/>
          </a:p>
        </p:txBody>
      </p:sp>
    </p:spTree>
    <p:extLst>
      <p:ext uri="{BB962C8B-B14F-4D97-AF65-F5344CB8AC3E}">
        <p14:creationId xmlns:p14="http://schemas.microsoft.com/office/powerpoint/2010/main" val="125736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简报">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476894" y="145343"/>
            <a:ext cx="10440017" cy="486841"/>
          </a:xfrm>
          <a:prstGeom prst="rect">
            <a:avLst/>
          </a:prstGeom>
        </p:spPr>
        <p:txBody>
          <a:bodyPr vert="horz" lIns="91440" tIns="45720" rIns="91440" bIns="45720" rtlCol="0" anchor="b">
            <a:noAutofit/>
          </a:bodyPr>
          <a:lstStyle>
            <a:lvl1pPr marL="0" indent="0">
              <a:buNone/>
              <a:defRPr lang="en-US" sz="2797" b="1" dirty="0">
                <a:solidFill>
                  <a:srgbClr val="C00000"/>
                </a:solidFill>
                <a:latin typeface="微软雅黑" panose="020B0503020204020204" pitchFamily="34" charset="-122"/>
                <a:ea typeface="微软雅黑" panose="020B0503020204020204" pitchFamily="34" charset="-122"/>
                <a:cs typeface="+mj-cs"/>
              </a:defRPr>
            </a:lvl1pPr>
          </a:lstStyle>
          <a:p>
            <a:pPr marL="0" lvl="0" defTabSz="913303">
              <a:spcBef>
                <a:spcPct val="0"/>
              </a:spcBef>
            </a:pPr>
            <a:r>
              <a:rPr lang="zh-CN" altLang="en-US" dirty="0"/>
              <a:t>单击此处添加标题</a:t>
            </a:r>
            <a:endParaRPr lang="en-US" dirty="0"/>
          </a:p>
        </p:txBody>
      </p:sp>
    </p:spTree>
    <p:extLst>
      <p:ext uri="{BB962C8B-B14F-4D97-AF65-F5344CB8AC3E}">
        <p14:creationId xmlns:p14="http://schemas.microsoft.com/office/powerpoint/2010/main" val="28486144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041" y="6356939"/>
            <a:ext cx="3502597"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3846" y="6402809"/>
            <a:ext cx="499534" cy="138499"/>
          </a:xfrm>
          <a:prstGeom prst="rect">
            <a:avLst/>
          </a:prstGeom>
          <a:noFill/>
        </p:spPr>
        <p:txBody>
          <a:bodyPr wrap="square" lIns="0" tIns="0" rIns="0" bIns="0" rtlCol="0">
            <a:spAutoFit/>
          </a:bodyPr>
          <a:lstStyle/>
          <a:p>
            <a:pPr marL="0" marR="0" lvl="0" indent="0" algn="l" defTabSz="890137"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137"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5671" y="2625392"/>
            <a:ext cx="1967204"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46"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2194" y="6323416"/>
            <a:ext cx="1270304" cy="275024"/>
          </a:xfrm>
          <a:prstGeom prst="rect">
            <a:avLst/>
          </a:prstGeom>
        </p:spPr>
      </p:pic>
    </p:spTree>
    <p:extLst>
      <p:ext uri="{BB962C8B-B14F-4D97-AF65-F5344CB8AC3E}">
        <p14:creationId xmlns:p14="http://schemas.microsoft.com/office/powerpoint/2010/main" val="283631460"/>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1186848" rtl="0" eaLnBrk="1" latinLnBrk="0" hangingPunct="1">
        <a:lnSpc>
          <a:spcPct val="90000"/>
        </a:lnSpc>
        <a:spcBef>
          <a:spcPct val="0"/>
        </a:spcBef>
        <a:buNone/>
        <a:defRPr sz="5712" kern="1200">
          <a:solidFill>
            <a:schemeClr val="tx1"/>
          </a:solidFill>
          <a:latin typeface="+mj-lt"/>
          <a:ea typeface="+mj-ea"/>
          <a:cs typeface="+mj-cs"/>
        </a:defRPr>
      </a:lvl1pPr>
    </p:titleStyle>
    <p:bodyStyle>
      <a:lvl1pPr marL="296712" indent="-296712" algn="l" defTabSz="1186848" rtl="0" eaLnBrk="1" latinLnBrk="0" hangingPunct="1">
        <a:lnSpc>
          <a:spcPct val="90000"/>
        </a:lnSpc>
        <a:spcBef>
          <a:spcPts val="1297"/>
        </a:spcBef>
        <a:buFont typeface="Arial" panose="020B0604020202020204" pitchFamily="34" charset="0"/>
        <a:buChar char="•"/>
        <a:defRPr sz="3634" kern="1200">
          <a:solidFill>
            <a:schemeClr val="tx1"/>
          </a:solidFill>
          <a:latin typeface="+mn-lt"/>
          <a:ea typeface="+mn-ea"/>
          <a:cs typeface="+mn-cs"/>
        </a:defRPr>
      </a:lvl1pPr>
      <a:lvl2pPr marL="890137" indent="-296712" algn="l" defTabSz="1186848" rtl="0" eaLnBrk="1" latinLnBrk="0" hangingPunct="1">
        <a:lnSpc>
          <a:spcPct val="90000"/>
        </a:lnSpc>
        <a:spcBef>
          <a:spcPts val="650"/>
        </a:spcBef>
        <a:buFont typeface="Arial" panose="020B0604020202020204" pitchFamily="34" charset="0"/>
        <a:buChar char="•"/>
        <a:defRPr sz="3116" kern="1200">
          <a:solidFill>
            <a:schemeClr val="tx1"/>
          </a:solidFill>
          <a:latin typeface="+mn-lt"/>
          <a:ea typeface="+mn-ea"/>
          <a:cs typeface="+mn-cs"/>
        </a:defRPr>
      </a:lvl2pPr>
      <a:lvl3pPr marL="1483560" indent="-296712" algn="l" defTabSz="1186848" rtl="0" eaLnBrk="1" latinLnBrk="0" hangingPunct="1">
        <a:lnSpc>
          <a:spcPct val="90000"/>
        </a:lnSpc>
        <a:spcBef>
          <a:spcPts val="650"/>
        </a:spcBef>
        <a:buFont typeface="Arial" panose="020B0604020202020204" pitchFamily="34" charset="0"/>
        <a:buChar char="•"/>
        <a:defRPr sz="2596" kern="1200">
          <a:solidFill>
            <a:schemeClr val="tx1"/>
          </a:solidFill>
          <a:latin typeface="+mn-lt"/>
          <a:ea typeface="+mn-ea"/>
          <a:cs typeface="+mn-cs"/>
        </a:defRPr>
      </a:lvl3pPr>
      <a:lvl4pPr marL="2076986"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4pPr>
      <a:lvl5pPr marL="2670409"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5pPr>
      <a:lvl6pPr marL="3263834"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6pPr>
      <a:lvl7pPr marL="3857258"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7pPr>
      <a:lvl8pPr marL="4450682"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8pPr>
      <a:lvl9pPr marL="5044107"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9pPr>
    </p:bodyStyle>
    <p:otherStyle>
      <a:defPPr>
        <a:defRPr lang="en-US"/>
      </a:defPPr>
      <a:lvl1pPr marL="0" algn="l" defTabSz="1186848" rtl="0" eaLnBrk="1" latinLnBrk="0" hangingPunct="1">
        <a:defRPr sz="2336" kern="1200">
          <a:solidFill>
            <a:schemeClr val="tx1"/>
          </a:solidFill>
          <a:latin typeface="+mn-lt"/>
          <a:ea typeface="+mn-ea"/>
          <a:cs typeface="+mn-cs"/>
        </a:defRPr>
      </a:lvl1pPr>
      <a:lvl2pPr marL="593425" algn="l" defTabSz="1186848" rtl="0" eaLnBrk="1" latinLnBrk="0" hangingPunct="1">
        <a:defRPr sz="2336" kern="1200">
          <a:solidFill>
            <a:schemeClr val="tx1"/>
          </a:solidFill>
          <a:latin typeface="+mn-lt"/>
          <a:ea typeface="+mn-ea"/>
          <a:cs typeface="+mn-cs"/>
        </a:defRPr>
      </a:lvl2pPr>
      <a:lvl3pPr marL="1186848" algn="l" defTabSz="1186848" rtl="0" eaLnBrk="1" latinLnBrk="0" hangingPunct="1">
        <a:defRPr sz="2336" kern="1200">
          <a:solidFill>
            <a:schemeClr val="tx1"/>
          </a:solidFill>
          <a:latin typeface="+mn-lt"/>
          <a:ea typeface="+mn-ea"/>
          <a:cs typeface="+mn-cs"/>
        </a:defRPr>
      </a:lvl3pPr>
      <a:lvl4pPr marL="1780274" algn="l" defTabSz="1186848" rtl="0" eaLnBrk="1" latinLnBrk="0" hangingPunct="1">
        <a:defRPr sz="2336" kern="1200">
          <a:solidFill>
            <a:schemeClr val="tx1"/>
          </a:solidFill>
          <a:latin typeface="+mn-lt"/>
          <a:ea typeface="+mn-ea"/>
          <a:cs typeface="+mn-cs"/>
        </a:defRPr>
      </a:lvl4pPr>
      <a:lvl5pPr marL="2373698" algn="l" defTabSz="1186848" rtl="0" eaLnBrk="1" latinLnBrk="0" hangingPunct="1">
        <a:defRPr sz="2336" kern="1200">
          <a:solidFill>
            <a:schemeClr val="tx1"/>
          </a:solidFill>
          <a:latin typeface="+mn-lt"/>
          <a:ea typeface="+mn-ea"/>
          <a:cs typeface="+mn-cs"/>
        </a:defRPr>
      </a:lvl5pPr>
      <a:lvl6pPr marL="2967122" algn="l" defTabSz="1186848" rtl="0" eaLnBrk="1" latinLnBrk="0" hangingPunct="1">
        <a:defRPr sz="2336" kern="1200">
          <a:solidFill>
            <a:schemeClr val="tx1"/>
          </a:solidFill>
          <a:latin typeface="+mn-lt"/>
          <a:ea typeface="+mn-ea"/>
          <a:cs typeface="+mn-cs"/>
        </a:defRPr>
      </a:lvl6pPr>
      <a:lvl7pPr marL="3560546" algn="l" defTabSz="1186848" rtl="0" eaLnBrk="1" latinLnBrk="0" hangingPunct="1">
        <a:defRPr sz="2336" kern="1200">
          <a:solidFill>
            <a:schemeClr val="tx1"/>
          </a:solidFill>
          <a:latin typeface="+mn-lt"/>
          <a:ea typeface="+mn-ea"/>
          <a:cs typeface="+mn-cs"/>
        </a:defRPr>
      </a:lvl7pPr>
      <a:lvl8pPr marL="4153972" algn="l" defTabSz="1186848" rtl="0" eaLnBrk="1" latinLnBrk="0" hangingPunct="1">
        <a:defRPr sz="2336" kern="1200">
          <a:solidFill>
            <a:schemeClr val="tx1"/>
          </a:solidFill>
          <a:latin typeface="+mn-lt"/>
          <a:ea typeface="+mn-ea"/>
          <a:cs typeface="+mn-cs"/>
        </a:defRPr>
      </a:lvl8pPr>
      <a:lvl9pPr marL="4747395" algn="l" defTabSz="1186848" rtl="0" eaLnBrk="1" latinLnBrk="0" hangingPunct="1">
        <a:defRPr sz="2336"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9.xml"/><Relationship Id="rId3"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0.xml"/><Relationship Id="rId3" Type="http://schemas.openxmlformats.org/officeDocument/2006/relationships/slide" Target="slide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0.xml"/><Relationship Id="rId3" Type="http://schemas.openxmlformats.org/officeDocument/2006/relationships/slide" Target="slide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8.xml"/><Relationship Id="rId3" Type="http://schemas.openxmlformats.org/officeDocument/2006/relationships/slide" Target="slide27.xml"/><Relationship Id="rId4" Type="http://schemas.openxmlformats.org/officeDocument/2006/relationships/slide" Target="slide26.xml"/><Relationship Id="rId5" Type="http://schemas.openxmlformats.org/officeDocument/2006/relationships/slide" Target="slide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9.xml"/><Relationship Id="rId3" Type="http://schemas.openxmlformats.org/officeDocument/2006/relationships/slide" Target="slide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7.xml"/><Relationship Id="rId13" Type="http://schemas.openxmlformats.org/officeDocument/2006/relationships/slide" Target="slide28.xml"/><Relationship Id="rId14" Type="http://schemas.openxmlformats.org/officeDocument/2006/relationships/slide" Target="slide29.xml"/><Relationship Id="rId15" Type="http://schemas.openxmlformats.org/officeDocument/2006/relationships/slide" Target="slide30.xml"/><Relationship Id="rId16" Type="http://schemas.openxmlformats.org/officeDocument/2006/relationships/slide" Target="slide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8.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20.xml"/><Relationship Id="rId5" Type="http://schemas.openxmlformats.org/officeDocument/2006/relationships/slide" Target="slide21.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1.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3.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4.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5.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6.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7.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8.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7.xml"/><Relationship Id="rId13" Type="http://schemas.openxmlformats.org/officeDocument/2006/relationships/slide" Target="slide29.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7.xml"/><Relationship Id="rId13" Type="http://schemas.openxmlformats.org/officeDocument/2006/relationships/slide" Target="slide28.xml"/><Relationship Id="rId14" Type="http://schemas.openxmlformats.org/officeDocument/2006/relationships/slide" Target="slide30.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7.xml"/><Relationship Id="rId13" Type="http://schemas.openxmlformats.org/officeDocument/2006/relationships/slide" Target="slide28.xml"/><Relationship Id="rId14" Type="http://schemas.openxmlformats.org/officeDocument/2006/relationships/slide" Target="slide29.xml"/><Relationship Id="rId15" Type="http://schemas.openxmlformats.org/officeDocument/2006/relationships/slide" Target="slide31.xml"/><Relationship Id="rId16" Type="http://schemas.openxmlformats.org/officeDocument/2006/relationships/slide" Target="slide16.xml"/><Relationship Id="rId17" Type="http://schemas.openxmlformats.org/officeDocument/2006/relationships/slide" Target="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 Target="slide17.xml"/><Relationship Id="rId3" Type="http://schemas.openxmlformats.org/officeDocument/2006/relationships/slide" Target="slide18.xml"/><Relationship Id="rId4" Type="http://schemas.openxmlformats.org/officeDocument/2006/relationships/slide" Target="slide1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22.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25.xml"/><Relationship Id="rId11" Type="http://schemas.openxmlformats.org/officeDocument/2006/relationships/slide" Target="slide26.xml"/><Relationship Id="rId12" Type="http://schemas.openxmlformats.org/officeDocument/2006/relationships/slide" Target="slide27.xml"/><Relationship Id="rId13" Type="http://schemas.openxmlformats.org/officeDocument/2006/relationships/slide" Target="slide28.xml"/><Relationship Id="rId14" Type="http://schemas.openxmlformats.org/officeDocument/2006/relationships/slide" Target="slide29.xml"/><Relationship Id="rId15" Type="http://schemas.openxmlformats.org/officeDocument/2006/relationships/slide" Target="slide30.xml"/><Relationship Id="rId16" Type="http://schemas.openxmlformats.org/officeDocument/2006/relationships/slide" Target="slide16.xml"/><Relationship Id="rId17" Type="http://schemas.openxmlformats.org/officeDocument/2006/relationships/slide" Target="slide1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p>
        </p:txBody>
      </p:sp>
      <p:sp>
        <p:nvSpPr>
          <p:cNvPr id="3" name="TextBox 2"/>
          <p:cNvSpPr txBox="1"/>
          <p:nvPr/>
        </p:nvSpPr>
        <p:spPr>
          <a:xfrm>
            <a:off x="731520" y="1371600"/>
            <a:ext cx="7863840" cy="365760"/>
          </a:xfrm>
          <a:prstGeom prst="rect">
            <a:avLst/>
          </a:prstGeom>
          <a:noFill/>
        </p:spPr>
        <p:txBody>
          <a:bodyPr wrap="square" lIns="0" tIns="0" rIns="0" bIns="0" anchor="t">
            <a:noAutofit/>
          </a:bodyPr>
          <a:lstStyle/>
          <a:p>
            <a:pPr algn="l">
              <a:lnSpc>
                <a:spcPct val="115000"/>
              </a:lnSpc>
              <a:spcAft>
                <a:spcPts val="400"/>
              </a:spcAft>
            </a:pPr>
            <a:r>
              <a:rPr sz="1400" b="1">
                <a:solidFill>
                  <a:srgbClr val="666666"/>
                </a:solidFill>
                <a:latin typeface="Arial"/>
                <a:ea typeface="Arial"/>
              </a:rPr>
              <a:t>RNP × iFLYTEK · Technical Exchange</a:t>
            </a:r>
          </a:p>
        </p:txBody>
      </p:sp>
      <p:sp>
        <p:nvSpPr>
          <p:cNvPr id="4" name="TextBox 3"/>
          <p:cNvSpPr txBox="1"/>
          <p:nvPr/>
        </p:nvSpPr>
        <p:spPr>
          <a:xfrm>
            <a:off x="731520" y="1828800"/>
            <a:ext cx="7863840" cy="914400"/>
          </a:xfrm>
          <a:prstGeom prst="rect">
            <a:avLst/>
          </a:prstGeom>
          <a:noFill/>
        </p:spPr>
        <p:txBody>
          <a:bodyPr wrap="square" lIns="0" tIns="0" rIns="0" bIns="0" anchor="t">
            <a:noAutofit/>
          </a:bodyPr>
          <a:lstStyle/>
          <a:p>
            <a:pPr algn="l">
              <a:lnSpc>
                <a:spcPct val="110000"/>
              </a:lnSpc>
              <a:spcAft>
                <a:spcPts val="400"/>
              </a:spcAft>
            </a:pPr>
            <a:r>
              <a:rPr sz="2700" b="1">
                <a:solidFill>
                  <a:srgbClr val="C00000"/>
                </a:solidFill>
                <a:latin typeface="Arial"/>
                <a:ea typeface="Arial"/>
              </a:rPr>
              <a:t>National Model, National AI Application and Domain Models</a:t>
            </a:r>
          </a:p>
        </p:txBody>
      </p:sp>
      <p:sp>
        <p:nvSpPr>
          <p:cNvPr id="5" name="TextBox 4"/>
          <p:cNvSpPr txBox="1"/>
          <p:nvPr/>
        </p:nvSpPr>
        <p:spPr>
          <a:xfrm>
            <a:off x="731520" y="2880360"/>
            <a:ext cx="7863840" cy="548640"/>
          </a:xfrm>
          <a:prstGeom prst="rect">
            <a:avLst/>
          </a:prstGeom>
          <a:noFill/>
        </p:spPr>
        <p:txBody>
          <a:bodyPr wrap="square" lIns="0" tIns="0" rIns="0" bIns="0" anchor="t">
            <a:noAutofit/>
          </a:bodyPr>
          <a:lstStyle/>
          <a:p>
            <a:pPr algn="l">
              <a:lnSpc>
                <a:spcPct val="115000"/>
              </a:lnSpc>
              <a:spcAft>
                <a:spcPts val="400"/>
              </a:spcAft>
            </a:pPr>
            <a:r>
              <a:rPr sz="1500" b="1">
                <a:solidFill>
                  <a:srgbClr val="1D1D1A"/>
                </a:solidFill>
                <a:latin typeface="Arial"/>
                <a:ea typeface="Arial"/>
              </a:rPr>
              <a:t>What iFLYTEK delivers, how the work is split, how capability transfers</a:t>
            </a:r>
          </a:p>
        </p:txBody>
      </p:sp>
      <p:sp>
        <p:nvSpPr>
          <p:cNvPr id="6" name="TextBox 5"/>
          <p:cNvSpPr txBox="1"/>
          <p:nvPr/>
        </p:nvSpPr>
        <p:spPr>
          <a:xfrm>
            <a:off x="731520" y="3749039"/>
            <a:ext cx="7863840" cy="1188720"/>
          </a:xfrm>
          <a:prstGeom prst="rect">
            <a:avLst/>
          </a:prstGeom>
          <a:noFill/>
        </p:spPr>
        <p:txBody>
          <a:bodyPr wrap="square" lIns="0" tIns="0" rIns="0" bIns="0" anchor="t">
            <a:noAutofit/>
          </a:bodyPr>
          <a:lstStyle/>
          <a:p>
            <a:pPr algn="l">
              <a:lnSpc>
                <a:spcPct val="135000"/>
              </a:lnSpc>
              <a:spcAft>
                <a:spcPts val="400"/>
              </a:spcAft>
            </a:pPr>
            <a:r>
              <a:rPr sz="1300" b="0">
                <a:solidFill>
                  <a:srgbClr val="333333"/>
                </a:solidFill>
                <a:latin typeface="Arial"/>
                <a:ea typeface="Arial"/>
              </a:rPr>
              <a:t>Rio de Janeiro · 9 September 2026</a:t>
            </a:r>
          </a:p>
          <a:p>
            <a:pPr algn="l">
              <a:lnSpc>
                <a:spcPct val="135000"/>
              </a:lnSpc>
              <a:spcAft>
                <a:spcPts val="400"/>
              </a:spcAft>
            </a:pPr>
            <a:r>
              <a:rPr sz="1300" b="0">
                <a:solidFill>
                  <a:srgbClr val="333333"/>
                </a:solidFill>
                <a:latin typeface="Arial"/>
                <a:ea typeface="Arial"/>
              </a:rPr>
              <a:t>Presented by iFLYTEK: CHEN Hao / William Xu / ZHAO Xiang</a:t>
            </a:r>
          </a:p>
        </p:txBody>
      </p:sp>
      <p:sp>
        <p:nvSpPr>
          <p:cNvPr id="7" name="Rounded Rectangle 6"/>
          <p:cNvSpPr/>
          <p:nvPr/>
        </p:nvSpPr>
        <p:spPr>
          <a:xfrm>
            <a:off x="9052560" y="1600200"/>
            <a:ext cx="2651760" cy="713232"/>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08592" y="1600200"/>
            <a:ext cx="2240279" cy="713232"/>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1  National AI Capability Center</a:t>
            </a:r>
          </a:p>
        </p:txBody>
      </p:sp>
      <p:sp>
        <p:nvSpPr>
          <p:cNvPr id="9" name="Rounded Rectangle 8"/>
          <p:cNvSpPr/>
          <p:nvPr/>
        </p:nvSpPr>
        <p:spPr>
          <a:xfrm>
            <a:off x="9052560" y="2478024"/>
            <a:ext cx="2651760" cy="713232"/>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08592" y="2478024"/>
            <a:ext cx="2240279" cy="713232"/>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2  Brazilian Portuguese National Model</a:t>
            </a:r>
          </a:p>
        </p:txBody>
      </p:sp>
      <p:sp>
        <p:nvSpPr>
          <p:cNvPr id="11" name="Rounded Rectangle 10"/>
          <p:cNvSpPr/>
          <p:nvPr/>
        </p:nvSpPr>
        <p:spPr>
          <a:xfrm>
            <a:off x="9052560" y="3355848"/>
            <a:ext cx="2651760" cy="713232"/>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08592" y="3355848"/>
            <a:ext cx="2240279" cy="713232"/>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3  National AI Application</a:t>
            </a:r>
          </a:p>
        </p:txBody>
      </p:sp>
      <p:sp>
        <p:nvSpPr>
          <p:cNvPr id="13" name="Rounded Rectangle 12"/>
          <p:cNvSpPr/>
          <p:nvPr/>
        </p:nvSpPr>
        <p:spPr>
          <a:xfrm>
            <a:off x="9052560" y="4233672"/>
            <a:ext cx="2651760" cy="713232"/>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08592" y="4233672"/>
            <a:ext cx="2240279" cy="713232"/>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4  Domain Large Models × 3</a:t>
            </a:r>
          </a:p>
        </p:txBody>
      </p:sp>
      <p:sp>
        <p:nvSpPr>
          <p:cNvPr id="15" name="Rounded Rectangle 14"/>
          <p:cNvSpPr/>
          <p:nvPr/>
        </p:nvSpPr>
        <p:spPr>
          <a:xfrm>
            <a:off x="9052560" y="5111496"/>
            <a:ext cx="2651760" cy="658368"/>
          </a:xfrm>
          <a:prstGeom prst="roundRect">
            <a:avLst>
              <a:gd name="adj" fmla="val 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5111496"/>
            <a:ext cx="2651760" cy="658368"/>
          </a:xfrm>
          <a:prstGeom prst="rect">
            <a:avLst/>
          </a:prstGeom>
          <a:noFill/>
        </p:spPr>
        <p:txBody>
          <a:bodyPr wrap="square" lIns="0" tIns="0" rIns="0" bIns="0" anchor="ctr">
            <a:noAutofit/>
          </a:bodyPr>
          <a:lstStyle/>
          <a:p>
            <a:pPr algn="ctr">
              <a:lnSpc>
                <a:spcPct val="115000"/>
              </a:lnSpc>
              <a:spcAft>
                <a:spcPts val="0"/>
              </a:spcAft>
            </a:pPr>
            <a:r>
              <a:rPr sz="1400" b="1">
                <a:solidFill>
                  <a:srgbClr val="FFFFFF"/>
                </a:solidFill>
                <a:latin typeface="Arial"/>
                <a:ea typeface="Arial"/>
              </a:rPr>
              <a:t>Knowledge Transfer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2000" b="1">
                <a:solidFill>
                  <a:srgbClr val="C00000"/>
                </a:solidFill>
                <a:latin typeface="Arial"/>
                <a:ea typeface="Arial"/>
              </a:rPr>
              <a:t>The whole picture: four outcomes iFLYTEK delivers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A0</a:t>
            </a:r>
          </a:p>
        </p:txBody>
      </p:sp>
      <p:sp>
        <p:nvSpPr>
          <p:cNvPr id="4" name="TextBox 3"/>
          <p:cNvSpPr txBox="1"/>
          <p:nvPr/>
        </p:nvSpPr>
        <p:spPr>
          <a:xfrm>
            <a:off x="457200" y="932688"/>
            <a:ext cx="11274552" cy="51206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All four are delivered by iFLYTEK; the platform is the shared workbench for the other three. One line each — details follow.</a:t>
            </a:r>
          </a:p>
        </p:txBody>
      </p:sp>
      <p:sp>
        <p:nvSpPr>
          <p:cNvPr id="5" name="Rounded Rectangle 4"/>
          <p:cNvSpPr/>
          <p:nvPr/>
        </p:nvSpPr>
        <p:spPr>
          <a:xfrm>
            <a:off x="457200" y="1700784"/>
            <a:ext cx="2626614" cy="25603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828800"/>
            <a:ext cx="2224278" cy="566928"/>
          </a:xfrm>
          <a:prstGeom prst="rect">
            <a:avLst/>
          </a:prstGeom>
          <a:noFill/>
        </p:spPr>
        <p:txBody>
          <a:bodyPr wrap="square" lIns="0" tIns="0" rIns="0" bIns="0" anchor="t">
            <a:noAutofit/>
          </a:bodyPr>
          <a:lstStyle/>
          <a:p>
            <a:pPr algn="l">
              <a:lnSpc>
                <a:spcPct val="115000"/>
              </a:lnSpc>
              <a:spcAft>
                <a:spcPts val="0"/>
              </a:spcAft>
            </a:pPr>
            <a:r>
              <a:rPr sz="1250" b="1">
                <a:solidFill>
                  <a:srgbClr val="1D1D1A"/>
                </a:solidFill>
                <a:latin typeface="Arial"/>
                <a:ea typeface="Arial"/>
              </a:rPr>
              <a:t>1  National AI Capability Center</a:t>
            </a:r>
          </a:p>
        </p:txBody>
      </p:sp>
      <p:sp>
        <p:nvSpPr>
          <p:cNvPr id="7" name="TextBox 6"/>
          <p:cNvSpPr txBox="1"/>
          <p:nvPr/>
        </p:nvSpPr>
        <p:spPr>
          <a:xfrm>
            <a:off x="658368" y="2487168"/>
            <a:ext cx="2224278" cy="1051560"/>
          </a:xfrm>
          <a:prstGeom prst="rect">
            <a:avLst/>
          </a:prstGeom>
          <a:noFill/>
        </p:spPr>
        <p:txBody>
          <a:bodyPr wrap="square" lIns="0" tIns="0" rIns="0" bIns="0" anchor="t">
            <a:noAutofit/>
          </a:bodyPr>
          <a:lstStyle/>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Training and application platform</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All three outcomes built on it</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Run by RNP afterwards</a:t>
            </a:r>
          </a:p>
        </p:txBody>
      </p:sp>
      <p:sp>
        <p:nvSpPr>
          <p:cNvPr id="8" name="TextBox 7"/>
          <p:cNvSpPr txBox="1"/>
          <p:nvPr/>
        </p:nvSpPr>
        <p:spPr>
          <a:xfrm>
            <a:off x="658368" y="3666744"/>
            <a:ext cx="2224278" cy="457200"/>
          </a:xfrm>
          <a:prstGeom prst="rect">
            <a:avLst/>
          </a:prstGeom>
          <a:noFill/>
        </p:spPr>
        <p:txBody>
          <a:bodyPr wrap="square" lIns="0" tIns="0" rIns="0" bIns="0" anchor="ctr">
            <a:noAutofit/>
          </a:bodyPr>
          <a:lstStyle/>
          <a:p>
            <a:pPr algn="l">
              <a:lnSpc>
                <a:spcPct val="115000"/>
              </a:lnSpc>
              <a:spcAft>
                <a:spcPts val="0"/>
              </a:spcAft>
            </a:pPr>
            <a:r>
              <a:rPr sz="1300" b="1">
                <a:solidFill>
                  <a:srgbClr val="C00000"/>
                </a:solidFill>
                <a:latin typeface="Arial"/>
                <a:ea typeface="Arial"/>
              </a:rPr>
              <a:t>3 centers + review platform</a:t>
            </a:r>
          </a:p>
        </p:txBody>
      </p:sp>
      <p:sp>
        <p:nvSpPr>
          <p:cNvPr id="9" name="Rounded Rectangle 8"/>
          <p:cNvSpPr/>
          <p:nvPr/>
        </p:nvSpPr>
        <p:spPr>
          <a:xfrm>
            <a:off x="3339846" y="1700784"/>
            <a:ext cx="2626614" cy="25603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1014" y="1828800"/>
            <a:ext cx="2224278" cy="566928"/>
          </a:xfrm>
          <a:prstGeom prst="rect">
            <a:avLst/>
          </a:prstGeom>
          <a:noFill/>
        </p:spPr>
        <p:txBody>
          <a:bodyPr wrap="square" lIns="0" tIns="0" rIns="0" bIns="0" anchor="t">
            <a:noAutofit/>
          </a:bodyPr>
          <a:lstStyle/>
          <a:p>
            <a:pPr algn="l">
              <a:lnSpc>
                <a:spcPct val="115000"/>
              </a:lnSpc>
              <a:spcAft>
                <a:spcPts val="0"/>
              </a:spcAft>
            </a:pPr>
            <a:r>
              <a:rPr sz="1250" b="1">
                <a:solidFill>
                  <a:srgbClr val="1D1D1A"/>
                </a:solidFill>
                <a:latin typeface="Arial"/>
                <a:ea typeface="Arial"/>
              </a:rPr>
              <a:t>2  Brazilian Portuguese National Model</a:t>
            </a:r>
          </a:p>
        </p:txBody>
      </p:sp>
      <p:sp>
        <p:nvSpPr>
          <p:cNvPr id="11" name="TextBox 10"/>
          <p:cNvSpPr txBox="1"/>
          <p:nvPr/>
        </p:nvSpPr>
        <p:spPr>
          <a:xfrm>
            <a:off x="3541014" y="2487168"/>
            <a:ext cx="2224278" cy="1051560"/>
          </a:xfrm>
          <a:prstGeom prst="rect">
            <a:avLst/>
          </a:prstGeom>
          <a:noFill/>
        </p:spPr>
        <p:txBody>
          <a:bodyPr wrap="square" lIns="0" tIns="0" rIns="0" bIns="0" anchor="t">
            <a:noAutofit/>
          </a:bodyPr>
          <a:lstStyle/>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Text, speech recognition, speech synthesis</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iFLYTEK enhances the base model first</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Weights delivered to RNP</a:t>
            </a:r>
          </a:p>
        </p:txBody>
      </p:sp>
      <p:sp>
        <p:nvSpPr>
          <p:cNvPr id="12" name="TextBox 11"/>
          <p:cNvSpPr txBox="1"/>
          <p:nvPr/>
        </p:nvSpPr>
        <p:spPr>
          <a:xfrm>
            <a:off x="3541014" y="3666744"/>
            <a:ext cx="2224278" cy="457200"/>
          </a:xfrm>
          <a:prstGeom prst="rect">
            <a:avLst/>
          </a:prstGeom>
          <a:noFill/>
        </p:spPr>
        <p:txBody>
          <a:bodyPr wrap="square" lIns="0" tIns="0" rIns="0" bIns="0" anchor="ctr">
            <a:noAutofit/>
          </a:bodyPr>
          <a:lstStyle/>
          <a:p>
            <a:pPr algn="l">
              <a:lnSpc>
                <a:spcPct val="115000"/>
              </a:lnSpc>
              <a:spcAft>
                <a:spcPts val="0"/>
              </a:spcAft>
            </a:pPr>
            <a:r>
              <a:rPr sz="1300" b="1">
                <a:solidFill>
                  <a:srgbClr val="C00000"/>
                </a:solidFill>
                <a:latin typeface="Arial"/>
                <a:ea typeface="Arial"/>
              </a:rPr>
              <a:t>≥290B parameters</a:t>
            </a:r>
          </a:p>
        </p:txBody>
      </p:sp>
      <p:sp>
        <p:nvSpPr>
          <p:cNvPr id="13" name="Rounded Rectangle 12"/>
          <p:cNvSpPr/>
          <p:nvPr/>
        </p:nvSpPr>
        <p:spPr>
          <a:xfrm>
            <a:off x="6222492" y="1700784"/>
            <a:ext cx="2626614" cy="25603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1828800"/>
            <a:ext cx="2224278" cy="566928"/>
          </a:xfrm>
          <a:prstGeom prst="rect">
            <a:avLst/>
          </a:prstGeom>
          <a:noFill/>
        </p:spPr>
        <p:txBody>
          <a:bodyPr wrap="square" lIns="0" tIns="0" rIns="0" bIns="0" anchor="t">
            <a:noAutofit/>
          </a:bodyPr>
          <a:lstStyle/>
          <a:p>
            <a:pPr algn="l">
              <a:lnSpc>
                <a:spcPct val="115000"/>
              </a:lnSpc>
              <a:spcAft>
                <a:spcPts val="0"/>
              </a:spcAft>
            </a:pPr>
            <a:r>
              <a:rPr sz="1250" b="1">
                <a:solidFill>
                  <a:srgbClr val="1D1D1A"/>
                </a:solidFill>
                <a:latin typeface="Arial"/>
                <a:ea typeface="Arial"/>
              </a:rPr>
              <a:t>3  National AI Application</a:t>
            </a:r>
          </a:p>
        </p:txBody>
      </p:sp>
      <p:sp>
        <p:nvSpPr>
          <p:cNvPr id="15" name="TextBox 14"/>
          <p:cNvSpPr txBox="1"/>
          <p:nvPr/>
        </p:nvSpPr>
        <p:spPr>
          <a:xfrm>
            <a:off x="6423659" y="2487168"/>
            <a:ext cx="2224278" cy="1051560"/>
          </a:xfrm>
          <a:prstGeom prst="rect">
            <a:avLst/>
          </a:prstGeom>
          <a:noFill/>
        </p:spPr>
        <p:txBody>
          <a:bodyPr wrap="square" lIns="0" tIns="0" rIns="0" bIns="0" anchor="t">
            <a:noAutofit/>
          </a:bodyPr>
          <a:lstStyle/>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National App and operations platform</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For users approved by RNP</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iFLYTEK delivers, RNP operates</a:t>
            </a:r>
          </a:p>
        </p:txBody>
      </p:sp>
      <p:sp>
        <p:nvSpPr>
          <p:cNvPr id="16" name="TextBox 15"/>
          <p:cNvSpPr txBox="1"/>
          <p:nvPr/>
        </p:nvSpPr>
        <p:spPr>
          <a:xfrm>
            <a:off x="6423659" y="3666744"/>
            <a:ext cx="2224278" cy="457200"/>
          </a:xfrm>
          <a:prstGeom prst="rect">
            <a:avLst/>
          </a:prstGeom>
          <a:noFill/>
        </p:spPr>
        <p:txBody>
          <a:bodyPr wrap="square" lIns="0" tIns="0" rIns="0" bIns="0" anchor="ctr">
            <a:noAutofit/>
          </a:bodyPr>
          <a:lstStyle/>
          <a:p>
            <a:pPr algn="l">
              <a:lnSpc>
                <a:spcPct val="115000"/>
              </a:lnSpc>
              <a:spcAft>
                <a:spcPts val="0"/>
              </a:spcAft>
            </a:pPr>
            <a:r>
              <a:rPr sz="1300" b="1">
                <a:solidFill>
                  <a:srgbClr val="C00000"/>
                </a:solidFill>
                <a:latin typeface="Arial"/>
                <a:ea typeface="Arial"/>
              </a:rPr>
              <a:t>1,000 concurrent Q&amp;A</a:t>
            </a:r>
          </a:p>
        </p:txBody>
      </p:sp>
      <p:sp>
        <p:nvSpPr>
          <p:cNvPr id="17" name="Rounded Rectangle 16"/>
          <p:cNvSpPr/>
          <p:nvPr/>
        </p:nvSpPr>
        <p:spPr>
          <a:xfrm>
            <a:off x="9105138" y="1700784"/>
            <a:ext cx="2626614" cy="25603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06306" y="1828800"/>
            <a:ext cx="2224278" cy="566928"/>
          </a:xfrm>
          <a:prstGeom prst="rect">
            <a:avLst/>
          </a:prstGeom>
          <a:noFill/>
        </p:spPr>
        <p:txBody>
          <a:bodyPr wrap="square" lIns="0" tIns="0" rIns="0" bIns="0" anchor="t">
            <a:noAutofit/>
          </a:bodyPr>
          <a:lstStyle/>
          <a:p>
            <a:pPr algn="l">
              <a:lnSpc>
                <a:spcPct val="115000"/>
              </a:lnSpc>
              <a:spcAft>
                <a:spcPts val="0"/>
              </a:spcAft>
            </a:pPr>
            <a:r>
              <a:rPr sz="1250" b="1">
                <a:solidFill>
                  <a:srgbClr val="1D1D1A"/>
                </a:solidFill>
                <a:latin typeface="Arial"/>
                <a:ea typeface="Arial"/>
              </a:rPr>
              <a:t>4  Domain Large Models (DLM)</a:t>
            </a:r>
          </a:p>
        </p:txBody>
      </p:sp>
      <p:sp>
        <p:nvSpPr>
          <p:cNvPr id="19" name="TextBox 18"/>
          <p:cNvSpPr txBox="1"/>
          <p:nvPr/>
        </p:nvSpPr>
        <p:spPr>
          <a:xfrm>
            <a:off x="9306306" y="2487168"/>
            <a:ext cx="2224278" cy="1051560"/>
          </a:xfrm>
          <a:prstGeom prst="rect">
            <a:avLst/>
          </a:prstGeom>
          <a:noFill/>
        </p:spPr>
        <p:txBody>
          <a:bodyPr wrap="square" lIns="0" tIns="0" rIns="0" bIns="0" anchor="t">
            <a:noAutofit/>
          </a:bodyPr>
          <a:lstStyle/>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Models for 3 industry scenarios</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RNP trains, iFLYTEK advises</a:t>
            </a:r>
          </a:p>
          <a:p>
            <a:pPr algn="l" marL="201168" indent="-201168">
              <a:lnSpc>
                <a:spcPct val="130000"/>
              </a:lnSpc>
              <a:spcAft>
                <a:spcPts val="400"/>
              </a:spcAft>
              <a:buClr>
                <a:srgbClr val="C00000"/>
              </a:buClr>
              <a:buSzPct val="100000"/>
              <a:buFont typeface="Arial"/>
              <a:buAutoNum type="arabicPeriod"/>
            </a:pPr>
            <a:r>
              <a:rPr sz="1000" b="0">
                <a:solidFill>
                  <a:srgbClr val="333333"/>
                </a:solidFill>
                <a:latin typeface="Arial"/>
                <a:ea typeface="Arial"/>
              </a:rPr>
              <a:t>Weights belong to RNP</a:t>
            </a:r>
          </a:p>
        </p:txBody>
      </p:sp>
      <p:sp>
        <p:nvSpPr>
          <p:cNvPr id="20" name="TextBox 19"/>
          <p:cNvSpPr txBox="1"/>
          <p:nvPr/>
        </p:nvSpPr>
        <p:spPr>
          <a:xfrm>
            <a:off x="9306306" y="3666744"/>
            <a:ext cx="2224278" cy="457200"/>
          </a:xfrm>
          <a:prstGeom prst="rect">
            <a:avLst/>
          </a:prstGeom>
          <a:noFill/>
        </p:spPr>
        <p:txBody>
          <a:bodyPr wrap="square" lIns="0" tIns="0" rIns="0" bIns="0" anchor="ctr">
            <a:noAutofit/>
          </a:bodyPr>
          <a:lstStyle/>
          <a:p>
            <a:pPr algn="l">
              <a:lnSpc>
                <a:spcPct val="115000"/>
              </a:lnSpc>
              <a:spcAft>
                <a:spcPts val="0"/>
              </a:spcAft>
            </a:pPr>
            <a:r>
              <a:rPr sz="1300" b="1">
                <a:solidFill>
                  <a:srgbClr val="C00000"/>
                </a:solidFill>
                <a:latin typeface="Arial"/>
                <a:ea typeface="Arial"/>
              </a:rPr>
              <a:t>3 services × 1 scenario</a:t>
            </a:r>
          </a:p>
        </p:txBody>
      </p:sp>
      <p:sp>
        <p:nvSpPr>
          <p:cNvPr id="21" name="Rounded Rectangle 20"/>
          <p:cNvSpPr/>
          <p:nvPr/>
        </p:nvSpPr>
        <p:spPr>
          <a:xfrm>
            <a:off x="457200" y="4480560"/>
            <a:ext cx="11274552" cy="566928"/>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98848"/>
            <a:ext cx="10817352" cy="530352"/>
          </a:xfrm>
          <a:prstGeom prst="rect">
            <a:avLst/>
          </a:prstGeom>
          <a:noFill/>
        </p:spPr>
        <p:txBody>
          <a:bodyPr wrap="square" lIns="0" tIns="0" rIns="0" bIns="0" anchor="ctr">
            <a:noAutofit/>
          </a:bodyPr>
          <a:lstStyle/>
          <a:p>
            <a:pPr algn="l">
              <a:lnSpc>
                <a:spcPct val="115000"/>
              </a:lnSpc>
              <a:spcAft>
                <a:spcPts val="400"/>
              </a:spcAft>
            </a:pPr>
            <a:r>
              <a:rPr sz="1100" b="1">
                <a:solidFill>
                  <a:srgbClr val="333333"/>
                </a:solidFill>
                <a:latin typeface="Arial"/>
                <a:ea typeface="Arial"/>
              </a:rPr>
              <a:t>Knowledge transfer</a:t>
            </a:r>
            <a:r>
              <a:rPr sz="1100" b="0">
                <a:solidFill>
                  <a:srgbClr val="333333"/>
                </a:solidFill>
                <a:latin typeface="Arial"/>
                <a:ea typeface="Arial"/>
              </a:rPr>
              <a:t>   two rounds, 1,216 hours, about 158 working days, 260 attendances in total     </a:t>
            </a:r>
            <a:r>
              <a:rPr sz="1100" b="1">
                <a:solidFill>
                  <a:srgbClr val="333333"/>
                </a:solidFill>
                <a:latin typeface="Arial"/>
                <a:ea typeface="Arial"/>
              </a:rPr>
              <a:t>Post-delivery support</a:t>
            </a:r>
            <a:r>
              <a:rPr sz="1100" b="0">
                <a:solidFill>
                  <a:srgbClr val="333333"/>
                </a:solidFill>
                <a:latin typeface="Arial"/>
                <a:ea typeface="Arial"/>
              </a:rPr>
              <a:t>   12 months on site + 60 months remote</a:t>
            </a:r>
          </a:p>
        </p:txBody>
      </p:sp>
      <p:sp>
        <p:nvSpPr>
          <p:cNvPr id="23" name="TextBox 22"/>
          <p:cNvSpPr txBox="1"/>
          <p:nvPr/>
        </p:nvSpPr>
        <p:spPr>
          <a:xfrm>
            <a:off x="457200" y="5212080"/>
            <a:ext cx="11274552" cy="640080"/>
          </a:xfrm>
          <a:prstGeom prst="rect">
            <a:avLst/>
          </a:prstGeom>
          <a:noFill/>
        </p:spPr>
        <p:txBody>
          <a:bodyPr wrap="square" lIns="0" tIns="0" rIns="0" bIns="0" anchor="t">
            <a:noAutofit/>
          </a:bodyPr>
          <a:lstStyle/>
          <a:p>
            <a:pPr algn="l">
              <a:lnSpc>
                <a:spcPct val="130000"/>
              </a:lnSpc>
              <a:spcAft>
                <a:spcPts val="400"/>
              </a:spcAft>
            </a:pPr>
            <a:r>
              <a:rPr sz="950" b="0">
                <a:solidFill>
                  <a:srgbClr val="666666"/>
                </a:solidFill>
                <a:latin typeface="Arial"/>
                <a:ea typeface="Arial"/>
              </a:rPr>
              <a:t>Terms   1) Large language model (NLP) understands and generates text   2) ASR turns speech into text   3) TTS turns text into speech   4) A token is how a model counts text, roughly a word or part of one   5) Stage 1 / Stage 2 are the two build phases tied to the two compute batches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800" b="1">
                <a:solidFill>
                  <a:srgbClr val="C00000"/>
                </a:solidFill>
                <a:latin typeface="Arial"/>
                <a:ea typeface="Arial"/>
              </a:rPr>
              <a:t>National AI Capability Center: the shared platform, and RNP's future workbench</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A12</a:t>
            </a:r>
          </a:p>
        </p:txBody>
      </p:sp>
      <p:sp>
        <p:nvSpPr>
          <p:cNvPr id="4" name="Rounded Rectangle 3">
            <a:hlinkClick action="ppaction://hlinksldjump" r:id="rId3"/>
          </p:cNvPr>
          <p:cNvSpPr/>
          <p:nvPr/>
        </p:nvSpPr>
        <p:spPr>
          <a:xfrm>
            <a:off x="9482328"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a:t>
            </a:r>
          </a:p>
        </p:txBody>
      </p:sp>
      <p:sp>
        <p:nvSpPr>
          <p:cNvPr id="5" name="TextBox 4"/>
          <p:cNvSpPr txBox="1"/>
          <p:nvPr/>
        </p:nvSpPr>
        <p:spPr>
          <a:xfrm>
            <a:off x="457200" y="932688"/>
            <a:ext cx="11274552" cy="457200"/>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All three outcomes are built on this platform. Each of the four modules maps to one RNP team. RNP manages it after acceptance. A 10-minute walkthrough follows.</a:t>
            </a:r>
          </a:p>
        </p:txBody>
      </p:sp>
      <p:sp>
        <p:nvSpPr>
          <p:cNvPr id="6" name="Rounded Rectangle 5"/>
          <p:cNvSpPr/>
          <p:nvPr/>
        </p:nvSpPr>
        <p:spPr>
          <a:xfrm>
            <a:off x="653795" y="1481328"/>
            <a:ext cx="3383280" cy="31089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000" b="1">
                <a:solidFill>
                  <a:srgbClr val="1D1D1A"/>
                </a:solidFill>
                <a:latin typeface="Arial"/>
                <a:ea typeface="Arial"/>
              </a:rPr>
              <a:t>Brazilian Portuguese National Model</a:t>
            </a:r>
          </a:p>
        </p:txBody>
      </p:sp>
      <p:sp>
        <p:nvSpPr>
          <p:cNvPr id="7" name="Rounded Rectangle 6"/>
          <p:cNvSpPr/>
          <p:nvPr/>
        </p:nvSpPr>
        <p:spPr>
          <a:xfrm>
            <a:off x="4402836" y="1481328"/>
            <a:ext cx="3383280" cy="31089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000" b="1">
                <a:solidFill>
                  <a:srgbClr val="1D1D1A"/>
                </a:solidFill>
                <a:latin typeface="Arial"/>
                <a:ea typeface="Arial"/>
              </a:rPr>
              <a:t>National AI Application</a:t>
            </a:r>
          </a:p>
        </p:txBody>
      </p:sp>
      <p:sp>
        <p:nvSpPr>
          <p:cNvPr id="8" name="Rounded Rectangle 7"/>
          <p:cNvSpPr/>
          <p:nvPr/>
        </p:nvSpPr>
        <p:spPr>
          <a:xfrm>
            <a:off x="8151875" y="1481328"/>
            <a:ext cx="3383280" cy="31089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000" b="1">
                <a:solidFill>
                  <a:srgbClr val="1D1D1A"/>
                </a:solidFill>
                <a:latin typeface="Arial"/>
                <a:ea typeface="Arial"/>
              </a:rPr>
              <a:t>Domain Large Models</a:t>
            </a:r>
          </a:p>
        </p:txBody>
      </p:sp>
      <p:sp>
        <p:nvSpPr>
          <p:cNvPr id="9" name="Rounded Rectangle 8"/>
          <p:cNvSpPr/>
          <p:nvPr/>
        </p:nvSpPr>
        <p:spPr>
          <a:xfrm>
            <a:off x="457200" y="1883664"/>
            <a:ext cx="11274552" cy="210312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56816"/>
            <a:ext cx="4572000" cy="310896"/>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National AI Capability Center (platform)</a:t>
            </a:r>
          </a:p>
        </p:txBody>
      </p:sp>
      <p:sp>
        <p:nvSpPr>
          <p:cNvPr id="11" name="Rounded Rectangle 10"/>
          <p:cNvSpPr/>
          <p:nvPr/>
        </p:nvSpPr>
        <p:spPr>
          <a:xfrm>
            <a:off x="685800" y="2322576"/>
            <a:ext cx="2553462" cy="1536191"/>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2395728"/>
            <a:ext cx="2260854" cy="420624"/>
          </a:xfrm>
          <a:prstGeom prst="rect">
            <a:avLst/>
          </a:prstGeom>
          <a:noFill/>
        </p:spPr>
        <p:txBody>
          <a:bodyPr wrap="square" lIns="0" tIns="0" rIns="0" bIns="0" anchor="t">
            <a:noAutofit/>
          </a:bodyPr>
          <a:lstStyle/>
          <a:p>
            <a:pPr algn="l">
              <a:lnSpc>
                <a:spcPct val="115000"/>
              </a:lnSpc>
              <a:spcAft>
                <a:spcPts val="0"/>
              </a:spcAft>
            </a:pPr>
            <a:r>
              <a:rPr sz="1100" b="1">
                <a:solidFill>
                  <a:srgbClr val="1D1D1A"/>
                </a:solidFill>
                <a:latin typeface="Arial"/>
                <a:ea typeface="Arial"/>
              </a:rPr>
              <a:t>1  Corpus Construction Center</a:t>
            </a:r>
          </a:p>
        </p:txBody>
      </p:sp>
      <p:sp>
        <p:nvSpPr>
          <p:cNvPr id="13" name="TextBox 12"/>
          <p:cNvSpPr txBox="1"/>
          <p:nvPr/>
        </p:nvSpPr>
        <p:spPr>
          <a:xfrm>
            <a:off x="832104" y="2852928"/>
            <a:ext cx="2260854" cy="566928"/>
          </a:xfrm>
          <a:prstGeom prst="rect">
            <a:avLst/>
          </a:prstGeom>
          <a:noFill/>
        </p:spPr>
        <p:txBody>
          <a:bodyPr wrap="square" lIns="0" tIns="0" rIns="0" bIns="0" anchor="t">
            <a:noAutofit/>
          </a:bodyPr>
          <a:lstStyle/>
          <a:p>
            <a:pPr algn="l">
              <a:lnSpc>
                <a:spcPct val="130000"/>
              </a:lnSpc>
              <a:spcAft>
                <a:spcPts val="400"/>
              </a:spcAft>
            </a:pPr>
            <a:r>
              <a:rPr sz="950" b="0">
                <a:solidFill>
                  <a:srgbClr val="333333"/>
                </a:solidFill>
                <a:latin typeface="Arial"/>
                <a:ea typeface="Arial"/>
              </a:rPr>
              <a:t>1) Ingest 2) Clean 3) De-duplicate 4) Annotate 5) Quality metrics</a:t>
            </a:r>
          </a:p>
        </p:txBody>
      </p:sp>
      <p:sp>
        <p:nvSpPr>
          <p:cNvPr id="14" name="TextBox 13"/>
          <p:cNvSpPr txBox="1"/>
          <p:nvPr/>
        </p:nvSpPr>
        <p:spPr>
          <a:xfrm>
            <a:off x="832104" y="3456432"/>
            <a:ext cx="2260854" cy="384048"/>
          </a:xfrm>
          <a:prstGeom prst="rect">
            <a:avLst/>
          </a:prstGeom>
          <a:noFill/>
        </p:spPr>
        <p:txBody>
          <a:bodyPr wrap="square" lIns="0" tIns="0" rIns="0" bIns="0" anchor="t">
            <a:noAutofit/>
          </a:bodyPr>
          <a:lstStyle/>
          <a:p>
            <a:pPr algn="l">
              <a:lnSpc>
                <a:spcPct val="130000"/>
              </a:lnSpc>
              <a:spcAft>
                <a:spcPts val="400"/>
              </a:spcAft>
            </a:pPr>
            <a:r>
              <a:rPr sz="950" b="1">
                <a:solidFill>
                  <a:srgbClr val="333333"/>
                </a:solidFill>
                <a:latin typeface="Arial"/>
                <a:ea typeface="Arial"/>
              </a:rPr>
              <a:t>Maps to:</a:t>
            </a:r>
            <a:r>
              <a:rPr sz="950" b="0">
                <a:solidFill>
                  <a:srgbClr val="333333"/>
                </a:solidFill>
                <a:latin typeface="Arial"/>
                <a:ea typeface="Arial"/>
              </a:rPr>
              <a:t> RNP data team and Portuguese experts</a:t>
            </a:r>
          </a:p>
        </p:txBody>
      </p:sp>
      <p:sp>
        <p:nvSpPr>
          <p:cNvPr id="15" name="Rounded Rectangle 14"/>
          <p:cNvSpPr/>
          <p:nvPr/>
        </p:nvSpPr>
        <p:spPr>
          <a:xfrm>
            <a:off x="3440430" y="2322576"/>
            <a:ext cx="2553462" cy="1536191"/>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6734" y="2395728"/>
            <a:ext cx="2260854" cy="420624"/>
          </a:xfrm>
          <a:prstGeom prst="rect">
            <a:avLst/>
          </a:prstGeom>
          <a:noFill/>
        </p:spPr>
        <p:txBody>
          <a:bodyPr wrap="square" lIns="0" tIns="0" rIns="0" bIns="0" anchor="t">
            <a:noAutofit/>
          </a:bodyPr>
          <a:lstStyle/>
          <a:p>
            <a:pPr algn="l">
              <a:lnSpc>
                <a:spcPct val="115000"/>
              </a:lnSpc>
              <a:spcAft>
                <a:spcPts val="0"/>
              </a:spcAft>
            </a:pPr>
            <a:r>
              <a:rPr sz="1100" b="1">
                <a:solidFill>
                  <a:srgbClr val="1D1D1A"/>
                </a:solidFill>
                <a:latin typeface="Arial"/>
                <a:ea typeface="Arial"/>
              </a:rPr>
              <a:t>2  Model Training Center</a:t>
            </a:r>
          </a:p>
        </p:txBody>
      </p:sp>
      <p:sp>
        <p:nvSpPr>
          <p:cNvPr id="17" name="TextBox 16"/>
          <p:cNvSpPr txBox="1"/>
          <p:nvPr/>
        </p:nvSpPr>
        <p:spPr>
          <a:xfrm>
            <a:off x="3586734" y="2852928"/>
            <a:ext cx="2260854" cy="566928"/>
          </a:xfrm>
          <a:prstGeom prst="rect">
            <a:avLst/>
          </a:prstGeom>
          <a:noFill/>
        </p:spPr>
        <p:txBody>
          <a:bodyPr wrap="square" lIns="0" tIns="0" rIns="0" bIns="0" anchor="t">
            <a:noAutofit/>
          </a:bodyPr>
          <a:lstStyle/>
          <a:p>
            <a:pPr algn="l">
              <a:lnSpc>
                <a:spcPct val="130000"/>
              </a:lnSpc>
              <a:spcAft>
                <a:spcPts val="400"/>
              </a:spcAft>
            </a:pPr>
            <a:r>
              <a:rPr sz="950" b="0">
                <a:solidFill>
                  <a:srgbClr val="333333"/>
                </a:solidFill>
                <a:latin typeface="Arial"/>
                <a:ea typeface="Arial"/>
              </a:rPr>
              <a:t>1) Datasets 2) Training jobs 3) Resources 4) Evaluation 5) Release</a:t>
            </a:r>
          </a:p>
        </p:txBody>
      </p:sp>
      <p:sp>
        <p:nvSpPr>
          <p:cNvPr id="18" name="TextBox 17"/>
          <p:cNvSpPr txBox="1"/>
          <p:nvPr/>
        </p:nvSpPr>
        <p:spPr>
          <a:xfrm>
            <a:off x="3586734" y="3456432"/>
            <a:ext cx="2260854" cy="384048"/>
          </a:xfrm>
          <a:prstGeom prst="rect">
            <a:avLst/>
          </a:prstGeom>
          <a:noFill/>
        </p:spPr>
        <p:txBody>
          <a:bodyPr wrap="square" lIns="0" tIns="0" rIns="0" bIns="0" anchor="t">
            <a:noAutofit/>
          </a:bodyPr>
          <a:lstStyle/>
          <a:p>
            <a:pPr algn="l">
              <a:lnSpc>
                <a:spcPct val="130000"/>
              </a:lnSpc>
              <a:spcAft>
                <a:spcPts val="400"/>
              </a:spcAft>
            </a:pPr>
            <a:r>
              <a:rPr sz="950" b="1">
                <a:solidFill>
                  <a:srgbClr val="333333"/>
                </a:solidFill>
                <a:latin typeface="Arial"/>
                <a:ea typeface="Arial"/>
              </a:rPr>
              <a:t>Maps to:</a:t>
            </a:r>
            <a:r>
              <a:rPr sz="950" b="0">
                <a:solidFill>
                  <a:srgbClr val="333333"/>
                </a:solidFill>
                <a:latin typeface="Arial"/>
                <a:ea typeface="Arial"/>
              </a:rPr>
              <a:t> RNP model engineers; DLMs trained here</a:t>
            </a:r>
          </a:p>
        </p:txBody>
      </p:sp>
      <p:sp>
        <p:nvSpPr>
          <p:cNvPr id="19" name="Rounded Rectangle 18"/>
          <p:cNvSpPr/>
          <p:nvPr/>
        </p:nvSpPr>
        <p:spPr>
          <a:xfrm>
            <a:off x="6195060" y="2322576"/>
            <a:ext cx="2553462" cy="1536191"/>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1364" y="2395728"/>
            <a:ext cx="2260854" cy="420624"/>
          </a:xfrm>
          <a:prstGeom prst="rect">
            <a:avLst/>
          </a:prstGeom>
          <a:noFill/>
        </p:spPr>
        <p:txBody>
          <a:bodyPr wrap="square" lIns="0" tIns="0" rIns="0" bIns="0" anchor="t">
            <a:noAutofit/>
          </a:bodyPr>
          <a:lstStyle/>
          <a:p>
            <a:pPr algn="l">
              <a:lnSpc>
                <a:spcPct val="115000"/>
              </a:lnSpc>
              <a:spcAft>
                <a:spcPts val="0"/>
              </a:spcAft>
            </a:pPr>
            <a:r>
              <a:rPr sz="1100" b="1">
                <a:solidFill>
                  <a:srgbClr val="1D1D1A"/>
                </a:solidFill>
                <a:latin typeface="Arial"/>
                <a:ea typeface="Arial"/>
              </a:rPr>
              <a:t>3  AI Application Innovation Center</a:t>
            </a:r>
          </a:p>
        </p:txBody>
      </p:sp>
      <p:sp>
        <p:nvSpPr>
          <p:cNvPr id="21" name="TextBox 20"/>
          <p:cNvSpPr txBox="1"/>
          <p:nvPr/>
        </p:nvSpPr>
        <p:spPr>
          <a:xfrm>
            <a:off x="6341364" y="2852928"/>
            <a:ext cx="2260854" cy="566928"/>
          </a:xfrm>
          <a:prstGeom prst="rect">
            <a:avLst/>
          </a:prstGeom>
          <a:noFill/>
        </p:spPr>
        <p:txBody>
          <a:bodyPr wrap="square" lIns="0" tIns="0" rIns="0" bIns="0" anchor="t">
            <a:noAutofit/>
          </a:bodyPr>
          <a:lstStyle/>
          <a:p>
            <a:pPr algn="l">
              <a:lnSpc>
                <a:spcPct val="130000"/>
              </a:lnSpc>
              <a:spcAft>
                <a:spcPts val="400"/>
              </a:spcAft>
            </a:pPr>
            <a:r>
              <a:rPr sz="950" b="0">
                <a:solidFill>
                  <a:srgbClr val="333333"/>
                </a:solidFill>
                <a:latin typeface="Arial"/>
                <a:ea typeface="Arial"/>
              </a:rPr>
              <a:t>1) Model services and APIs 2) App configuration 3) Usage analytics</a:t>
            </a:r>
          </a:p>
        </p:txBody>
      </p:sp>
      <p:sp>
        <p:nvSpPr>
          <p:cNvPr id="22" name="TextBox 21"/>
          <p:cNvSpPr txBox="1"/>
          <p:nvPr/>
        </p:nvSpPr>
        <p:spPr>
          <a:xfrm>
            <a:off x="6341364" y="3456432"/>
            <a:ext cx="2260854" cy="384048"/>
          </a:xfrm>
          <a:prstGeom prst="rect">
            <a:avLst/>
          </a:prstGeom>
          <a:noFill/>
        </p:spPr>
        <p:txBody>
          <a:bodyPr wrap="square" lIns="0" tIns="0" rIns="0" bIns="0" anchor="t">
            <a:noAutofit/>
          </a:bodyPr>
          <a:lstStyle/>
          <a:p>
            <a:pPr algn="l">
              <a:lnSpc>
                <a:spcPct val="130000"/>
              </a:lnSpc>
              <a:spcAft>
                <a:spcPts val="400"/>
              </a:spcAft>
            </a:pPr>
            <a:r>
              <a:rPr sz="950" b="1">
                <a:solidFill>
                  <a:srgbClr val="333333"/>
                </a:solidFill>
                <a:latin typeface="Arial"/>
                <a:ea typeface="Arial"/>
              </a:rPr>
              <a:t>Maps to:</a:t>
            </a:r>
            <a:r>
              <a:rPr sz="950" b="0">
                <a:solidFill>
                  <a:srgbClr val="333333"/>
                </a:solidFill>
                <a:latin typeface="Arial"/>
                <a:ea typeface="Arial"/>
              </a:rPr>
              <a:t> RNP application and operations team</a:t>
            </a:r>
          </a:p>
        </p:txBody>
      </p:sp>
      <p:sp>
        <p:nvSpPr>
          <p:cNvPr id="23" name="Rounded Rectangle 22"/>
          <p:cNvSpPr/>
          <p:nvPr/>
        </p:nvSpPr>
        <p:spPr>
          <a:xfrm>
            <a:off x="8949690" y="2322576"/>
            <a:ext cx="2553462" cy="1536191"/>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5994" y="2395728"/>
            <a:ext cx="2260854" cy="420624"/>
          </a:xfrm>
          <a:prstGeom prst="rect">
            <a:avLst/>
          </a:prstGeom>
          <a:noFill/>
        </p:spPr>
        <p:txBody>
          <a:bodyPr wrap="square" lIns="0" tIns="0" rIns="0" bIns="0" anchor="t">
            <a:noAutofit/>
          </a:bodyPr>
          <a:lstStyle/>
          <a:p>
            <a:pPr algn="l">
              <a:lnSpc>
                <a:spcPct val="115000"/>
              </a:lnSpc>
              <a:spcAft>
                <a:spcPts val="0"/>
              </a:spcAft>
            </a:pPr>
            <a:r>
              <a:rPr sz="1100" b="1">
                <a:solidFill>
                  <a:srgbClr val="1D1D1A"/>
                </a:solidFill>
                <a:latin typeface="Arial"/>
                <a:ea typeface="Arial"/>
              </a:rPr>
              <a:t>4  Content Safety Review Platform</a:t>
            </a:r>
          </a:p>
        </p:txBody>
      </p:sp>
      <p:sp>
        <p:nvSpPr>
          <p:cNvPr id="25" name="TextBox 24"/>
          <p:cNvSpPr txBox="1"/>
          <p:nvPr/>
        </p:nvSpPr>
        <p:spPr>
          <a:xfrm>
            <a:off x="9095994" y="2852928"/>
            <a:ext cx="2260854" cy="566928"/>
          </a:xfrm>
          <a:prstGeom prst="rect">
            <a:avLst/>
          </a:prstGeom>
          <a:noFill/>
        </p:spPr>
        <p:txBody>
          <a:bodyPr wrap="square" lIns="0" tIns="0" rIns="0" bIns="0" anchor="t">
            <a:noAutofit/>
          </a:bodyPr>
          <a:lstStyle/>
          <a:p>
            <a:pPr algn="l">
              <a:lnSpc>
                <a:spcPct val="130000"/>
              </a:lnSpc>
              <a:spcAft>
                <a:spcPts val="400"/>
              </a:spcAft>
            </a:pPr>
            <a:r>
              <a:rPr sz="950" b="0">
                <a:solidFill>
                  <a:srgbClr val="333333"/>
                </a:solidFill>
                <a:latin typeface="Arial"/>
                <a:ea typeface="Arial"/>
              </a:rPr>
              <a:t>1) Review policies 2) Sensitive lexicons 3) Risk samples</a:t>
            </a:r>
          </a:p>
        </p:txBody>
      </p:sp>
      <p:sp>
        <p:nvSpPr>
          <p:cNvPr id="26" name="TextBox 25"/>
          <p:cNvSpPr txBox="1"/>
          <p:nvPr/>
        </p:nvSpPr>
        <p:spPr>
          <a:xfrm>
            <a:off x="9095994" y="3456432"/>
            <a:ext cx="2260854" cy="384048"/>
          </a:xfrm>
          <a:prstGeom prst="rect">
            <a:avLst/>
          </a:prstGeom>
          <a:noFill/>
        </p:spPr>
        <p:txBody>
          <a:bodyPr wrap="square" lIns="0" tIns="0" rIns="0" bIns="0" anchor="t">
            <a:noAutofit/>
          </a:bodyPr>
          <a:lstStyle/>
          <a:p>
            <a:pPr algn="l">
              <a:lnSpc>
                <a:spcPct val="130000"/>
              </a:lnSpc>
              <a:spcAft>
                <a:spcPts val="400"/>
              </a:spcAft>
            </a:pPr>
            <a:r>
              <a:rPr sz="950" b="1">
                <a:solidFill>
                  <a:srgbClr val="333333"/>
                </a:solidFill>
                <a:latin typeface="Arial"/>
                <a:ea typeface="Arial"/>
              </a:rPr>
              <a:t>Maps to:</a:t>
            </a:r>
            <a:r>
              <a:rPr sz="950" b="0">
                <a:solidFill>
                  <a:srgbClr val="333333"/>
                </a:solidFill>
                <a:latin typeface="Arial"/>
                <a:ea typeface="Arial"/>
              </a:rPr>
              <a:t> RNP review and compliance team</a:t>
            </a:r>
          </a:p>
        </p:txBody>
      </p:sp>
      <p:sp>
        <p:nvSpPr>
          <p:cNvPr id="27" name="Rounded Rectangle 26"/>
          <p:cNvSpPr/>
          <p:nvPr/>
        </p:nvSpPr>
        <p:spPr>
          <a:xfrm>
            <a:off x="457200" y="4133087"/>
            <a:ext cx="5500116" cy="1152144"/>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24527"/>
            <a:ext cx="2926080" cy="310896"/>
          </a:xfrm>
          <a:prstGeom prst="rect">
            <a:avLst/>
          </a:prstGeom>
          <a:noFill/>
        </p:spPr>
        <p:txBody>
          <a:bodyPr wrap="square" lIns="0" tIns="0" rIns="0" bIns="0" anchor="ctr">
            <a:noAutofit/>
          </a:bodyPr>
          <a:lstStyle/>
          <a:p>
            <a:pPr algn="l">
              <a:lnSpc>
                <a:spcPct val="115000"/>
              </a:lnSpc>
              <a:spcAft>
                <a:spcPts val="0"/>
              </a:spcAft>
            </a:pPr>
            <a:r>
              <a:rPr sz="1200" b="1">
                <a:solidFill>
                  <a:srgbClr val="C00000"/>
                </a:solidFill>
                <a:latin typeface="Arial"/>
                <a:ea typeface="Arial"/>
              </a:rPr>
              <a:t>iFLYTEK delivers</a:t>
            </a:r>
          </a:p>
        </p:txBody>
      </p:sp>
      <p:sp>
        <p:nvSpPr>
          <p:cNvPr id="29" name="TextBox 28"/>
          <p:cNvSpPr txBox="1"/>
          <p:nvPr/>
        </p:nvSpPr>
        <p:spPr>
          <a:xfrm>
            <a:off x="685800" y="4590288"/>
            <a:ext cx="5042916" cy="640080"/>
          </a:xfrm>
          <a:prstGeom prst="rect">
            <a:avLst/>
          </a:prstGeom>
          <a:noFill/>
        </p:spPr>
        <p:txBody>
          <a:bodyPr wrap="square" lIns="0" tIns="0" rIns="0" bIns="0" anchor="t">
            <a:noAutofit/>
          </a:bodyPr>
          <a:lstStyle/>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Platform software and licences, deployment configuration, API guide, acceptance report, O&amp;M documentation</a:t>
            </a:r>
          </a:p>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Deploy the platform and connect interfaces</a:t>
            </a:r>
          </a:p>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Product operations training: 6 topics, 12 O&amp;M engineers per batch — see Appendix A12</a:t>
            </a:r>
          </a:p>
        </p:txBody>
      </p:sp>
      <p:sp>
        <p:nvSpPr>
          <p:cNvPr id="30" name="Rounded Rectangle 29"/>
          <p:cNvSpPr/>
          <p:nvPr/>
        </p:nvSpPr>
        <p:spPr>
          <a:xfrm>
            <a:off x="6231636" y="4133087"/>
            <a:ext cx="5500116" cy="1152144"/>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0236" y="4224527"/>
            <a:ext cx="2926080"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How RNP takes part</a:t>
            </a:r>
          </a:p>
        </p:txBody>
      </p:sp>
      <p:sp>
        <p:nvSpPr>
          <p:cNvPr id="32" name="TextBox 31"/>
          <p:cNvSpPr txBox="1"/>
          <p:nvPr/>
        </p:nvSpPr>
        <p:spPr>
          <a:xfrm>
            <a:off x="6460236" y="4590288"/>
            <a:ext cx="5042916" cy="640080"/>
          </a:xfrm>
          <a:prstGeom prst="rect">
            <a:avLst/>
          </a:prstGeom>
          <a:noFill/>
        </p:spPr>
        <p:txBody>
          <a:bodyPr wrap="square" lIns="0" tIns="0" rIns="0" bIns="0" anchor="t">
            <a:noAutofit/>
          </a:bodyPr>
          <a:lstStyle/>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Provide the environment and interfaces</a:t>
            </a:r>
          </a:p>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Manage the platform after acceptance; four modules, four teams</a:t>
            </a:r>
          </a:p>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Organise acceptance and take over daily operations</a:t>
            </a:r>
          </a:p>
        </p:txBody>
      </p:sp>
      <p:sp>
        <p:nvSpPr>
          <p:cNvPr id="33" name="Rounded Rectangle 32"/>
          <p:cNvSpPr/>
          <p:nvPr/>
        </p:nvSpPr>
        <p:spPr>
          <a:xfrm>
            <a:off x="457200" y="5431536"/>
            <a:ext cx="11274552" cy="548640"/>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477256"/>
            <a:ext cx="10817352" cy="457200"/>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Every step in this demo is something RNP staff will do themselves during shadowing and guided hands-on.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2000" b="1">
                <a:solidFill>
                  <a:srgbClr val="C00000"/>
                </a:solidFill>
                <a:latin typeface="Arial"/>
                <a:ea typeface="Arial"/>
              </a:rPr>
              <a:t>What the Brazilian Portuguese National Model delivers</a:t>
            </a:r>
          </a:p>
        </p:txBody>
      </p:sp>
      <p:sp>
        <p:nvSpPr>
          <p:cNvPr id="3" name="TextBox 2"/>
          <p:cNvSpPr txBox="1"/>
          <p:nvPr/>
        </p:nvSpPr>
        <p:spPr>
          <a:xfrm>
            <a:off x="457200" y="932688"/>
            <a:ext cx="11274552" cy="42062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A national foundation model for Brazil's language, knowledge, values and local needs. Weights, model card and evaluation report are delivered to RNP.</a:t>
            </a:r>
          </a:p>
        </p:txBody>
      </p:sp>
      <p:sp>
        <p:nvSpPr>
          <p:cNvPr id="4" name="Rounded Rectangle 3"/>
          <p:cNvSpPr/>
          <p:nvPr/>
        </p:nvSpPr>
        <p:spPr>
          <a:xfrm>
            <a:off x="4727448" y="1426464"/>
            <a:ext cx="2734056" cy="2596896"/>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27448" y="1792224"/>
            <a:ext cx="2734056" cy="384048"/>
          </a:xfrm>
          <a:prstGeom prst="rect">
            <a:avLst/>
          </a:prstGeom>
          <a:noFill/>
        </p:spPr>
        <p:txBody>
          <a:bodyPr wrap="square" lIns="0" tIns="0" rIns="0" bIns="0" anchor="ctr">
            <a:noAutofit/>
          </a:bodyPr>
          <a:lstStyle/>
          <a:p>
            <a:pPr algn="ctr">
              <a:lnSpc>
                <a:spcPct val="115000"/>
              </a:lnSpc>
              <a:spcAft>
                <a:spcPts val="0"/>
              </a:spcAft>
            </a:pPr>
            <a:r>
              <a:rPr sz="1300" b="1">
                <a:solidFill>
                  <a:srgbClr val="C00000"/>
                </a:solidFill>
                <a:latin typeface="Arial"/>
                <a:ea typeface="Arial"/>
              </a:rPr>
              <a:t>Brazilian Portuguese</a:t>
            </a:r>
          </a:p>
        </p:txBody>
      </p:sp>
      <p:sp>
        <p:nvSpPr>
          <p:cNvPr id="6" name="TextBox 5"/>
          <p:cNvSpPr txBox="1"/>
          <p:nvPr/>
        </p:nvSpPr>
        <p:spPr>
          <a:xfrm>
            <a:off x="4727448" y="2084832"/>
            <a:ext cx="2734056" cy="384048"/>
          </a:xfrm>
          <a:prstGeom prst="rect">
            <a:avLst/>
          </a:prstGeom>
          <a:noFill/>
        </p:spPr>
        <p:txBody>
          <a:bodyPr wrap="square" lIns="0" tIns="0" rIns="0" bIns="0" anchor="ctr">
            <a:noAutofit/>
          </a:bodyPr>
          <a:lstStyle/>
          <a:p>
            <a:pPr algn="ctr">
              <a:lnSpc>
                <a:spcPct val="115000"/>
              </a:lnSpc>
              <a:spcAft>
                <a:spcPts val="0"/>
              </a:spcAft>
            </a:pPr>
            <a:r>
              <a:rPr sz="1300" b="1">
                <a:solidFill>
                  <a:srgbClr val="C00000"/>
                </a:solidFill>
                <a:latin typeface="Arial"/>
                <a:ea typeface="Arial"/>
              </a:rPr>
              <a:t>National Model</a:t>
            </a:r>
          </a:p>
        </p:txBody>
      </p:sp>
      <p:sp>
        <p:nvSpPr>
          <p:cNvPr id="7" name="Rectangle 6"/>
          <p:cNvSpPr/>
          <p:nvPr/>
        </p:nvSpPr>
        <p:spPr>
          <a:xfrm>
            <a:off x="5276088" y="2542032"/>
            <a:ext cx="163677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2651760"/>
            <a:ext cx="2276856" cy="868680"/>
          </a:xfrm>
          <a:prstGeom prst="rect">
            <a:avLst/>
          </a:prstGeom>
          <a:noFill/>
        </p:spPr>
        <p:txBody>
          <a:bodyPr wrap="square" lIns="0" tIns="0" rIns="0" bIns="0" anchor="t">
            <a:noAutofit/>
          </a:bodyPr>
          <a:lstStyle/>
          <a:p>
            <a:pPr algn="ctr">
              <a:lnSpc>
                <a:spcPct val="135000"/>
              </a:lnSpc>
              <a:spcAft>
                <a:spcPts val="400"/>
              </a:spcAft>
            </a:pPr>
            <a:r>
              <a:rPr sz="950" b="0">
                <a:solidFill>
                  <a:srgbClr val="333333"/>
                </a:solidFill>
                <a:latin typeface="Arial"/>
                <a:ea typeface="Arial"/>
              </a:rPr>
              <a:t>NLP: ≥290B parameters</a:t>
            </a:r>
          </a:p>
          <a:p>
            <a:pPr algn="ctr">
              <a:lnSpc>
                <a:spcPct val="135000"/>
              </a:lnSpc>
              <a:spcAft>
                <a:spcPts val="400"/>
              </a:spcAft>
            </a:pPr>
            <a:r>
              <a:rPr sz="950" b="0">
                <a:solidFill>
                  <a:srgbClr val="333333"/>
                </a:solidFill>
                <a:latin typeface="Arial"/>
                <a:ea typeface="Arial"/>
              </a:rPr>
              <a:t>ASR and TTS: one model each</a:t>
            </a:r>
          </a:p>
          <a:p>
            <a:pPr algn="ctr">
              <a:lnSpc>
                <a:spcPct val="135000"/>
              </a:lnSpc>
              <a:spcAft>
                <a:spcPts val="400"/>
              </a:spcAft>
            </a:pPr>
            <a:r>
              <a:rPr sz="950" b="0">
                <a:solidFill>
                  <a:srgbClr val="333333"/>
                </a:solidFill>
                <a:latin typeface="Arial"/>
                <a:ea typeface="Arial"/>
              </a:rPr>
              <a:t>Local corpus: 50B tokens</a:t>
            </a:r>
          </a:p>
        </p:txBody>
      </p:sp>
      <p:sp>
        <p:nvSpPr>
          <p:cNvPr id="9" name="Rounded Rectangle 8"/>
          <p:cNvSpPr/>
          <p:nvPr/>
        </p:nvSpPr>
        <p:spPr>
          <a:xfrm>
            <a:off x="457200" y="1426464"/>
            <a:ext cx="4160520" cy="1243584"/>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499616"/>
            <a:ext cx="3721608"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1  Native Brazilian Portuguese</a:t>
            </a:r>
          </a:p>
        </p:txBody>
      </p:sp>
      <p:sp>
        <p:nvSpPr>
          <p:cNvPr id="11" name="TextBox 10"/>
          <p:cNvSpPr txBox="1"/>
          <p:nvPr/>
        </p:nvSpPr>
        <p:spPr>
          <a:xfrm>
            <a:off x="676656" y="1810512"/>
            <a:ext cx="3721608" cy="530352"/>
          </a:xfrm>
          <a:prstGeom prst="rect">
            <a:avLst/>
          </a:prstGeom>
          <a:noFill/>
        </p:spPr>
        <p:txBody>
          <a:bodyPr wrap="square" lIns="0" tIns="0" rIns="0" bIns="0" anchor="t">
            <a:noAutofit/>
          </a:bodyPr>
          <a:lstStyle/>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Understands Brazilian Portuguese and local usage</a:t>
            </a:r>
          </a:p>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Portuguese Q&amp;A, generation, multi-turn dialogue</a:t>
            </a:r>
          </a:p>
        </p:txBody>
      </p:sp>
      <p:sp>
        <p:nvSpPr>
          <p:cNvPr id="12" name="Rectangle 11"/>
          <p:cNvSpPr/>
          <p:nvPr/>
        </p:nvSpPr>
        <p:spPr>
          <a:xfrm>
            <a:off x="676656" y="2359152"/>
            <a:ext cx="372160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395728"/>
            <a:ext cx="3721608"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Natural phrasing  |  Spoken language  |  </a:t>
            </a:r>
            <a:r>
              <a:rPr sz="850" b="0">
                <a:solidFill>
                  <a:srgbClr val="0070C0"/>
                </a:solidFill>
                <a:latin typeface="Arial"/>
                <a:ea typeface="Arial"/>
              </a:rPr>
              <a:t>Regional variety</a:t>
            </a:r>
          </a:p>
        </p:txBody>
      </p:sp>
      <p:sp>
        <p:nvSpPr>
          <p:cNvPr id="14" name="Rounded Rectangle 13"/>
          <p:cNvSpPr/>
          <p:nvPr/>
        </p:nvSpPr>
        <p:spPr>
          <a:xfrm>
            <a:off x="457200" y="2779776"/>
            <a:ext cx="4160520" cy="1243584"/>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852928"/>
            <a:ext cx="3721608"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2  Brazilian knowledge and context</a:t>
            </a:r>
          </a:p>
        </p:txBody>
      </p:sp>
      <p:sp>
        <p:nvSpPr>
          <p:cNvPr id="16" name="TextBox 15"/>
          <p:cNvSpPr txBox="1"/>
          <p:nvPr/>
        </p:nvSpPr>
        <p:spPr>
          <a:xfrm>
            <a:off x="676656" y="3163824"/>
            <a:ext cx="3721608" cy="530352"/>
          </a:xfrm>
          <a:prstGeom prst="rect">
            <a:avLst/>
          </a:prstGeom>
          <a:noFill/>
        </p:spPr>
        <p:txBody>
          <a:bodyPr wrap="square" lIns="0" tIns="0" rIns="0" bIns="0" anchor="t">
            <a:noAutofit/>
          </a:bodyPr>
          <a:lstStyle/>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Built on Brazilian data and institutional context</a:t>
            </a:r>
          </a:p>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Reflects cultural, social and linguistic diversity</a:t>
            </a:r>
          </a:p>
        </p:txBody>
      </p:sp>
      <p:sp>
        <p:nvSpPr>
          <p:cNvPr id="17" name="Rectangle 16"/>
          <p:cNvSpPr/>
          <p:nvPr/>
        </p:nvSpPr>
        <p:spPr>
          <a:xfrm>
            <a:off x="676656" y="3712464"/>
            <a:ext cx="372160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3749039"/>
            <a:ext cx="3721608"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50B-token local corpus  |  Cultural diversity</a:t>
            </a:r>
          </a:p>
        </p:txBody>
      </p:sp>
      <p:sp>
        <p:nvSpPr>
          <p:cNvPr id="19" name="Rounded Rectangle 18"/>
          <p:cNvSpPr/>
          <p:nvPr/>
        </p:nvSpPr>
        <p:spPr>
          <a:xfrm>
            <a:off x="7571231" y="1426464"/>
            <a:ext cx="4160520" cy="1243584"/>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90688" y="1499616"/>
            <a:ext cx="3721608"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3  Values and accountability</a:t>
            </a:r>
          </a:p>
        </p:txBody>
      </p:sp>
      <p:sp>
        <p:nvSpPr>
          <p:cNvPr id="21" name="TextBox 20"/>
          <p:cNvSpPr txBox="1"/>
          <p:nvPr/>
        </p:nvSpPr>
        <p:spPr>
          <a:xfrm>
            <a:off x="7790688" y="1810512"/>
            <a:ext cx="3721608" cy="530352"/>
          </a:xfrm>
          <a:prstGeom prst="rect">
            <a:avLst/>
          </a:prstGeom>
          <a:noFill/>
        </p:spPr>
        <p:txBody>
          <a:bodyPr wrap="square" lIns="0" tIns="0" rIns="0" bIns="0" anchor="t">
            <a:noAutofit/>
          </a:bodyPr>
          <a:lstStyle/>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Data held in Brazil; access and audit belong to RNP</a:t>
            </a:r>
          </a:p>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Supports LGPD compliance; 20,000 safety and values samples</a:t>
            </a:r>
          </a:p>
        </p:txBody>
      </p:sp>
      <p:sp>
        <p:nvSpPr>
          <p:cNvPr id="22" name="Rectangle 21"/>
          <p:cNvSpPr/>
          <p:nvPr/>
        </p:nvSpPr>
        <p:spPr>
          <a:xfrm>
            <a:off x="7790688" y="2359152"/>
            <a:ext cx="372160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0688" y="2395728"/>
            <a:ext cx="3721608"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Bias and safety testing  |  Fairness and inclusion</a:t>
            </a:r>
          </a:p>
        </p:txBody>
      </p:sp>
      <p:sp>
        <p:nvSpPr>
          <p:cNvPr id="24" name="Rounded Rectangle 23"/>
          <p:cNvSpPr/>
          <p:nvPr/>
        </p:nvSpPr>
        <p:spPr>
          <a:xfrm>
            <a:off x="7571231" y="2779776"/>
            <a:ext cx="4160520" cy="1243584"/>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90688" y="2852928"/>
            <a:ext cx="3721608"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4  A base RNP controls</a:t>
            </a:r>
          </a:p>
        </p:txBody>
      </p:sp>
      <p:sp>
        <p:nvSpPr>
          <p:cNvPr id="26" name="TextBox 25"/>
          <p:cNvSpPr txBox="1"/>
          <p:nvPr/>
        </p:nvSpPr>
        <p:spPr>
          <a:xfrm>
            <a:off x="7790688" y="3163824"/>
            <a:ext cx="3721608" cy="530352"/>
          </a:xfrm>
          <a:prstGeom prst="rect">
            <a:avLst/>
          </a:prstGeom>
          <a:noFill/>
        </p:spPr>
        <p:txBody>
          <a:bodyPr wrap="square" lIns="0" tIns="0" rIns="0" bIns="0" anchor="t">
            <a:noAutofit/>
          </a:bodyPr>
          <a:lstStyle/>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Reduces long-term dependence on external models</a:t>
            </a:r>
          </a:p>
          <a:p>
            <a:pPr algn="l" marL="201168" indent="-201168">
              <a:lnSpc>
                <a:spcPct val="115000"/>
              </a:lnSpc>
              <a:spcAft>
                <a:spcPts val="200"/>
              </a:spcAft>
              <a:buClr>
                <a:srgbClr val="C00000"/>
              </a:buClr>
              <a:buSzPct val="100000"/>
              <a:buFont typeface="Arial"/>
              <a:buAutoNum type="arabicPeriod"/>
            </a:pPr>
            <a:r>
              <a:rPr sz="950" b="0">
                <a:solidFill>
                  <a:srgbClr val="333333"/>
                </a:solidFill>
                <a:latin typeface="Arial"/>
                <a:ea typeface="Arial"/>
              </a:rPr>
              <a:t>Weights delivered to RNP; supports the DLMs</a:t>
            </a:r>
          </a:p>
        </p:txBody>
      </p:sp>
      <p:sp>
        <p:nvSpPr>
          <p:cNvPr id="27" name="Rectangle 26"/>
          <p:cNvSpPr/>
          <p:nvPr/>
        </p:nvSpPr>
        <p:spPr>
          <a:xfrm>
            <a:off x="7790688" y="3712464"/>
            <a:ext cx="372160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90688" y="3749039"/>
            <a:ext cx="3721608"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Weights to RNP  |  Deployed in Brazil</a:t>
            </a:r>
          </a:p>
        </p:txBody>
      </p:sp>
      <p:sp>
        <p:nvSpPr>
          <p:cNvPr id="29" name="Rounded Rectangle 28"/>
          <p:cNvSpPr/>
          <p:nvPr/>
        </p:nvSpPr>
        <p:spPr>
          <a:xfrm>
            <a:off x="457200" y="4224528"/>
            <a:ext cx="11274552" cy="105156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4297680"/>
            <a:ext cx="4572000"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Direct value in this project</a:t>
            </a:r>
          </a:p>
        </p:txBody>
      </p:sp>
      <p:sp>
        <p:nvSpPr>
          <p:cNvPr id="31" name="Rounded Rectangle 30"/>
          <p:cNvSpPr/>
          <p:nvPr/>
        </p:nvSpPr>
        <p:spPr>
          <a:xfrm>
            <a:off x="685800" y="4626864"/>
            <a:ext cx="3392424" cy="557783"/>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4" y="4672584"/>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Brazilian Portuguese National Model</a:t>
            </a:r>
          </a:p>
        </p:txBody>
      </p:sp>
      <p:sp>
        <p:nvSpPr>
          <p:cNvPr id="33" name="TextBox 32"/>
          <p:cNvSpPr txBox="1"/>
          <p:nvPr/>
        </p:nvSpPr>
        <p:spPr>
          <a:xfrm>
            <a:off x="832104" y="4919472"/>
            <a:ext cx="3099816" cy="210311"/>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Closer to Brazil's language, knowledge and needs</a:t>
            </a:r>
          </a:p>
        </p:txBody>
      </p:sp>
      <p:sp>
        <p:nvSpPr>
          <p:cNvPr id="34" name="Right Arrow 33"/>
          <p:cNvSpPr/>
          <p:nvPr/>
        </p:nvSpPr>
        <p:spPr>
          <a:xfrm>
            <a:off x="4133088" y="4805172"/>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398264" y="4626864"/>
            <a:ext cx="3392424" cy="557783"/>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44568" y="4672584"/>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Health / Space / Biodiversity DLMs</a:t>
            </a:r>
          </a:p>
        </p:txBody>
      </p:sp>
      <p:sp>
        <p:nvSpPr>
          <p:cNvPr id="37" name="TextBox 36"/>
          <p:cNvSpPr txBox="1"/>
          <p:nvPr/>
        </p:nvSpPr>
        <p:spPr>
          <a:xfrm>
            <a:off x="4544568" y="4919472"/>
            <a:ext cx="3099816" cy="210311"/>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Three domains named by RNP; built on this model or another agreed base</a:t>
            </a:r>
          </a:p>
        </p:txBody>
      </p:sp>
      <p:sp>
        <p:nvSpPr>
          <p:cNvPr id="38" name="Right Arrow 37"/>
          <p:cNvSpPr/>
          <p:nvPr/>
        </p:nvSpPr>
        <p:spPr>
          <a:xfrm>
            <a:off x="7845552" y="4805172"/>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110728" y="4626864"/>
            <a:ext cx="3392424" cy="557783"/>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7032" y="4672584"/>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AI applications and services for Brazil</a:t>
            </a:r>
          </a:p>
        </p:txBody>
      </p:sp>
      <p:sp>
        <p:nvSpPr>
          <p:cNvPr id="41" name="TextBox 40"/>
          <p:cNvSpPr txBox="1"/>
          <p:nvPr/>
        </p:nvSpPr>
        <p:spPr>
          <a:xfrm>
            <a:off x="8257032" y="4919472"/>
            <a:ext cx="3099816" cy="210311"/>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Supporting public services and national priorities</a:t>
            </a:r>
          </a:p>
        </p:txBody>
      </p:sp>
      <p:sp>
        <p:nvSpPr>
          <p:cNvPr id="42" name="Rounded Rectangle 41"/>
          <p:cNvSpPr/>
          <p:nvPr/>
        </p:nvSpPr>
        <p:spPr>
          <a:xfrm>
            <a:off x="457200" y="5532120"/>
            <a:ext cx="11274552" cy="548640"/>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577840"/>
            <a:ext cx="10817352" cy="457200"/>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Performance and coverage are set against jointly agreed evaluation criteria — not decided by iFLYTEK alone. After delivery RNP deploys and evolves the model itself.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800" b="1">
                <a:solidFill>
                  <a:srgbClr val="C00000"/>
                </a:solidFill>
                <a:latin typeface="Arial"/>
                <a:ea typeface="Arial"/>
              </a:rPr>
              <a:t>National Model: iFLYTEK enhances the base first, RNP supplies the local corpus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A3</a:t>
            </a:r>
          </a:p>
        </p:txBody>
      </p:sp>
      <p:sp>
        <p:nvSpPr>
          <p:cNvPr id="4" name="Rounded Rectangle 3">
            <a:hlinkClick action="ppaction://hlinksldjump" r:id="rId3"/>
          </p:cNvPr>
          <p:cNvSpPr/>
          <p:nvPr/>
        </p:nvSpPr>
        <p:spPr>
          <a:xfrm>
            <a:off x="9482328"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A2</a:t>
            </a:r>
          </a:p>
        </p:txBody>
      </p:sp>
      <p:sp>
        <p:nvSpPr>
          <p:cNvPr id="5" name="TextBox 4"/>
          <p:cNvSpPr txBox="1"/>
          <p:nvPr/>
        </p:nvSpPr>
        <p:spPr>
          <a:xfrm>
            <a:off x="457200" y="932688"/>
            <a:ext cx="11274552" cy="457200"/>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Step 1 runs on two parallel tracks: iFLYTEK enhances the base model in China while RNP builds the local corpus in Brazil. Step 2 starts once the corpus and compute are ready.</a:t>
            </a:r>
          </a:p>
        </p:txBody>
      </p:sp>
      <p:sp>
        <p:nvSpPr>
          <p:cNvPr id="6" name="Rounded Rectangle 5"/>
          <p:cNvSpPr/>
          <p:nvPr/>
        </p:nvSpPr>
        <p:spPr>
          <a:xfrm>
            <a:off x="457200" y="1627632"/>
            <a:ext cx="2647188" cy="32918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67335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1  Corpus and base model</a:t>
            </a:r>
          </a:p>
        </p:txBody>
      </p:sp>
      <p:sp>
        <p:nvSpPr>
          <p:cNvPr id="8" name="Rounded Rectangle 7"/>
          <p:cNvSpPr/>
          <p:nvPr/>
        </p:nvSpPr>
        <p:spPr>
          <a:xfrm>
            <a:off x="585216" y="2011680"/>
            <a:ext cx="2391156" cy="13624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03911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10" name="TextBox 9"/>
          <p:cNvSpPr txBox="1"/>
          <p:nvPr/>
        </p:nvSpPr>
        <p:spPr>
          <a:xfrm>
            <a:off x="713232" y="2249424"/>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Collect public Portuguese corpus in China</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Use own compute to strengthen the base model</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Hand the public corpus to Brazil as well</a:t>
            </a:r>
          </a:p>
        </p:txBody>
      </p:sp>
      <p:sp>
        <p:nvSpPr>
          <p:cNvPr id="11" name="Rounded Rectangle 10"/>
          <p:cNvSpPr/>
          <p:nvPr/>
        </p:nvSpPr>
        <p:spPr>
          <a:xfrm>
            <a:off x="585216" y="3447288"/>
            <a:ext cx="2391156" cy="13624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47472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13" name="TextBox 12"/>
          <p:cNvSpPr txBox="1"/>
          <p:nvPr/>
        </p:nvSpPr>
        <p:spPr>
          <a:xfrm>
            <a:off x="713232" y="3685032"/>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Produce and license the corpus in Brazil</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About 50 billion tokens</a:t>
            </a:r>
          </a:p>
          <a:p>
            <a:pPr algn="l" marL="201168" indent="-201168">
              <a:lnSpc>
                <a:spcPct val="125000"/>
              </a:lnSpc>
              <a:spcAft>
                <a:spcPts val="200"/>
              </a:spcAft>
              <a:buClr>
                <a:srgbClr val="1F4E79"/>
              </a:buClr>
              <a:buSzPct val="100000"/>
              <a:buFont typeface="Arial"/>
              <a:buAutoNum type="arabicPeriod"/>
            </a:pPr>
            <a:r>
              <a:rPr sz="1000" b="0">
                <a:solidFill>
                  <a:srgbClr val="0070C0"/>
                </a:solidFill>
                <a:latin typeface="Arial"/>
                <a:ea typeface="Arial"/>
              </a:rPr>
              <a:t>Arrange compute before the data center opens</a:t>
            </a:r>
          </a:p>
        </p:txBody>
      </p:sp>
      <p:sp>
        <p:nvSpPr>
          <p:cNvPr id="14" name="Right Arrow 13"/>
          <p:cNvSpPr/>
          <p:nvPr/>
        </p:nvSpPr>
        <p:spPr>
          <a:xfrm>
            <a:off x="3118104" y="259232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32988" y="1627632"/>
            <a:ext cx="2647188" cy="32918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9292" y="167335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2  Model training</a:t>
            </a:r>
          </a:p>
        </p:txBody>
      </p:sp>
      <p:sp>
        <p:nvSpPr>
          <p:cNvPr id="17" name="Rounded Rectangle 16"/>
          <p:cNvSpPr/>
          <p:nvPr/>
        </p:nvSpPr>
        <p:spPr>
          <a:xfrm>
            <a:off x="3461004" y="2011680"/>
            <a:ext cx="2391156" cy="13624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89020" y="203911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19" name="TextBox 18"/>
          <p:cNvSpPr txBox="1"/>
          <p:nvPr/>
        </p:nvSpPr>
        <p:spPr>
          <a:xfrm>
            <a:off x="3589020" y="2249424"/>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Continue training on the enhanced base</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Produce the NLP, ASR and TTS models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Follow the approved plan and milestones</a:t>
            </a:r>
          </a:p>
        </p:txBody>
      </p:sp>
      <p:sp>
        <p:nvSpPr>
          <p:cNvPr id="20" name="Rounded Rectangle 19"/>
          <p:cNvSpPr/>
          <p:nvPr/>
        </p:nvSpPr>
        <p:spPr>
          <a:xfrm>
            <a:off x="3461004" y="3447288"/>
            <a:ext cx="2391156" cy="13624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9020" y="347472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22" name="TextBox 21"/>
          <p:cNvSpPr txBox="1"/>
          <p:nvPr/>
        </p:nvSpPr>
        <p:spPr>
          <a:xfrm>
            <a:off x="3589020" y="3685032"/>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Keep supplying data to iFLYTEK's spec</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Support sampling quality checks</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Confirm route and rounds in writing</a:t>
            </a:r>
          </a:p>
        </p:txBody>
      </p:sp>
      <p:sp>
        <p:nvSpPr>
          <p:cNvPr id="23" name="Right Arrow 22"/>
          <p:cNvSpPr/>
          <p:nvPr/>
        </p:nvSpPr>
        <p:spPr>
          <a:xfrm>
            <a:off x="5993892" y="259232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08776" y="1627632"/>
            <a:ext cx="2647188" cy="32918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167335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3  Evaluation</a:t>
            </a:r>
          </a:p>
        </p:txBody>
      </p:sp>
      <p:sp>
        <p:nvSpPr>
          <p:cNvPr id="26" name="Rounded Rectangle 25"/>
          <p:cNvSpPr/>
          <p:nvPr/>
        </p:nvSpPr>
        <p:spPr>
          <a:xfrm>
            <a:off x="6336792" y="2011680"/>
            <a:ext cx="2391156" cy="13624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8" y="203911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28" name="TextBox 27"/>
          <p:cNvSpPr txBox="1"/>
          <p:nvPr/>
        </p:nvSpPr>
        <p:spPr>
          <a:xfrm>
            <a:off x="6464808" y="2249424"/>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Issue the evaluation report</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Regression, robustness, bias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Safety and cultural fit</a:t>
            </a:r>
          </a:p>
        </p:txBody>
      </p:sp>
      <p:sp>
        <p:nvSpPr>
          <p:cNvPr id="29" name="Rounded Rectangle 28"/>
          <p:cNvSpPr/>
          <p:nvPr/>
        </p:nvSpPr>
        <p:spPr>
          <a:xfrm>
            <a:off x="6336792" y="3447288"/>
            <a:ext cx="2391156" cy="13624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8" y="347472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31" name="TextBox 30"/>
          <p:cNvSpPr txBox="1"/>
          <p:nvPr/>
        </p:nvSpPr>
        <p:spPr>
          <a:xfrm>
            <a:off x="6464808" y="3685032"/>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Agree test sets and pass rules jointly</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Portuguese and domain experts review</a:t>
            </a:r>
          </a:p>
        </p:txBody>
      </p:sp>
      <p:sp>
        <p:nvSpPr>
          <p:cNvPr id="32" name="Right Arrow 31"/>
          <p:cNvSpPr/>
          <p:nvPr/>
        </p:nvSpPr>
        <p:spPr>
          <a:xfrm>
            <a:off x="8869680" y="259232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084564" y="1627632"/>
            <a:ext cx="2647188" cy="32918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30868" y="167335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4  Local delivery and tuning</a:t>
            </a:r>
          </a:p>
        </p:txBody>
      </p:sp>
      <p:sp>
        <p:nvSpPr>
          <p:cNvPr id="35" name="Rounded Rectangle 34"/>
          <p:cNvSpPr/>
          <p:nvPr/>
        </p:nvSpPr>
        <p:spPr>
          <a:xfrm>
            <a:off x="9212580" y="2011680"/>
            <a:ext cx="2391156" cy="13624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40596" y="203911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37" name="TextBox 36"/>
          <p:cNvSpPr txBox="1"/>
          <p:nvPr/>
        </p:nvSpPr>
        <p:spPr>
          <a:xfrm>
            <a:off x="9340596" y="2249424"/>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Deploy in the Brazilian environment</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Deliver weights and model cards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NLP upgraded 3× within 12 months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ASR and TTS once each</a:t>
            </a:r>
          </a:p>
        </p:txBody>
      </p:sp>
      <p:sp>
        <p:nvSpPr>
          <p:cNvPr id="38" name="Rounded Rectangle 37"/>
          <p:cNvSpPr/>
          <p:nvPr/>
        </p:nvSpPr>
        <p:spPr>
          <a:xfrm>
            <a:off x="9212580" y="3447288"/>
            <a:ext cx="2391156" cy="13624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40596" y="347472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40" name="TextBox 39"/>
          <p:cNvSpPr txBox="1"/>
          <p:nvPr/>
        </p:nvSpPr>
        <p:spPr>
          <a:xfrm>
            <a:off x="9340596" y="3685032"/>
            <a:ext cx="2135124" cy="10881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Organise acceptance and release</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Supply upgrade data within the A2 caps</a:t>
            </a:r>
          </a:p>
        </p:txBody>
      </p:sp>
      <p:sp>
        <p:nvSpPr>
          <p:cNvPr id="41" name="Rounded Rectangle 40"/>
          <p:cNvSpPr/>
          <p:nvPr/>
        </p:nvSpPr>
        <p:spPr>
          <a:xfrm>
            <a:off x="457200" y="5193792"/>
            <a:ext cx="11274552" cy="548640"/>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239512"/>
            <a:ext cx="10817352" cy="457200"/>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Enhancing the base first uses no Brazilian compute and does not wait for the corpus to be complete. Training can start as soon as corpus and compute are in place — less schedule risk.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2000" b="1">
                <a:solidFill>
                  <a:srgbClr val="C00000"/>
                </a:solidFill>
                <a:latin typeface="Arial"/>
                <a:ea typeface="Arial"/>
              </a:rPr>
              <a:t>What the National AI Application delivers</a:t>
            </a:r>
          </a:p>
        </p:txBody>
      </p:sp>
      <p:sp>
        <p:nvSpPr>
          <p:cNvPr id="3" name="TextBox 2"/>
          <p:cNvSpPr txBox="1"/>
          <p:nvPr/>
        </p:nvSpPr>
        <p:spPr>
          <a:xfrm>
            <a:off x="457200" y="932688"/>
            <a:ext cx="11274552" cy="42062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A single AI entry point for users approved by RNP. iFLYTEK delivers the app and the Data Operations Platform; content, users and operations belong to RNP.</a:t>
            </a:r>
          </a:p>
        </p:txBody>
      </p:sp>
      <p:sp>
        <p:nvSpPr>
          <p:cNvPr id="4" name="Rounded Rectangle 3"/>
          <p:cNvSpPr/>
          <p:nvPr/>
        </p:nvSpPr>
        <p:spPr>
          <a:xfrm>
            <a:off x="457200" y="1481328"/>
            <a:ext cx="3575304" cy="233172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1591056"/>
            <a:ext cx="3099816" cy="457200"/>
          </a:xfrm>
          <a:prstGeom prst="rect">
            <a:avLst/>
          </a:prstGeom>
          <a:noFill/>
        </p:spPr>
        <p:txBody>
          <a:bodyPr wrap="square" lIns="0" tIns="0" rIns="0" bIns="0" anchor="t">
            <a:noAutofit/>
          </a:bodyPr>
          <a:lstStyle/>
          <a:p>
            <a:pPr algn="l">
              <a:lnSpc>
                <a:spcPct val="115000"/>
              </a:lnSpc>
              <a:spcAft>
                <a:spcPts val="0"/>
              </a:spcAft>
            </a:pPr>
            <a:r>
              <a:rPr sz="1150" b="1">
                <a:solidFill>
                  <a:srgbClr val="1D1D1A"/>
                </a:solidFill>
                <a:latin typeface="Arial"/>
                <a:ea typeface="Arial"/>
              </a:rPr>
              <a:t>1  National App · for approved users</a:t>
            </a:r>
          </a:p>
        </p:txBody>
      </p:sp>
      <p:sp>
        <p:nvSpPr>
          <p:cNvPr id="6" name="TextBox 5"/>
          <p:cNvSpPr txBox="1"/>
          <p:nvPr/>
        </p:nvSpPr>
        <p:spPr>
          <a:xfrm>
            <a:off x="694944" y="2121408"/>
            <a:ext cx="3099816" cy="1143000"/>
          </a:xfrm>
          <a:prstGeom prst="rect">
            <a:avLst/>
          </a:prstGeom>
          <a:noFill/>
        </p:spPr>
        <p:txBody>
          <a:bodyPr wrap="square" lIns="0" tIns="0" rIns="0" bIns="0" anchor="t">
            <a:noAutofit/>
          </a:bodyPr>
          <a:lstStyle/>
          <a:p>
            <a:pPr algn="l" marL="201168" indent="-201168">
              <a:lnSpc>
                <a:spcPct val="130000"/>
              </a:lnSpc>
              <a:spcAft>
                <a:spcPts val="600"/>
              </a:spcAft>
              <a:buClr>
                <a:srgbClr val="C00000"/>
              </a:buClr>
              <a:buSzPct val="100000"/>
              <a:buFont typeface="Arial"/>
              <a:buAutoNum type="arabicPeriod"/>
            </a:pPr>
            <a:r>
              <a:rPr sz="1000" b="0">
                <a:solidFill>
                  <a:srgbClr val="333333"/>
                </a:solidFill>
                <a:latin typeface="Arial"/>
                <a:ea typeface="Arial"/>
              </a:rPr>
              <a:t>Q&amp;A and search, document analysis and translation, writing, notes and presentations</a:t>
            </a:r>
          </a:p>
          <a:p>
            <a:pPr algn="l" marL="201168" indent="-201168">
              <a:lnSpc>
                <a:spcPct val="130000"/>
              </a:lnSpc>
              <a:spcAft>
                <a:spcPts val="600"/>
              </a:spcAft>
              <a:buClr>
                <a:srgbClr val="C00000"/>
              </a:buClr>
              <a:buSzPct val="100000"/>
              <a:buFont typeface="Arial"/>
              <a:buAutoNum type="arabicPeriod"/>
            </a:pPr>
            <a:r>
              <a:rPr sz="1000" b="0">
                <a:solidFill>
                  <a:srgbClr val="333333"/>
                </a:solidFill>
                <a:latin typeface="Arial"/>
                <a:ea typeface="Arial"/>
              </a:rPr>
              <a:t>Portuguese speech input and read-aloud; mobile, desktop and web</a:t>
            </a:r>
          </a:p>
        </p:txBody>
      </p:sp>
      <p:sp>
        <p:nvSpPr>
          <p:cNvPr id="7" name="Rectangle 6"/>
          <p:cNvSpPr/>
          <p:nvPr/>
        </p:nvSpPr>
        <p:spPr>
          <a:xfrm>
            <a:off x="694944" y="3410712"/>
            <a:ext cx="309981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465576"/>
            <a:ext cx="3099816"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Single entry  |  Multi-device  |  Portuguese speech</a:t>
            </a:r>
          </a:p>
        </p:txBody>
      </p:sp>
      <p:sp>
        <p:nvSpPr>
          <p:cNvPr id="9" name="Rounded Rectangle 8"/>
          <p:cNvSpPr/>
          <p:nvPr/>
        </p:nvSpPr>
        <p:spPr>
          <a:xfrm>
            <a:off x="4306824" y="1481328"/>
            <a:ext cx="3575304" cy="233172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591056"/>
            <a:ext cx="3099816" cy="457200"/>
          </a:xfrm>
          <a:prstGeom prst="rect">
            <a:avLst/>
          </a:prstGeom>
          <a:noFill/>
        </p:spPr>
        <p:txBody>
          <a:bodyPr wrap="square" lIns="0" tIns="0" rIns="0" bIns="0" anchor="t">
            <a:noAutofit/>
          </a:bodyPr>
          <a:lstStyle/>
          <a:p>
            <a:pPr algn="l">
              <a:lnSpc>
                <a:spcPct val="115000"/>
              </a:lnSpc>
              <a:spcAft>
                <a:spcPts val="0"/>
              </a:spcAft>
            </a:pPr>
            <a:r>
              <a:rPr sz="1150" b="1">
                <a:solidFill>
                  <a:srgbClr val="1D1D1A"/>
                </a:solidFill>
                <a:latin typeface="Arial"/>
                <a:ea typeface="Arial"/>
              </a:rPr>
              <a:t>2  Data Operations Platform · for RNP administrators</a:t>
            </a:r>
          </a:p>
        </p:txBody>
      </p:sp>
      <p:sp>
        <p:nvSpPr>
          <p:cNvPr id="11" name="TextBox 10"/>
          <p:cNvSpPr txBox="1"/>
          <p:nvPr/>
        </p:nvSpPr>
        <p:spPr>
          <a:xfrm>
            <a:off x="4544568" y="2121408"/>
            <a:ext cx="3099816" cy="1143000"/>
          </a:xfrm>
          <a:prstGeom prst="rect">
            <a:avLst/>
          </a:prstGeom>
          <a:noFill/>
        </p:spPr>
        <p:txBody>
          <a:bodyPr wrap="square" lIns="0" tIns="0" rIns="0" bIns="0" anchor="t">
            <a:noAutofit/>
          </a:bodyPr>
          <a:lstStyle/>
          <a:p>
            <a:pPr algn="l" marL="201168" indent="-201168">
              <a:lnSpc>
                <a:spcPct val="130000"/>
              </a:lnSpc>
              <a:spcAft>
                <a:spcPts val="600"/>
              </a:spcAft>
              <a:buClr>
                <a:srgbClr val="C00000"/>
              </a:buClr>
              <a:buSzPct val="100000"/>
              <a:buFont typeface="Arial"/>
              <a:buAutoNum type="arabicPeriod"/>
            </a:pPr>
            <a:r>
              <a:rPr sz="1000" b="0">
                <a:solidFill>
                  <a:srgbClr val="333333"/>
                </a:solidFill>
                <a:latin typeface="Arial"/>
                <a:ea typeface="Arial"/>
              </a:rPr>
              <a:t>Organisations, users, tenants and permissions; app registration and release</a:t>
            </a:r>
          </a:p>
          <a:p>
            <a:pPr algn="l" marL="201168" indent="-201168">
              <a:lnSpc>
                <a:spcPct val="130000"/>
              </a:lnSpc>
              <a:spcAft>
                <a:spcPts val="600"/>
              </a:spcAft>
              <a:buClr>
                <a:srgbClr val="C00000"/>
              </a:buClr>
              <a:buSzPct val="100000"/>
              <a:buFont typeface="Arial"/>
              <a:buAutoNum type="arabicPeriod"/>
            </a:pPr>
            <a:r>
              <a:rPr sz="1000" b="0">
                <a:solidFill>
                  <a:srgbClr val="333333"/>
                </a:solidFill>
                <a:latin typeface="Arial"/>
                <a:ea typeface="Arial"/>
              </a:rPr>
              <a:t>Usage logs, visits, active users and feedback statistics</a:t>
            </a:r>
          </a:p>
        </p:txBody>
      </p:sp>
      <p:sp>
        <p:nvSpPr>
          <p:cNvPr id="12" name="Rectangle 11"/>
          <p:cNvSpPr/>
          <p:nvPr/>
        </p:nvSpPr>
        <p:spPr>
          <a:xfrm>
            <a:off x="4544568" y="3410712"/>
            <a:ext cx="309981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3465576"/>
            <a:ext cx="3099816"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Users and tenants  |  Logs  |  Operations reports</a:t>
            </a:r>
          </a:p>
        </p:txBody>
      </p:sp>
      <p:sp>
        <p:nvSpPr>
          <p:cNvPr id="14" name="Rounded Rectangle 13"/>
          <p:cNvSpPr/>
          <p:nvPr/>
        </p:nvSpPr>
        <p:spPr>
          <a:xfrm>
            <a:off x="8156448" y="1481328"/>
            <a:ext cx="3575304" cy="233172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591056"/>
            <a:ext cx="3099816" cy="457200"/>
          </a:xfrm>
          <a:prstGeom prst="rect">
            <a:avLst/>
          </a:prstGeom>
          <a:noFill/>
        </p:spPr>
        <p:txBody>
          <a:bodyPr wrap="square" lIns="0" tIns="0" rIns="0" bIns="0" anchor="t">
            <a:noAutofit/>
          </a:bodyPr>
          <a:lstStyle/>
          <a:p>
            <a:pPr algn="l">
              <a:lnSpc>
                <a:spcPct val="115000"/>
              </a:lnSpc>
              <a:spcAft>
                <a:spcPts val="0"/>
              </a:spcAft>
            </a:pPr>
            <a:r>
              <a:rPr sz="1150" b="1">
                <a:solidFill>
                  <a:srgbClr val="1D1D1A"/>
                </a:solidFill>
                <a:latin typeface="Arial"/>
                <a:ea typeface="Arial"/>
              </a:rPr>
              <a:t>3  Built-in governance · compliance and autonomy</a:t>
            </a:r>
          </a:p>
        </p:txBody>
      </p:sp>
      <p:sp>
        <p:nvSpPr>
          <p:cNvPr id="16" name="TextBox 15"/>
          <p:cNvSpPr txBox="1"/>
          <p:nvPr/>
        </p:nvSpPr>
        <p:spPr>
          <a:xfrm>
            <a:off x="8394192" y="2121408"/>
            <a:ext cx="3099816" cy="1143000"/>
          </a:xfrm>
          <a:prstGeom prst="rect">
            <a:avLst/>
          </a:prstGeom>
          <a:noFill/>
        </p:spPr>
        <p:txBody>
          <a:bodyPr wrap="square" lIns="0" tIns="0" rIns="0" bIns="0" anchor="t">
            <a:noAutofit/>
          </a:bodyPr>
          <a:lstStyle/>
          <a:p>
            <a:pPr algn="l" marL="201168" indent="-201168">
              <a:lnSpc>
                <a:spcPct val="130000"/>
              </a:lnSpc>
              <a:spcAft>
                <a:spcPts val="600"/>
              </a:spcAft>
              <a:buClr>
                <a:srgbClr val="C00000"/>
              </a:buClr>
              <a:buSzPct val="100000"/>
              <a:buFont typeface="Arial"/>
              <a:buAutoNum type="arabicPeriod"/>
            </a:pPr>
            <a:r>
              <a:rPr sz="1000" b="0">
                <a:solidFill>
                  <a:srgbClr val="333333"/>
                </a:solidFill>
                <a:latin typeface="Arial"/>
                <a:ea typeface="Arial"/>
              </a:rPr>
              <a:t>Connected to the Content Safety Review Platform, enforcing policy at agreed points</a:t>
            </a:r>
          </a:p>
          <a:p>
            <a:pPr algn="l" marL="201168" indent="-201168">
              <a:lnSpc>
                <a:spcPct val="130000"/>
              </a:lnSpc>
              <a:spcAft>
                <a:spcPts val="600"/>
              </a:spcAft>
              <a:buClr>
                <a:srgbClr val="C00000"/>
              </a:buClr>
              <a:buSzPct val="100000"/>
              <a:buFont typeface="Arial"/>
              <a:buAutoNum type="arabicPeriod"/>
            </a:pPr>
            <a:r>
              <a:rPr sz="1000" b="0">
                <a:solidFill>
                  <a:srgbClr val="333333"/>
                </a:solidFill>
                <a:latin typeface="Arial"/>
                <a:ea typeface="Arial"/>
              </a:rPr>
              <a:t>Data and logs stay in Brazil; iFLYTEK QR-code login is not required to run locally</a:t>
            </a:r>
          </a:p>
        </p:txBody>
      </p:sp>
      <p:sp>
        <p:nvSpPr>
          <p:cNvPr id="17" name="Rectangle 16"/>
          <p:cNvSpPr/>
          <p:nvPr/>
        </p:nvSpPr>
        <p:spPr>
          <a:xfrm>
            <a:off x="8394192" y="3410712"/>
            <a:ext cx="309981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2" y="3465576"/>
            <a:ext cx="3099816"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Content review  |  Access and logs  |  Runs locally</a:t>
            </a:r>
          </a:p>
        </p:txBody>
      </p:sp>
      <p:sp>
        <p:nvSpPr>
          <p:cNvPr id="19" name="Rounded Rectangle 18"/>
          <p:cNvSpPr/>
          <p:nvPr/>
        </p:nvSpPr>
        <p:spPr>
          <a:xfrm>
            <a:off x="457200" y="4041648"/>
            <a:ext cx="11274552" cy="105156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4114800"/>
            <a:ext cx="4572000"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Direct value in this project</a:t>
            </a:r>
          </a:p>
        </p:txBody>
      </p:sp>
      <p:sp>
        <p:nvSpPr>
          <p:cNvPr id="21" name="Rounded Rectangle 20"/>
          <p:cNvSpPr/>
          <p:nvPr/>
        </p:nvSpPr>
        <p:spPr>
          <a:xfrm>
            <a:off x="685800" y="4443984"/>
            <a:ext cx="3392424" cy="557783"/>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 y="4489704"/>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Model services and APIs</a:t>
            </a:r>
          </a:p>
        </p:txBody>
      </p:sp>
      <p:sp>
        <p:nvSpPr>
          <p:cNvPr id="23" name="TextBox 22"/>
          <p:cNvSpPr txBox="1"/>
          <p:nvPr/>
        </p:nvSpPr>
        <p:spPr>
          <a:xfrm>
            <a:off x="832104" y="4736592"/>
            <a:ext cx="3099816" cy="210311"/>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NLP, speech recognition and synthesis, knowledge Q&amp;A, content safety review</a:t>
            </a:r>
          </a:p>
        </p:txBody>
      </p:sp>
      <p:sp>
        <p:nvSpPr>
          <p:cNvPr id="24" name="Right Arrow 23"/>
          <p:cNvSpPr/>
          <p:nvPr/>
        </p:nvSpPr>
        <p:spPr>
          <a:xfrm>
            <a:off x="4133088" y="4622292"/>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398264" y="4443984"/>
            <a:ext cx="3392424" cy="557783"/>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4568" y="4489704"/>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National App and Data Operations Platform</a:t>
            </a:r>
          </a:p>
        </p:txBody>
      </p:sp>
      <p:sp>
        <p:nvSpPr>
          <p:cNvPr id="27" name="TextBox 26"/>
          <p:cNvSpPr txBox="1"/>
          <p:nvPr/>
        </p:nvSpPr>
        <p:spPr>
          <a:xfrm>
            <a:off x="4544568" y="4736592"/>
            <a:ext cx="3099816" cy="210311"/>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Mobile, desktop and web; 1,000 concurrent Q&amp;A sessions</a:t>
            </a:r>
          </a:p>
        </p:txBody>
      </p:sp>
      <p:sp>
        <p:nvSpPr>
          <p:cNvPr id="28" name="Right Arrow 27"/>
          <p:cNvSpPr/>
          <p:nvPr/>
        </p:nvSpPr>
        <p:spPr>
          <a:xfrm>
            <a:off x="7845552" y="4622292"/>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10728" y="4443984"/>
            <a:ext cx="3392424" cy="557783"/>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2" y="4489704"/>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Use in public services</a:t>
            </a:r>
          </a:p>
        </p:txBody>
      </p:sp>
      <p:sp>
        <p:nvSpPr>
          <p:cNvPr id="31" name="TextBox 30"/>
          <p:cNvSpPr txBox="1"/>
          <p:nvPr/>
        </p:nvSpPr>
        <p:spPr>
          <a:xfrm>
            <a:off x="8257032" y="4736592"/>
            <a:ext cx="3099816" cy="210311"/>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Users approved by RNP, supporting public services</a:t>
            </a:r>
          </a:p>
        </p:txBody>
      </p:sp>
      <p:sp>
        <p:nvSpPr>
          <p:cNvPr id="32" name="Rounded Rectangle 31"/>
          <p:cNvSpPr/>
          <p:nvPr/>
        </p:nvSpPr>
        <p:spPr>
          <a:xfrm>
            <a:off x="457200" y="5486400"/>
            <a:ext cx="11274552" cy="566928"/>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532120"/>
            <a:ext cx="10817352" cy="475488"/>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iFLYTEK does not take on user growth, content production, human moderation or managed business operations — those sit with RNP's product, operations and review teams.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700" b="1">
                <a:solidFill>
                  <a:srgbClr val="C00000"/>
                </a:solidFill>
                <a:latin typeface="Arial"/>
                <a:ea typeface="Arial"/>
              </a:rPr>
              <a:t>National AI Application: iFLYTEK delivers the software, RNP owns content, users and operations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A13</a:t>
            </a:r>
          </a:p>
        </p:txBody>
      </p:sp>
      <p:sp>
        <p:nvSpPr>
          <p:cNvPr id="4" name="Rounded Rectangle 3">
            <a:hlinkClick action="ppaction://hlinksldjump" r:id="rId3"/>
          </p:cNvPr>
          <p:cNvSpPr/>
          <p:nvPr/>
        </p:nvSpPr>
        <p:spPr>
          <a:xfrm>
            <a:off x="9482328"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A4</a:t>
            </a:r>
          </a:p>
        </p:txBody>
      </p:sp>
      <p:sp>
        <p:nvSpPr>
          <p:cNvPr id="5" name="TextBox 4"/>
          <p:cNvSpPr txBox="1"/>
          <p:nvPr/>
        </p:nvSpPr>
        <p:spPr>
          <a:xfrm>
            <a:off x="457200" y="932688"/>
            <a:ext cx="11274552" cy="42062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For users approved by RNP. 1,000 concurrent Q&amp;A sessions; 200 each for speech recognition and synthesis, configured and tested per service.</a:t>
            </a:r>
          </a:p>
        </p:txBody>
      </p:sp>
      <p:sp>
        <p:nvSpPr>
          <p:cNvPr id="6" name="Rounded Rectangle 5"/>
          <p:cNvSpPr/>
          <p:nvPr/>
        </p:nvSpPr>
        <p:spPr>
          <a:xfrm>
            <a:off x="457200" y="1408176"/>
            <a:ext cx="11274552" cy="969264"/>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444752"/>
            <a:ext cx="420624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What the product is</a:t>
            </a:r>
          </a:p>
        </p:txBody>
      </p:sp>
      <p:sp>
        <p:nvSpPr>
          <p:cNvPr id="8" name="Rounded Rectangle 7"/>
          <p:cNvSpPr/>
          <p:nvPr/>
        </p:nvSpPr>
        <p:spPr>
          <a:xfrm>
            <a:off x="2834640" y="1463040"/>
            <a:ext cx="2194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000" b="1">
                <a:solidFill>
                  <a:srgbClr val="1D1D1A"/>
                </a:solidFill>
                <a:latin typeface="Arial"/>
                <a:ea typeface="Arial"/>
              </a:rPr>
              <a:t>Mobile app</a:t>
            </a:r>
          </a:p>
        </p:txBody>
      </p:sp>
      <p:sp>
        <p:nvSpPr>
          <p:cNvPr id="9" name="Rounded Rectangle 8"/>
          <p:cNvSpPr/>
          <p:nvPr/>
        </p:nvSpPr>
        <p:spPr>
          <a:xfrm>
            <a:off x="5166360" y="1463040"/>
            <a:ext cx="2194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000" b="1">
                <a:solidFill>
                  <a:srgbClr val="1D1D1A"/>
                </a:solidFill>
                <a:latin typeface="Arial"/>
                <a:ea typeface="Arial"/>
              </a:rPr>
              <a:t>Desktop</a:t>
            </a:r>
          </a:p>
        </p:txBody>
      </p:sp>
      <p:sp>
        <p:nvSpPr>
          <p:cNvPr id="10" name="Rounded Rectangle 9"/>
          <p:cNvSpPr/>
          <p:nvPr/>
        </p:nvSpPr>
        <p:spPr>
          <a:xfrm>
            <a:off x="7498079" y="1463040"/>
            <a:ext cx="2194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000" b="1">
                <a:solidFill>
                  <a:srgbClr val="1D1D1A"/>
                </a:solidFill>
                <a:latin typeface="Arial"/>
                <a:ea typeface="Arial"/>
              </a:rPr>
              <a:t>Data Operations Platform</a:t>
            </a:r>
          </a:p>
        </p:txBody>
      </p:sp>
      <p:sp>
        <p:nvSpPr>
          <p:cNvPr id="11" name="Rounded Rectangle 10"/>
          <p:cNvSpPr/>
          <p:nvPr/>
        </p:nvSpPr>
        <p:spPr>
          <a:xfrm>
            <a:off x="694944" y="2011680"/>
            <a:ext cx="1708404" cy="3108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011680"/>
            <a:ext cx="1708404" cy="310896"/>
          </a:xfrm>
          <a:prstGeom prst="rect">
            <a:avLst/>
          </a:prstGeom>
          <a:noFill/>
        </p:spPr>
        <p:txBody>
          <a:bodyPr wrap="square" lIns="0" tIns="0" rIns="0" bIns="0" anchor="ctr">
            <a:noAutofit/>
          </a:bodyPr>
          <a:lstStyle/>
          <a:p>
            <a:pPr algn="ctr">
              <a:lnSpc>
                <a:spcPct val="115000"/>
              </a:lnSpc>
              <a:spcAft>
                <a:spcPts val="0"/>
              </a:spcAft>
            </a:pPr>
            <a:r>
              <a:rPr sz="900" b="1">
                <a:solidFill>
                  <a:srgbClr val="1D1D1A"/>
                </a:solidFill>
                <a:latin typeface="Arial"/>
                <a:ea typeface="Arial"/>
              </a:rPr>
              <a:t>Q&amp;A</a:t>
            </a:r>
          </a:p>
        </p:txBody>
      </p:sp>
      <p:sp>
        <p:nvSpPr>
          <p:cNvPr id="13" name="Rounded Rectangle 12"/>
          <p:cNvSpPr/>
          <p:nvPr/>
        </p:nvSpPr>
        <p:spPr>
          <a:xfrm>
            <a:off x="2513075" y="2011680"/>
            <a:ext cx="1708404" cy="3108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3075" y="2011680"/>
            <a:ext cx="1708404" cy="310896"/>
          </a:xfrm>
          <a:prstGeom prst="rect">
            <a:avLst/>
          </a:prstGeom>
          <a:noFill/>
        </p:spPr>
        <p:txBody>
          <a:bodyPr wrap="square" lIns="0" tIns="0" rIns="0" bIns="0" anchor="ctr">
            <a:noAutofit/>
          </a:bodyPr>
          <a:lstStyle/>
          <a:p>
            <a:pPr algn="ctr">
              <a:lnSpc>
                <a:spcPct val="115000"/>
              </a:lnSpc>
              <a:spcAft>
                <a:spcPts val="0"/>
              </a:spcAft>
            </a:pPr>
            <a:r>
              <a:rPr sz="900" b="1">
                <a:solidFill>
                  <a:srgbClr val="1D1D1A"/>
                </a:solidFill>
                <a:latin typeface="Arial"/>
                <a:ea typeface="Arial"/>
              </a:rPr>
              <a:t>Search</a:t>
            </a:r>
          </a:p>
        </p:txBody>
      </p:sp>
      <p:sp>
        <p:nvSpPr>
          <p:cNvPr id="15" name="Rounded Rectangle 14"/>
          <p:cNvSpPr/>
          <p:nvPr/>
        </p:nvSpPr>
        <p:spPr>
          <a:xfrm>
            <a:off x="4331208" y="2011680"/>
            <a:ext cx="1708404" cy="3108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1208" y="2011680"/>
            <a:ext cx="1708404" cy="310896"/>
          </a:xfrm>
          <a:prstGeom prst="rect">
            <a:avLst/>
          </a:prstGeom>
          <a:noFill/>
        </p:spPr>
        <p:txBody>
          <a:bodyPr wrap="square" lIns="0" tIns="0" rIns="0" bIns="0" anchor="ctr">
            <a:noAutofit/>
          </a:bodyPr>
          <a:lstStyle/>
          <a:p>
            <a:pPr algn="ctr">
              <a:lnSpc>
                <a:spcPct val="115000"/>
              </a:lnSpc>
              <a:spcAft>
                <a:spcPts val="0"/>
              </a:spcAft>
            </a:pPr>
            <a:r>
              <a:rPr sz="900" b="1">
                <a:solidFill>
                  <a:srgbClr val="1D1D1A"/>
                </a:solidFill>
                <a:latin typeface="Arial"/>
                <a:ea typeface="Arial"/>
              </a:rPr>
              <a:t>Document analysis</a:t>
            </a:r>
          </a:p>
        </p:txBody>
      </p:sp>
      <p:sp>
        <p:nvSpPr>
          <p:cNvPr id="17" name="Rounded Rectangle 16"/>
          <p:cNvSpPr/>
          <p:nvPr/>
        </p:nvSpPr>
        <p:spPr>
          <a:xfrm>
            <a:off x="6149340" y="2011680"/>
            <a:ext cx="1708404" cy="3108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9340" y="2011680"/>
            <a:ext cx="1708404" cy="310896"/>
          </a:xfrm>
          <a:prstGeom prst="rect">
            <a:avLst/>
          </a:prstGeom>
          <a:noFill/>
        </p:spPr>
        <p:txBody>
          <a:bodyPr wrap="square" lIns="0" tIns="0" rIns="0" bIns="0" anchor="ctr">
            <a:noAutofit/>
          </a:bodyPr>
          <a:lstStyle/>
          <a:p>
            <a:pPr algn="ctr">
              <a:lnSpc>
                <a:spcPct val="115000"/>
              </a:lnSpc>
              <a:spcAft>
                <a:spcPts val="0"/>
              </a:spcAft>
            </a:pPr>
            <a:r>
              <a:rPr sz="900" b="1">
                <a:solidFill>
                  <a:srgbClr val="1D1D1A"/>
                </a:solidFill>
                <a:latin typeface="Arial"/>
                <a:ea typeface="Arial"/>
              </a:rPr>
              <a:t>Document translation</a:t>
            </a:r>
          </a:p>
        </p:txBody>
      </p:sp>
      <p:sp>
        <p:nvSpPr>
          <p:cNvPr id="19" name="Rounded Rectangle 18"/>
          <p:cNvSpPr/>
          <p:nvPr/>
        </p:nvSpPr>
        <p:spPr>
          <a:xfrm>
            <a:off x="7967472" y="2011680"/>
            <a:ext cx="1708404" cy="3108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67472" y="2011680"/>
            <a:ext cx="1708404" cy="310896"/>
          </a:xfrm>
          <a:prstGeom prst="rect">
            <a:avLst/>
          </a:prstGeom>
          <a:noFill/>
        </p:spPr>
        <p:txBody>
          <a:bodyPr wrap="square" lIns="0" tIns="0" rIns="0" bIns="0" anchor="ctr">
            <a:noAutofit/>
          </a:bodyPr>
          <a:lstStyle/>
          <a:p>
            <a:pPr algn="ctr">
              <a:lnSpc>
                <a:spcPct val="115000"/>
              </a:lnSpc>
              <a:spcAft>
                <a:spcPts val="0"/>
              </a:spcAft>
            </a:pPr>
            <a:r>
              <a:rPr sz="900" b="1">
                <a:solidFill>
                  <a:srgbClr val="1D1D1A"/>
                </a:solidFill>
                <a:latin typeface="Arial"/>
                <a:ea typeface="Arial"/>
              </a:rPr>
              <a:t>Speech in / read-aloud</a:t>
            </a:r>
          </a:p>
        </p:txBody>
      </p:sp>
      <p:sp>
        <p:nvSpPr>
          <p:cNvPr id="21" name="Rounded Rectangle 20"/>
          <p:cNvSpPr/>
          <p:nvPr/>
        </p:nvSpPr>
        <p:spPr>
          <a:xfrm>
            <a:off x="9785604" y="2011680"/>
            <a:ext cx="1708404" cy="3108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5604" y="2011680"/>
            <a:ext cx="1708404" cy="310896"/>
          </a:xfrm>
          <a:prstGeom prst="rect">
            <a:avLst/>
          </a:prstGeom>
          <a:noFill/>
        </p:spPr>
        <p:txBody>
          <a:bodyPr wrap="square" lIns="0" tIns="0" rIns="0" bIns="0" anchor="ctr">
            <a:noAutofit/>
          </a:bodyPr>
          <a:lstStyle/>
          <a:p>
            <a:pPr algn="ctr">
              <a:lnSpc>
                <a:spcPct val="115000"/>
              </a:lnSpc>
              <a:spcAft>
                <a:spcPts val="0"/>
              </a:spcAft>
            </a:pPr>
            <a:r>
              <a:rPr sz="900" b="1">
                <a:solidFill>
                  <a:srgbClr val="1D1D1A"/>
                </a:solidFill>
                <a:latin typeface="Arial"/>
                <a:ea typeface="Arial"/>
              </a:rPr>
              <a:t>Notes and writing</a:t>
            </a:r>
          </a:p>
        </p:txBody>
      </p:sp>
      <p:sp>
        <p:nvSpPr>
          <p:cNvPr id="23" name="Rounded Rectangle 22"/>
          <p:cNvSpPr/>
          <p:nvPr/>
        </p:nvSpPr>
        <p:spPr>
          <a:xfrm>
            <a:off x="457200" y="2450592"/>
            <a:ext cx="2647188" cy="28346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249631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1  Define requirements</a:t>
            </a:r>
          </a:p>
        </p:txBody>
      </p:sp>
      <p:sp>
        <p:nvSpPr>
          <p:cNvPr id="25" name="Rounded Rectangle 24"/>
          <p:cNvSpPr/>
          <p:nvPr/>
        </p:nvSpPr>
        <p:spPr>
          <a:xfrm>
            <a:off x="585216" y="2834640"/>
            <a:ext cx="2391156" cy="11338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286207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27" name="TextBox 26"/>
          <p:cNvSpPr txBox="1"/>
          <p:nvPr/>
        </p:nvSpPr>
        <p:spPr>
          <a:xfrm>
            <a:off x="713232" y="3072384"/>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Provide the standard capability list</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Explain configurable items and limits</a:t>
            </a:r>
          </a:p>
        </p:txBody>
      </p:sp>
      <p:sp>
        <p:nvSpPr>
          <p:cNvPr id="28" name="Rounded Rectangle 27"/>
          <p:cNvSpPr/>
          <p:nvPr/>
        </p:nvSpPr>
        <p:spPr>
          <a:xfrm>
            <a:off x="585216" y="4041648"/>
            <a:ext cx="2391156" cy="11338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06908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30" name="TextBox 29"/>
          <p:cNvSpPr txBox="1"/>
          <p:nvPr/>
        </p:nvSpPr>
        <p:spPr>
          <a:xfrm>
            <a:off x="713232" y="4279392"/>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Join product definition and design</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Set user scope, content rules and branding</a:t>
            </a:r>
          </a:p>
        </p:txBody>
      </p:sp>
      <p:sp>
        <p:nvSpPr>
          <p:cNvPr id="31" name="Right Arrow 30"/>
          <p:cNvSpPr/>
          <p:nvPr/>
        </p:nvSpPr>
        <p:spPr>
          <a:xfrm>
            <a:off x="3118104" y="330098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32988" y="2450592"/>
            <a:ext cx="2647188" cy="28346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9292" y="249631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2  Localisation</a:t>
            </a:r>
          </a:p>
        </p:txBody>
      </p:sp>
      <p:sp>
        <p:nvSpPr>
          <p:cNvPr id="34" name="Rounded Rectangle 33"/>
          <p:cNvSpPr/>
          <p:nvPr/>
        </p:nvSpPr>
        <p:spPr>
          <a:xfrm>
            <a:off x="3461004" y="2834640"/>
            <a:ext cx="2391156" cy="11338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89020" y="286207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36" name="TextBox 35"/>
          <p:cNvSpPr txBox="1"/>
          <p:nvPr/>
        </p:nvSpPr>
        <p:spPr>
          <a:xfrm>
            <a:off x="3589020" y="3072384"/>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Portuguese interface and configuration</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Apply RNP branding and content</a:t>
            </a:r>
          </a:p>
        </p:txBody>
      </p:sp>
      <p:sp>
        <p:nvSpPr>
          <p:cNvPr id="37" name="Rounded Rectangle 36"/>
          <p:cNvSpPr/>
          <p:nvPr/>
        </p:nvSpPr>
        <p:spPr>
          <a:xfrm>
            <a:off x="3461004" y="4041648"/>
            <a:ext cx="2391156" cy="11338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89020" y="406908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39" name="TextBox 38"/>
          <p:cNvSpPr txBox="1"/>
          <p:nvPr/>
        </p:nvSpPr>
        <p:spPr>
          <a:xfrm>
            <a:off x="3589020" y="4279392"/>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Supply branding and editorial content</a:t>
            </a:r>
          </a:p>
          <a:p>
            <a:pPr algn="l" marL="201168" indent="-201168">
              <a:lnSpc>
                <a:spcPct val="125000"/>
              </a:lnSpc>
              <a:spcAft>
                <a:spcPts val="200"/>
              </a:spcAft>
              <a:buClr>
                <a:srgbClr val="1F4E79"/>
              </a:buClr>
              <a:buSzPct val="100000"/>
              <a:buFont typeface="Arial"/>
              <a:buAutoNum type="arabicPeriod"/>
            </a:pPr>
            <a:r>
              <a:rPr sz="1000" b="0">
                <a:solidFill>
                  <a:srgbClr val="0070C0"/>
                </a:solidFill>
                <a:latin typeface="Arial"/>
                <a:ea typeface="Arial"/>
              </a:rPr>
              <a:t>Portuguese slides and official templates to be verified</a:t>
            </a:r>
          </a:p>
        </p:txBody>
      </p:sp>
      <p:sp>
        <p:nvSpPr>
          <p:cNvPr id="40" name="Right Arrow 39"/>
          <p:cNvSpPr/>
          <p:nvPr/>
        </p:nvSpPr>
        <p:spPr>
          <a:xfrm>
            <a:off x="5993892" y="330098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208776" y="2450592"/>
            <a:ext cx="2647188" cy="28346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249631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3  System integration</a:t>
            </a:r>
          </a:p>
        </p:txBody>
      </p:sp>
      <p:sp>
        <p:nvSpPr>
          <p:cNvPr id="43" name="Rounded Rectangle 42"/>
          <p:cNvSpPr/>
          <p:nvPr/>
        </p:nvSpPr>
        <p:spPr>
          <a:xfrm>
            <a:off x="6336792" y="2834640"/>
            <a:ext cx="2391156" cy="11338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64808" y="286207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45" name="TextBox 44"/>
          <p:cNvSpPr txBox="1"/>
          <p:nvPr/>
        </p:nvSpPr>
        <p:spPr>
          <a:xfrm>
            <a:off x="6464808" y="3072384"/>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Connect and test the interfaces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Provide developer docs and samples</a:t>
            </a:r>
          </a:p>
        </p:txBody>
      </p:sp>
      <p:sp>
        <p:nvSpPr>
          <p:cNvPr id="46" name="Rounded Rectangle 45"/>
          <p:cNvSpPr/>
          <p:nvPr/>
        </p:nvSpPr>
        <p:spPr>
          <a:xfrm>
            <a:off x="6336792" y="4041648"/>
            <a:ext cx="2391156" cy="11338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4808" y="406908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48" name="TextBox 47"/>
          <p:cNvSpPr txBox="1"/>
          <p:nvPr/>
        </p:nvSpPr>
        <p:spPr>
          <a:xfrm>
            <a:off x="6464808" y="4279392"/>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Supply local interfaces and credentials</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Arrange third-party API quota and licences</a:t>
            </a:r>
          </a:p>
        </p:txBody>
      </p:sp>
      <p:sp>
        <p:nvSpPr>
          <p:cNvPr id="49" name="Right Arrow 48"/>
          <p:cNvSpPr/>
          <p:nvPr/>
        </p:nvSpPr>
        <p:spPr>
          <a:xfrm>
            <a:off x="8869680" y="330098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084564" y="2450592"/>
            <a:ext cx="2647188" cy="283464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30868" y="2496312"/>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4  Launch and operate</a:t>
            </a:r>
          </a:p>
        </p:txBody>
      </p:sp>
      <p:sp>
        <p:nvSpPr>
          <p:cNvPr id="52" name="Rounded Rectangle 51"/>
          <p:cNvSpPr/>
          <p:nvPr/>
        </p:nvSpPr>
        <p:spPr>
          <a:xfrm>
            <a:off x="9212580" y="2834640"/>
            <a:ext cx="2391156" cy="113385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40596" y="2862072"/>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54" name="TextBox 53"/>
          <p:cNvSpPr txBox="1"/>
          <p:nvPr/>
        </p:nvSpPr>
        <p:spPr>
          <a:xfrm>
            <a:off x="9340596" y="3072384"/>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Stage 1 initial delivery</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Stage 2 extended operation</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Hand over O&amp;M documentation</a:t>
            </a:r>
          </a:p>
        </p:txBody>
      </p:sp>
      <p:sp>
        <p:nvSpPr>
          <p:cNvPr id="55" name="Rounded Rectangle 54"/>
          <p:cNvSpPr/>
          <p:nvPr/>
        </p:nvSpPr>
        <p:spPr>
          <a:xfrm>
            <a:off x="9212580" y="4041648"/>
            <a:ext cx="2391156" cy="113385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40596" y="4069080"/>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57" name="TextBox 56"/>
          <p:cNvSpPr txBox="1"/>
          <p:nvPr/>
        </p:nvSpPr>
        <p:spPr>
          <a:xfrm>
            <a:off x="9340596" y="4279392"/>
            <a:ext cx="2135124" cy="859536"/>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Approve users</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Product, operations and review teams take over</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Evolve on the delivered version</a:t>
            </a:r>
          </a:p>
        </p:txBody>
      </p:sp>
      <p:sp>
        <p:nvSpPr>
          <p:cNvPr id="58" name="Rounded Rectangle 57"/>
          <p:cNvSpPr/>
          <p:nvPr/>
        </p:nvSpPr>
        <p:spPr>
          <a:xfrm>
            <a:off x="457200" y="5522976"/>
            <a:ext cx="11274552" cy="548640"/>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5568696"/>
            <a:ext cx="10817352" cy="457200"/>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The product team is needed from the requirements stage and the operations team before Stage 1 delivery. RNP can evolve the delivered version on its 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2000" b="1">
                <a:solidFill>
                  <a:srgbClr val="C00000"/>
                </a:solidFill>
                <a:latin typeface="Arial"/>
                <a:ea typeface="Arial"/>
              </a:rPr>
              <a:t>What the Domain Large Models deliver</a:t>
            </a:r>
          </a:p>
        </p:txBody>
      </p:sp>
      <p:sp>
        <p:nvSpPr>
          <p:cNvPr id="3" name="TextBox 2"/>
          <p:cNvSpPr txBox="1"/>
          <p:nvPr/>
        </p:nvSpPr>
        <p:spPr>
          <a:xfrm>
            <a:off x="457200" y="932688"/>
            <a:ext cx="11274552" cy="402336"/>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RNP names three domains, each with one clearly bounded scenario. </a:t>
            </a:r>
            <a:r>
              <a:rPr sz="1300" b="0">
                <a:solidFill>
                  <a:srgbClr val="0070C0"/>
                </a:solidFill>
                <a:latin typeface="Arial"/>
                <a:ea typeface="Arial"/>
              </a:rPr>
              <a:t>Scenarios are proposed by RNP and start once each confirmation form is signed.</a:t>
            </a:r>
          </a:p>
        </p:txBody>
      </p:sp>
      <p:sp>
        <p:nvSpPr>
          <p:cNvPr id="4" name="Rounded Rectangle 3"/>
          <p:cNvSpPr/>
          <p:nvPr/>
        </p:nvSpPr>
        <p:spPr>
          <a:xfrm>
            <a:off x="457200" y="1389888"/>
            <a:ext cx="3575304" cy="31089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100" b="1">
                <a:solidFill>
                  <a:srgbClr val="1D1D1A"/>
                </a:solidFill>
                <a:latin typeface="Arial"/>
                <a:ea typeface="Arial"/>
              </a:rPr>
              <a:t>Health</a:t>
            </a:r>
          </a:p>
        </p:txBody>
      </p:sp>
      <p:sp>
        <p:nvSpPr>
          <p:cNvPr id="5" name="Rounded Rectangle 4"/>
          <p:cNvSpPr/>
          <p:nvPr/>
        </p:nvSpPr>
        <p:spPr>
          <a:xfrm>
            <a:off x="4306824" y="1389888"/>
            <a:ext cx="3575304" cy="31089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100" b="1">
                <a:solidFill>
                  <a:srgbClr val="1D1D1A"/>
                </a:solidFill>
                <a:latin typeface="Arial"/>
                <a:ea typeface="Arial"/>
              </a:rPr>
              <a:t>Space</a:t>
            </a:r>
          </a:p>
        </p:txBody>
      </p:sp>
      <p:sp>
        <p:nvSpPr>
          <p:cNvPr id="6" name="Rounded Rectangle 5"/>
          <p:cNvSpPr/>
          <p:nvPr/>
        </p:nvSpPr>
        <p:spPr>
          <a:xfrm>
            <a:off x="8156448" y="1389888"/>
            <a:ext cx="3575304" cy="31089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1100" b="1">
                <a:solidFill>
                  <a:srgbClr val="1D1D1A"/>
                </a:solidFill>
                <a:latin typeface="Arial"/>
                <a:ea typeface="Arial"/>
              </a:rPr>
              <a:t>Biodiversity</a:t>
            </a:r>
          </a:p>
        </p:txBody>
      </p:sp>
      <p:sp>
        <p:nvSpPr>
          <p:cNvPr id="7" name="Rounded Rectangle 6"/>
          <p:cNvSpPr/>
          <p:nvPr/>
        </p:nvSpPr>
        <p:spPr>
          <a:xfrm>
            <a:off x="457200" y="1792224"/>
            <a:ext cx="3575304" cy="204825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20240"/>
            <a:ext cx="3099816" cy="329184"/>
          </a:xfrm>
          <a:prstGeom prst="rect">
            <a:avLst/>
          </a:prstGeom>
          <a:noFill/>
        </p:spPr>
        <p:txBody>
          <a:bodyPr wrap="square" lIns="0" tIns="0" rIns="0" bIns="0" anchor="ctr">
            <a:noAutofit/>
          </a:bodyPr>
          <a:lstStyle/>
          <a:p>
            <a:pPr algn="l">
              <a:lnSpc>
                <a:spcPct val="115000"/>
              </a:lnSpc>
              <a:spcAft>
                <a:spcPts val="0"/>
              </a:spcAft>
            </a:pPr>
            <a:r>
              <a:rPr sz="1250" b="1">
                <a:solidFill>
                  <a:srgbClr val="1D1D1A"/>
                </a:solidFill>
                <a:latin typeface="Arial"/>
                <a:ea typeface="Arial"/>
              </a:rPr>
              <a:t>1  Reads the domain's material</a:t>
            </a:r>
          </a:p>
        </p:txBody>
      </p:sp>
      <p:sp>
        <p:nvSpPr>
          <p:cNvPr id="9" name="TextBox 8"/>
          <p:cNvSpPr txBox="1"/>
          <p:nvPr/>
        </p:nvSpPr>
        <p:spPr>
          <a:xfrm>
            <a:off x="694944" y="2322576"/>
            <a:ext cx="3099816" cy="1005840"/>
          </a:xfrm>
          <a:prstGeom prst="rect">
            <a:avLst/>
          </a:prstGeom>
          <a:noFill/>
        </p:spPr>
        <p:txBody>
          <a:bodyPr wrap="square" lIns="0" tIns="0" rIns="0" bIns="0" anchor="t">
            <a:noAutofit/>
          </a:bodyPr>
          <a:lstStyle/>
          <a:p>
            <a:pPr algn="l" marL="201168" indent="-201168">
              <a:lnSpc>
                <a:spcPct val="130000"/>
              </a:lnSpc>
              <a:spcAft>
                <a:spcPts val="600"/>
              </a:spcAft>
              <a:buClr>
                <a:srgbClr val="C00000"/>
              </a:buClr>
              <a:buSzPct val="100000"/>
              <a:buFont typeface="Arial"/>
              <a:buAutoNum type="arabicPeriod"/>
            </a:pPr>
            <a:r>
              <a:rPr sz="1050" b="0">
                <a:solidFill>
                  <a:srgbClr val="333333"/>
                </a:solidFill>
                <a:latin typeface="Arial"/>
                <a:ea typeface="Arial"/>
              </a:rPr>
              <a:t>Understands the domain's terminology and standards</a:t>
            </a:r>
          </a:p>
          <a:p>
            <a:pPr algn="l" marL="201168" indent="-201168">
              <a:lnSpc>
                <a:spcPct val="130000"/>
              </a:lnSpc>
              <a:spcAft>
                <a:spcPts val="600"/>
              </a:spcAft>
              <a:buClr>
                <a:srgbClr val="C00000"/>
              </a:buClr>
              <a:buSzPct val="100000"/>
              <a:buFont typeface="Arial"/>
              <a:buAutoNum type="arabicPeriod"/>
            </a:pPr>
            <a:r>
              <a:rPr sz="1050" b="0">
                <a:solidFill>
                  <a:srgbClr val="333333"/>
                </a:solidFill>
                <a:latin typeface="Arial"/>
                <a:ea typeface="Arial"/>
              </a:rPr>
              <a:t>Handles the document formats the domain uses</a:t>
            </a:r>
          </a:p>
        </p:txBody>
      </p:sp>
      <p:sp>
        <p:nvSpPr>
          <p:cNvPr id="10" name="Rectangle 9"/>
          <p:cNvSpPr/>
          <p:nvPr/>
        </p:nvSpPr>
        <p:spPr>
          <a:xfrm>
            <a:off x="694944" y="3438144"/>
            <a:ext cx="309981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493008"/>
            <a:ext cx="3099816"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Terminology  |  Standards  |  Document structure</a:t>
            </a:r>
          </a:p>
        </p:txBody>
      </p:sp>
      <p:sp>
        <p:nvSpPr>
          <p:cNvPr id="12" name="Rounded Rectangle 11"/>
          <p:cNvSpPr/>
          <p:nvPr/>
        </p:nvSpPr>
        <p:spPr>
          <a:xfrm>
            <a:off x="4306824" y="1792224"/>
            <a:ext cx="3575304" cy="204825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920240"/>
            <a:ext cx="3099816" cy="329184"/>
          </a:xfrm>
          <a:prstGeom prst="rect">
            <a:avLst/>
          </a:prstGeom>
          <a:noFill/>
        </p:spPr>
        <p:txBody>
          <a:bodyPr wrap="square" lIns="0" tIns="0" rIns="0" bIns="0" anchor="ctr">
            <a:noAutofit/>
          </a:bodyPr>
          <a:lstStyle/>
          <a:p>
            <a:pPr algn="l">
              <a:lnSpc>
                <a:spcPct val="115000"/>
              </a:lnSpc>
              <a:spcAft>
                <a:spcPts val="0"/>
              </a:spcAft>
            </a:pPr>
            <a:r>
              <a:rPr sz="1250" b="1">
                <a:solidFill>
                  <a:srgbClr val="1D1D1A"/>
                </a:solidFill>
                <a:latin typeface="Arial"/>
                <a:ea typeface="Arial"/>
              </a:rPr>
              <a:t>2  Answers the domain's questions</a:t>
            </a:r>
          </a:p>
        </p:txBody>
      </p:sp>
      <p:sp>
        <p:nvSpPr>
          <p:cNvPr id="14" name="TextBox 13"/>
          <p:cNvSpPr txBox="1"/>
          <p:nvPr/>
        </p:nvSpPr>
        <p:spPr>
          <a:xfrm>
            <a:off x="4544568" y="2322576"/>
            <a:ext cx="3099816" cy="1005840"/>
          </a:xfrm>
          <a:prstGeom prst="rect">
            <a:avLst/>
          </a:prstGeom>
          <a:noFill/>
        </p:spPr>
        <p:txBody>
          <a:bodyPr wrap="square" lIns="0" tIns="0" rIns="0" bIns="0" anchor="t">
            <a:noAutofit/>
          </a:bodyPr>
          <a:lstStyle/>
          <a:p>
            <a:pPr algn="l" marL="201168" indent="-201168">
              <a:lnSpc>
                <a:spcPct val="130000"/>
              </a:lnSpc>
              <a:spcAft>
                <a:spcPts val="600"/>
              </a:spcAft>
              <a:buClr>
                <a:srgbClr val="C00000"/>
              </a:buClr>
              <a:buSzPct val="100000"/>
              <a:buFont typeface="Arial"/>
              <a:buAutoNum type="arabicPeriod"/>
            </a:pPr>
            <a:r>
              <a:rPr sz="1050" b="0">
                <a:solidFill>
                  <a:srgbClr val="333333"/>
                </a:solidFill>
                <a:latin typeface="Arial"/>
                <a:ea typeface="Arial"/>
              </a:rPr>
              <a:t>Answers from domain knowledge and connected sources</a:t>
            </a:r>
          </a:p>
          <a:p>
            <a:pPr algn="l" marL="201168" indent="-201168">
              <a:lnSpc>
                <a:spcPct val="130000"/>
              </a:lnSpc>
              <a:spcAft>
                <a:spcPts val="600"/>
              </a:spcAft>
              <a:buClr>
                <a:srgbClr val="C00000"/>
              </a:buClr>
              <a:buSzPct val="100000"/>
              <a:buFont typeface="Arial"/>
              <a:buAutoNum type="arabicPeriod"/>
            </a:pPr>
            <a:r>
              <a:rPr sz="1050" b="0">
                <a:solidFill>
                  <a:srgbClr val="333333"/>
                </a:solidFill>
                <a:latin typeface="Arial"/>
                <a:ea typeface="Arial"/>
              </a:rPr>
              <a:t>Search, synthesis and key-point extraction</a:t>
            </a:r>
          </a:p>
        </p:txBody>
      </p:sp>
      <p:sp>
        <p:nvSpPr>
          <p:cNvPr id="15" name="Rectangle 14"/>
          <p:cNvSpPr/>
          <p:nvPr/>
        </p:nvSpPr>
        <p:spPr>
          <a:xfrm>
            <a:off x="4544568" y="3438144"/>
            <a:ext cx="309981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3493008"/>
            <a:ext cx="3099816"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Knowledge Q&amp;A  |  Search  |  Key points</a:t>
            </a:r>
          </a:p>
        </p:txBody>
      </p:sp>
      <p:sp>
        <p:nvSpPr>
          <p:cNvPr id="17" name="Rounded Rectangle 16"/>
          <p:cNvSpPr/>
          <p:nvPr/>
        </p:nvSpPr>
        <p:spPr>
          <a:xfrm>
            <a:off x="8156448" y="1792224"/>
            <a:ext cx="3575304" cy="204825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94192" y="1920240"/>
            <a:ext cx="3099816" cy="329184"/>
          </a:xfrm>
          <a:prstGeom prst="rect">
            <a:avLst/>
          </a:prstGeom>
          <a:noFill/>
        </p:spPr>
        <p:txBody>
          <a:bodyPr wrap="square" lIns="0" tIns="0" rIns="0" bIns="0" anchor="ctr">
            <a:noAutofit/>
          </a:bodyPr>
          <a:lstStyle/>
          <a:p>
            <a:pPr algn="l">
              <a:lnSpc>
                <a:spcPct val="115000"/>
              </a:lnSpc>
              <a:spcAft>
                <a:spcPts val="0"/>
              </a:spcAft>
            </a:pPr>
            <a:r>
              <a:rPr sz="1250" b="1">
                <a:solidFill>
                  <a:srgbClr val="1D1D1A"/>
                </a:solidFill>
                <a:latin typeface="Arial"/>
                <a:ea typeface="Arial"/>
              </a:rPr>
              <a:t>3  Supports the domain's work</a:t>
            </a:r>
          </a:p>
        </p:txBody>
      </p:sp>
      <p:sp>
        <p:nvSpPr>
          <p:cNvPr id="19" name="TextBox 18"/>
          <p:cNvSpPr txBox="1"/>
          <p:nvPr/>
        </p:nvSpPr>
        <p:spPr>
          <a:xfrm>
            <a:off x="8394192" y="2322576"/>
            <a:ext cx="3099816" cy="1005840"/>
          </a:xfrm>
          <a:prstGeom prst="rect">
            <a:avLst/>
          </a:prstGeom>
          <a:noFill/>
        </p:spPr>
        <p:txBody>
          <a:bodyPr wrap="square" lIns="0" tIns="0" rIns="0" bIns="0" anchor="t">
            <a:noAutofit/>
          </a:bodyPr>
          <a:lstStyle/>
          <a:p>
            <a:pPr algn="l" marL="201168" indent="-201168">
              <a:lnSpc>
                <a:spcPct val="130000"/>
              </a:lnSpc>
              <a:spcAft>
                <a:spcPts val="600"/>
              </a:spcAft>
              <a:buClr>
                <a:srgbClr val="C00000"/>
              </a:buClr>
              <a:buSzPct val="100000"/>
              <a:buFont typeface="Arial"/>
              <a:buAutoNum type="arabicPeriod"/>
            </a:pPr>
            <a:r>
              <a:rPr sz="1050" b="0">
                <a:solidFill>
                  <a:srgbClr val="333333"/>
                </a:solidFill>
                <a:latin typeface="Arial"/>
                <a:ea typeface="Arial"/>
              </a:rPr>
              <a:t>Analysis and decision support within the agreed scenario</a:t>
            </a:r>
          </a:p>
          <a:p>
            <a:pPr algn="l" marL="201168" indent="-201168">
              <a:lnSpc>
                <a:spcPct val="130000"/>
              </a:lnSpc>
              <a:spcAft>
                <a:spcPts val="600"/>
              </a:spcAft>
              <a:buClr>
                <a:srgbClr val="C00000"/>
              </a:buClr>
              <a:buSzPct val="100000"/>
              <a:buFont typeface="Arial"/>
              <a:buAutoNum type="arabicPeriod"/>
            </a:pPr>
            <a:r>
              <a:rPr sz="1050" b="0">
                <a:solidFill>
                  <a:srgbClr val="333333"/>
                </a:solidFill>
                <a:latin typeface="Arial"/>
                <a:ea typeface="Arial"/>
              </a:rPr>
              <a:t>Synthesis of material and draft reporting</a:t>
            </a:r>
          </a:p>
        </p:txBody>
      </p:sp>
      <p:sp>
        <p:nvSpPr>
          <p:cNvPr id="20" name="Rectangle 19"/>
          <p:cNvSpPr/>
          <p:nvPr/>
        </p:nvSpPr>
        <p:spPr>
          <a:xfrm>
            <a:off x="8394192" y="3438144"/>
            <a:ext cx="3099816"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3493008"/>
            <a:ext cx="3099816" cy="237744"/>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Scenario analysis  |  Decision support  |  Drafting</a:t>
            </a:r>
          </a:p>
        </p:txBody>
      </p:sp>
      <p:sp>
        <p:nvSpPr>
          <p:cNvPr id="22" name="Rounded Rectangle 21"/>
          <p:cNvSpPr/>
          <p:nvPr/>
        </p:nvSpPr>
        <p:spPr>
          <a:xfrm>
            <a:off x="457200" y="3968496"/>
            <a:ext cx="11274552" cy="100584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4041648"/>
            <a:ext cx="4572000" cy="274320"/>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Direct value in this project</a:t>
            </a:r>
          </a:p>
        </p:txBody>
      </p:sp>
      <p:sp>
        <p:nvSpPr>
          <p:cNvPr id="24" name="Rounded Rectangle 23"/>
          <p:cNvSpPr/>
          <p:nvPr/>
        </p:nvSpPr>
        <p:spPr>
          <a:xfrm>
            <a:off x="685800" y="4370832"/>
            <a:ext cx="3392424" cy="512064"/>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416552"/>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Brazilian Portuguese National Model</a:t>
            </a:r>
          </a:p>
        </p:txBody>
      </p:sp>
      <p:sp>
        <p:nvSpPr>
          <p:cNvPr id="26" name="TextBox 25"/>
          <p:cNvSpPr txBox="1"/>
          <p:nvPr/>
        </p:nvSpPr>
        <p:spPr>
          <a:xfrm>
            <a:off x="832104" y="4663440"/>
            <a:ext cx="3099816" cy="164592"/>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As the base model, or another base agreed by both parties</a:t>
            </a:r>
          </a:p>
        </p:txBody>
      </p:sp>
      <p:sp>
        <p:nvSpPr>
          <p:cNvPr id="27" name="Right Arrow 26"/>
          <p:cNvSpPr/>
          <p:nvPr/>
        </p:nvSpPr>
        <p:spPr>
          <a:xfrm>
            <a:off x="4133088" y="4526280"/>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398264" y="4370832"/>
            <a:ext cx="3392424" cy="512064"/>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4416552"/>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Health / Space / Biodiversity DLMs</a:t>
            </a:r>
          </a:p>
        </p:txBody>
      </p:sp>
      <p:sp>
        <p:nvSpPr>
          <p:cNvPr id="30" name="TextBox 29"/>
          <p:cNvSpPr txBox="1"/>
          <p:nvPr/>
        </p:nvSpPr>
        <p:spPr>
          <a:xfrm>
            <a:off x="4544568" y="4663440"/>
            <a:ext cx="3099816" cy="164592"/>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Three domains named by RNP, one fixed scenario each</a:t>
            </a:r>
          </a:p>
        </p:txBody>
      </p:sp>
      <p:sp>
        <p:nvSpPr>
          <p:cNvPr id="31" name="Right Arrow 30"/>
          <p:cNvSpPr/>
          <p:nvPr/>
        </p:nvSpPr>
        <p:spPr>
          <a:xfrm>
            <a:off x="7845552" y="4526280"/>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0728" y="4370832"/>
            <a:ext cx="3392424" cy="512064"/>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57032" y="4416552"/>
            <a:ext cx="3099816" cy="256032"/>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Applications for public services</a:t>
            </a:r>
          </a:p>
        </p:txBody>
      </p:sp>
      <p:sp>
        <p:nvSpPr>
          <p:cNvPr id="34" name="TextBox 33"/>
          <p:cNvSpPr txBox="1"/>
          <p:nvPr/>
        </p:nvSpPr>
        <p:spPr>
          <a:xfrm>
            <a:off x="8257032" y="4663440"/>
            <a:ext cx="3099816" cy="164592"/>
          </a:xfrm>
          <a:prstGeom prst="rect">
            <a:avLst/>
          </a:prstGeom>
          <a:noFill/>
        </p:spPr>
        <p:txBody>
          <a:bodyPr wrap="square" lIns="0" tIns="0" rIns="0" bIns="0" anchor="t">
            <a:noAutofit/>
          </a:bodyPr>
          <a:lstStyle/>
          <a:p>
            <a:pPr algn="l">
              <a:lnSpc>
                <a:spcPct val="125000"/>
              </a:lnSpc>
              <a:spcAft>
                <a:spcPts val="400"/>
              </a:spcAft>
            </a:pPr>
            <a:r>
              <a:rPr sz="900" b="0">
                <a:solidFill>
                  <a:srgbClr val="666666"/>
                </a:solidFill>
                <a:latin typeface="Arial"/>
                <a:ea typeface="Arial"/>
              </a:rPr>
              <a:t>Supporting RNP's public services and national priorities</a:t>
            </a:r>
          </a:p>
        </p:txBody>
      </p:sp>
      <p:sp>
        <p:nvSpPr>
          <p:cNvPr id="35" name="TextBox 34"/>
          <p:cNvSpPr txBox="1"/>
          <p:nvPr/>
        </p:nvSpPr>
        <p:spPr>
          <a:xfrm>
            <a:off x="457200" y="5120640"/>
            <a:ext cx="11274552" cy="310896"/>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Verifiable outputs</a:t>
            </a:r>
            <a:r>
              <a:rPr sz="1050" b="0">
                <a:solidFill>
                  <a:srgbClr val="1D1D1A"/>
                </a:solidFill>
                <a:latin typeface="Arial"/>
                <a:ea typeface="Arial"/>
              </a:rPr>
              <a:t>   DLM plan   ·   Advisory records   ·   Training and evaluation report   ·   Service acceptance form   ·   Weights owned by RNP</a:t>
            </a:r>
          </a:p>
        </p:txBody>
      </p:sp>
      <p:sp>
        <p:nvSpPr>
          <p:cNvPr id="36" name="Rounded Rectangle 35"/>
          <p:cNvSpPr/>
          <p:nvPr/>
        </p:nvSpPr>
        <p:spPr>
          <a:xfrm>
            <a:off x="457200" y="5504688"/>
            <a:ext cx="11274552" cy="566928"/>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550407"/>
            <a:ext cx="10817352" cy="475488"/>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RNP performs the training; iFLYTEK provides advisory training services. The models offer analysis and decision support — they do not replace professional judgement.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800" b="1">
                <a:solidFill>
                  <a:srgbClr val="C00000"/>
                </a:solidFill>
                <a:latin typeface="Arial"/>
                <a:ea typeface="Arial"/>
              </a:rPr>
              <a:t>Domain Large Models: RNP trains, iFLYTEK advises — 3 services, one scenario each</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A5</a:t>
            </a:r>
          </a:p>
        </p:txBody>
      </p:sp>
      <p:sp>
        <p:nvSpPr>
          <p:cNvPr id="4" name="TextBox 3"/>
          <p:cNvSpPr txBox="1"/>
          <p:nvPr/>
        </p:nvSpPr>
        <p:spPr>
          <a:xfrm>
            <a:off x="457200" y="932688"/>
            <a:ext cx="11274552" cy="402336"/>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All four steps are executed by RNP with iFLYTEK advising — the reverse of the national model, and RNP's first time training a model itself.</a:t>
            </a:r>
          </a:p>
        </p:txBody>
      </p:sp>
      <p:sp>
        <p:nvSpPr>
          <p:cNvPr id="5" name="Rounded Rectangle 4"/>
          <p:cNvSpPr/>
          <p:nvPr/>
        </p:nvSpPr>
        <p:spPr>
          <a:xfrm>
            <a:off x="457200" y="1371600"/>
            <a:ext cx="11274552" cy="420624"/>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26464"/>
            <a:ext cx="1554480" cy="310896"/>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Service scope</a:t>
            </a:r>
          </a:p>
        </p:txBody>
      </p:sp>
      <p:sp>
        <p:nvSpPr>
          <p:cNvPr id="7" name="TextBox 6"/>
          <p:cNvSpPr txBox="1"/>
          <p:nvPr/>
        </p:nvSpPr>
        <p:spPr>
          <a:xfrm>
            <a:off x="2240280" y="1426464"/>
            <a:ext cx="9262872" cy="310896"/>
          </a:xfrm>
          <a:prstGeom prst="rect">
            <a:avLst/>
          </a:prstGeom>
          <a:noFill/>
        </p:spPr>
        <p:txBody>
          <a:bodyPr wrap="square" lIns="0" tIns="0" rIns="0" bIns="0" anchor="ctr">
            <a:noAutofit/>
          </a:bodyPr>
          <a:lstStyle/>
          <a:p>
            <a:pPr algn="l">
              <a:lnSpc>
                <a:spcPct val="115000"/>
              </a:lnSpc>
              <a:spcAft>
                <a:spcPts val="400"/>
              </a:spcAft>
            </a:pPr>
            <a:r>
              <a:rPr sz="1000" b="0">
                <a:solidFill>
                  <a:srgbClr val="333333"/>
                </a:solidFill>
                <a:latin typeface="Arial"/>
                <a:ea typeface="Arial"/>
              </a:rPr>
              <a:t>Three advisory training services for industry models, one clearly bounded scenario each. RNP proposes the domain, iFLYTEK assesses feasibility. Weights are produced by RNP's training and belong to RNP.</a:t>
            </a:r>
          </a:p>
        </p:txBody>
      </p:sp>
      <p:sp>
        <p:nvSpPr>
          <p:cNvPr id="8" name="Rounded Rectangle 7"/>
          <p:cNvSpPr/>
          <p:nvPr/>
        </p:nvSpPr>
        <p:spPr>
          <a:xfrm>
            <a:off x="457200" y="1865376"/>
            <a:ext cx="2647188" cy="310896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911095"/>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1  Define the scenario</a:t>
            </a:r>
          </a:p>
        </p:txBody>
      </p:sp>
      <p:sp>
        <p:nvSpPr>
          <p:cNvPr id="10" name="Rounded Rectangle 9"/>
          <p:cNvSpPr/>
          <p:nvPr/>
        </p:nvSpPr>
        <p:spPr>
          <a:xfrm>
            <a:off x="585216" y="2249424"/>
            <a:ext cx="2391156" cy="127101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276856"/>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12" name="TextBox 11"/>
          <p:cNvSpPr txBox="1"/>
          <p:nvPr/>
        </p:nvSpPr>
        <p:spPr>
          <a:xfrm>
            <a:off x="713232" y="2487168"/>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Assess feasibility of the domain</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Issue the technical plan</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Verify base model version, size, licence</a:t>
            </a:r>
          </a:p>
        </p:txBody>
      </p:sp>
      <p:sp>
        <p:nvSpPr>
          <p:cNvPr id="13" name="Rounded Rectangle 12"/>
          <p:cNvSpPr/>
          <p:nvPr/>
        </p:nvSpPr>
        <p:spPr>
          <a:xfrm>
            <a:off x="585216" y="3593591"/>
            <a:ext cx="2391156" cy="127101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621023"/>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15" name="TextBox 14"/>
          <p:cNvSpPr txBox="1"/>
          <p:nvPr/>
        </p:nvSpPr>
        <p:spPr>
          <a:xfrm>
            <a:off x="713232" y="3831335"/>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Propose the domain and scenario</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Define users, inputs, outputs and limits</a:t>
            </a:r>
          </a:p>
        </p:txBody>
      </p:sp>
      <p:sp>
        <p:nvSpPr>
          <p:cNvPr id="16" name="Right Arrow 15"/>
          <p:cNvSpPr/>
          <p:nvPr/>
        </p:nvSpPr>
        <p:spPr>
          <a:xfrm>
            <a:off x="3118104" y="2784348"/>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332988" y="1865376"/>
            <a:ext cx="2647188" cy="310896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9292" y="1911095"/>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2  Data and training route</a:t>
            </a:r>
          </a:p>
        </p:txBody>
      </p:sp>
      <p:sp>
        <p:nvSpPr>
          <p:cNvPr id="19" name="Rounded Rectangle 18"/>
          <p:cNvSpPr/>
          <p:nvPr/>
        </p:nvSpPr>
        <p:spPr>
          <a:xfrm>
            <a:off x="3461004" y="2249424"/>
            <a:ext cx="2391156" cy="127101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89020" y="2276856"/>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21" name="TextBox 20"/>
          <p:cNvSpPr txBox="1"/>
          <p:nvPr/>
        </p:nvSpPr>
        <p:spPr>
          <a:xfrm>
            <a:off x="3589020" y="2487168"/>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Recommend the training route</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LoRA-SFT, SFT, GRPO and similar</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One main route confirmed per service</a:t>
            </a:r>
          </a:p>
        </p:txBody>
      </p:sp>
      <p:sp>
        <p:nvSpPr>
          <p:cNvPr id="22" name="Rounded Rectangle 21"/>
          <p:cNvSpPr/>
          <p:nvPr/>
        </p:nvSpPr>
        <p:spPr>
          <a:xfrm>
            <a:off x="3461004" y="3593591"/>
            <a:ext cx="2391156" cy="127101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89020" y="3621023"/>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24" name="TextBox 23"/>
          <p:cNvSpPr txBox="1"/>
          <p:nvPr/>
        </p:nvSpPr>
        <p:spPr>
          <a:xfrm>
            <a:off x="3589020" y="3831335"/>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Supply training, validation and safety data</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Supply independent test data and environment</a:t>
            </a:r>
          </a:p>
        </p:txBody>
      </p:sp>
      <p:sp>
        <p:nvSpPr>
          <p:cNvPr id="25" name="Right Arrow 24"/>
          <p:cNvSpPr/>
          <p:nvPr/>
        </p:nvSpPr>
        <p:spPr>
          <a:xfrm>
            <a:off x="5993892" y="2784348"/>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08776" y="1865376"/>
            <a:ext cx="2647188" cy="310896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1911095"/>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3  Training and evaluation</a:t>
            </a:r>
          </a:p>
        </p:txBody>
      </p:sp>
      <p:sp>
        <p:nvSpPr>
          <p:cNvPr id="28" name="Rounded Rectangle 27"/>
          <p:cNvSpPr/>
          <p:nvPr/>
        </p:nvSpPr>
        <p:spPr>
          <a:xfrm>
            <a:off x="6336792" y="2249424"/>
            <a:ext cx="2391156" cy="127101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2276856"/>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30" name="TextBox 29"/>
          <p:cNvSpPr txBox="1"/>
          <p:nvPr/>
        </p:nvSpPr>
        <p:spPr>
          <a:xfrm>
            <a:off x="6464808" y="2487168"/>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Parameter advice within the agreed effort</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Review training logs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Help analyse issues</a:t>
            </a:r>
          </a:p>
        </p:txBody>
      </p:sp>
      <p:sp>
        <p:nvSpPr>
          <p:cNvPr id="31" name="Rounded Rectangle 30"/>
          <p:cNvSpPr/>
          <p:nvPr/>
        </p:nvSpPr>
        <p:spPr>
          <a:xfrm>
            <a:off x="6336792" y="3593591"/>
            <a:ext cx="2391156" cy="127101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64808" y="3621023"/>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33" name="TextBox 32"/>
          <p:cNvSpPr txBox="1"/>
          <p:nvPr/>
        </p:nvSpPr>
        <p:spPr>
          <a:xfrm>
            <a:off x="6464808" y="3831335"/>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Run training in the Model Training Center</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Complete the evaluation</a:t>
            </a:r>
          </a:p>
        </p:txBody>
      </p:sp>
      <p:sp>
        <p:nvSpPr>
          <p:cNvPr id="34" name="Right Arrow 33"/>
          <p:cNvSpPr/>
          <p:nvPr/>
        </p:nvSpPr>
        <p:spPr>
          <a:xfrm>
            <a:off x="8869680" y="2784348"/>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084564" y="1865376"/>
            <a:ext cx="2647188" cy="310896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0868" y="1911095"/>
            <a:ext cx="235458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4  Service acceptance</a:t>
            </a:r>
          </a:p>
        </p:txBody>
      </p:sp>
      <p:sp>
        <p:nvSpPr>
          <p:cNvPr id="37" name="Rounded Rectangle 36"/>
          <p:cNvSpPr/>
          <p:nvPr/>
        </p:nvSpPr>
        <p:spPr>
          <a:xfrm>
            <a:off x="9212580" y="2249424"/>
            <a:ext cx="2391156" cy="127101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40596" y="2276856"/>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C00000"/>
                </a:solidFill>
                <a:latin typeface="Arial"/>
                <a:ea typeface="Arial"/>
              </a:rPr>
              <a:t>iFLYTEK</a:t>
            </a:r>
          </a:p>
        </p:txBody>
      </p:sp>
      <p:sp>
        <p:nvSpPr>
          <p:cNvPr id="39" name="TextBox 38"/>
          <p:cNvSpPr txBox="1"/>
          <p:nvPr/>
        </p:nvSpPr>
        <p:spPr>
          <a:xfrm>
            <a:off x="9340596" y="2487168"/>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Based on RNP's actual results</a:t>
            </a:r>
          </a:p>
          <a:p>
            <a:pPr algn="l" marL="201168" indent="-201168">
              <a:lnSpc>
                <a:spcPct val="125000"/>
              </a:lnSpc>
              <a:spcAft>
                <a:spcPts val="200"/>
              </a:spcAft>
              <a:buClr>
                <a:srgbClr val="C00000"/>
              </a:buClr>
              <a:buSzPct val="100000"/>
              <a:buFont typeface="Arial"/>
              <a:buAutoNum type="arabicPeriod"/>
            </a:pPr>
            <a:r>
              <a:rPr sz="1000" b="0">
                <a:solidFill>
                  <a:srgbClr val="333333"/>
                </a:solidFill>
                <a:latin typeface="Arial"/>
                <a:ea typeface="Arial"/>
              </a:rPr>
              <a:t>Produce the analysis report</a:t>
            </a:r>
          </a:p>
        </p:txBody>
      </p:sp>
      <p:sp>
        <p:nvSpPr>
          <p:cNvPr id="40" name="Rounded Rectangle 39"/>
          <p:cNvSpPr/>
          <p:nvPr/>
        </p:nvSpPr>
        <p:spPr>
          <a:xfrm>
            <a:off x="9212580" y="3593591"/>
            <a:ext cx="2391156" cy="127101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40596" y="3621023"/>
            <a:ext cx="1463040" cy="201168"/>
          </a:xfrm>
          <a:prstGeom prst="rect">
            <a:avLst/>
          </a:prstGeom>
          <a:noFill/>
        </p:spPr>
        <p:txBody>
          <a:bodyPr wrap="square" lIns="0" tIns="0" rIns="0" bIns="0" anchor="ctr">
            <a:noAutofit/>
          </a:bodyPr>
          <a:lstStyle/>
          <a:p>
            <a:pPr algn="l">
              <a:lnSpc>
                <a:spcPct val="115000"/>
              </a:lnSpc>
              <a:spcAft>
                <a:spcPts val="0"/>
              </a:spcAft>
            </a:pPr>
            <a:r>
              <a:rPr sz="900" b="1">
                <a:solidFill>
                  <a:srgbClr val="1F4E79"/>
                </a:solidFill>
                <a:latin typeface="Arial"/>
                <a:ea typeface="Arial"/>
              </a:rPr>
              <a:t>RNP</a:t>
            </a:r>
          </a:p>
        </p:txBody>
      </p:sp>
      <p:sp>
        <p:nvSpPr>
          <p:cNvPr id="42" name="TextBox 41"/>
          <p:cNvSpPr txBox="1"/>
          <p:nvPr/>
        </p:nvSpPr>
        <p:spPr>
          <a:xfrm>
            <a:off x="9340596" y="3831335"/>
            <a:ext cx="2135124" cy="996695"/>
          </a:xfrm>
          <a:prstGeom prst="rect">
            <a:avLst/>
          </a:prstGeom>
          <a:noFill/>
        </p:spPr>
        <p:txBody>
          <a:bodyPr wrap="square" lIns="0" tIns="0" rIns="0" bIns="0" anchor="t">
            <a:noAutofit/>
          </a:bodyPr>
          <a:lstStyle/>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Check the advisory records</a:t>
            </a:r>
          </a:p>
          <a:p>
            <a:pPr algn="l" marL="201168" indent="-201168">
              <a:lnSpc>
                <a:spcPct val="125000"/>
              </a:lnSpc>
              <a:spcAft>
                <a:spcPts val="200"/>
              </a:spcAft>
              <a:buClr>
                <a:srgbClr val="1F4E79"/>
              </a:buClr>
              <a:buSzPct val="100000"/>
              <a:buFont typeface="Arial"/>
              <a:buAutoNum type="arabicPeriod"/>
            </a:pPr>
            <a:r>
              <a:rPr sz="1000" b="0">
                <a:solidFill>
                  <a:srgbClr val="333333"/>
                </a:solidFill>
                <a:latin typeface="Arial"/>
                <a:ea typeface="Arial"/>
              </a:rPr>
              <a:t>Complete business acceptance</a:t>
            </a:r>
          </a:p>
        </p:txBody>
      </p:sp>
      <p:sp>
        <p:nvSpPr>
          <p:cNvPr id="43" name="TextBox 42"/>
          <p:cNvSpPr txBox="1"/>
          <p:nvPr/>
        </p:nvSpPr>
        <p:spPr>
          <a:xfrm>
            <a:off x="457200" y="5084064"/>
            <a:ext cx="11274552" cy="237744"/>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Production deployment, API development and application integration are outside this service and can be agreed separately.</a:t>
            </a:r>
          </a:p>
        </p:txBody>
      </p:sp>
      <p:sp>
        <p:nvSpPr>
          <p:cNvPr id="44" name="Rounded Rectangle 43"/>
          <p:cNvSpPr/>
          <p:nvPr/>
        </p:nvSpPr>
        <p:spPr>
          <a:xfrm>
            <a:off x="457200" y="5431536"/>
            <a:ext cx="11274552" cy="548640"/>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5477256"/>
            <a:ext cx="10817352" cy="457200"/>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This is RNP's first time training a model independently. It needs RNP's own algorithm engineers and domain experts — which is exactly what shadowing and guided hands-on are for.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Knowledge transfer: what RNP learns and what RNP gets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A11</a:t>
            </a:r>
          </a:p>
        </p:txBody>
      </p:sp>
      <p:sp>
        <p:nvSpPr>
          <p:cNvPr id="4" name="Rounded Rectangle 3">
            <a:hlinkClick action="ppaction://hlinksldjump" r:id="rId3"/>
          </p:cNvPr>
          <p:cNvSpPr/>
          <p:nvPr/>
        </p:nvSpPr>
        <p:spPr>
          <a:xfrm>
            <a:off x="9482328"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A10</a:t>
            </a:r>
          </a:p>
        </p:txBody>
      </p:sp>
      <p:sp>
        <p:nvSpPr>
          <p:cNvPr id="5" name="Rounded Rectangle 4">
            <a:hlinkClick action="ppaction://hlinksldjump" r:id="rId4"/>
          </p:cNvPr>
          <p:cNvSpPr/>
          <p:nvPr/>
        </p:nvSpPr>
        <p:spPr>
          <a:xfrm>
            <a:off x="8357615"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A9</a:t>
            </a:r>
          </a:p>
        </p:txBody>
      </p:sp>
      <p:sp>
        <p:nvSpPr>
          <p:cNvPr id="6" name="Rounded Rectangle 5">
            <a:hlinkClick action="ppaction://hlinksldjump" r:id="rId5"/>
          </p:cNvPr>
          <p:cNvSpPr/>
          <p:nvPr/>
        </p:nvSpPr>
        <p:spPr>
          <a:xfrm>
            <a:off x="7232903"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A6</a:t>
            </a:r>
          </a:p>
        </p:txBody>
      </p:sp>
      <p:sp>
        <p:nvSpPr>
          <p:cNvPr id="7" name="TextBox 6"/>
          <p:cNvSpPr txBox="1"/>
          <p:nvPr/>
        </p:nvSpPr>
        <p:spPr>
          <a:xfrm>
            <a:off x="457200" y="932688"/>
            <a:ext cx="11274552" cy="51206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Twelve SOW course topics grouped into four tracks. Instructors are the iFLYTEK engineers and architects delivering this project; sessions run on the delivered platform and models.</a:t>
            </a:r>
          </a:p>
        </p:txBody>
      </p:sp>
      <p:sp>
        <p:nvSpPr>
          <p:cNvPr id="8" name="Rounded Rectangle 7"/>
          <p:cNvSpPr/>
          <p:nvPr/>
        </p:nvSpPr>
        <p:spPr>
          <a:xfrm>
            <a:off x="457200" y="1700784"/>
            <a:ext cx="6539240" cy="27889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92224"/>
            <a:ext cx="5990600"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What RNP learns: three levels</a:t>
            </a:r>
          </a:p>
        </p:txBody>
      </p:sp>
      <p:sp>
        <p:nvSpPr>
          <p:cNvPr id="10" name="Rounded Rectangle 9"/>
          <p:cNvSpPr/>
          <p:nvPr/>
        </p:nvSpPr>
        <p:spPr>
          <a:xfrm>
            <a:off x="731520" y="2176272"/>
            <a:ext cx="5990600" cy="67665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12848"/>
            <a:ext cx="4253240" cy="256032"/>
          </a:xfrm>
          <a:prstGeom prst="rect">
            <a:avLst/>
          </a:prstGeom>
          <a:noFill/>
        </p:spPr>
        <p:txBody>
          <a:bodyPr wrap="square" lIns="0" tIns="0" rIns="0" bIns="0" anchor="ctr">
            <a:noAutofit/>
          </a:bodyPr>
          <a:lstStyle/>
          <a:p>
            <a:pPr algn="l">
              <a:lnSpc>
                <a:spcPct val="115000"/>
              </a:lnSpc>
              <a:spcAft>
                <a:spcPts val="0"/>
              </a:spcAft>
            </a:pPr>
            <a:r>
              <a:rPr sz="1100" b="1">
                <a:solidFill>
                  <a:srgbClr val="1D1D1A"/>
                </a:solidFill>
                <a:latin typeface="Arial"/>
                <a:ea typeface="Arial"/>
              </a:rPr>
              <a:t>1  Core course · Foundation stage</a:t>
            </a:r>
          </a:p>
        </p:txBody>
      </p:sp>
      <p:sp>
        <p:nvSpPr>
          <p:cNvPr id="12" name="TextBox 11"/>
          <p:cNvSpPr txBox="1"/>
          <p:nvPr/>
        </p:nvSpPr>
        <p:spPr>
          <a:xfrm>
            <a:off x="5121920" y="2231136"/>
            <a:ext cx="1508760" cy="219456"/>
          </a:xfrm>
          <a:prstGeom prst="rect">
            <a:avLst/>
          </a:prstGeom>
          <a:noFill/>
        </p:spPr>
        <p:txBody>
          <a:bodyPr wrap="square" lIns="0" tIns="0" rIns="0" bIns="0" anchor="ctr">
            <a:noAutofit/>
          </a:bodyPr>
          <a:lstStyle/>
          <a:p>
            <a:pPr algn="r">
              <a:lnSpc>
                <a:spcPct val="115000"/>
              </a:lnSpc>
              <a:spcAft>
                <a:spcPts val="0"/>
              </a:spcAft>
            </a:pPr>
            <a:r>
              <a:rPr sz="850" b="0">
                <a:solidFill>
                  <a:srgbClr val="666666"/>
                </a:solidFill>
                <a:latin typeface="Arial"/>
                <a:ea typeface="Arial"/>
              </a:rPr>
              <a:t>In scope</a:t>
            </a:r>
          </a:p>
        </p:txBody>
      </p:sp>
      <p:sp>
        <p:nvSpPr>
          <p:cNvPr id="13" name="TextBox 12"/>
          <p:cNvSpPr txBox="1"/>
          <p:nvPr/>
        </p:nvSpPr>
        <p:spPr>
          <a:xfrm>
            <a:off x="868680" y="2468879"/>
            <a:ext cx="5716280" cy="36576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1) LLM basics 2) Project architecture 3) Corpus to service 4) Safety and O&amp;M</a:t>
            </a:r>
          </a:p>
        </p:txBody>
      </p:sp>
      <p:sp>
        <p:nvSpPr>
          <p:cNvPr id="14" name="Rounded Rectangle 13"/>
          <p:cNvSpPr/>
          <p:nvPr/>
        </p:nvSpPr>
        <p:spPr>
          <a:xfrm>
            <a:off x="731520" y="2926079"/>
            <a:ext cx="5990600" cy="67665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962656"/>
            <a:ext cx="4253240" cy="256032"/>
          </a:xfrm>
          <a:prstGeom prst="rect">
            <a:avLst/>
          </a:prstGeom>
          <a:noFill/>
        </p:spPr>
        <p:txBody>
          <a:bodyPr wrap="square" lIns="0" tIns="0" rIns="0" bIns="0" anchor="ctr">
            <a:noAutofit/>
          </a:bodyPr>
          <a:lstStyle/>
          <a:p>
            <a:pPr algn="l">
              <a:lnSpc>
                <a:spcPct val="115000"/>
              </a:lnSpc>
              <a:spcAft>
                <a:spcPts val="0"/>
              </a:spcAft>
            </a:pPr>
            <a:r>
              <a:rPr sz="1100" b="1">
                <a:solidFill>
                  <a:srgbClr val="1D1D1A"/>
                </a:solidFill>
                <a:latin typeface="Arial"/>
                <a:ea typeface="Arial"/>
              </a:rPr>
              <a:t>2  12 specialist courses · four tracks</a:t>
            </a:r>
          </a:p>
        </p:txBody>
      </p:sp>
      <p:sp>
        <p:nvSpPr>
          <p:cNvPr id="16" name="TextBox 15"/>
          <p:cNvSpPr txBox="1"/>
          <p:nvPr/>
        </p:nvSpPr>
        <p:spPr>
          <a:xfrm>
            <a:off x="5121920" y="2980944"/>
            <a:ext cx="1508760" cy="219456"/>
          </a:xfrm>
          <a:prstGeom prst="rect">
            <a:avLst/>
          </a:prstGeom>
          <a:noFill/>
        </p:spPr>
        <p:txBody>
          <a:bodyPr wrap="square" lIns="0" tIns="0" rIns="0" bIns="0" anchor="ctr">
            <a:noAutofit/>
          </a:bodyPr>
          <a:lstStyle/>
          <a:p>
            <a:pPr algn="r">
              <a:lnSpc>
                <a:spcPct val="115000"/>
              </a:lnSpc>
              <a:spcAft>
                <a:spcPts val="0"/>
              </a:spcAft>
            </a:pPr>
            <a:r>
              <a:rPr sz="850" b="0">
                <a:solidFill>
                  <a:srgbClr val="666666"/>
                </a:solidFill>
                <a:latin typeface="Arial"/>
                <a:ea typeface="Arial"/>
              </a:rPr>
              <a:t>In scope</a:t>
            </a:r>
          </a:p>
        </p:txBody>
      </p:sp>
      <p:sp>
        <p:nvSpPr>
          <p:cNvPr id="17" name="TextBox 16"/>
          <p:cNvSpPr txBox="1"/>
          <p:nvPr/>
        </p:nvSpPr>
        <p:spPr>
          <a:xfrm>
            <a:off x="868680" y="3218687"/>
            <a:ext cx="5716280" cy="36576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1) Models and evaluation 2) Software stack and lifecycle 3) Training and inference at scale 4) Retrieval, agents and safety</a:t>
            </a:r>
          </a:p>
        </p:txBody>
      </p:sp>
      <p:sp>
        <p:nvSpPr>
          <p:cNvPr id="18" name="Rounded Rectangle 17"/>
          <p:cNvSpPr/>
          <p:nvPr/>
        </p:nvSpPr>
        <p:spPr>
          <a:xfrm>
            <a:off x="731520" y="3675887"/>
            <a:ext cx="5990600" cy="67665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12463"/>
            <a:ext cx="4253240" cy="256032"/>
          </a:xfrm>
          <a:prstGeom prst="rect">
            <a:avLst/>
          </a:prstGeom>
          <a:noFill/>
        </p:spPr>
        <p:txBody>
          <a:bodyPr wrap="square" lIns="0" tIns="0" rIns="0" bIns="0" anchor="ctr">
            <a:noAutofit/>
          </a:bodyPr>
          <a:lstStyle/>
          <a:p>
            <a:pPr algn="l">
              <a:lnSpc>
                <a:spcPct val="115000"/>
              </a:lnSpc>
              <a:spcAft>
                <a:spcPts val="0"/>
              </a:spcAft>
            </a:pPr>
            <a:r>
              <a:rPr sz="1100" b="1">
                <a:solidFill>
                  <a:srgbClr val="1D1D1A"/>
                </a:solidFill>
                <a:latin typeface="Arial"/>
                <a:ea typeface="Arial"/>
              </a:rPr>
              <a:t>3  Premium transfer · how the system was built</a:t>
            </a:r>
          </a:p>
        </p:txBody>
      </p:sp>
      <p:sp>
        <p:nvSpPr>
          <p:cNvPr id="20" name="TextBox 19"/>
          <p:cNvSpPr txBox="1"/>
          <p:nvPr/>
        </p:nvSpPr>
        <p:spPr>
          <a:xfrm>
            <a:off x="5121920" y="3730751"/>
            <a:ext cx="1508760" cy="219456"/>
          </a:xfrm>
          <a:prstGeom prst="rect">
            <a:avLst/>
          </a:prstGeom>
          <a:noFill/>
        </p:spPr>
        <p:txBody>
          <a:bodyPr wrap="square" lIns="0" tIns="0" rIns="0" bIns="0" anchor="ctr">
            <a:noAutofit/>
          </a:bodyPr>
          <a:lstStyle/>
          <a:p>
            <a:pPr algn="r">
              <a:lnSpc>
                <a:spcPct val="115000"/>
              </a:lnSpc>
              <a:spcAft>
                <a:spcPts val="0"/>
              </a:spcAft>
            </a:pPr>
            <a:r>
              <a:rPr sz="850" b="0">
                <a:solidFill>
                  <a:srgbClr val="0070C0"/>
                </a:solidFill>
                <a:latin typeface="Arial"/>
                <a:ea typeface="Arial"/>
              </a:rPr>
              <a:t>Separate budget</a:t>
            </a:r>
          </a:p>
        </p:txBody>
      </p:sp>
      <p:sp>
        <p:nvSpPr>
          <p:cNvPr id="21" name="TextBox 20"/>
          <p:cNvSpPr txBox="1"/>
          <p:nvPr/>
        </p:nvSpPr>
        <p:spPr>
          <a:xfrm>
            <a:off x="868680" y="3968496"/>
            <a:ext cx="5716280" cy="36576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1) Cluster scheduling 2) Model training 3) Corpus 4) Inference; plus seminars, consulting and a China visit</a:t>
            </a:r>
          </a:p>
        </p:txBody>
      </p:sp>
      <p:sp>
        <p:nvSpPr>
          <p:cNvPr id="22" name="Rounded Rectangle 21"/>
          <p:cNvSpPr/>
          <p:nvPr/>
        </p:nvSpPr>
        <p:spPr>
          <a:xfrm>
            <a:off x="7270760" y="1700784"/>
            <a:ext cx="4460991" cy="278892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45080" y="1792224"/>
            <a:ext cx="3912351"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What RNP gets</a:t>
            </a:r>
          </a:p>
        </p:txBody>
      </p:sp>
      <p:sp>
        <p:nvSpPr>
          <p:cNvPr id="24" name="TextBox 23"/>
          <p:cNvSpPr txBox="1"/>
          <p:nvPr/>
        </p:nvSpPr>
        <p:spPr>
          <a:xfrm>
            <a:off x="7545080" y="2212848"/>
            <a:ext cx="3912351" cy="2185415"/>
          </a:xfrm>
          <a:prstGeom prst="rect">
            <a:avLst/>
          </a:prstGeom>
          <a:noFill/>
        </p:spPr>
        <p:txBody>
          <a:bodyPr wrap="square" lIns="0" tIns="0" rIns="0" bIns="0" anchor="t">
            <a:noAutofit/>
          </a:bodyPr>
          <a:lstStyle/>
          <a:p>
            <a:pPr algn="l" marL="201168" indent="-201168">
              <a:lnSpc>
                <a:spcPct val="125000"/>
              </a:lnSpc>
              <a:spcAft>
                <a:spcPts val="600"/>
              </a:spcAft>
              <a:buClr>
                <a:srgbClr val="C00000"/>
              </a:buClr>
              <a:buSzPct val="100000"/>
              <a:buFont typeface="Arial"/>
              <a:buAutoNum type="arabicPeriod"/>
            </a:pPr>
            <a:r>
              <a:rPr sz="1050" b="1">
                <a:solidFill>
                  <a:srgbClr val="333333"/>
                </a:solidFill>
                <a:latin typeface="Arial"/>
                <a:ea typeface="Arial"/>
              </a:rPr>
              <a:t>Model weights</a:t>
            </a:r>
            <a:r>
              <a:rPr sz="1050" b="0">
                <a:solidFill>
                  <a:srgbClr val="333333"/>
                </a:solidFill>
                <a:latin typeface="Arial"/>
                <a:ea typeface="Arial"/>
              </a:rPr>
              <a:t> — DLM weights belong to RNP</a:t>
            </a:r>
          </a:p>
          <a:p>
            <a:pPr algn="l" marL="201168" indent="-201168">
              <a:lnSpc>
                <a:spcPct val="125000"/>
              </a:lnSpc>
              <a:spcAft>
                <a:spcPts val="600"/>
              </a:spcAft>
              <a:buClr>
                <a:srgbClr val="C00000"/>
              </a:buClr>
              <a:buSzPct val="100000"/>
              <a:buFont typeface="Arial"/>
              <a:buAutoNum type="arabicPeriod"/>
            </a:pPr>
            <a:r>
              <a:rPr sz="1050" b="1">
                <a:solidFill>
                  <a:srgbClr val="333333"/>
                </a:solidFill>
                <a:latin typeface="Arial"/>
                <a:ea typeface="Arial"/>
              </a:rPr>
              <a:t>Platform software</a:t>
            </a:r>
            <a:r>
              <a:rPr sz="1050" b="0">
                <a:solidFill>
                  <a:srgbClr val="333333"/>
                </a:solidFill>
                <a:latin typeface="Arial"/>
                <a:ea typeface="Arial"/>
              </a:rPr>
              <a:t> and custom code</a:t>
            </a:r>
          </a:p>
          <a:p>
            <a:pPr algn="l" marL="201168" indent="-201168">
              <a:lnSpc>
                <a:spcPct val="125000"/>
              </a:lnSpc>
              <a:spcAft>
                <a:spcPts val="600"/>
              </a:spcAft>
              <a:buClr>
                <a:srgbClr val="C00000"/>
              </a:buClr>
              <a:buSzPct val="100000"/>
              <a:buFont typeface="Arial"/>
              <a:buAutoNum type="arabicPeriod"/>
            </a:pPr>
            <a:r>
              <a:rPr sz="1050" b="1">
                <a:solidFill>
                  <a:srgbClr val="333333"/>
                </a:solidFill>
                <a:latin typeface="Arial"/>
                <a:ea typeface="Arial"/>
              </a:rPr>
              <a:t>All documentation</a:t>
            </a:r>
            <a:r>
              <a:rPr sz="1050" b="0">
                <a:solidFill>
                  <a:srgbClr val="333333"/>
                </a:solidFill>
                <a:latin typeface="Arial"/>
                <a:ea typeface="Arial"/>
              </a:rPr>
              <a:t>, in English or Portuguese</a:t>
            </a:r>
          </a:p>
          <a:p>
            <a:pPr algn="l" marL="201168" indent="-201168">
              <a:lnSpc>
                <a:spcPct val="125000"/>
              </a:lnSpc>
              <a:spcAft>
                <a:spcPts val="600"/>
              </a:spcAft>
              <a:buClr>
                <a:srgbClr val="C00000"/>
              </a:buClr>
              <a:buSzPct val="100000"/>
              <a:buFont typeface="Arial"/>
              <a:buAutoNum type="arabicPeriod"/>
            </a:pPr>
            <a:r>
              <a:rPr sz="1050" b="1">
                <a:solidFill>
                  <a:srgbClr val="333333"/>
                </a:solidFill>
                <a:latin typeface="Arial"/>
                <a:ea typeface="Arial"/>
              </a:rPr>
              <a:t>Support</a:t>
            </a:r>
            <a:r>
              <a:rPr sz="1050" b="0">
                <a:solidFill>
                  <a:srgbClr val="333333"/>
                </a:solidFill>
                <a:latin typeface="Arial"/>
                <a:ea typeface="Arial"/>
              </a:rPr>
              <a:t>: 12 months on site + 60 months remote</a:t>
            </a:r>
          </a:p>
        </p:txBody>
      </p:sp>
      <p:sp>
        <p:nvSpPr>
          <p:cNvPr id="25" name="Rounded Rectangle 24"/>
          <p:cNvSpPr/>
          <p:nvPr/>
        </p:nvSpPr>
        <p:spPr>
          <a:xfrm>
            <a:off x="457200" y="4645152"/>
            <a:ext cx="5500116" cy="987552"/>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36592"/>
            <a:ext cx="2926080" cy="310896"/>
          </a:xfrm>
          <a:prstGeom prst="rect">
            <a:avLst/>
          </a:prstGeom>
          <a:noFill/>
        </p:spPr>
        <p:txBody>
          <a:bodyPr wrap="square" lIns="0" tIns="0" rIns="0" bIns="0" anchor="ctr">
            <a:noAutofit/>
          </a:bodyPr>
          <a:lstStyle/>
          <a:p>
            <a:pPr algn="l">
              <a:lnSpc>
                <a:spcPct val="115000"/>
              </a:lnSpc>
              <a:spcAft>
                <a:spcPts val="0"/>
              </a:spcAft>
            </a:pPr>
            <a:r>
              <a:rPr sz="1200" b="1">
                <a:solidFill>
                  <a:srgbClr val="C00000"/>
                </a:solidFill>
                <a:latin typeface="Arial"/>
                <a:ea typeface="Arial"/>
              </a:rPr>
              <a:t>iFLYTEK delivers</a:t>
            </a:r>
          </a:p>
        </p:txBody>
      </p:sp>
      <p:sp>
        <p:nvSpPr>
          <p:cNvPr id="27" name="TextBox 26"/>
          <p:cNvSpPr txBox="1"/>
          <p:nvPr/>
        </p:nvSpPr>
        <p:spPr>
          <a:xfrm>
            <a:off x="685800" y="5102352"/>
            <a:ext cx="5042916" cy="475488"/>
          </a:xfrm>
          <a:prstGeom prst="rect">
            <a:avLst/>
          </a:prstGeom>
          <a:noFill/>
        </p:spPr>
        <p:txBody>
          <a:bodyPr wrap="square" lIns="0" tIns="0" rIns="0" bIns="0" anchor="t">
            <a:noAutofit/>
          </a:bodyPr>
          <a:lstStyle/>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Teach to the approved course plan, using approved samples</a:t>
            </a:r>
          </a:p>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Seminars, coaching and handover materials; premium courses arranged separately</a:t>
            </a:r>
          </a:p>
        </p:txBody>
      </p:sp>
      <p:sp>
        <p:nvSpPr>
          <p:cNvPr id="28" name="Rounded Rectangle 27"/>
          <p:cNvSpPr/>
          <p:nvPr/>
        </p:nvSpPr>
        <p:spPr>
          <a:xfrm>
            <a:off x="6231636" y="4645152"/>
            <a:ext cx="5500116" cy="987552"/>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0236" y="4736592"/>
            <a:ext cx="2926080"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How RNP takes part</a:t>
            </a:r>
          </a:p>
        </p:txBody>
      </p:sp>
      <p:sp>
        <p:nvSpPr>
          <p:cNvPr id="30" name="TextBox 29"/>
          <p:cNvSpPr txBox="1"/>
          <p:nvPr/>
        </p:nvSpPr>
        <p:spPr>
          <a:xfrm>
            <a:off x="6460236" y="5102352"/>
            <a:ext cx="5042916" cy="475488"/>
          </a:xfrm>
          <a:prstGeom prst="rect">
            <a:avLst/>
          </a:prstGeom>
          <a:noFill/>
        </p:spPr>
        <p:txBody>
          <a:bodyPr wrap="square" lIns="0" tIns="0" rIns="0" bIns="0" anchor="t">
            <a:noAutofit/>
          </a:bodyPr>
          <a:lstStyle/>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Name the core trainees and schedule them for sessions and hands-on</a:t>
            </a:r>
          </a:p>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Organise staff by the six role learning paths — see Appendix A10</a:t>
            </a:r>
          </a:p>
        </p:txBody>
      </p:sp>
      <p:sp>
        <p:nvSpPr>
          <p:cNvPr id="31" name="Rounded Rectangle 30"/>
          <p:cNvSpPr/>
          <p:nvPr/>
        </p:nvSpPr>
        <p:spPr>
          <a:xfrm>
            <a:off x="457200" y="5760720"/>
            <a:ext cx="11274552" cy="475488"/>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806440"/>
            <a:ext cx="10817352" cy="384048"/>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Core and specialist courses are in scope at no extra cost. </a:t>
            </a:r>
            <a:r>
              <a:rPr sz="1150" b="0">
                <a:solidFill>
                  <a:srgbClr val="0070C0"/>
                </a:solidFill>
                <a:latin typeface="Arial"/>
                <a:ea typeface="Arial"/>
              </a:rPr>
              <a:t>Premium transfer requires completing all Huawei AI Developer courses and a separate budget — see Appendix A11.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Knowledge transfer: two rounds, 1,216 hours, about 158 working days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A12</a:t>
            </a:r>
          </a:p>
        </p:txBody>
      </p:sp>
      <p:sp>
        <p:nvSpPr>
          <p:cNvPr id="4" name="Rounded Rectangle 3">
            <a:hlinkClick action="ppaction://hlinksldjump" r:id="rId3"/>
          </p:cNvPr>
          <p:cNvSpPr/>
          <p:nvPr/>
        </p:nvSpPr>
        <p:spPr>
          <a:xfrm>
            <a:off x="9482328"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A8</a:t>
            </a:r>
          </a:p>
        </p:txBody>
      </p:sp>
      <p:sp>
        <p:nvSpPr>
          <p:cNvPr id="5" name="TextBox 4"/>
          <p:cNvSpPr txBox="1"/>
          <p:nvPr/>
        </p:nvSpPr>
        <p:spPr>
          <a:xfrm>
            <a:off x="457200" y="932688"/>
            <a:ext cx="11274552" cy="51206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608 hours per round across four stages, delivered twice. After handover RNP can independently run  1) platform O&amp;M  2) training submission  3) model deployment  4) release</a:t>
            </a:r>
          </a:p>
        </p:txBody>
      </p:sp>
      <p:sp>
        <p:nvSpPr>
          <p:cNvPr id="6" name="Rounded Rectangle 5"/>
          <p:cNvSpPr/>
          <p:nvPr/>
        </p:nvSpPr>
        <p:spPr>
          <a:xfrm>
            <a:off x="457200" y="1645920"/>
            <a:ext cx="2647188" cy="2743200"/>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37360"/>
            <a:ext cx="2281428"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1  Foundation</a:t>
            </a:r>
          </a:p>
        </p:txBody>
      </p:sp>
      <p:sp>
        <p:nvSpPr>
          <p:cNvPr id="8" name="TextBox 7"/>
          <p:cNvSpPr txBox="1"/>
          <p:nvPr/>
        </p:nvSpPr>
        <p:spPr>
          <a:xfrm>
            <a:off x="640080" y="2066544"/>
            <a:ext cx="2281428" cy="420624"/>
          </a:xfrm>
          <a:prstGeom prst="rect">
            <a:avLst/>
          </a:prstGeom>
          <a:noFill/>
        </p:spPr>
        <p:txBody>
          <a:bodyPr wrap="square" lIns="0" tIns="0" rIns="0" bIns="0" anchor="ctr">
            <a:noAutofit/>
          </a:bodyPr>
          <a:lstStyle/>
          <a:p>
            <a:pPr algn="l">
              <a:lnSpc>
                <a:spcPct val="115000"/>
              </a:lnSpc>
              <a:spcAft>
                <a:spcPts val="0"/>
              </a:spcAft>
            </a:pPr>
            <a:r>
              <a:rPr sz="2100" b="1">
                <a:solidFill>
                  <a:srgbClr val="C00000"/>
                </a:solidFill>
                <a:latin typeface="Arial"/>
                <a:ea typeface="Arial"/>
              </a:rPr>
              <a:t>60</a:t>
            </a:r>
            <a:r>
              <a:rPr sz="1100" b="0">
                <a:solidFill>
                  <a:srgbClr val="1D1D1A"/>
                </a:solidFill>
                <a:latin typeface="Arial"/>
                <a:ea typeface="Arial"/>
              </a:rPr>
              <a:t> hours</a:t>
            </a:r>
          </a:p>
        </p:txBody>
      </p:sp>
      <p:sp>
        <p:nvSpPr>
          <p:cNvPr id="9" name="TextBox 8"/>
          <p:cNvSpPr txBox="1"/>
          <p:nvPr/>
        </p:nvSpPr>
        <p:spPr>
          <a:xfrm>
            <a:off x="640080" y="2505456"/>
            <a:ext cx="2281428"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per round · ~10 working days · 50 people</a:t>
            </a:r>
          </a:p>
        </p:txBody>
      </p:sp>
      <p:sp>
        <p:nvSpPr>
          <p:cNvPr id="10" name="TextBox 9"/>
          <p:cNvSpPr txBox="1"/>
          <p:nvPr/>
        </p:nvSpPr>
        <p:spPr>
          <a:xfrm>
            <a:off x="640080" y="2798064"/>
            <a:ext cx="2281428" cy="1536192"/>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LLM basics and project architecture</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Corpus to service, end to end</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Safety and O&amp;M basics</a:t>
            </a:r>
          </a:p>
        </p:txBody>
      </p:sp>
      <p:sp>
        <p:nvSpPr>
          <p:cNvPr id="11" name="Rounded Rectangle 10"/>
          <p:cNvSpPr/>
          <p:nvPr/>
        </p:nvSpPr>
        <p:spPr>
          <a:xfrm>
            <a:off x="3332988" y="1645920"/>
            <a:ext cx="2647188" cy="2743200"/>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15868" y="1737360"/>
            <a:ext cx="2281428"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2  Shadowing</a:t>
            </a:r>
          </a:p>
        </p:txBody>
      </p:sp>
      <p:sp>
        <p:nvSpPr>
          <p:cNvPr id="13" name="TextBox 12"/>
          <p:cNvSpPr txBox="1"/>
          <p:nvPr/>
        </p:nvSpPr>
        <p:spPr>
          <a:xfrm>
            <a:off x="3515868" y="2066544"/>
            <a:ext cx="2281428" cy="420624"/>
          </a:xfrm>
          <a:prstGeom prst="rect">
            <a:avLst/>
          </a:prstGeom>
          <a:noFill/>
        </p:spPr>
        <p:txBody>
          <a:bodyPr wrap="square" lIns="0" tIns="0" rIns="0" bIns="0" anchor="ctr">
            <a:noAutofit/>
          </a:bodyPr>
          <a:lstStyle/>
          <a:p>
            <a:pPr algn="l">
              <a:lnSpc>
                <a:spcPct val="115000"/>
              </a:lnSpc>
              <a:spcAft>
                <a:spcPts val="0"/>
              </a:spcAft>
            </a:pPr>
            <a:r>
              <a:rPr sz="2100" b="1">
                <a:solidFill>
                  <a:srgbClr val="C00000"/>
                </a:solidFill>
                <a:latin typeface="Arial"/>
                <a:ea typeface="Arial"/>
              </a:rPr>
              <a:t>360</a:t>
            </a:r>
            <a:r>
              <a:rPr sz="1100" b="0">
                <a:solidFill>
                  <a:srgbClr val="1D1D1A"/>
                </a:solidFill>
                <a:latin typeface="Arial"/>
                <a:ea typeface="Arial"/>
              </a:rPr>
              <a:t> hours</a:t>
            </a:r>
          </a:p>
        </p:txBody>
      </p:sp>
      <p:sp>
        <p:nvSpPr>
          <p:cNvPr id="14" name="TextBox 13"/>
          <p:cNvSpPr txBox="1"/>
          <p:nvPr/>
        </p:nvSpPr>
        <p:spPr>
          <a:xfrm>
            <a:off x="3515868" y="2505456"/>
            <a:ext cx="2281428"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per round · ~45 working days · 20 people</a:t>
            </a:r>
          </a:p>
        </p:txBody>
      </p:sp>
      <p:sp>
        <p:nvSpPr>
          <p:cNvPr id="15" name="TextBox 14"/>
          <p:cNvSpPr txBox="1"/>
          <p:nvPr/>
        </p:nvSpPr>
        <p:spPr>
          <a:xfrm>
            <a:off x="3515868" y="2798064"/>
            <a:ext cx="2281428" cy="1536192"/>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iFLYTEK operates, RNP observes and assists</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Covers national model training</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Model upgrades within 12 months</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3 DLM trainings and other live work</a:t>
            </a:r>
          </a:p>
        </p:txBody>
      </p:sp>
      <p:sp>
        <p:nvSpPr>
          <p:cNvPr id="16" name="Rounded Rectangle 15"/>
          <p:cNvSpPr/>
          <p:nvPr/>
        </p:nvSpPr>
        <p:spPr>
          <a:xfrm>
            <a:off x="6208776" y="1645920"/>
            <a:ext cx="2647188" cy="2743200"/>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1737360"/>
            <a:ext cx="2281428"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3  Guided hands-on</a:t>
            </a:r>
          </a:p>
        </p:txBody>
      </p:sp>
      <p:sp>
        <p:nvSpPr>
          <p:cNvPr id="18" name="TextBox 17"/>
          <p:cNvSpPr txBox="1"/>
          <p:nvPr/>
        </p:nvSpPr>
        <p:spPr>
          <a:xfrm>
            <a:off x="6391656" y="2066544"/>
            <a:ext cx="2281428" cy="420624"/>
          </a:xfrm>
          <a:prstGeom prst="rect">
            <a:avLst/>
          </a:prstGeom>
          <a:noFill/>
        </p:spPr>
        <p:txBody>
          <a:bodyPr wrap="square" lIns="0" tIns="0" rIns="0" bIns="0" anchor="ctr">
            <a:noAutofit/>
          </a:bodyPr>
          <a:lstStyle/>
          <a:p>
            <a:pPr algn="l">
              <a:lnSpc>
                <a:spcPct val="115000"/>
              </a:lnSpc>
              <a:spcAft>
                <a:spcPts val="0"/>
              </a:spcAft>
            </a:pPr>
            <a:r>
              <a:rPr sz="2100" b="1">
                <a:solidFill>
                  <a:srgbClr val="C00000"/>
                </a:solidFill>
                <a:latin typeface="Arial"/>
                <a:ea typeface="Arial"/>
              </a:rPr>
              <a:t>20</a:t>
            </a:r>
            <a:r>
              <a:rPr sz="1100" b="0">
                <a:solidFill>
                  <a:srgbClr val="1D1D1A"/>
                </a:solidFill>
                <a:latin typeface="Arial"/>
                <a:ea typeface="Arial"/>
              </a:rPr>
              <a:t> hours</a:t>
            </a:r>
          </a:p>
        </p:txBody>
      </p:sp>
      <p:sp>
        <p:nvSpPr>
          <p:cNvPr id="19" name="TextBox 18"/>
          <p:cNvSpPr txBox="1"/>
          <p:nvPr/>
        </p:nvSpPr>
        <p:spPr>
          <a:xfrm>
            <a:off x="6391656" y="2505456"/>
            <a:ext cx="2281428"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per round · ~3 working days · 20 people</a:t>
            </a:r>
          </a:p>
        </p:txBody>
      </p:sp>
      <p:sp>
        <p:nvSpPr>
          <p:cNvPr id="20" name="TextBox 19"/>
          <p:cNvSpPr txBox="1"/>
          <p:nvPr/>
        </p:nvSpPr>
        <p:spPr>
          <a:xfrm>
            <a:off x="6391656" y="2798064"/>
            <a:ext cx="2281428" cy="1536192"/>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RNP operates: data, training jobs</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Deployment, monitoring, fault triage</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Both parties sign the hands-on record</a:t>
            </a:r>
          </a:p>
        </p:txBody>
      </p:sp>
      <p:sp>
        <p:nvSpPr>
          <p:cNvPr id="21" name="Rounded Rectangle 20"/>
          <p:cNvSpPr/>
          <p:nvPr/>
        </p:nvSpPr>
        <p:spPr>
          <a:xfrm>
            <a:off x="9084564" y="1645920"/>
            <a:ext cx="2647188" cy="2743200"/>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7444" y="1737360"/>
            <a:ext cx="2281428"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4  Formal handover</a:t>
            </a:r>
          </a:p>
        </p:txBody>
      </p:sp>
      <p:sp>
        <p:nvSpPr>
          <p:cNvPr id="23" name="TextBox 22"/>
          <p:cNvSpPr txBox="1"/>
          <p:nvPr/>
        </p:nvSpPr>
        <p:spPr>
          <a:xfrm>
            <a:off x="9267444" y="2066544"/>
            <a:ext cx="2281428" cy="420624"/>
          </a:xfrm>
          <a:prstGeom prst="rect">
            <a:avLst/>
          </a:prstGeom>
          <a:noFill/>
        </p:spPr>
        <p:txBody>
          <a:bodyPr wrap="square" lIns="0" tIns="0" rIns="0" bIns="0" anchor="ctr">
            <a:noAutofit/>
          </a:bodyPr>
          <a:lstStyle/>
          <a:p>
            <a:pPr algn="l">
              <a:lnSpc>
                <a:spcPct val="115000"/>
              </a:lnSpc>
              <a:spcAft>
                <a:spcPts val="0"/>
              </a:spcAft>
            </a:pPr>
            <a:r>
              <a:rPr sz="2100" b="1">
                <a:solidFill>
                  <a:srgbClr val="C00000"/>
                </a:solidFill>
                <a:latin typeface="Arial"/>
                <a:ea typeface="Arial"/>
              </a:rPr>
              <a:t>168</a:t>
            </a:r>
            <a:r>
              <a:rPr sz="1100" b="0">
                <a:solidFill>
                  <a:srgbClr val="1D1D1A"/>
                </a:solidFill>
                <a:latin typeface="Arial"/>
                <a:ea typeface="Arial"/>
              </a:rPr>
              <a:t> hours</a:t>
            </a:r>
          </a:p>
        </p:txBody>
      </p:sp>
      <p:sp>
        <p:nvSpPr>
          <p:cNvPr id="24" name="TextBox 23"/>
          <p:cNvSpPr txBox="1"/>
          <p:nvPr/>
        </p:nvSpPr>
        <p:spPr>
          <a:xfrm>
            <a:off x="9267444" y="2505456"/>
            <a:ext cx="2281428"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per round · ~21 working days · 40 people</a:t>
            </a:r>
          </a:p>
        </p:txBody>
      </p:sp>
      <p:sp>
        <p:nvSpPr>
          <p:cNvPr id="25" name="TextBox 24"/>
          <p:cNvSpPr txBox="1"/>
          <p:nvPr/>
        </p:nvSpPr>
        <p:spPr>
          <a:xfrm>
            <a:off x="9267444" y="2798064"/>
            <a:ext cx="2281428" cy="1536192"/>
          </a:xfrm>
          <a:prstGeom prst="rect">
            <a:avLst/>
          </a:prstGeom>
          <a:noFill/>
        </p:spPr>
        <p:txBody>
          <a:bodyPr wrap="square" lIns="0" tIns="0" rIns="0" bIns="0" anchor="t">
            <a:noAutofit/>
          </a:bodyPr>
          <a:lstStyle/>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For RNP's O&amp;M team</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Production environment and O&amp;M process</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Asset licences and runbooks</a:t>
            </a:r>
          </a:p>
          <a:p>
            <a:pPr algn="l" marL="201168" indent="-201168">
              <a:lnSpc>
                <a:spcPct val="125000"/>
              </a:lnSpc>
              <a:spcAft>
                <a:spcPts val="200"/>
              </a:spcAft>
              <a:buClr>
                <a:srgbClr val="C00000"/>
              </a:buClr>
              <a:buSzPct val="100000"/>
              <a:buFont typeface="Arial"/>
              <a:buAutoNum type="arabicPeriod"/>
            </a:pPr>
            <a:r>
              <a:rPr sz="950" b="0">
                <a:solidFill>
                  <a:srgbClr val="333333"/>
                </a:solidFill>
                <a:latin typeface="Arial"/>
                <a:ea typeface="Arial"/>
              </a:rPr>
              <a:t>Independent operation verified and signed</a:t>
            </a:r>
          </a:p>
        </p:txBody>
      </p:sp>
      <p:sp>
        <p:nvSpPr>
          <p:cNvPr id="26" name="Rounded Rectangle 25"/>
          <p:cNvSpPr/>
          <p:nvPr/>
        </p:nvSpPr>
        <p:spPr>
          <a:xfrm>
            <a:off x="457200" y="4498848"/>
            <a:ext cx="5500116" cy="1005840"/>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590288"/>
            <a:ext cx="2926080" cy="310896"/>
          </a:xfrm>
          <a:prstGeom prst="rect">
            <a:avLst/>
          </a:prstGeom>
          <a:noFill/>
        </p:spPr>
        <p:txBody>
          <a:bodyPr wrap="square" lIns="0" tIns="0" rIns="0" bIns="0" anchor="ctr">
            <a:noAutofit/>
          </a:bodyPr>
          <a:lstStyle/>
          <a:p>
            <a:pPr algn="l">
              <a:lnSpc>
                <a:spcPct val="115000"/>
              </a:lnSpc>
              <a:spcAft>
                <a:spcPts val="0"/>
              </a:spcAft>
            </a:pPr>
            <a:r>
              <a:rPr sz="1200" b="1">
                <a:solidFill>
                  <a:srgbClr val="C00000"/>
                </a:solidFill>
                <a:latin typeface="Arial"/>
                <a:ea typeface="Arial"/>
              </a:rPr>
              <a:t>iFLYTEK delivers</a:t>
            </a:r>
          </a:p>
        </p:txBody>
      </p:sp>
      <p:sp>
        <p:nvSpPr>
          <p:cNvPr id="28" name="TextBox 27"/>
          <p:cNvSpPr txBox="1"/>
          <p:nvPr/>
        </p:nvSpPr>
        <p:spPr>
          <a:xfrm>
            <a:off x="685800" y="4956048"/>
            <a:ext cx="5042916" cy="493776"/>
          </a:xfrm>
          <a:prstGeom prst="rect">
            <a:avLst/>
          </a:prstGeom>
          <a:noFill/>
        </p:spPr>
        <p:txBody>
          <a:bodyPr wrap="square" lIns="0" tIns="0" rIns="0" bIns="0" anchor="t">
            <a:noAutofit/>
          </a:bodyPr>
          <a:lstStyle/>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Coaching by the iFLYTEK engineers delivering this project, checking the key steps</a:t>
            </a:r>
          </a:p>
          <a:p>
            <a:pPr algn="l" marL="201168" indent="-201168">
              <a:lnSpc>
                <a:spcPct val="115000"/>
              </a:lnSpc>
              <a:spcAft>
                <a:spcPts val="300"/>
              </a:spcAft>
              <a:buClr>
                <a:srgbClr val="C00000"/>
              </a:buClr>
              <a:buSzPct val="100000"/>
              <a:buFont typeface="Arial"/>
              <a:buAutoNum type="arabicPeriod"/>
            </a:pPr>
            <a:r>
              <a:rPr sz="1000" b="0">
                <a:solidFill>
                  <a:srgbClr val="333333"/>
                </a:solidFill>
                <a:latin typeface="Arial"/>
                <a:ea typeface="Arial"/>
              </a:rPr>
              <a:t>Handover materials and verification of independent operation</a:t>
            </a:r>
          </a:p>
        </p:txBody>
      </p:sp>
      <p:sp>
        <p:nvSpPr>
          <p:cNvPr id="29" name="Rounded Rectangle 28"/>
          <p:cNvSpPr/>
          <p:nvPr/>
        </p:nvSpPr>
        <p:spPr>
          <a:xfrm>
            <a:off x="6231636" y="4498848"/>
            <a:ext cx="5500116" cy="1005840"/>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0236" y="4590288"/>
            <a:ext cx="2926080"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How RNP takes part</a:t>
            </a:r>
          </a:p>
        </p:txBody>
      </p:sp>
      <p:sp>
        <p:nvSpPr>
          <p:cNvPr id="31" name="TextBox 30"/>
          <p:cNvSpPr txBox="1"/>
          <p:nvPr/>
        </p:nvSpPr>
        <p:spPr>
          <a:xfrm>
            <a:off x="6460236" y="4956048"/>
            <a:ext cx="5042916" cy="493776"/>
          </a:xfrm>
          <a:prstGeom prst="rect">
            <a:avLst/>
          </a:prstGeom>
          <a:noFill/>
        </p:spPr>
        <p:txBody>
          <a:bodyPr wrap="square" lIns="0" tIns="0" rIns="0" bIns="0" anchor="t">
            <a:noAutofit/>
          </a:bodyPr>
          <a:lstStyle/>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Name stable trainees with the right background; the same people may span stages</a:t>
            </a:r>
          </a:p>
          <a:p>
            <a:pPr algn="l" marL="201168" indent="-201168">
              <a:lnSpc>
                <a:spcPct val="115000"/>
              </a:lnSpc>
              <a:spcAft>
                <a:spcPts val="300"/>
              </a:spcAft>
              <a:buClr>
                <a:srgbClr val="1F4E79"/>
              </a:buClr>
              <a:buSzPct val="100000"/>
              <a:buFont typeface="Arial"/>
              <a:buAutoNum type="arabicPeriod"/>
            </a:pPr>
            <a:r>
              <a:rPr sz="1000" b="0">
                <a:solidFill>
                  <a:srgbClr val="333333"/>
                </a:solidFill>
                <a:latin typeface="Arial"/>
                <a:ea typeface="Arial"/>
              </a:rPr>
              <a:t>Allocate their time and join real delivery work</a:t>
            </a:r>
          </a:p>
        </p:txBody>
      </p:sp>
      <p:sp>
        <p:nvSpPr>
          <p:cNvPr id="32" name="Rounded Rectangle 31"/>
          <p:cNvSpPr/>
          <p:nvPr/>
        </p:nvSpPr>
        <p:spPr>
          <a:xfrm>
            <a:off x="457200" y="5614416"/>
            <a:ext cx="11274552" cy="603504"/>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660136"/>
            <a:ext cx="10817352" cy="512064"/>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Card figures are per round. Two rounds total 1,216 hours and about 158 working days. Working days are training days spread across the project, not a continuous period. Product operations training is separate — see Appendix A12.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Implementation: two stages, five steps, three parties</a:t>
            </a:r>
          </a:p>
        </p:txBody>
      </p:sp>
      <p:sp>
        <p:nvSpPr>
          <p:cNvPr id="3" name="TextBox 2"/>
          <p:cNvSpPr txBox="1"/>
          <p:nvPr/>
        </p:nvSpPr>
        <p:spPr>
          <a:xfrm>
            <a:off x="457200" y="932688"/>
            <a:ext cx="11274552" cy="51206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Five steps advance on preconditions:  1) Huawei provides compute  2) iFLYTEK provides software and models  3) RNP provides data and operations</a:t>
            </a:r>
          </a:p>
        </p:txBody>
      </p:sp>
      <p:sp>
        <p:nvSpPr>
          <p:cNvPr id="4" name="TextBox 3"/>
          <p:cNvSpPr txBox="1"/>
          <p:nvPr/>
        </p:nvSpPr>
        <p:spPr>
          <a:xfrm>
            <a:off x="457200" y="1444752"/>
            <a:ext cx="11274552" cy="237744"/>
          </a:xfrm>
          <a:prstGeom prst="rect">
            <a:avLst/>
          </a:prstGeom>
          <a:noFill/>
        </p:spPr>
        <p:txBody>
          <a:bodyPr wrap="square" lIns="0" tIns="0" rIns="0" bIns="0" anchor="ctr">
            <a:noAutofit/>
          </a:bodyPr>
          <a:lstStyle/>
          <a:p>
            <a:pPr algn="r">
              <a:lnSpc>
                <a:spcPct val="115000"/>
              </a:lnSpc>
              <a:spcAft>
                <a:spcPts val="0"/>
              </a:spcAft>
            </a:pPr>
            <a:r>
              <a:rPr sz="900" b="0">
                <a:solidFill>
                  <a:srgbClr val="666666"/>
                </a:solidFill>
                <a:latin typeface="Arial"/>
                <a:ea typeface="Arial"/>
              </a:rPr>
              <a:t>Completion markers shown under each node</a:t>
            </a:r>
          </a:p>
        </p:txBody>
      </p:sp>
      <p:sp>
        <p:nvSpPr>
          <p:cNvPr id="5" name="Rounded Rectangle 4"/>
          <p:cNvSpPr/>
          <p:nvPr/>
        </p:nvSpPr>
        <p:spPr>
          <a:xfrm>
            <a:off x="594359" y="1682496"/>
            <a:ext cx="5865875" cy="27432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1682496"/>
            <a:ext cx="5852160" cy="274320"/>
          </a:xfrm>
          <a:prstGeom prst="rect">
            <a:avLst/>
          </a:prstGeom>
          <a:noFill/>
        </p:spPr>
        <p:txBody>
          <a:bodyPr wrap="square" lIns="0" tIns="0" rIns="0" bIns="0" anchor="ctr">
            <a:noAutofit/>
          </a:bodyPr>
          <a:lstStyle/>
          <a:p>
            <a:pPr algn="l">
              <a:lnSpc>
                <a:spcPct val="115000"/>
              </a:lnSpc>
              <a:spcAft>
                <a:spcPts val="0"/>
              </a:spcAft>
            </a:pPr>
            <a:r>
              <a:rPr sz="950" b="1">
                <a:solidFill>
                  <a:srgbClr val="1D1D1A"/>
                </a:solidFill>
                <a:latin typeface="Arial"/>
                <a:ea typeface="Arial"/>
              </a:rPr>
              <a:t>Stage 1 · base deployment, model build, first app delivery</a:t>
            </a:r>
          </a:p>
        </p:txBody>
      </p:sp>
      <p:sp>
        <p:nvSpPr>
          <p:cNvPr id="7" name="Rounded Rectangle 6"/>
          <p:cNvSpPr/>
          <p:nvPr/>
        </p:nvSpPr>
        <p:spPr>
          <a:xfrm>
            <a:off x="5728715" y="2011680"/>
            <a:ext cx="5957316" cy="274320"/>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65875" y="2011680"/>
            <a:ext cx="5852160" cy="274320"/>
          </a:xfrm>
          <a:prstGeom prst="rect">
            <a:avLst/>
          </a:prstGeom>
          <a:noFill/>
        </p:spPr>
        <p:txBody>
          <a:bodyPr wrap="square" lIns="0" tIns="0" rIns="0" bIns="0" anchor="ctr">
            <a:noAutofit/>
          </a:bodyPr>
          <a:lstStyle/>
          <a:p>
            <a:pPr algn="l">
              <a:lnSpc>
                <a:spcPct val="115000"/>
              </a:lnSpc>
              <a:spcAft>
                <a:spcPts val="0"/>
              </a:spcAft>
            </a:pPr>
            <a:r>
              <a:rPr sz="950" b="1">
                <a:solidFill>
                  <a:srgbClr val="1D1D1A"/>
                </a:solidFill>
                <a:latin typeface="Arial"/>
                <a:ea typeface="Arial"/>
              </a:rPr>
              <a:t>Stage 2 · extended operation once the second compute batch is ready</a:t>
            </a:r>
          </a:p>
        </p:txBody>
      </p:sp>
      <p:sp>
        <p:nvSpPr>
          <p:cNvPr id="9" name="Rectangle 8"/>
          <p:cNvSpPr/>
          <p:nvPr/>
        </p:nvSpPr>
        <p:spPr>
          <a:xfrm>
            <a:off x="1508760" y="3035808"/>
            <a:ext cx="9171432" cy="457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07592" y="2852927"/>
            <a:ext cx="402336" cy="402336"/>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200" b="1">
                <a:solidFill>
                  <a:srgbClr val="FFFFFF"/>
                </a:solidFill>
                <a:latin typeface="Arial"/>
                <a:ea typeface="Arial"/>
              </a:rPr>
              <a:t>1</a:t>
            </a:r>
          </a:p>
        </p:txBody>
      </p:sp>
      <p:sp>
        <p:nvSpPr>
          <p:cNvPr id="11" name="TextBox 10"/>
          <p:cNvSpPr txBox="1"/>
          <p:nvPr/>
        </p:nvSpPr>
        <p:spPr>
          <a:xfrm>
            <a:off x="411479" y="2322576"/>
            <a:ext cx="2194560" cy="420624"/>
          </a:xfrm>
          <a:prstGeom prst="rect">
            <a:avLst/>
          </a:prstGeom>
          <a:noFill/>
        </p:spPr>
        <p:txBody>
          <a:bodyPr wrap="square" lIns="0" tIns="0" rIns="0" bIns="0" anchor="b">
            <a:noAutofit/>
          </a:bodyPr>
          <a:lstStyle/>
          <a:p>
            <a:pPr algn="ctr">
              <a:lnSpc>
                <a:spcPct val="115000"/>
              </a:lnSpc>
              <a:spcAft>
                <a:spcPts val="0"/>
              </a:spcAft>
            </a:pPr>
            <a:r>
              <a:rPr sz="1100" b="1">
                <a:solidFill>
                  <a:srgbClr val="1D1D1A"/>
                </a:solidFill>
                <a:latin typeface="Arial"/>
                <a:ea typeface="Arial"/>
              </a:rPr>
              <a:t>Platform and corpus</a:t>
            </a:r>
          </a:p>
        </p:txBody>
      </p:sp>
      <p:sp>
        <p:nvSpPr>
          <p:cNvPr id="12" name="TextBox 11"/>
          <p:cNvSpPr txBox="1"/>
          <p:nvPr/>
        </p:nvSpPr>
        <p:spPr>
          <a:xfrm>
            <a:off x="411479" y="3346703"/>
            <a:ext cx="2194560" cy="603504"/>
          </a:xfrm>
          <a:prstGeom prst="rect">
            <a:avLst/>
          </a:prstGeom>
          <a:noFill/>
        </p:spPr>
        <p:txBody>
          <a:bodyPr wrap="square" lIns="0" tIns="0" rIns="0" bIns="0" anchor="t">
            <a:noAutofit/>
          </a:bodyPr>
          <a:lstStyle/>
          <a:p>
            <a:pPr algn="ctr">
              <a:lnSpc>
                <a:spcPct val="125000"/>
              </a:lnSpc>
              <a:spcAft>
                <a:spcPts val="400"/>
              </a:spcAft>
            </a:pPr>
            <a:r>
              <a:rPr sz="900" b="0">
                <a:solidFill>
                  <a:srgbClr val="666666"/>
                </a:solidFill>
                <a:latin typeface="Arial"/>
                <a:ea typeface="Arial"/>
              </a:rPr>
              <a:t>1) Platform accepted  2) Corpus pilot batch passes</a:t>
            </a:r>
          </a:p>
        </p:txBody>
      </p:sp>
      <p:sp>
        <p:nvSpPr>
          <p:cNvPr id="13" name="Oval 12"/>
          <p:cNvSpPr/>
          <p:nvPr/>
        </p:nvSpPr>
        <p:spPr>
          <a:xfrm>
            <a:off x="3600449" y="2852927"/>
            <a:ext cx="402336" cy="402336"/>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200" b="1">
                <a:solidFill>
                  <a:srgbClr val="FFFFFF"/>
                </a:solidFill>
                <a:latin typeface="Arial"/>
                <a:ea typeface="Arial"/>
              </a:rPr>
              <a:t>2</a:t>
            </a:r>
          </a:p>
        </p:txBody>
      </p:sp>
      <p:sp>
        <p:nvSpPr>
          <p:cNvPr id="14" name="TextBox 13"/>
          <p:cNvSpPr txBox="1"/>
          <p:nvPr/>
        </p:nvSpPr>
        <p:spPr>
          <a:xfrm>
            <a:off x="2704337" y="2322576"/>
            <a:ext cx="2194560" cy="420624"/>
          </a:xfrm>
          <a:prstGeom prst="rect">
            <a:avLst/>
          </a:prstGeom>
          <a:noFill/>
        </p:spPr>
        <p:txBody>
          <a:bodyPr wrap="square" lIns="0" tIns="0" rIns="0" bIns="0" anchor="b">
            <a:noAutofit/>
          </a:bodyPr>
          <a:lstStyle/>
          <a:p>
            <a:pPr algn="ctr">
              <a:lnSpc>
                <a:spcPct val="115000"/>
              </a:lnSpc>
              <a:spcAft>
                <a:spcPts val="0"/>
              </a:spcAft>
            </a:pPr>
            <a:r>
              <a:rPr sz="1100" b="1">
                <a:solidFill>
                  <a:srgbClr val="1D1D1A"/>
                </a:solidFill>
                <a:latin typeface="Arial"/>
                <a:ea typeface="Arial"/>
              </a:rPr>
              <a:t>Model training and evaluation</a:t>
            </a:r>
          </a:p>
        </p:txBody>
      </p:sp>
      <p:sp>
        <p:nvSpPr>
          <p:cNvPr id="15" name="TextBox 14"/>
          <p:cNvSpPr txBox="1"/>
          <p:nvPr/>
        </p:nvSpPr>
        <p:spPr>
          <a:xfrm>
            <a:off x="2704337" y="3346703"/>
            <a:ext cx="2194560" cy="603504"/>
          </a:xfrm>
          <a:prstGeom prst="rect">
            <a:avLst/>
          </a:prstGeom>
          <a:noFill/>
        </p:spPr>
        <p:txBody>
          <a:bodyPr wrap="square" lIns="0" tIns="0" rIns="0" bIns="0" anchor="t">
            <a:noAutofit/>
          </a:bodyPr>
          <a:lstStyle/>
          <a:p>
            <a:pPr algn="ctr">
              <a:lnSpc>
                <a:spcPct val="125000"/>
              </a:lnSpc>
              <a:spcAft>
                <a:spcPts val="400"/>
              </a:spcAft>
            </a:pPr>
            <a:r>
              <a:rPr sz="900" b="0">
                <a:solidFill>
                  <a:srgbClr val="666666"/>
                </a:solidFill>
                <a:latin typeface="Arial"/>
                <a:ea typeface="Arial"/>
              </a:rPr>
              <a:t>1) Text model passes  2) Speech models pass</a:t>
            </a:r>
          </a:p>
        </p:txBody>
      </p:sp>
      <p:sp>
        <p:nvSpPr>
          <p:cNvPr id="16" name="Oval 15"/>
          <p:cNvSpPr/>
          <p:nvPr/>
        </p:nvSpPr>
        <p:spPr>
          <a:xfrm>
            <a:off x="5893307" y="2852927"/>
            <a:ext cx="402336" cy="402336"/>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200" b="1">
                <a:solidFill>
                  <a:srgbClr val="FFFFFF"/>
                </a:solidFill>
                <a:latin typeface="Arial"/>
                <a:ea typeface="Arial"/>
              </a:rPr>
              <a:t>3</a:t>
            </a:r>
          </a:p>
        </p:txBody>
      </p:sp>
      <p:sp>
        <p:nvSpPr>
          <p:cNvPr id="17" name="TextBox 16"/>
          <p:cNvSpPr txBox="1"/>
          <p:nvPr/>
        </p:nvSpPr>
        <p:spPr>
          <a:xfrm>
            <a:off x="4997195" y="2322576"/>
            <a:ext cx="2194560" cy="420624"/>
          </a:xfrm>
          <a:prstGeom prst="rect">
            <a:avLst/>
          </a:prstGeom>
          <a:noFill/>
        </p:spPr>
        <p:txBody>
          <a:bodyPr wrap="square" lIns="0" tIns="0" rIns="0" bIns="0" anchor="b">
            <a:noAutofit/>
          </a:bodyPr>
          <a:lstStyle/>
          <a:p>
            <a:pPr algn="ctr">
              <a:lnSpc>
                <a:spcPct val="115000"/>
              </a:lnSpc>
              <a:spcAft>
                <a:spcPts val="0"/>
              </a:spcAft>
            </a:pPr>
            <a:r>
              <a:rPr sz="1100" b="1">
                <a:solidFill>
                  <a:srgbClr val="1D1D1A"/>
                </a:solidFill>
                <a:latin typeface="Arial"/>
                <a:ea typeface="Arial"/>
              </a:rPr>
              <a:t>Application and DLM</a:t>
            </a:r>
          </a:p>
        </p:txBody>
      </p:sp>
      <p:sp>
        <p:nvSpPr>
          <p:cNvPr id="18" name="TextBox 17"/>
          <p:cNvSpPr txBox="1"/>
          <p:nvPr/>
        </p:nvSpPr>
        <p:spPr>
          <a:xfrm>
            <a:off x="4997195" y="3346703"/>
            <a:ext cx="2194560" cy="603504"/>
          </a:xfrm>
          <a:prstGeom prst="rect">
            <a:avLst/>
          </a:prstGeom>
          <a:noFill/>
        </p:spPr>
        <p:txBody>
          <a:bodyPr wrap="square" lIns="0" tIns="0" rIns="0" bIns="0" anchor="t">
            <a:noAutofit/>
          </a:bodyPr>
          <a:lstStyle/>
          <a:p>
            <a:pPr algn="ctr">
              <a:lnSpc>
                <a:spcPct val="125000"/>
              </a:lnSpc>
              <a:spcAft>
                <a:spcPts val="400"/>
              </a:spcAft>
            </a:pPr>
            <a:r>
              <a:rPr sz="900" b="0">
                <a:solidFill>
                  <a:srgbClr val="666666"/>
                </a:solidFill>
                <a:latin typeface="Arial"/>
                <a:ea typeface="Arial"/>
              </a:rPr>
              <a:t>1) App Stage 1 delivered  2) DLM forms signed</a:t>
            </a:r>
          </a:p>
        </p:txBody>
      </p:sp>
      <p:sp>
        <p:nvSpPr>
          <p:cNvPr id="19" name="Oval 18"/>
          <p:cNvSpPr/>
          <p:nvPr/>
        </p:nvSpPr>
        <p:spPr>
          <a:xfrm>
            <a:off x="8186165" y="2852927"/>
            <a:ext cx="402336" cy="402336"/>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200" b="1">
                <a:solidFill>
                  <a:srgbClr val="FFFFFF"/>
                </a:solidFill>
                <a:latin typeface="Arial"/>
                <a:ea typeface="Arial"/>
              </a:rPr>
              <a:t>4</a:t>
            </a:r>
          </a:p>
        </p:txBody>
      </p:sp>
      <p:sp>
        <p:nvSpPr>
          <p:cNvPr id="20" name="TextBox 19"/>
          <p:cNvSpPr txBox="1"/>
          <p:nvPr/>
        </p:nvSpPr>
        <p:spPr>
          <a:xfrm>
            <a:off x="7290053" y="2322576"/>
            <a:ext cx="2194560" cy="420624"/>
          </a:xfrm>
          <a:prstGeom prst="rect">
            <a:avLst/>
          </a:prstGeom>
          <a:noFill/>
        </p:spPr>
        <p:txBody>
          <a:bodyPr wrap="square" lIns="0" tIns="0" rIns="0" bIns="0" anchor="b">
            <a:noAutofit/>
          </a:bodyPr>
          <a:lstStyle/>
          <a:p>
            <a:pPr algn="ctr">
              <a:lnSpc>
                <a:spcPct val="115000"/>
              </a:lnSpc>
              <a:spcAft>
                <a:spcPts val="0"/>
              </a:spcAft>
            </a:pPr>
            <a:r>
              <a:rPr sz="1100" b="1">
                <a:solidFill>
                  <a:srgbClr val="1D1D1A"/>
                </a:solidFill>
                <a:latin typeface="Arial"/>
                <a:ea typeface="Arial"/>
              </a:rPr>
              <a:t>Acceptance</a:t>
            </a:r>
          </a:p>
        </p:txBody>
      </p:sp>
      <p:sp>
        <p:nvSpPr>
          <p:cNvPr id="21" name="TextBox 20"/>
          <p:cNvSpPr txBox="1"/>
          <p:nvPr/>
        </p:nvSpPr>
        <p:spPr>
          <a:xfrm>
            <a:off x="7290053" y="3346703"/>
            <a:ext cx="2194560" cy="603504"/>
          </a:xfrm>
          <a:prstGeom prst="rect">
            <a:avLst/>
          </a:prstGeom>
          <a:noFill/>
        </p:spPr>
        <p:txBody>
          <a:bodyPr wrap="square" lIns="0" tIns="0" rIns="0" bIns="0" anchor="t">
            <a:noAutofit/>
          </a:bodyPr>
          <a:lstStyle/>
          <a:p>
            <a:pPr algn="ctr">
              <a:lnSpc>
                <a:spcPct val="125000"/>
              </a:lnSpc>
              <a:spcAft>
                <a:spcPts val="400"/>
              </a:spcAft>
            </a:pPr>
            <a:r>
              <a:rPr sz="900" b="0">
                <a:solidFill>
                  <a:srgbClr val="666666"/>
                </a:solidFill>
                <a:latin typeface="Arial"/>
                <a:ea typeface="Arial"/>
              </a:rPr>
              <a:t>Component acceptance reports signed</a:t>
            </a:r>
          </a:p>
        </p:txBody>
      </p:sp>
      <p:sp>
        <p:nvSpPr>
          <p:cNvPr id="22" name="Oval 21"/>
          <p:cNvSpPr/>
          <p:nvPr/>
        </p:nvSpPr>
        <p:spPr>
          <a:xfrm>
            <a:off x="10479024" y="2852927"/>
            <a:ext cx="402336" cy="402336"/>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200" b="1">
                <a:solidFill>
                  <a:srgbClr val="FFFFFF"/>
                </a:solidFill>
                <a:latin typeface="Arial"/>
                <a:ea typeface="Arial"/>
              </a:rPr>
              <a:t>5</a:t>
            </a:r>
          </a:p>
        </p:txBody>
      </p:sp>
      <p:sp>
        <p:nvSpPr>
          <p:cNvPr id="23" name="TextBox 22"/>
          <p:cNvSpPr txBox="1"/>
          <p:nvPr/>
        </p:nvSpPr>
        <p:spPr>
          <a:xfrm>
            <a:off x="9582912" y="2322576"/>
            <a:ext cx="2194560" cy="420624"/>
          </a:xfrm>
          <a:prstGeom prst="rect">
            <a:avLst/>
          </a:prstGeom>
          <a:noFill/>
        </p:spPr>
        <p:txBody>
          <a:bodyPr wrap="square" lIns="0" tIns="0" rIns="0" bIns="0" anchor="b">
            <a:noAutofit/>
          </a:bodyPr>
          <a:lstStyle/>
          <a:p>
            <a:pPr algn="ctr">
              <a:lnSpc>
                <a:spcPct val="115000"/>
              </a:lnSpc>
              <a:spcAft>
                <a:spcPts val="0"/>
              </a:spcAft>
            </a:pPr>
            <a:r>
              <a:rPr sz="1100" b="1">
                <a:solidFill>
                  <a:srgbClr val="1D1D1A"/>
                </a:solidFill>
                <a:latin typeface="Arial"/>
                <a:ea typeface="Arial"/>
              </a:rPr>
              <a:t>Handover and support</a:t>
            </a:r>
          </a:p>
        </p:txBody>
      </p:sp>
      <p:sp>
        <p:nvSpPr>
          <p:cNvPr id="24" name="TextBox 23"/>
          <p:cNvSpPr txBox="1"/>
          <p:nvPr/>
        </p:nvSpPr>
        <p:spPr>
          <a:xfrm>
            <a:off x="9582912" y="3346703"/>
            <a:ext cx="2194560" cy="603504"/>
          </a:xfrm>
          <a:prstGeom prst="rect">
            <a:avLst/>
          </a:prstGeom>
          <a:noFill/>
        </p:spPr>
        <p:txBody>
          <a:bodyPr wrap="square" lIns="0" tIns="0" rIns="0" bIns="0" anchor="t">
            <a:noAutofit/>
          </a:bodyPr>
          <a:lstStyle/>
          <a:p>
            <a:pPr algn="ctr">
              <a:lnSpc>
                <a:spcPct val="125000"/>
              </a:lnSpc>
              <a:spcAft>
                <a:spcPts val="400"/>
              </a:spcAft>
            </a:pPr>
            <a:r>
              <a:rPr sz="900" b="0">
                <a:solidFill>
                  <a:srgbClr val="666666"/>
                </a:solidFill>
                <a:latin typeface="Arial"/>
                <a:ea typeface="Arial"/>
              </a:rPr>
              <a:t>1) Handover signed  2) Assisted O&amp;M begins</a:t>
            </a:r>
          </a:p>
        </p:txBody>
      </p:sp>
      <p:sp>
        <p:nvSpPr>
          <p:cNvPr id="25" name="Rectangle 24"/>
          <p:cNvSpPr/>
          <p:nvPr/>
        </p:nvSpPr>
        <p:spPr>
          <a:xfrm>
            <a:off x="1508760" y="4169663"/>
            <a:ext cx="9171432" cy="4572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08760" y="4233672"/>
            <a:ext cx="9171432" cy="256032"/>
          </a:xfrm>
          <a:prstGeom prst="rect">
            <a:avLst/>
          </a:prstGeom>
          <a:noFill/>
        </p:spPr>
        <p:txBody>
          <a:bodyPr wrap="square" lIns="0" tIns="0" rIns="0" bIns="0" anchor="ctr">
            <a:noAutofit/>
          </a:bodyPr>
          <a:lstStyle/>
          <a:p>
            <a:pPr algn="ctr">
              <a:lnSpc>
                <a:spcPct val="115000"/>
              </a:lnSpc>
              <a:spcAft>
                <a:spcPts val="0"/>
              </a:spcAft>
            </a:pPr>
            <a:r>
              <a:rPr sz="900" b="0">
                <a:solidFill>
                  <a:srgbClr val="C00000"/>
                </a:solidFill>
                <a:latin typeface="Arial"/>
                <a:ea typeface="Arial"/>
              </a:rPr>
              <a:t>Knowledge transfer runs across all four stages; formal handover starts at least 3 months before assisted O&amp;M ends</a:t>
            </a:r>
          </a:p>
        </p:txBody>
      </p:sp>
      <p:sp>
        <p:nvSpPr>
          <p:cNvPr id="27" name="Rounded Rectangle 26"/>
          <p:cNvSpPr/>
          <p:nvPr/>
        </p:nvSpPr>
        <p:spPr>
          <a:xfrm>
            <a:off x="457200" y="4608576"/>
            <a:ext cx="3575304" cy="694944"/>
          </a:xfrm>
          <a:prstGeom prst="roundRect">
            <a:avLst>
              <a:gd name="adj" fmla="val 4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800600"/>
            <a:ext cx="1005840" cy="310896"/>
          </a:xfrm>
          <a:prstGeom prst="rect">
            <a:avLst/>
          </a:prstGeom>
          <a:noFill/>
        </p:spPr>
        <p:txBody>
          <a:bodyPr wrap="square" lIns="0" tIns="0" rIns="0" bIns="0" anchor="ctr">
            <a:noAutofit/>
          </a:bodyPr>
          <a:lstStyle/>
          <a:p>
            <a:pPr algn="l">
              <a:lnSpc>
                <a:spcPct val="115000"/>
              </a:lnSpc>
              <a:spcAft>
                <a:spcPts val="0"/>
              </a:spcAft>
            </a:pPr>
            <a:r>
              <a:rPr sz="1200" b="1">
                <a:solidFill>
                  <a:srgbClr val="1D1D1A"/>
                </a:solidFill>
                <a:latin typeface="Arial"/>
                <a:ea typeface="Arial"/>
              </a:rPr>
              <a:t>Huawei</a:t>
            </a:r>
          </a:p>
        </p:txBody>
      </p:sp>
      <p:sp>
        <p:nvSpPr>
          <p:cNvPr id="29" name="TextBox 28"/>
          <p:cNvSpPr txBox="1"/>
          <p:nvPr/>
        </p:nvSpPr>
        <p:spPr>
          <a:xfrm>
            <a:off x="1600200" y="4663440"/>
            <a:ext cx="2249424" cy="585216"/>
          </a:xfrm>
          <a:prstGeom prst="rect">
            <a:avLst/>
          </a:prstGeom>
          <a:noFill/>
        </p:spPr>
        <p:txBody>
          <a:bodyPr wrap="square" lIns="0" tIns="0" rIns="0" bIns="0" anchor="ctr">
            <a:noAutofit/>
          </a:bodyPr>
          <a:lstStyle/>
          <a:p>
            <a:pPr algn="l">
              <a:lnSpc>
                <a:spcPct val="125000"/>
              </a:lnSpc>
              <a:spcAft>
                <a:spcPts val="400"/>
              </a:spcAft>
            </a:pPr>
            <a:r>
              <a:rPr sz="950" b="0">
                <a:solidFill>
                  <a:srgbClr val="333333"/>
                </a:solidFill>
                <a:latin typeface="Arial"/>
                <a:ea typeface="Arial"/>
              </a:rPr>
              <a:t>Compute, facilities, network and base environment, coordinated by RNP</a:t>
            </a:r>
          </a:p>
        </p:txBody>
      </p:sp>
      <p:sp>
        <p:nvSpPr>
          <p:cNvPr id="30" name="Rounded Rectangle 29"/>
          <p:cNvSpPr/>
          <p:nvPr/>
        </p:nvSpPr>
        <p:spPr>
          <a:xfrm>
            <a:off x="4306824" y="4608576"/>
            <a:ext cx="3575304" cy="694944"/>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7992" y="4800600"/>
            <a:ext cx="1005840" cy="310896"/>
          </a:xfrm>
          <a:prstGeom prst="rect">
            <a:avLst/>
          </a:prstGeom>
          <a:noFill/>
        </p:spPr>
        <p:txBody>
          <a:bodyPr wrap="square" lIns="0" tIns="0" rIns="0" bIns="0" anchor="ctr">
            <a:noAutofit/>
          </a:bodyPr>
          <a:lstStyle/>
          <a:p>
            <a:pPr algn="l">
              <a:lnSpc>
                <a:spcPct val="115000"/>
              </a:lnSpc>
              <a:spcAft>
                <a:spcPts val="0"/>
              </a:spcAft>
            </a:pPr>
            <a:r>
              <a:rPr sz="1200" b="1">
                <a:solidFill>
                  <a:srgbClr val="C00000"/>
                </a:solidFill>
                <a:latin typeface="Arial"/>
                <a:ea typeface="Arial"/>
              </a:rPr>
              <a:t>iFLYTEK</a:t>
            </a:r>
          </a:p>
        </p:txBody>
      </p:sp>
      <p:sp>
        <p:nvSpPr>
          <p:cNvPr id="32" name="TextBox 31"/>
          <p:cNvSpPr txBox="1"/>
          <p:nvPr/>
        </p:nvSpPr>
        <p:spPr>
          <a:xfrm>
            <a:off x="5449824" y="4663440"/>
            <a:ext cx="2249424" cy="585216"/>
          </a:xfrm>
          <a:prstGeom prst="rect">
            <a:avLst/>
          </a:prstGeom>
          <a:noFill/>
        </p:spPr>
        <p:txBody>
          <a:bodyPr wrap="square" lIns="0" tIns="0" rIns="0" bIns="0" anchor="ctr">
            <a:noAutofit/>
          </a:bodyPr>
          <a:lstStyle/>
          <a:p>
            <a:pPr algn="l">
              <a:lnSpc>
                <a:spcPct val="125000"/>
              </a:lnSpc>
              <a:spcAft>
                <a:spcPts val="400"/>
              </a:spcAft>
            </a:pPr>
            <a:r>
              <a:rPr sz="950" b="0">
                <a:solidFill>
                  <a:srgbClr val="333333"/>
                </a:solidFill>
                <a:latin typeface="Arial"/>
                <a:ea typeface="Arial"/>
              </a:rPr>
              <a:t>Platform, models, applications, knowledge transfer and support</a:t>
            </a:r>
          </a:p>
        </p:txBody>
      </p:sp>
      <p:sp>
        <p:nvSpPr>
          <p:cNvPr id="33" name="Rounded Rectangle 32"/>
          <p:cNvSpPr/>
          <p:nvPr/>
        </p:nvSpPr>
        <p:spPr>
          <a:xfrm>
            <a:off x="8156448" y="4608576"/>
            <a:ext cx="3575304" cy="694944"/>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57616" y="4800600"/>
            <a:ext cx="1005840"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RNP</a:t>
            </a:r>
          </a:p>
        </p:txBody>
      </p:sp>
      <p:sp>
        <p:nvSpPr>
          <p:cNvPr id="35" name="TextBox 34"/>
          <p:cNvSpPr txBox="1"/>
          <p:nvPr/>
        </p:nvSpPr>
        <p:spPr>
          <a:xfrm>
            <a:off x="9299448" y="4663440"/>
            <a:ext cx="2249424" cy="585216"/>
          </a:xfrm>
          <a:prstGeom prst="rect">
            <a:avLst/>
          </a:prstGeom>
          <a:noFill/>
        </p:spPr>
        <p:txBody>
          <a:bodyPr wrap="square" lIns="0" tIns="0" rIns="0" bIns="0" anchor="ctr">
            <a:noAutofit/>
          </a:bodyPr>
          <a:lstStyle/>
          <a:p>
            <a:pPr algn="l">
              <a:lnSpc>
                <a:spcPct val="125000"/>
              </a:lnSpc>
              <a:spcAft>
                <a:spcPts val="400"/>
              </a:spcAft>
            </a:pPr>
            <a:r>
              <a:rPr sz="950" b="0">
                <a:solidFill>
                  <a:srgbClr val="333333"/>
                </a:solidFill>
                <a:latin typeface="Arial"/>
                <a:ea typeface="Arial"/>
              </a:rPr>
              <a:t>Corpus and licences, DLM training, acceptance and daily operations</a:t>
            </a:r>
          </a:p>
        </p:txBody>
      </p:sp>
      <p:sp>
        <p:nvSpPr>
          <p:cNvPr id="36" name="Rounded Rectangle 35"/>
          <p:cNvSpPr/>
          <p:nvPr/>
        </p:nvSpPr>
        <p:spPr>
          <a:xfrm>
            <a:off x="457200" y="5431536"/>
            <a:ext cx="11274552" cy="548640"/>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5477256"/>
            <a:ext cx="10817352" cy="457200"/>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Month-by-month dates are agreed before implementation, with T0 at first compute readiness. RNP plans staffing from this — the three intakes are on the next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RNP's investment: SOW responsibilities and three staffing intakes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A7</a:t>
            </a:r>
          </a:p>
        </p:txBody>
      </p:sp>
      <p:sp>
        <p:nvSpPr>
          <p:cNvPr id="4" name="TextBox 3"/>
          <p:cNvSpPr txBox="1"/>
          <p:nvPr/>
        </p:nvSpPr>
        <p:spPr>
          <a:xfrm>
            <a:off x="457200" y="932688"/>
            <a:ext cx="11274552" cy="60350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Under the SOW, RNP is responsible for  1) producing and licensing the Portuguese corpus  2) training and evaluating the DLMs  3) approving users and operating the app  4) coordinating Huawei compute and environment, and organising acceptance</a:t>
            </a:r>
          </a:p>
        </p:txBody>
      </p:sp>
      <p:sp>
        <p:nvSpPr>
          <p:cNvPr id="5" name="Rounded Rectangle 4"/>
          <p:cNvSpPr/>
          <p:nvPr/>
        </p:nvSpPr>
        <p:spPr>
          <a:xfrm>
            <a:off x="457200" y="1792224"/>
            <a:ext cx="3575304" cy="2240280"/>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20240"/>
            <a:ext cx="3118104"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Intake 1 · from step 1</a:t>
            </a:r>
          </a:p>
        </p:txBody>
      </p:sp>
      <p:sp>
        <p:nvSpPr>
          <p:cNvPr id="7" name="TextBox 6"/>
          <p:cNvSpPr txBox="1"/>
          <p:nvPr/>
        </p:nvSpPr>
        <p:spPr>
          <a:xfrm>
            <a:off x="685800" y="2267712"/>
            <a:ext cx="3118104" cy="457200"/>
          </a:xfrm>
          <a:prstGeom prst="rect">
            <a:avLst/>
          </a:prstGeom>
          <a:noFill/>
        </p:spPr>
        <p:txBody>
          <a:bodyPr wrap="square" lIns="0" tIns="0" rIns="0" bIns="0" anchor="ctr">
            <a:noAutofit/>
          </a:bodyPr>
          <a:lstStyle/>
          <a:p>
            <a:pPr algn="l">
              <a:lnSpc>
                <a:spcPct val="115000"/>
              </a:lnSpc>
              <a:spcAft>
                <a:spcPts val="0"/>
              </a:spcAft>
            </a:pPr>
            <a:r>
              <a:rPr sz="1700" b="1">
                <a:solidFill>
                  <a:srgbClr val="0070C0"/>
                </a:solidFill>
                <a:latin typeface="Arial"/>
                <a:ea typeface="Arial"/>
              </a:rPr>
              <a:t>about 30</a:t>
            </a:r>
            <a:r>
              <a:rPr sz="1700" b="1">
                <a:solidFill>
                  <a:srgbClr val="1D1D1A"/>
                </a:solidFill>
                <a:latin typeface="Arial"/>
                <a:ea typeface="Arial"/>
              </a:rPr>
              <a:t> people</a:t>
            </a:r>
          </a:p>
        </p:txBody>
      </p:sp>
      <p:sp>
        <p:nvSpPr>
          <p:cNvPr id="8" name="TextBox 7"/>
          <p:cNvSpPr txBox="1"/>
          <p:nvPr/>
        </p:nvSpPr>
        <p:spPr>
          <a:xfrm>
            <a:off x="685800" y="2779776"/>
            <a:ext cx="3118104" cy="603504"/>
          </a:xfrm>
          <a:prstGeom prst="rect">
            <a:avLst/>
          </a:prstGeom>
          <a:noFill/>
        </p:spPr>
        <p:txBody>
          <a:bodyPr wrap="square" lIns="0" tIns="0" rIns="0" bIns="0" anchor="t">
            <a:noAutofit/>
          </a:bodyPr>
          <a:lstStyle/>
          <a:p>
            <a:pPr algn="l">
              <a:lnSpc>
                <a:spcPct val="130000"/>
              </a:lnSpc>
              <a:spcAft>
                <a:spcPts val="400"/>
              </a:spcAft>
            </a:pPr>
            <a:r>
              <a:rPr sz="1000" b="1">
                <a:solidFill>
                  <a:srgbClr val="333333"/>
                </a:solidFill>
                <a:latin typeface="Arial"/>
                <a:ea typeface="Arial"/>
              </a:rPr>
              <a:t>Roles:</a:t>
            </a:r>
            <a:r>
              <a:rPr sz="1000" b="0">
                <a:solidFill>
                  <a:srgbClr val="333333"/>
                </a:solidFill>
                <a:latin typeface="Arial"/>
                <a:ea typeface="Arial"/>
              </a:rPr>
              <a:t> 1) Data team 2) Portuguese experts 3) Compliance review 4) Project coordination</a:t>
            </a:r>
          </a:p>
        </p:txBody>
      </p:sp>
      <p:sp>
        <p:nvSpPr>
          <p:cNvPr id="9" name="TextBox 8"/>
          <p:cNvSpPr txBox="1"/>
          <p:nvPr/>
        </p:nvSpPr>
        <p:spPr>
          <a:xfrm>
            <a:off x="685800" y="3438144"/>
            <a:ext cx="3118104" cy="512064"/>
          </a:xfrm>
          <a:prstGeom prst="rect">
            <a:avLst/>
          </a:prstGeom>
          <a:noFill/>
        </p:spPr>
        <p:txBody>
          <a:bodyPr wrap="square" lIns="0" tIns="0" rIns="0" bIns="0" anchor="t">
            <a:noAutofit/>
          </a:bodyPr>
          <a:lstStyle/>
          <a:p>
            <a:pPr algn="l">
              <a:lnSpc>
                <a:spcPct val="130000"/>
              </a:lnSpc>
              <a:spcAft>
                <a:spcPts val="400"/>
              </a:spcAft>
            </a:pPr>
            <a:r>
              <a:rPr sz="1000" b="1">
                <a:solidFill>
                  <a:srgbClr val="333333"/>
                </a:solidFill>
                <a:latin typeface="Arial"/>
                <a:ea typeface="Arial"/>
              </a:rPr>
              <a:t>Tasks:</a:t>
            </a:r>
            <a:r>
              <a:rPr sz="1000" b="0">
                <a:solidFill>
                  <a:srgbClr val="333333"/>
                </a:solidFill>
                <a:latin typeface="Arial"/>
                <a:ea typeface="Arial"/>
              </a:rPr>
              <a:t> 1) Collect and annotate 2) Quality-check the corpus 3) Secure licences</a:t>
            </a:r>
          </a:p>
        </p:txBody>
      </p:sp>
      <p:sp>
        <p:nvSpPr>
          <p:cNvPr id="10" name="Right Arrow 9"/>
          <p:cNvSpPr/>
          <p:nvPr/>
        </p:nvSpPr>
        <p:spPr>
          <a:xfrm>
            <a:off x="4069080" y="266090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06824" y="1792224"/>
            <a:ext cx="3575304" cy="2240280"/>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1920240"/>
            <a:ext cx="3118104"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Intake 2 · from step 2</a:t>
            </a:r>
          </a:p>
        </p:txBody>
      </p:sp>
      <p:sp>
        <p:nvSpPr>
          <p:cNvPr id="13" name="TextBox 12"/>
          <p:cNvSpPr txBox="1"/>
          <p:nvPr/>
        </p:nvSpPr>
        <p:spPr>
          <a:xfrm>
            <a:off x="4535424" y="2267712"/>
            <a:ext cx="3118104" cy="457200"/>
          </a:xfrm>
          <a:prstGeom prst="rect">
            <a:avLst/>
          </a:prstGeom>
          <a:noFill/>
        </p:spPr>
        <p:txBody>
          <a:bodyPr wrap="square" lIns="0" tIns="0" rIns="0" bIns="0" anchor="ctr">
            <a:noAutofit/>
          </a:bodyPr>
          <a:lstStyle/>
          <a:p>
            <a:pPr algn="l">
              <a:lnSpc>
                <a:spcPct val="115000"/>
              </a:lnSpc>
              <a:spcAft>
                <a:spcPts val="0"/>
              </a:spcAft>
            </a:pPr>
            <a:r>
              <a:rPr sz="1700" b="1">
                <a:solidFill>
                  <a:srgbClr val="0070C0"/>
                </a:solidFill>
                <a:latin typeface="Arial"/>
                <a:ea typeface="Arial"/>
              </a:rPr>
              <a:t>about 20</a:t>
            </a:r>
            <a:r>
              <a:rPr sz="1700" b="1">
                <a:solidFill>
                  <a:srgbClr val="1D1D1A"/>
                </a:solidFill>
                <a:latin typeface="Arial"/>
                <a:ea typeface="Arial"/>
              </a:rPr>
              <a:t> people</a:t>
            </a:r>
          </a:p>
        </p:txBody>
      </p:sp>
      <p:sp>
        <p:nvSpPr>
          <p:cNvPr id="14" name="TextBox 13"/>
          <p:cNvSpPr txBox="1"/>
          <p:nvPr/>
        </p:nvSpPr>
        <p:spPr>
          <a:xfrm>
            <a:off x="4535424" y="2779776"/>
            <a:ext cx="3118104" cy="603504"/>
          </a:xfrm>
          <a:prstGeom prst="rect">
            <a:avLst/>
          </a:prstGeom>
          <a:noFill/>
        </p:spPr>
        <p:txBody>
          <a:bodyPr wrap="square" lIns="0" tIns="0" rIns="0" bIns="0" anchor="t">
            <a:noAutofit/>
          </a:bodyPr>
          <a:lstStyle/>
          <a:p>
            <a:pPr algn="l">
              <a:lnSpc>
                <a:spcPct val="130000"/>
              </a:lnSpc>
              <a:spcAft>
                <a:spcPts val="400"/>
              </a:spcAft>
            </a:pPr>
            <a:r>
              <a:rPr sz="1000" b="1">
                <a:solidFill>
                  <a:srgbClr val="333333"/>
                </a:solidFill>
                <a:latin typeface="Arial"/>
                <a:ea typeface="Arial"/>
              </a:rPr>
              <a:t>Roles:</a:t>
            </a:r>
            <a:r>
              <a:rPr sz="1000" b="0">
                <a:solidFill>
                  <a:srgbClr val="333333"/>
                </a:solidFill>
                <a:latin typeface="Arial"/>
                <a:ea typeface="Arial"/>
              </a:rPr>
              <a:t> 1) Algorithm engineers 2) Test engineers 3) Business domain experts</a:t>
            </a:r>
          </a:p>
        </p:txBody>
      </p:sp>
      <p:sp>
        <p:nvSpPr>
          <p:cNvPr id="15" name="TextBox 14"/>
          <p:cNvSpPr txBox="1"/>
          <p:nvPr/>
        </p:nvSpPr>
        <p:spPr>
          <a:xfrm>
            <a:off x="4535424" y="3438144"/>
            <a:ext cx="3118104" cy="512064"/>
          </a:xfrm>
          <a:prstGeom prst="rect">
            <a:avLst/>
          </a:prstGeom>
          <a:noFill/>
        </p:spPr>
        <p:txBody>
          <a:bodyPr wrap="square" lIns="0" tIns="0" rIns="0" bIns="0" anchor="t">
            <a:noAutofit/>
          </a:bodyPr>
          <a:lstStyle/>
          <a:p>
            <a:pPr algn="l">
              <a:lnSpc>
                <a:spcPct val="130000"/>
              </a:lnSpc>
              <a:spcAft>
                <a:spcPts val="400"/>
              </a:spcAft>
            </a:pPr>
            <a:r>
              <a:rPr sz="1000" b="1">
                <a:solidFill>
                  <a:srgbClr val="333333"/>
                </a:solidFill>
                <a:latin typeface="Arial"/>
                <a:ea typeface="Arial"/>
              </a:rPr>
              <a:t>Tasks:</a:t>
            </a:r>
            <a:r>
              <a:rPr sz="1000" b="0">
                <a:solidFill>
                  <a:srgbClr val="333333"/>
                </a:solidFill>
                <a:latin typeface="Arial"/>
                <a:ea typeface="Arial"/>
              </a:rPr>
              <a:t> 1) Join national model training and evaluation 2) Then train the DLMs</a:t>
            </a:r>
          </a:p>
        </p:txBody>
      </p:sp>
      <p:sp>
        <p:nvSpPr>
          <p:cNvPr id="16" name="Right Arrow 15"/>
          <p:cNvSpPr/>
          <p:nvPr/>
        </p:nvSpPr>
        <p:spPr>
          <a:xfrm>
            <a:off x="7918704" y="2660904"/>
            <a:ext cx="201168" cy="201168"/>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56448" y="1792224"/>
            <a:ext cx="3575304" cy="2240280"/>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1920240"/>
            <a:ext cx="3118104" cy="310896"/>
          </a:xfrm>
          <a:prstGeom prst="rect">
            <a:avLst/>
          </a:prstGeom>
          <a:noFill/>
        </p:spPr>
        <p:txBody>
          <a:bodyPr wrap="square" lIns="0" tIns="0" rIns="0" bIns="0" anchor="ctr">
            <a:noAutofit/>
          </a:bodyPr>
          <a:lstStyle/>
          <a:p>
            <a:pPr algn="l">
              <a:lnSpc>
                <a:spcPct val="115000"/>
              </a:lnSpc>
              <a:spcAft>
                <a:spcPts val="0"/>
              </a:spcAft>
            </a:pPr>
            <a:r>
              <a:rPr sz="1200" b="1">
                <a:solidFill>
                  <a:srgbClr val="1F4E79"/>
                </a:solidFill>
                <a:latin typeface="Arial"/>
                <a:ea typeface="Arial"/>
              </a:rPr>
              <a:t>Intake 3 · from step 3</a:t>
            </a:r>
          </a:p>
        </p:txBody>
      </p:sp>
      <p:sp>
        <p:nvSpPr>
          <p:cNvPr id="19" name="TextBox 18"/>
          <p:cNvSpPr txBox="1"/>
          <p:nvPr/>
        </p:nvSpPr>
        <p:spPr>
          <a:xfrm>
            <a:off x="8385048" y="2267712"/>
            <a:ext cx="3118104" cy="457200"/>
          </a:xfrm>
          <a:prstGeom prst="rect">
            <a:avLst/>
          </a:prstGeom>
          <a:noFill/>
        </p:spPr>
        <p:txBody>
          <a:bodyPr wrap="square" lIns="0" tIns="0" rIns="0" bIns="0" anchor="ctr">
            <a:noAutofit/>
          </a:bodyPr>
          <a:lstStyle/>
          <a:p>
            <a:pPr algn="l">
              <a:lnSpc>
                <a:spcPct val="115000"/>
              </a:lnSpc>
              <a:spcAft>
                <a:spcPts val="0"/>
              </a:spcAft>
            </a:pPr>
            <a:r>
              <a:rPr sz="1700" b="1">
                <a:solidFill>
                  <a:srgbClr val="0070C0"/>
                </a:solidFill>
                <a:latin typeface="Arial"/>
                <a:ea typeface="Arial"/>
              </a:rPr>
              <a:t>about 30</a:t>
            </a:r>
            <a:r>
              <a:rPr sz="1700" b="1">
                <a:solidFill>
                  <a:srgbClr val="1D1D1A"/>
                </a:solidFill>
                <a:latin typeface="Arial"/>
                <a:ea typeface="Arial"/>
              </a:rPr>
              <a:t> people</a:t>
            </a:r>
          </a:p>
        </p:txBody>
      </p:sp>
      <p:sp>
        <p:nvSpPr>
          <p:cNvPr id="20" name="TextBox 19"/>
          <p:cNvSpPr txBox="1"/>
          <p:nvPr/>
        </p:nvSpPr>
        <p:spPr>
          <a:xfrm>
            <a:off x="8385048" y="2779776"/>
            <a:ext cx="3118104" cy="603504"/>
          </a:xfrm>
          <a:prstGeom prst="rect">
            <a:avLst/>
          </a:prstGeom>
          <a:noFill/>
        </p:spPr>
        <p:txBody>
          <a:bodyPr wrap="square" lIns="0" tIns="0" rIns="0" bIns="0" anchor="t">
            <a:noAutofit/>
          </a:bodyPr>
          <a:lstStyle/>
          <a:p>
            <a:pPr algn="l">
              <a:lnSpc>
                <a:spcPct val="130000"/>
              </a:lnSpc>
              <a:spcAft>
                <a:spcPts val="400"/>
              </a:spcAft>
            </a:pPr>
            <a:r>
              <a:rPr sz="1000" b="1">
                <a:solidFill>
                  <a:srgbClr val="333333"/>
                </a:solidFill>
                <a:latin typeface="Arial"/>
                <a:ea typeface="Arial"/>
              </a:rPr>
              <a:t>Roles:</a:t>
            </a:r>
            <a:r>
              <a:rPr sz="1000" b="0">
                <a:solidFill>
                  <a:srgbClr val="333333"/>
                </a:solidFill>
                <a:latin typeface="Arial"/>
                <a:ea typeface="Arial"/>
              </a:rPr>
              <a:t> 1) Application development and operations 2) Platform O&amp;M</a:t>
            </a:r>
          </a:p>
        </p:txBody>
      </p:sp>
      <p:sp>
        <p:nvSpPr>
          <p:cNvPr id="21" name="TextBox 20"/>
          <p:cNvSpPr txBox="1"/>
          <p:nvPr/>
        </p:nvSpPr>
        <p:spPr>
          <a:xfrm>
            <a:off x="8385048" y="3438144"/>
            <a:ext cx="3118104" cy="512064"/>
          </a:xfrm>
          <a:prstGeom prst="rect">
            <a:avLst/>
          </a:prstGeom>
          <a:noFill/>
        </p:spPr>
        <p:txBody>
          <a:bodyPr wrap="square" lIns="0" tIns="0" rIns="0" bIns="0" anchor="t">
            <a:noAutofit/>
          </a:bodyPr>
          <a:lstStyle/>
          <a:p>
            <a:pPr algn="l">
              <a:lnSpc>
                <a:spcPct val="130000"/>
              </a:lnSpc>
              <a:spcAft>
                <a:spcPts val="400"/>
              </a:spcAft>
            </a:pPr>
            <a:r>
              <a:rPr sz="1000" b="1">
                <a:solidFill>
                  <a:srgbClr val="333333"/>
                </a:solidFill>
                <a:latin typeface="Arial"/>
                <a:ea typeface="Arial"/>
              </a:rPr>
              <a:t>Tasks:</a:t>
            </a:r>
            <a:r>
              <a:rPr sz="1000" b="0">
                <a:solidFill>
                  <a:srgbClr val="333333"/>
                </a:solidFill>
                <a:latin typeface="Arial"/>
                <a:ea typeface="Arial"/>
              </a:rPr>
              <a:t> 1) Take over app operations 2) User approval 3) Platform O&amp;M</a:t>
            </a:r>
          </a:p>
        </p:txBody>
      </p:sp>
      <p:sp>
        <p:nvSpPr>
          <p:cNvPr id="22" name="TextBox 21"/>
          <p:cNvSpPr txBox="1"/>
          <p:nvPr/>
        </p:nvSpPr>
        <p:spPr>
          <a:xfrm>
            <a:off x="457200" y="4151376"/>
            <a:ext cx="11274552" cy="457200"/>
          </a:xfrm>
          <a:prstGeom prst="rect">
            <a:avLst/>
          </a:prstGeom>
          <a:noFill/>
        </p:spPr>
        <p:txBody>
          <a:bodyPr wrap="square" lIns="0" tIns="0" rIns="0" bIns="0" anchor="ctr">
            <a:noAutofit/>
          </a:bodyPr>
          <a:lstStyle/>
          <a:p>
            <a:pPr algn="l">
              <a:lnSpc>
                <a:spcPct val="115000"/>
              </a:lnSpc>
              <a:spcAft>
                <a:spcPts val="0"/>
              </a:spcAft>
            </a:pPr>
            <a:r>
              <a:rPr sz="950" b="0">
                <a:solidFill>
                  <a:srgbClr val="666666"/>
                </a:solidFill>
                <a:latin typeface="Arial"/>
                <a:ea typeface="Arial"/>
              </a:rPr>
              <a:t>Headcounts are indicative, from iFLYTEK's early estimate. They are peaks per function that can be reused across activities, not people on site at the same time; final numbers follow the SOW split and workload.</a:t>
            </a:r>
          </a:p>
        </p:txBody>
      </p:sp>
      <p:sp>
        <p:nvSpPr>
          <p:cNvPr id="23" name="Rounded Rectangle 22"/>
          <p:cNvSpPr/>
          <p:nvPr/>
        </p:nvSpPr>
        <p:spPr>
          <a:xfrm>
            <a:off x="457200" y="4700016"/>
            <a:ext cx="11274552" cy="658368"/>
          </a:xfrm>
          <a:prstGeom prst="roundRect">
            <a:avLst>
              <a:gd name="adj" fmla="val 4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745736"/>
            <a:ext cx="10817352" cy="566928"/>
          </a:xfrm>
          <a:prstGeom prst="rect">
            <a:avLst/>
          </a:prstGeom>
          <a:noFill/>
        </p:spPr>
        <p:txBody>
          <a:bodyPr wrap="square" lIns="0" tIns="0" rIns="0" bIns="0" anchor="ctr">
            <a:noAutofit/>
          </a:bodyPr>
          <a:lstStyle/>
          <a:p>
            <a:pPr algn="l">
              <a:lnSpc>
                <a:spcPct val="115000"/>
              </a:lnSpc>
              <a:spcAft>
                <a:spcPts val="400"/>
              </a:spcAft>
            </a:pPr>
            <a:r>
              <a:rPr sz="1150" b="1">
                <a:solidFill>
                  <a:srgbClr val="1F4E79"/>
                </a:solidFill>
                <a:latin typeface="Arial"/>
                <a:ea typeface="Arial"/>
              </a:rPr>
              <a:t>What this means for RNP</a:t>
            </a:r>
            <a:r>
              <a:rPr sz="1150" b="0">
                <a:solidFill>
                  <a:srgbClr val="1F4E79"/>
                </a:solidFill>
                <a:latin typeface="Arial"/>
                <a:ea typeface="Arial"/>
              </a:rPr>
              <a:t>   The data team and Portuguese experts come first, then algorithm engineers, with the application and operations team in the third intake. Core knowledge-transfer trainees are named from these three intakes: 50 in Foundation, 20 each in Shadowing and Guided hands-on, 40 in Handover, per round, twice — 260 attendances in total.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Against RNP's TR: who delivers each of the five layers</a:t>
            </a:r>
          </a:p>
        </p:txBody>
      </p:sp>
      <p:sp>
        <p:nvSpPr>
          <p:cNvPr id="3" name="Rounded Rectangle 2">
            <a:hlinkClick action="ppaction://hlinksldjump" r:id="rId2"/>
          </p:cNvPr>
          <p:cNvSpPr/>
          <p:nvPr/>
        </p:nvSpPr>
        <p:spPr>
          <a:xfrm>
            <a:off x="10607040" y="292608"/>
            <a:ext cx="1051560" cy="27432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App. A14</a:t>
            </a:r>
          </a:p>
        </p:txBody>
      </p:sp>
      <p:sp>
        <p:nvSpPr>
          <p:cNvPr id="4" name="TextBox 3"/>
          <p:cNvSpPr txBox="1"/>
          <p:nvPr/>
        </p:nvSpPr>
        <p:spPr>
          <a:xfrm>
            <a:off x="457200" y="932688"/>
            <a:ext cx="11274552" cy="42062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The TR groups the national AI software stack into five sets of requirements. The table below shows how the contractor side (Huawei + iFLYTEK) maps to them.</a:t>
            </a:r>
          </a:p>
        </p:txBody>
      </p:sp>
      <p:sp>
        <p:nvSpPr>
          <p:cNvPr id="5" name="TextBox 4"/>
          <p:cNvSpPr txBox="1"/>
          <p:nvPr/>
        </p:nvSpPr>
        <p:spPr>
          <a:xfrm>
            <a:off x="603504" y="1499616"/>
            <a:ext cx="2103120" cy="256032"/>
          </a:xfrm>
          <a:prstGeom prst="rect">
            <a:avLst/>
          </a:prstGeom>
          <a:noFill/>
        </p:spPr>
        <p:txBody>
          <a:bodyPr wrap="square" lIns="0" tIns="0" rIns="0" bIns="0" anchor="ctr">
            <a:noAutofit/>
          </a:bodyPr>
          <a:lstStyle/>
          <a:p>
            <a:pPr algn="l">
              <a:lnSpc>
                <a:spcPct val="115000"/>
              </a:lnSpc>
              <a:spcAft>
                <a:spcPts val="0"/>
              </a:spcAft>
            </a:pPr>
            <a:r>
              <a:rPr sz="1050" b="1">
                <a:solidFill>
                  <a:srgbClr val="666666"/>
                </a:solidFill>
                <a:latin typeface="Arial"/>
                <a:ea typeface="Arial"/>
              </a:rPr>
              <a:t>Layer</a:t>
            </a:r>
          </a:p>
        </p:txBody>
      </p:sp>
      <p:sp>
        <p:nvSpPr>
          <p:cNvPr id="6" name="TextBox 5"/>
          <p:cNvSpPr txBox="1"/>
          <p:nvPr/>
        </p:nvSpPr>
        <p:spPr>
          <a:xfrm>
            <a:off x="2798064" y="1499616"/>
            <a:ext cx="2194560" cy="256032"/>
          </a:xfrm>
          <a:prstGeom prst="rect">
            <a:avLst/>
          </a:prstGeom>
          <a:noFill/>
        </p:spPr>
        <p:txBody>
          <a:bodyPr wrap="square" lIns="0" tIns="0" rIns="0" bIns="0" anchor="ctr">
            <a:noAutofit/>
          </a:bodyPr>
          <a:lstStyle/>
          <a:p>
            <a:pPr algn="l">
              <a:lnSpc>
                <a:spcPct val="115000"/>
              </a:lnSpc>
              <a:spcAft>
                <a:spcPts val="0"/>
              </a:spcAft>
            </a:pPr>
            <a:r>
              <a:rPr sz="1050" b="1">
                <a:solidFill>
                  <a:srgbClr val="666666"/>
                </a:solidFill>
                <a:latin typeface="Arial"/>
                <a:ea typeface="Arial"/>
              </a:rPr>
              <a:t>Requirement</a:t>
            </a:r>
          </a:p>
        </p:txBody>
      </p:sp>
      <p:sp>
        <p:nvSpPr>
          <p:cNvPr id="7" name="TextBox 6"/>
          <p:cNvSpPr txBox="1"/>
          <p:nvPr/>
        </p:nvSpPr>
        <p:spPr>
          <a:xfrm>
            <a:off x="7644383" y="1499616"/>
            <a:ext cx="1463040" cy="256032"/>
          </a:xfrm>
          <a:prstGeom prst="rect">
            <a:avLst/>
          </a:prstGeom>
          <a:noFill/>
        </p:spPr>
        <p:txBody>
          <a:bodyPr wrap="square" lIns="0" tIns="0" rIns="0" bIns="0" anchor="ctr">
            <a:noAutofit/>
          </a:bodyPr>
          <a:lstStyle/>
          <a:p>
            <a:pPr algn="l">
              <a:lnSpc>
                <a:spcPct val="115000"/>
              </a:lnSpc>
              <a:spcAft>
                <a:spcPts val="0"/>
              </a:spcAft>
            </a:pPr>
            <a:r>
              <a:rPr sz="1050" b="1">
                <a:solidFill>
                  <a:srgbClr val="C00000"/>
                </a:solidFill>
                <a:latin typeface="Arial"/>
                <a:ea typeface="Arial"/>
              </a:rPr>
              <a:t>Who delivers</a:t>
            </a:r>
          </a:p>
        </p:txBody>
      </p:sp>
      <p:sp>
        <p:nvSpPr>
          <p:cNvPr id="8" name="TextBox 7"/>
          <p:cNvSpPr txBox="1"/>
          <p:nvPr/>
        </p:nvSpPr>
        <p:spPr>
          <a:xfrm>
            <a:off x="9198864" y="1499616"/>
            <a:ext cx="2194560" cy="256032"/>
          </a:xfrm>
          <a:prstGeom prst="rect">
            <a:avLst/>
          </a:prstGeom>
          <a:noFill/>
        </p:spPr>
        <p:txBody>
          <a:bodyPr wrap="square" lIns="0" tIns="0" rIns="0" bIns="0" anchor="ctr">
            <a:noAutofit/>
          </a:bodyPr>
          <a:lstStyle/>
          <a:p>
            <a:pPr algn="l">
              <a:lnSpc>
                <a:spcPct val="115000"/>
              </a:lnSpc>
              <a:spcAft>
                <a:spcPts val="0"/>
              </a:spcAft>
            </a:pPr>
            <a:r>
              <a:rPr sz="1050" b="1">
                <a:solidFill>
                  <a:srgbClr val="1F4E79"/>
                </a:solidFill>
                <a:latin typeface="Arial"/>
                <a:ea typeface="Arial"/>
              </a:rPr>
              <a:t>Where we cover it</a:t>
            </a:r>
          </a:p>
        </p:txBody>
      </p:sp>
      <p:sp>
        <p:nvSpPr>
          <p:cNvPr id="9" name="Rounded Rectangle 8"/>
          <p:cNvSpPr/>
          <p:nvPr/>
        </p:nvSpPr>
        <p:spPr>
          <a:xfrm>
            <a:off x="457200" y="1810512"/>
            <a:ext cx="2103120" cy="76809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810512"/>
            <a:ext cx="1828799" cy="768096"/>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1  Base compute software</a:t>
            </a:r>
          </a:p>
        </p:txBody>
      </p:sp>
      <p:sp>
        <p:nvSpPr>
          <p:cNvPr id="11" name="Rounded Rectangle 10"/>
          <p:cNvSpPr/>
          <p:nvPr/>
        </p:nvSpPr>
        <p:spPr>
          <a:xfrm>
            <a:off x="2651760" y="1810512"/>
            <a:ext cx="4663440"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98064" y="1865376"/>
            <a:ext cx="4370831"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OS, firmware and drivers; containers and runtimes; operators, math libraries and compilers; training and inference frameworks; distributed communication and orchestration</a:t>
            </a:r>
          </a:p>
        </p:txBody>
      </p:sp>
      <p:sp>
        <p:nvSpPr>
          <p:cNvPr id="13" name="Rounded Rectangle 12"/>
          <p:cNvSpPr/>
          <p:nvPr/>
        </p:nvSpPr>
        <p:spPr>
          <a:xfrm>
            <a:off x="7498079" y="1810512"/>
            <a:ext cx="1463040" cy="768096"/>
          </a:xfrm>
          <a:prstGeom prst="roundRect">
            <a:avLst>
              <a:gd name="adj" fmla="val 4000"/>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1810512"/>
            <a:ext cx="1463040" cy="768096"/>
          </a:xfrm>
          <a:prstGeom prst="rect">
            <a:avLst/>
          </a:prstGeom>
          <a:noFill/>
        </p:spPr>
        <p:txBody>
          <a:bodyPr wrap="square" lIns="0" tIns="0" rIns="0" bIns="0" anchor="ctr">
            <a:noAutofit/>
          </a:bodyPr>
          <a:lstStyle/>
          <a:p>
            <a:pPr algn="ctr">
              <a:lnSpc>
                <a:spcPct val="115000"/>
              </a:lnSpc>
              <a:spcAft>
                <a:spcPts val="0"/>
              </a:spcAft>
            </a:pPr>
            <a:r>
              <a:rPr sz="1050" b="1">
                <a:solidFill>
                  <a:srgbClr val="1D1D1A"/>
                </a:solidFill>
                <a:latin typeface="Arial"/>
                <a:ea typeface="Arial"/>
              </a:rPr>
              <a:t>Huawei</a:t>
            </a:r>
          </a:p>
        </p:txBody>
      </p:sp>
      <p:sp>
        <p:nvSpPr>
          <p:cNvPr id="15" name="Rounded Rectangle 14"/>
          <p:cNvSpPr/>
          <p:nvPr/>
        </p:nvSpPr>
        <p:spPr>
          <a:xfrm>
            <a:off x="9052560" y="1810512"/>
            <a:ext cx="2679192" cy="76809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98864" y="1865376"/>
            <a:ext cx="2386584"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Huawei's base software stack; the iFLYTEK platform runs on it</a:t>
            </a:r>
          </a:p>
        </p:txBody>
      </p:sp>
      <p:sp>
        <p:nvSpPr>
          <p:cNvPr id="17" name="Rounded Rectangle 16"/>
          <p:cNvSpPr/>
          <p:nvPr/>
        </p:nvSpPr>
        <p:spPr>
          <a:xfrm>
            <a:off x="457200" y="2651760"/>
            <a:ext cx="2103120" cy="76809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2651760"/>
            <a:ext cx="1828799" cy="768096"/>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2  Data, model and application platform</a:t>
            </a:r>
          </a:p>
        </p:txBody>
      </p:sp>
      <p:sp>
        <p:nvSpPr>
          <p:cNvPr id="19" name="Rounded Rectangle 18"/>
          <p:cNvSpPr/>
          <p:nvPr/>
        </p:nvSpPr>
        <p:spPr>
          <a:xfrm>
            <a:off x="2651760" y="2651760"/>
            <a:ext cx="4663440"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98064" y="2706624"/>
            <a:ext cx="4370831"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Corpus, training and application innovation centers; national model; national AI application; model services and APIs</a:t>
            </a:r>
          </a:p>
        </p:txBody>
      </p:sp>
      <p:sp>
        <p:nvSpPr>
          <p:cNvPr id="21" name="Rounded Rectangle 20"/>
          <p:cNvSpPr/>
          <p:nvPr/>
        </p:nvSpPr>
        <p:spPr>
          <a:xfrm>
            <a:off x="7498079" y="2651760"/>
            <a:ext cx="1463040" cy="768096"/>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2651760"/>
            <a:ext cx="1463040" cy="768096"/>
          </a:xfrm>
          <a:prstGeom prst="rect">
            <a:avLst/>
          </a:prstGeom>
          <a:noFill/>
        </p:spPr>
        <p:txBody>
          <a:bodyPr wrap="square" lIns="0" tIns="0" rIns="0" bIns="0" anchor="ctr">
            <a:noAutofit/>
          </a:bodyPr>
          <a:lstStyle/>
          <a:p>
            <a:pPr algn="ctr">
              <a:lnSpc>
                <a:spcPct val="115000"/>
              </a:lnSpc>
              <a:spcAft>
                <a:spcPts val="0"/>
              </a:spcAft>
            </a:pPr>
            <a:r>
              <a:rPr sz="1050" b="1">
                <a:solidFill>
                  <a:srgbClr val="1D1D1A"/>
                </a:solidFill>
                <a:latin typeface="Arial"/>
                <a:ea typeface="Arial"/>
              </a:rPr>
              <a:t>iFLYTEK</a:t>
            </a:r>
          </a:p>
        </p:txBody>
      </p:sp>
      <p:sp>
        <p:nvSpPr>
          <p:cNvPr id="23" name="Rounded Rectangle 22"/>
          <p:cNvSpPr/>
          <p:nvPr/>
        </p:nvSpPr>
        <p:spPr>
          <a:xfrm>
            <a:off x="9052560" y="2651760"/>
            <a:ext cx="2679192" cy="76809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98864" y="2706624"/>
            <a:ext cx="2386584"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Pages 3–9; Appendices A1–A5</a:t>
            </a:r>
          </a:p>
        </p:txBody>
      </p:sp>
      <p:sp>
        <p:nvSpPr>
          <p:cNvPr id="25" name="Rounded Rectangle 24"/>
          <p:cNvSpPr/>
          <p:nvPr/>
        </p:nvSpPr>
        <p:spPr>
          <a:xfrm>
            <a:off x="457200" y="3493008"/>
            <a:ext cx="2103120" cy="76809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 y="3493008"/>
            <a:ext cx="1828799" cy="768096"/>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3  Integration and operations</a:t>
            </a:r>
          </a:p>
        </p:txBody>
      </p:sp>
      <p:sp>
        <p:nvSpPr>
          <p:cNvPr id="27" name="Rounded Rectangle 26"/>
          <p:cNvSpPr/>
          <p:nvPr/>
        </p:nvSpPr>
        <p:spPr>
          <a:xfrm>
            <a:off x="2651760" y="3493008"/>
            <a:ext cx="4663440"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98064" y="3547872"/>
            <a:ext cx="4370831"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RNP identity, security and monitoring; third-party model and tool migration; benchmarking; multi-tenant isolation; fault recovery</a:t>
            </a:r>
          </a:p>
        </p:txBody>
      </p:sp>
      <p:sp>
        <p:nvSpPr>
          <p:cNvPr id="29" name="Rounded Rectangle 28"/>
          <p:cNvSpPr/>
          <p:nvPr/>
        </p:nvSpPr>
        <p:spPr>
          <a:xfrm>
            <a:off x="7498079" y="3493008"/>
            <a:ext cx="1463040" cy="768096"/>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79" y="3493008"/>
            <a:ext cx="1463040" cy="768096"/>
          </a:xfrm>
          <a:prstGeom prst="rect">
            <a:avLst/>
          </a:prstGeom>
          <a:noFill/>
        </p:spPr>
        <p:txBody>
          <a:bodyPr wrap="square" lIns="0" tIns="0" rIns="0" bIns="0" anchor="ctr">
            <a:noAutofit/>
          </a:bodyPr>
          <a:lstStyle/>
          <a:p>
            <a:pPr algn="ctr">
              <a:lnSpc>
                <a:spcPct val="115000"/>
              </a:lnSpc>
              <a:spcAft>
                <a:spcPts val="0"/>
              </a:spcAft>
            </a:pPr>
            <a:r>
              <a:rPr sz="1050" b="1">
                <a:solidFill>
                  <a:srgbClr val="1D1D1A"/>
                </a:solidFill>
                <a:latin typeface="Arial"/>
                <a:ea typeface="Arial"/>
              </a:rPr>
              <a:t>All three</a:t>
            </a:r>
          </a:p>
        </p:txBody>
      </p:sp>
      <p:sp>
        <p:nvSpPr>
          <p:cNvPr id="31" name="Rounded Rectangle 30"/>
          <p:cNvSpPr/>
          <p:nvPr/>
        </p:nvSpPr>
        <p:spPr>
          <a:xfrm>
            <a:off x="9052560" y="3493008"/>
            <a:ext cx="2679192" cy="76809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98864" y="3547872"/>
            <a:ext cx="2386584"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Appendices A1, A4, A6; </a:t>
            </a:r>
            <a:r>
              <a:rPr sz="850" b="0">
                <a:solidFill>
                  <a:srgbClr val="0070C0"/>
                </a:solidFill>
                <a:latin typeface="Arial"/>
                <a:ea typeface="Arial"/>
              </a:rPr>
              <a:t>interface and migration scope confirmed item by item</a:t>
            </a:r>
          </a:p>
        </p:txBody>
      </p:sp>
      <p:sp>
        <p:nvSpPr>
          <p:cNvPr id="33" name="Rounded Rectangle 32"/>
          <p:cNvSpPr/>
          <p:nvPr/>
        </p:nvSpPr>
        <p:spPr>
          <a:xfrm>
            <a:off x="457200" y="4334256"/>
            <a:ext cx="2103120" cy="76809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 y="4334256"/>
            <a:ext cx="1828799" cy="768096"/>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4  R&amp;D and talent</a:t>
            </a:r>
          </a:p>
        </p:txBody>
      </p:sp>
      <p:sp>
        <p:nvSpPr>
          <p:cNvPr id="35" name="Rounded Rectangle 34"/>
          <p:cNvSpPr/>
          <p:nvPr/>
        </p:nvSpPr>
        <p:spPr>
          <a:xfrm>
            <a:off x="2651760" y="4334256"/>
            <a:ext cx="4663440"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98064" y="4389120"/>
            <a:ext cx="4370831"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R&amp;D cooperation plan; interfaces, tools and technical materials; R&amp;D support; practical training and knowledge transfer; retained results</a:t>
            </a:r>
          </a:p>
        </p:txBody>
      </p:sp>
      <p:sp>
        <p:nvSpPr>
          <p:cNvPr id="37" name="Rounded Rectangle 36"/>
          <p:cNvSpPr/>
          <p:nvPr/>
        </p:nvSpPr>
        <p:spPr>
          <a:xfrm>
            <a:off x="7498079" y="4334256"/>
            <a:ext cx="1463040" cy="768096"/>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79" y="4334256"/>
            <a:ext cx="1463040" cy="768096"/>
          </a:xfrm>
          <a:prstGeom prst="rect">
            <a:avLst/>
          </a:prstGeom>
          <a:noFill/>
        </p:spPr>
        <p:txBody>
          <a:bodyPr wrap="square" lIns="0" tIns="0" rIns="0" bIns="0" anchor="ctr">
            <a:noAutofit/>
          </a:bodyPr>
          <a:lstStyle/>
          <a:p>
            <a:pPr algn="ctr">
              <a:lnSpc>
                <a:spcPct val="115000"/>
              </a:lnSpc>
              <a:spcAft>
                <a:spcPts val="0"/>
              </a:spcAft>
            </a:pPr>
            <a:r>
              <a:rPr sz="1050" b="1">
                <a:solidFill>
                  <a:srgbClr val="1D1D1A"/>
                </a:solidFill>
                <a:latin typeface="Arial"/>
                <a:ea typeface="Arial"/>
              </a:rPr>
              <a:t>All three</a:t>
            </a:r>
          </a:p>
        </p:txBody>
      </p:sp>
      <p:sp>
        <p:nvSpPr>
          <p:cNvPr id="39" name="Rounded Rectangle 38"/>
          <p:cNvSpPr/>
          <p:nvPr/>
        </p:nvSpPr>
        <p:spPr>
          <a:xfrm>
            <a:off x="9052560" y="4334256"/>
            <a:ext cx="2679192" cy="76809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98864" y="4389120"/>
            <a:ext cx="2386584"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Pages 10–11; Appendices A8–A11, A14</a:t>
            </a:r>
          </a:p>
        </p:txBody>
      </p:sp>
      <p:sp>
        <p:nvSpPr>
          <p:cNvPr id="41" name="Rounded Rectangle 40"/>
          <p:cNvSpPr/>
          <p:nvPr/>
        </p:nvSpPr>
        <p:spPr>
          <a:xfrm>
            <a:off x="457200" y="5175504"/>
            <a:ext cx="2103120" cy="768096"/>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 y="5175504"/>
            <a:ext cx="1828799" cy="768096"/>
          </a:xfrm>
          <a:prstGeom prst="rect">
            <a:avLst/>
          </a:prstGeom>
          <a:noFill/>
        </p:spPr>
        <p:txBody>
          <a:bodyPr wrap="square" lIns="0" tIns="0" rIns="0" bIns="0" anchor="ctr">
            <a:noAutofit/>
          </a:bodyPr>
          <a:lstStyle/>
          <a:p>
            <a:pPr algn="l">
              <a:lnSpc>
                <a:spcPct val="115000"/>
              </a:lnSpc>
              <a:spcAft>
                <a:spcPts val="0"/>
              </a:spcAft>
            </a:pPr>
            <a:r>
              <a:rPr sz="1050" b="1">
                <a:solidFill>
                  <a:srgbClr val="1D1D1A"/>
                </a:solidFill>
                <a:latin typeface="Arial"/>
                <a:ea typeface="Arial"/>
              </a:rPr>
              <a:t>5  Delivery and long-term autonomy</a:t>
            </a:r>
          </a:p>
        </p:txBody>
      </p:sp>
      <p:sp>
        <p:nvSpPr>
          <p:cNvPr id="43" name="Rounded Rectangle 42"/>
          <p:cNvSpPr/>
          <p:nvPr/>
        </p:nvSpPr>
        <p:spPr>
          <a:xfrm>
            <a:off x="2651760" y="5175504"/>
            <a:ext cx="4663440"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8064" y="5230368"/>
            <a:ext cx="4370831"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Asset and licence list; five-year maintenance and technology refresh; end-of-term handover; exit and migration clauses</a:t>
            </a:r>
          </a:p>
        </p:txBody>
      </p:sp>
      <p:sp>
        <p:nvSpPr>
          <p:cNvPr id="45" name="Rounded Rectangle 44"/>
          <p:cNvSpPr/>
          <p:nvPr/>
        </p:nvSpPr>
        <p:spPr>
          <a:xfrm>
            <a:off x="7498079" y="5175504"/>
            <a:ext cx="1463040" cy="768096"/>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79" y="5175504"/>
            <a:ext cx="1463040" cy="768096"/>
          </a:xfrm>
          <a:prstGeom prst="rect">
            <a:avLst/>
          </a:prstGeom>
          <a:noFill/>
        </p:spPr>
        <p:txBody>
          <a:bodyPr wrap="square" lIns="0" tIns="0" rIns="0" bIns="0" anchor="ctr">
            <a:noAutofit/>
          </a:bodyPr>
          <a:lstStyle/>
          <a:p>
            <a:pPr algn="ctr">
              <a:lnSpc>
                <a:spcPct val="115000"/>
              </a:lnSpc>
              <a:spcAft>
                <a:spcPts val="0"/>
              </a:spcAft>
            </a:pPr>
            <a:r>
              <a:rPr sz="1050" b="1">
                <a:solidFill>
                  <a:srgbClr val="1D1D1A"/>
                </a:solidFill>
                <a:latin typeface="Arial"/>
                <a:ea typeface="Arial"/>
              </a:rPr>
              <a:t>All three</a:t>
            </a:r>
          </a:p>
        </p:txBody>
      </p:sp>
      <p:sp>
        <p:nvSpPr>
          <p:cNvPr id="47" name="Rounded Rectangle 46"/>
          <p:cNvSpPr/>
          <p:nvPr/>
        </p:nvSpPr>
        <p:spPr>
          <a:xfrm>
            <a:off x="9052560" y="5175504"/>
            <a:ext cx="2679192" cy="768096"/>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98864" y="5230368"/>
            <a:ext cx="2386584" cy="658368"/>
          </a:xfrm>
          <a:prstGeom prst="rect">
            <a:avLst/>
          </a:prstGeom>
          <a:noFill/>
        </p:spPr>
        <p:txBody>
          <a:bodyPr wrap="square" lIns="0" tIns="0" rIns="0" bIns="0" anchor="ctr">
            <a:noAutofit/>
          </a:bodyPr>
          <a:lstStyle/>
          <a:p>
            <a:pPr algn="l">
              <a:lnSpc>
                <a:spcPct val="125000"/>
              </a:lnSpc>
              <a:spcAft>
                <a:spcPts val="400"/>
              </a:spcAft>
            </a:pPr>
            <a:r>
              <a:rPr sz="850" b="0">
                <a:solidFill>
                  <a:srgbClr val="333333"/>
                </a:solidFill>
                <a:latin typeface="Arial"/>
                <a:ea typeface="Arial"/>
              </a:rPr>
              <a:t>Appendix A6; </a:t>
            </a:r>
            <a:r>
              <a:rPr sz="850" b="0">
                <a:solidFill>
                  <a:srgbClr val="0070C0"/>
                </a:solidFill>
                <a:latin typeface="Arial"/>
                <a:ea typeface="Arial"/>
              </a:rPr>
              <a:t>refresh and end-of-term handover clauses to align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2000" b="1">
                <a:solidFill>
                  <a:srgbClr val="C00000"/>
                </a:solidFill>
                <a:latin typeface="Arial"/>
                <a:ea typeface="Arial"/>
              </a:rPr>
              <a:t>Appendix: 15 questions, in RNP's order</a:t>
            </a:r>
          </a:p>
        </p:txBody>
      </p:sp>
      <p:sp>
        <p:nvSpPr>
          <p:cNvPr id="3" name="TextBox 2"/>
          <p:cNvSpPr txBox="1"/>
          <p:nvPr/>
        </p:nvSpPr>
        <p:spPr>
          <a:xfrm>
            <a:off x="457200" y="932688"/>
            <a:ext cx="11274552" cy="512064"/>
          </a:xfrm>
          <a:prstGeom prst="rect">
            <a:avLst/>
          </a:prstGeom>
          <a:noFill/>
        </p:spPr>
        <p:txBody>
          <a:bodyPr wrap="square" lIns="0" tIns="0" rIns="0" bIns="0" anchor="ctr">
            <a:noAutofit/>
          </a:bodyPr>
          <a:lstStyle/>
          <a:p>
            <a:pPr algn="l">
              <a:lnSpc>
                <a:spcPct val="125000"/>
              </a:lnSpc>
              <a:spcAft>
                <a:spcPts val="400"/>
              </a:spcAft>
            </a:pPr>
            <a:r>
              <a:rPr sz="1300" b="0">
                <a:solidFill>
                  <a:srgbClr val="1D1D1A"/>
                </a:solidFill>
                <a:latin typeface="Arial"/>
                <a:ea typeface="Arial"/>
              </a:rPr>
              <a:t>We start here once the main deck is done. Each question has one appendix page — click to open, and use the bar at the bottom of that page to come back.</a:t>
            </a:r>
          </a:p>
        </p:txBody>
      </p:sp>
      <p:sp>
        <p:nvSpPr>
          <p:cNvPr id="4" name="TextBox 3"/>
          <p:cNvSpPr txBox="1"/>
          <p:nvPr/>
        </p:nvSpPr>
        <p:spPr>
          <a:xfrm>
            <a:off x="457200" y="1609344"/>
            <a:ext cx="11274552" cy="256032"/>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Unless an item is marked "Approach", appendix content is written into the scope of work (SOW). </a:t>
            </a:r>
            <a:r>
              <a:rPr sz="900" b="0">
                <a:solidFill>
                  <a:srgbClr val="0070C0"/>
                </a:solidFill>
                <a:latin typeface="Arial"/>
                <a:ea typeface="Arial"/>
              </a:rPr>
              <a:t>Blue</a:t>
            </a:r>
            <a:r>
              <a:rPr sz="900" b="0">
                <a:solidFill>
                  <a:srgbClr val="666666"/>
                </a:solidFill>
                <a:latin typeface="Arial"/>
                <a:ea typeface="Arial"/>
              </a:rPr>
              <a:t> = to be confirmed jointly before implementation. The bar at the bottom of every appendix page jumps between all 15 pages.</a:t>
            </a:r>
          </a:p>
        </p:txBody>
      </p:sp>
      <p:sp>
        <p:nvSpPr>
          <p:cNvPr id="5" name="Rounded Rectangle 4">
            <a:hlinkClick action="ppaction://hlinksldjump" r:id="rId2"/>
          </p:cNvPr>
          <p:cNvSpPr/>
          <p:nvPr/>
        </p:nvSpPr>
        <p:spPr>
          <a:xfrm>
            <a:off x="457200" y="1901952"/>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75104"/>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A0</a:t>
            </a:r>
          </a:p>
        </p:txBody>
      </p:sp>
      <p:sp>
        <p:nvSpPr>
          <p:cNvPr id="7" name="TextBox 6"/>
          <p:cNvSpPr txBox="1"/>
          <p:nvPr/>
        </p:nvSpPr>
        <p:spPr>
          <a:xfrm>
            <a:off x="1280160" y="1956816"/>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Can we see it all on one page?</a:t>
            </a:r>
          </a:p>
        </p:txBody>
      </p:sp>
      <p:sp>
        <p:nvSpPr>
          <p:cNvPr id="8" name="TextBox 7"/>
          <p:cNvSpPr txBox="1"/>
          <p:nvPr/>
        </p:nvSpPr>
        <p:spPr>
          <a:xfrm>
            <a:off x="640080" y="2322576"/>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Overview: four outcomes, build, roles, key figures</a:t>
            </a:r>
          </a:p>
        </p:txBody>
      </p:sp>
      <p:sp>
        <p:nvSpPr>
          <p:cNvPr id="9" name="Rounded Rectangle 8">
            <a:hlinkClick action="ppaction://hlinksldjump" r:id="rId3"/>
          </p:cNvPr>
          <p:cNvSpPr/>
          <p:nvPr/>
        </p:nvSpPr>
        <p:spPr>
          <a:xfrm>
            <a:off x="4306824" y="1901952"/>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9704" y="1975104"/>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A1</a:t>
            </a:r>
          </a:p>
        </p:txBody>
      </p:sp>
      <p:sp>
        <p:nvSpPr>
          <p:cNvPr id="11" name="TextBox 10"/>
          <p:cNvSpPr txBox="1"/>
          <p:nvPr/>
        </p:nvSpPr>
        <p:spPr>
          <a:xfrm>
            <a:off x="5129784" y="1956816"/>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How large is the platform, how is it accepted?</a:t>
            </a:r>
          </a:p>
        </p:txBody>
      </p:sp>
      <p:sp>
        <p:nvSpPr>
          <p:cNvPr id="12" name="TextBox 11"/>
          <p:cNvSpPr txBox="1"/>
          <p:nvPr/>
        </p:nvSpPr>
        <p:spPr>
          <a:xfrm>
            <a:off x="4489704" y="2322576"/>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Capability Center: capacity and acceptance</a:t>
            </a:r>
          </a:p>
        </p:txBody>
      </p:sp>
      <p:sp>
        <p:nvSpPr>
          <p:cNvPr id="13" name="Rounded Rectangle 12">
            <a:hlinkClick action="ppaction://hlinksldjump" r:id="rId4"/>
          </p:cNvPr>
          <p:cNvSpPr/>
          <p:nvPr/>
        </p:nvSpPr>
        <p:spPr>
          <a:xfrm>
            <a:off x="8156448" y="1901952"/>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7" y="1975104"/>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A2</a:t>
            </a:r>
          </a:p>
        </p:txBody>
      </p:sp>
      <p:sp>
        <p:nvSpPr>
          <p:cNvPr id="15" name="TextBox 14"/>
          <p:cNvSpPr txBox="1"/>
          <p:nvPr/>
        </p:nvSpPr>
        <p:spPr>
          <a:xfrm>
            <a:off x="8979408" y="1956816"/>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How big is the model, how is it upgraded?</a:t>
            </a:r>
          </a:p>
        </p:txBody>
      </p:sp>
      <p:sp>
        <p:nvSpPr>
          <p:cNvPr id="16" name="TextBox 15"/>
          <p:cNvSpPr txBox="1"/>
          <p:nvPr/>
        </p:nvSpPr>
        <p:spPr>
          <a:xfrm>
            <a:off x="8339327" y="2322576"/>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National Model: specification and upgrades</a:t>
            </a:r>
          </a:p>
        </p:txBody>
      </p:sp>
      <p:sp>
        <p:nvSpPr>
          <p:cNvPr id="17" name="Rounded Rectangle 16">
            <a:hlinkClick action="ppaction://hlinksldjump" r:id="rId5"/>
          </p:cNvPr>
          <p:cNvSpPr/>
          <p:nvPr/>
        </p:nvSpPr>
        <p:spPr>
          <a:xfrm>
            <a:off x="457200" y="2798064"/>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871216"/>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A3</a:t>
            </a:r>
          </a:p>
        </p:txBody>
      </p:sp>
      <p:sp>
        <p:nvSpPr>
          <p:cNvPr id="19" name="TextBox 18"/>
          <p:cNvSpPr txBox="1"/>
          <p:nvPr/>
        </p:nvSpPr>
        <p:spPr>
          <a:xfrm>
            <a:off x="1280160" y="2852928"/>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How much corpus, from whom, held where?</a:t>
            </a:r>
          </a:p>
        </p:txBody>
      </p:sp>
      <p:sp>
        <p:nvSpPr>
          <p:cNvPr id="20" name="TextBox 19"/>
          <p:cNvSpPr txBox="1"/>
          <p:nvPr/>
        </p:nvSpPr>
        <p:spPr>
          <a:xfrm>
            <a:off x="640080" y="3218688"/>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Corpus: volume, quality and data control</a:t>
            </a:r>
          </a:p>
        </p:txBody>
      </p:sp>
      <p:sp>
        <p:nvSpPr>
          <p:cNvPr id="21" name="Rounded Rectangle 20">
            <a:hlinkClick action="ppaction://hlinksldjump" r:id="rId6"/>
          </p:cNvPr>
          <p:cNvSpPr/>
          <p:nvPr/>
        </p:nvSpPr>
        <p:spPr>
          <a:xfrm>
            <a:off x="4306824" y="2798064"/>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9704" y="2871216"/>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A4</a:t>
            </a:r>
          </a:p>
        </p:txBody>
      </p:sp>
      <p:sp>
        <p:nvSpPr>
          <p:cNvPr id="23" name="TextBox 22"/>
          <p:cNvSpPr txBox="1"/>
          <p:nvPr/>
        </p:nvSpPr>
        <p:spPr>
          <a:xfrm>
            <a:off x="5129784" y="2852928"/>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What can the app do, where are the limits?</a:t>
            </a:r>
          </a:p>
        </p:txBody>
      </p:sp>
      <p:sp>
        <p:nvSpPr>
          <p:cNvPr id="24" name="TextBox 23"/>
          <p:cNvSpPr txBox="1"/>
          <p:nvPr/>
        </p:nvSpPr>
        <p:spPr>
          <a:xfrm>
            <a:off x="4489704" y="3218688"/>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National AI Application: functions and limits</a:t>
            </a:r>
          </a:p>
        </p:txBody>
      </p:sp>
      <p:sp>
        <p:nvSpPr>
          <p:cNvPr id="25" name="Rounded Rectangle 24">
            <a:hlinkClick action="ppaction://hlinksldjump" r:id="rId7"/>
          </p:cNvPr>
          <p:cNvSpPr/>
          <p:nvPr/>
        </p:nvSpPr>
        <p:spPr>
          <a:xfrm>
            <a:off x="8156448" y="2798064"/>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7" y="2871216"/>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A5</a:t>
            </a:r>
          </a:p>
        </p:txBody>
      </p:sp>
      <p:sp>
        <p:nvSpPr>
          <p:cNvPr id="27" name="TextBox 26"/>
          <p:cNvSpPr txBox="1"/>
          <p:nvPr/>
        </p:nvSpPr>
        <p:spPr>
          <a:xfrm>
            <a:off x="8979408" y="2852928"/>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Who builds the DLMs, and how far?</a:t>
            </a:r>
          </a:p>
        </p:txBody>
      </p:sp>
      <p:sp>
        <p:nvSpPr>
          <p:cNvPr id="28" name="TextBox 27"/>
          <p:cNvSpPr txBox="1"/>
          <p:nvPr/>
        </p:nvSpPr>
        <p:spPr>
          <a:xfrm>
            <a:off x="8339327" y="3218688"/>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DLM: scope, inputs and service acceptance</a:t>
            </a:r>
          </a:p>
        </p:txBody>
      </p:sp>
      <p:sp>
        <p:nvSpPr>
          <p:cNvPr id="29" name="Rounded Rectangle 28">
            <a:hlinkClick action="ppaction://hlinksldjump" r:id="rId8"/>
          </p:cNvPr>
          <p:cNvSpPr/>
          <p:nvPr/>
        </p:nvSpPr>
        <p:spPr>
          <a:xfrm>
            <a:off x="457200" y="3694176"/>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767328"/>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A6</a:t>
            </a:r>
          </a:p>
        </p:txBody>
      </p:sp>
      <p:sp>
        <p:nvSpPr>
          <p:cNvPr id="31" name="TextBox 30"/>
          <p:cNvSpPr txBox="1"/>
          <p:nvPr/>
        </p:nvSpPr>
        <p:spPr>
          <a:xfrm>
            <a:off x="1280160" y="3749039"/>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Will we be locked in, what costs follow?</a:t>
            </a:r>
          </a:p>
        </p:txBody>
      </p:sp>
      <p:sp>
        <p:nvSpPr>
          <p:cNvPr id="32" name="TextBox 31"/>
          <p:cNvSpPr txBox="1"/>
          <p:nvPr/>
        </p:nvSpPr>
        <p:spPr>
          <a:xfrm>
            <a:off x="640080" y="4114800"/>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Handover, licensing and operational support</a:t>
            </a:r>
          </a:p>
        </p:txBody>
      </p:sp>
      <p:sp>
        <p:nvSpPr>
          <p:cNvPr id="33" name="Rounded Rectangle 32">
            <a:hlinkClick action="ppaction://hlinksldjump" r:id="rId9"/>
          </p:cNvPr>
          <p:cNvSpPr/>
          <p:nvPr/>
        </p:nvSpPr>
        <p:spPr>
          <a:xfrm>
            <a:off x="4306824" y="3694176"/>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89704" y="3767328"/>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A7</a:t>
            </a:r>
          </a:p>
        </p:txBody>
      </p:sp>
      <p:sp>
        <p:nvSpPr>
          <p:cNvPr id="35" name="TextBox 34"/>
          <p:cNvSpPr txBox="1"/>
          <p:nvPr/>
        </p:nvSpPr>
        <p:spPr>
          <a:xfrm>
            <a:off x="5129784" y="3749039"/>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How many people of each type, and when?</a:t>
            </a:r>
          </a:p>
        </p:txBody>
      </p:sp>
      <p:sp>
        <p:nvSpPr>
          <p:cNvPr id="36" name="TextBox 35"/>
          <p:cNvSpPr txBox="1"/>
          <p:nvPr/>
        </p:nvSpPr>
        <p:spPr>
          <a:xfrm>
            <a:off x="4489704" y="4114800"/>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RNP staffing detail</a:t>
            </a:r>
          </a:p>
        </p:txBody>
      </p:sp>
      <p:sp>
        <p:nvSpPr>
          <p:cNvPr id="37" name="Rounded Rectangle 36">
            <a:hlinkClick action="ppaction://hlinksldjump" r:id="rId10"/>
          </p:cNvPr>
          <p:cNvSpPr/>
          <p:nvPr/>
        </p:nvSpPr>
        <p:spPr>
          <a:xfrm>
            <a:off x="8156448" y="3694176"/>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9327" y="3767328"/>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A8</a:t>
            </a:r>
          </a:p>
        </p:txBody>
      </p:sp>
      <p:sp>
        <p:nvSpPr>
          <p:cNvPr id="39" name="TextBox 38"/>
          <p:cNvSpPr txBox="1"/>
          <p:nvPr/>
        </p:nvSpPr>
        <p:spPr>
          <a:xfrm>
            <a:off x="8979408" y="3749039"/>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What happens in each stage, how many days?</a:t>
            </a:r>
          </a:p>
        </p:txBody>
      </p:sp>
      <p:sp>
        <p:nvSpPr>
          <p:cNvPr id="40" name="TextBox 39"/>
          <p:cNvSpPr txBox="1"/>
          <p:nvPr/>
        </p:nvSpPr>
        <p:spPr>
          <a:xfrm>
            <a:off x="8339327" y="4114800"/>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Knowledge transfer: four stages in detail</a:t>
            </a:r>
          </a:p>
        </p:txBody>
      </p:sp>
      <p:sp>
        <p:nvSpPr>
          <p:cNvPr id="41" name="Rounded Rectangle 40">
            <a:hlinkClick action="ppaction://hlinksldjump" r:id="rId11"/>
          </p:cNvPr>
          <p:cNvSpPr/>
          <p:nvPr/>
        </p:nvSpPr>
        <p:spPr>
          <a:xfrm>
            <a:off x="457200" y="4590288"/>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4663440"/>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A9</a:t>
            </a:r>
          </a:p>
        </p:txBody>
      </p:sp>
      <p:sp>
        <p:nvSpPr>
          <p:cNvPr id="43" name="TextBox 42"/>
          <p:cNvSpPr txBox="1"/>
          <p:nvPr/>
        </p:nvSpPr>
        <p:spPr>
          <a:xfrm>
            <a:off x="1280160" y="4645151"/>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What exactly is taught, in what formats?</a:t>
            </a:r>
          </a:p>
        </p:txBody>
      </p:sp>
      <p:sp>
        <p:nvSpPr>
          <p:cNvPr id="44" name="TextBox 43"/>
          <p:cNvSpPr txBox="1"/>
          <p:nvPr/>
        </p:nvSpPr>
        <p:spPr>
          <a:xfrm>
            <a:off x="640080" y="5010912"/>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Knowledge transfer: topics and formats</a:t>
            </a:r>
          </a:p>
        </p:txBody>
      </p:sp>
      <p:sp>
        <p:nvSpPr>
          <p:cNvPr id="45" name="Rounded Rectangle 44">
            <a:hlinkClick action="ppaction://hlinksldjump" r:id="rId12"/>
          </p:cNvPr>
          <p:cNvSpPr/>
          <p:nvPr/>
        </p:nvSpPr>
        <p:spPr>
          <a:xfrm>
            <a:off x="4306824" y="4590288"/>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9704" y="4663440"/>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A10</a:t>
            </a:r>
          </a:p>
        </p:txBody>
      </p:sp>
      <p:sp>
        <p:nvSpPr>
          <p:cNvPr id="47" name="TextBox 46"/>
          <p:cNvSpPr txBox="1"/>
          <p:nvPr/>
        </p:nvSpPr>
        <p:spPr>
          <a:xfrm>
            <a:off x="5129784" y="4645151"/>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What does each role learn?</a:t>
            </a:r>
          </a:p>
        </p:txBody>
      </p:sp>
      <p:sp>
        <p:nvSpPr>
          <p:cNvPr id="48" name="TextBox 47"/>
          <p:cNvSpPr txBox="1"/>
          <p:nvPr/>
        </p:nvSpPr>
        <p:spPr>
          <a:xfrm>
            <a:off x="4489704" y="5010912"/>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Knowledge transfer: learning path by role</a:t>
            </a:r>
          </a:p>
        </p:txBody>
      </p:sp>
      <p:sp>
        <p:nvSpPr>
          <p:cNvPr id="49" name="Rounded Rectangle 48">
            <a:hlinkClick action="ppaction://hlinksldjump" r:id="rId13"/>
          </p:cNvPr>
          <p:cNvSpPr/>
          <p:nvPr/>
        </p:nvSpPr>
        <p:spPr>
          <a:xfrm>
            <a:off x="8156448" y="4590288"/>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39327" y="4663440"/>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A11</a:t>
            </a:r>
          </a:p>
        </p:txBody>
      </p:sp>
      <p:sp>
        <p:nvSpPr>
          <p:cNvPr id="51" name="TextBox 50"/>
          <p:cNvSpPr txBox="1"/>
          <p:nvPr/>
        </p:nvSpPr>
        <p:spPr>
          <a:xfrm>
            <a:off x="8979408" y="4645151"/>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Can we learn how this system was built?</a:t>
            </a:r>
          </a:p>
        </p:txBody>
      </p:sp>
      <p:sp>
        <p:nvSpPr>
          <p:cNvPr id="52" name="TextBox 51"/>
          <p:cNvSpPr txBox="1"/>
          <p:nvPr/>
        </p:nvSpPr>
        <p:spPr>
          <a:xfrm>
            <a:off x="8339327" y="5010912"/>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Premium knowledge transfer: optional menu</a:t>
            </a:r>
          </a:p>
        </p:txBody>
      </p:sp>
      <p:sp>
        <p:nvSpPr>
          <p:cNvPr id="53" name="Rounded Rectangle 52">
            <a:hlinkClick action="ppaction://hlinksldjump" r:id="rId14"/>
          </p:cNvPr>
          <p:cNvSpPr/>
          <p:nvPr/>
        </p:nvSpPr>
        <p:spPr>
          <a:xfrm>
            <a:off x="457200" y="5486400"/>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5559552"/>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A12</a:t>
            </a:r>
          </a:p>
        </p:txBody>
      </p:sp>
      <p:sp>
        <p:nvSpPr>
          <p:cNvPr id="55" name="TextBox 54"/>
          <p:cNvSpPr txBox="1"/>
          <p:nvPr/>
        </p:nvSpPr>
        <p:spPr>
          <a:xfrm>
            <a:off x="1280160" y="5541264"/>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How does O&amp;M get started after delivery?</a:t>
            </a:r>
          </a:p>
        </p:txBody>
      </p:sp>
      <p:sp>
        <p:nvSpPr>
          <p:cNvPr id="56" name="TextBox 55"/>
          <p:cNvSpPr txBox="1"/>
          <p:nvPr/>
        </p:nvSpPr>
        <p:spPr>
          <a:xfrm>
            <a:off x="640080" y="5907024"/>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Product operations training: topics, days, people</a:t>
            </a:r>
          </a:p>
        </p:txBody>
      </p:sp>
      <p:sp>
        <p:nvSpPr>
          <p:cNvPr id="57" name="Rounded Rectangle 56">
            <a:hlinkClick action="ppaction://hlinksldjump" r:id="rId15"/>
          </p:cNvPr>
          <p:cNvSpPr/>
          <p:nvPr/>
        </p:nvSpPr>
        <p:spPr>
          <a:xfrm>
            <a:off x="4306824" y="5486400"/>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89704" y="5559552"/>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A13</a:t>
            </a:r>
          </a:p>
        </p:txBody>
      </p:sp>
      <p:sp>
        <p:nvSpPr>
          <p:cNvPr id="59" name="TextBox 58"/>
          <p:cNvSpPr txBox="1"/>
          <p:nvPr/>
        </p:nvSpPr>
        <p:spPr>
          <a:xfrm>
            <a:off x="5129784" y="5541264"/>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What is delivered for the app, how is it accepted?</a:t>
            </a:r>
          </a:p>
        </p:txBody>
      </p:sp>
      <p:sp>
        <p:nvSpPr>
          <p:cNvPr id="60" name="TextBox 59"/>
          <p:cNvSpPr txBox="1"/>
          <p:nvPr/>
        </p:nvSpPr>
        <p:spPr>
          <a:xfrm>
            <a:off x="4489704" y="5907024"/>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National AI Application: deliverables and acceptance</a:t>
            </a:r>
          </a:p>
        </p:txBody>
      </p:sp>
      <p:sp>
        <p:nvSpPr>
          <p:cNvPr id="61" name="Rounded Rectangle 60">
            <a:hlinkClick action="ppaction://hlinksldjump" r:id="rId16"/>
          </p:cNvPr>
          <p:cNvSpPr/>
          <p:nvPr/>
        </p:nvSpPr>
        <p:spPr>
          <a:xfrm>
            <a:off x="8156448" y="5486400"/>
            <a:ext cx="3575304" cy="768096"/>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39327" y="5559552"/>
            <a:ext cx="685800" cy="292608"/>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A14</a:t>
            </a:r>
          </a:p>
        </p:txBody>
      </p:sp>
      <p:sp>
        <p:nvSpPr>
          <p:cNvPr id="63" name="TextBox 62"/>
          <p:cNvSpPr txBox="1"/>
          <p:nvPr/>
        </p:nvSpPr>
        <p:spPr>
          <a:xfrm>
            <a:off x="8979408" y="5541264"/>
            <a:ext cx="2569464" cy="329184"/>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How do you answer the TR's R&amp;D requirements?</a:t>
            </a:r>
          </a:p>
        </p:txBody>
      </p:sp>
      <p:sp>
        <p:nvSpPr>
          <p:cNvPr id="64" name="TextBox 63"/>
          <p:cNvSpPr txBox="1"/>
          <p:nvPr/>
        </p:nvSpPr>
        <p:spPr>
          <a:xfrm>
            <a:off x="8339327" y="5907024"/>
            <a:ext cx="3209544"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Supporting Brazil's own R&amp;D: requirement mapping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A0 · Overview: four outcomes and key figures</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Can we see it all on one page?</a:t>
            </a:r>
          </a:p>
        </p:txBody>
      </p:sp>
      <p:sp>
        <p:nvSpPr>
          <p:cNvPr id="4" name="Rounded Rectangle 3"/>
          <p:cNvSpPr/>
          <p:nvPr/>
        </p:nvSpPr>
        <p:spPr>
          <a:xfrm>
            <a:off x="457200"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A0</a:t>
            </a:r>
          </a:p>
        </p:txBody>
      </p:sp>
      <p:sp>
        <p:nvSpPr>
          <p:cNvPr id="5" name="Rounded Rectangle 4">
            <a:hlinkClick action="ppaction://hlinksldjump" r:id="rId2"/>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3"/>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4"/>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5"/>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6"/>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7"/>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p.2</a:t>
            </a:r>
          </a:p>
        </p:txBody>
      </p:sp>
      <p:graphicFrame>
        <p:nvGraphicFramePr>
          <p:cNvPr id="21" name="Table 20"/>
          <p:cNvGraphicFramePr>
            <a:graphicFrameLocks noGrp="1"/>
          </p:cNvGraphicFramePr>
          <p:nvPr/>
        </p:nvGraphicFramePr>
        <p:xfrm>
          <a:off x="457200" y="932688"/>
          <a:ext cx="11274552" cy="3675888"/>
        </p:xfrm>
        <a:graphic>
          <a:graphicData uri="http://schemas.openxmlformats.org/drawingml/2006/table">
            <a:tbl>
              <a:tblPr firstRow="0" bandRow="0">
                <a:tableStyleId>{2D5ABB26-0587-4C30-8999-92F81FD0307C}</a:tableStyleId>
              </a:tblPr>
              <a:tblGrid>
                <a:gridCol w="1783080"/>
                <a:gridCol w="3429000"/>
                <a:gridCol w="2148840"/>
                <a:gridCol w="2286000"/>
                <a:gridCol w="1627632"/>
              </a:tblGrid>
              <a:tr h="384048">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Outcome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What RNP gets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iFLYTEK</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RNP</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Key figures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82296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National AI Capability</a:t>
                      </a:r>
                    </a:p>
                    <a:p>
                      <a:pPr algn="l">
                        <a:lnSpc>
                          <a:spcPct val="110000"/>
                        </a:lnSpc>
                        <a:spcAft>
                          <a:spcPts val="100"/>
                        </a:spcAft>
                      </a:pPr>
                      <a:r>
                        <a:rPr sz="900" b="1">
                          <a:solidFill>
                            <a:srgbClr val="1D1D1A"/>
                          </a:solidFill>
                          <a:latin typeface="Arial"/>
                          <a:ea typeface="Arial"/>
                        </a:rPr>
                        <a:t>Center (platform)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Corpus construction, model training and application innovation centers plus a content safety review platform; all three outcomes are built on it and RNP runs it afterwards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Software implementation, testing and training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Base environment, interface coordination, daily operations after acceptance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3 centers</a:t>
                      </a:r>
                    </a:p>
                    <a:p>
                      <a:pPr algn="l">
                        <a:lnSpc>
                          <a:spcPct val="110000"/>
                        </a:lnSpc>
                        <a:spcAft>
                          <a:spcPts val="100"/>
                        </a:spcAft>
                      </a:pPr>
                      <a:r>
                        <a:rPr sz="900" b="0">
                          <a:solidFill>
                            <a:srgbClr val="333333"/>
                          </a:solidFill>
                          <a:latin typeface="Arial"/>
                          <a:ea typeface="Arial"/>
                        </a:rPr>
                        <a:t>1 review platform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82296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Brazilian Portuguese</a:t>
                      </a:r>
                    </a:p>
                    <a:p>
                      <a:pPr algn="l">
                        <a:lnSpc>
                          <a:spcPct val="110000"/>
                        </a:lnSpc>
                        <a:spcAft>
                          <a:spcPts val="100"/>
                        </a:spcAft>
                      </a:pPr>
                      <a:r>
                        <a:rPr sz="900" b="1">
                          <a:solidFill>
                            <a:srgbClr val="1D1D1A"/>
                          </a:solidFill>
                          <a:latin typeface="Arial"/>
                          <a:ea typeface="Arial"/>
                        </a:rPr>
                        <a:t>National Model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One NLP base model, one ASR model, one TTS model (one male and one female voice); weights, model card, evaluation report and deployment guide delivered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Training, technical evaluation and delivery; 12 months of tuning afterwards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Corpus production and licensing, expert review, acceptance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NLP ≥290B parameters</a:t>
                      </a:r>
                    </a:p>
                    <a:p>
                      <a:pPr algn="l">
                        <a:lnSpc>
                          <a:spcPct val="110000"/>
                        </a:lnSpc>
                        <a:spcAft>
                          <a:spcPts val="100"/>
                        </a:spcAft>
                      </a:pPr>
                      <a:r>
                        <a:rPr sz="900" b="0">
                          <a:solidFill>
                            <a:srgbClr val="333333"/>
                          </a:solidFill>
                          <a:latin typeface="Arial"/>
                          <a:ea typeface="Arial"/>
                        </a:rPr>
                        <a:t>50B-token local corpus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82296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National AI Application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Multi-device National App and Data Operations Platform for users approved by RNP; Q&amp;A, search, documents, speech and writing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Application delivery, interface testing, platform configuration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Content, branding, interfaces; user approval and daily operations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NLP 1,000 sessions</a:t>
                      </a:r>
                    </a:p>
                    <a:p>
                      <a:pPr algn="l">
                        <a:lnSpc>
                          <a:spcPct val="110000"/>
                        </a:lnSpc>
                        <a:spcAft>
                          <a:spcPts val="100"/>
                        </a:spcAft>
                      </a:pPr>
                      <a:r>
                        <a:rPr sz="900" b="0">
                          <a:solidFill>
                            <a:srgbClr val="333333"/>
                          </a:solidFill>
                          <a:latin typeface="Arial"/>
                          <a:ea typeface="Arial"/>
                        </a:rPr>
                        <a:t>ASR / TTS 200 each</a:t>
                      </a:r>
                    </a:p>
                    <a:p>
                      <a:pPr algn="l">
                        <a:lnSpc>
                          <a:spcPct val="110000"/>
                        </a:lnSpc>
                        <a:spcAft>
                          <a:spcPts val="100"/>
                        </a:spcAft>
                      </a:pPr>
                      <a:r>
                        <a:rPr sz="900" b="0">
                          <a:solidFill>
                            <a:srgbClr val="333333"/>
                          </a:solidFill>
                          <a:latin typeface="Arial"/>
                          <a:ea typeface="Arial"/>
                        </a:rPr>
                        <a:t>Safety review 400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82296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Domain Large Models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Three advisory training services, one fixed scenario each; RNP trains the models and owns the weights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Plan, process advice, results analysis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Data, environment, training and evaluation, business acceptance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3 services</a:t>
                      </a:r>
                    </a:p>
                    <a:p>
                      <a:pPr algn="l">
                        <a:lnSpc>
                          <a:spcPct val="110000"/>
                        </a:lnSpc>
                        <a:spcAft>
                          <a:spcPts val="100"/>
                        </a:spcAft>
                      </a:pPr>
                      <a:r>
                        <a:rPr sz="900" b="0">
                          <a:solidFill>
                            <a:srgbClr val="333333"/>
                          </a:solidFill>
                          <a:latin typeface="Arial"/>
                          <a:ea typeface="Arial"/>
                        </a:rPr>
                        <a:t>1 scenario each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Rounded Rectangle 21"/>
          <p:cNvSpPr/>
          <p:nvPr/>
        </p:nvSpPr>
        <p:spPr>
          <a:xfrm>
            <a:off x="457200" y="4626864"/>
            <a:ext cx="11274552" cy="457200"/>
          </a:xfrm>
          <a:prstGeom prst="roundRect">
            <a:avLst>
              <a:gd name="adj" fmla="val 4000"/>
            </a:avLst>
          </a:prstGeom>
          <a:solidFill>
            <a:srgbClr val="FBE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700016"/>
            <a:ext cx="1554480" cy="310896"/>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Knowledge transfer</a:t>
            </a:r>
          </a:p>
        </p:txBody>
      </p:sp>
      <p:sp>
        <p:nvSpPr>
          <p:cNvPr id="24" name="TextBox 23"/>
          <p:cNvSpPr txBox="1"/>
          <p:nvPr/>
        </p:nvSpPr>
        <p:spPr>
          <a:xfrm>
            <a:off x="2240280" y="4681727"/>
            <a:ext cx="9262872" cy="347472"/>
          </a:xfrm>
          <a:prstGeom prst="rect">
            <a:avLst/>
          </a:prstGeom>
          <a:noFill/>
        </p:spPr>
        <p:txBody>
          <a:bodyPr wrap="square" lIns="0" tIns="0" rIns="0" bIns="0" anchor="ctr">
            <a:noAutofit/>
          </a:bodyPr>
          <a:lstStyle/>
          <a:p>
            <a:pPr algn="l">
              <a:lnSpc>
                <a:spcPct val="115000"/>
              </a:lnSpc>
              <a:spcAft>
                <a:spcPts val="400"/>
              </a:spcAft>
            </a:pPr>
            <a:r>
              <a:rPr sz="950" b="0">
                <a:solidFill>
                  <a:srgbClr val="333333"/>
                </a:solidFill>
                <a:latin typeface="Arial"/>
                <a:ea typeface="Arial"/>
              </a:rPr>
              <a:t>608 hours and about 79 working days per round: Foundation 60, Shadowing 360, Guided hands-on 20, Formal handover 168; 50 / 20 / 20 / 40 trainees per round. Two rounds: 1,216 hours, about 158 working days.</a:t>
            </a:r>
          </a:p>
        </p:txBody>
      </p:sp>
      <p:sp>
        <p:nvSpPr>
          <p:cNvPr id="25" name="Rounded Rectangle 24"/>
          <p:cNvSpPr/>
          <p:nvPr/>
        </p:nvSpPr>
        <p:spPr>
          <a:xfrm>
            <a:off x="457200" y="5175504"/>
            <a:ext cx="11274552" cy="457200"/>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248656"/>
            <a:ext cx="1554480" cy="310896"/>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Post-delivery support</a:t>
            </a:r>
          </a:p>
        </p:txBody>
      </p:sp>
      <p:sp>
        <p:nvSpPr>
          <p:cNvPr id="27" name="TextBox 26"/>
          <p:cNvSpPr txBox="1"/>
          <p:nvPr/>
        </p:nvSpPr>
        <p:spPr>
          <a:xfrm>
            <a:off x="2240280" y="5230368"/>
            <a:ext cx="9262872" cy="347472"/>
          </a:xfrm>
          <a:prstGeom prst="rect">
            <a:avLst/>
          </a:prstGeom>
          <a:noFill/>
        </p:spPr>
        <p:txBody>
          <a:bodyPr wrap="square" lIns="0" tIns="0" rIns="0" bIns="0" anchor="ctr">
            <a:noAutofit/>
          </a:bodyPr>
          <a:lstStyle/>
          <a:p>
            <a:pPr algn="l">
              <a:lnSpc>
                <a:spcPct val="115000"/>
              </a:lnSpc>
              <a:spcAft>
                <a:spcPts val="400"/>
              </a:spcAft>
            </a:pPr>
            <a:r>
              <a:rPr sz="950" b="0">
                <a:solidFill>
                  <a:srgbClr val="333333"/>
                </a:solidFill>
                <a:latin typeface="Arial"/>
                <a:ea typeface="Arial"/>
              </a:rPr>
              <a:t>12 months assisted O&amp;M on site (5×8) plus 60 months remote technical support (7×24); the first 12 months overlap.</a:t>
            </a:r>
          </a:p>
        </p:txBody>
      </p:sp>
      <p:sp>
        <p:nvSpPr>
          <p:cNvPr id="28" name="TextBox 27"/>
          <p:cNvSpPr txBox="1"/>
          <p:nvPr/>
        </p:nvSpPr>
        <p:spPr>
          <a:xfrm>
            <a:off x="457200" y="5687568"/>
            <a:ext cx="11274552" cy="27432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Scope follows the SOW and BOQ; capacity is verified per service.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A1 · National AI Capability Center: capacity and acceptance</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How large is the platform, how is it accepted?</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p:cNvSpPr/>
          <p:nvPr/>
        </p:nvSpPr>
        <p:spPr>
          <a:xfrm>
            <a:off x="909828"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A1</a:t>
            </a:r>
          </a:p>
        </p:txBody>
      </p:sp>
      <p:sp>
        <p:nvSpPr>
          <p:cNvPr id="6" name="Rounded Rectangle 5">
            <a:hlinkClick action="ppaction://hlinksldjump" r:id="rId3"/>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4"/>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5"/>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6"/>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7"/>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p.3</a:t>
            </a:r>
          </a:p>
        </p:txBody>
      </p:sp>
      <p:graphicFrame>
        <p:nvGraphicFramePr>
          <p:cNvPr id="21" name="Table 20"/>
          <p:cNvGraphicFramePr>
            <a:graphicFrameLocks noGrp="1"/>
          </p:cNvGraphicFramePr>
          <p:nvPr/>
        </p:nvGraphicFramePr>
        <p:xfrm>
          <a:off x="457200" y="1051560"/>
          <a:ext cx="11274552" cy="3767328"/>
        </p:xfrm>
        <a:graphic>
          <a:graphicData uri="http://schemas.openxmlformats.org/drawingml/2006/table">
            <a:tbl>
              <a:tblPr firstRow="0" bandRow="0">
                <a:tableStyleId>{2D5ABB26-0587-4C30-8999-92F81FD0307C}</a:tableStyleId>
              </a:tblPr>
              <a:tblGrid>
                <a:gridCol w="2377440"/>
                <a:gridCol w="8897112"/>
              </a:tblGrid>
              <a:tr h="365760">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Item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Content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66928">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Software components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Corpus construction, model training and application innovation centers plus the content safety review platform; with tenant, resource, queue and monitoring management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66928">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Managed accelerator licence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The platform is licensed to manage up to 1,024 accelerator cards; hardware quantity follows Huawei's resource plan, expansion per the BOQ</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66928">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Inference concurrency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NLP 1,000, ASR 200, TTS 200, safety review 400 sessions; configured and tested per service — these are not added into one total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66928">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Capacity test conditions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Hardware, model version, input/output length, audio duration, request distribution, test tooling and pass rules agreed before implementation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66928">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Network security products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2 bastion hosts, 1 log audit, 1 database audit, 1 vulnerability scanner, 2 WAFs, with licences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66928">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Acceptance method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Check BOQ and licences; verify deployment, function, capacity, security and licensing; submit test records and clear blocking issues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4937760"/>
            <a:ext cx="11274552" cy="36576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Concurrency is a licensed capacity baseline configured and tested per service, not a simultaneous peak. 1,024 is the platform's management licence ceiling, not this phase's hardware count.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A2 · Brazilian Portuguese National Model: specification and upgrades</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How big is the model, how is it upgraded?</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p:cNvSpPr/>
          <p:nvPr/>
        </p:nvSpPr>
        <p:spPr>
          <a:xfrm>
            <a:off x="1362456"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A2</a:t>
            </a:r>
          </a:p>
        </p:txBody>
      </p:sp>
      <p:sp>
        <p:nvSpPr>
          <p:cNvPr id="7" name="Rounded Rectangle 6">
            <a:hlinkClick action="ppaction://hlinksldjump" r:id="rId4"/>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5"/>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6"/>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7"/>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p.5</a:t>
            </a:r>
          </a:p>
        </p:txBody>
      </p:sp>
      <p:graphicFrame>
        <p:nvGraphicFramePr>
          <p:cNvPr id="21" name="Table 20"/>
          <p:cNvGraphicFramePr>
            <a:graphicFrameLocks noGrp="1"/>
          </p:cNvGraphicFramePr>
          <p:nvPr/>
        </p:nvGraphicFramePr>
        <p:xfrm>
          <a:off x="457200" y="1051560"/>
          <a:ext cx="11274552" cy="4389120"/>
        </p:xfrm>
        <a:graphic>
          <a:graphicData uri="http://schemas.openxmlformats.org/drawingml/2006/table">
            <a:tbl>
              <a:tblPr firstRow="0" bandRow="0">
                <a:tableStyleId>{2D5ABB26-0587-4C30-8999-92F81FD0307C}</a:tableStyleId>
              </a:tblPr>
              <a:tblGrid>
                <a:gridCol w="2377440"/>
                <a:gridCol w="8897112"/>
              </a:tblGrid>
              <a:tr h="365760">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Item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Content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Model size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One NLP model, ≥290B total parameters; one ASR model, hundreds of millions of parameters; one TTS model with one male and one female voice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Base model and rights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Actual base model weights and the artefacts needed to run locally; base and post-training weights identified separately, access per the asset and licence matrix</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Base Portuguese enhancement (Approach)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In parallel with local corpus production, iFLYTEK uses its own compute in China to collect public Portuguese corpus and continue training the base model, as the starting point for the national model — no Brazilian compute used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Base model name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0070C0"/>
                          </a:solidFill>
                          <a:latin typeface="Arial"/>
                          <a:ea typeface="Arial"/>
                        </a:rPr>
                        <a:t>TBC: whether the SOW names iFLYTEK Spark as the base; if not, it is referred to as the iFLYTEK base model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Build-phase training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Executed per the approved model plan; technical route, number of rounds, first delivery date and milestones confirmed in writing before implementation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Continuous tuning period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12 consecutive months after initial acceptance of NLP, ASR, TTS and the safety platform; formal upgrades: NLP 3, ASR 1, TTS 1, safety platform 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Tuning data caps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Across 12 months: NLP text ≤10B tokens, supervised ≤20,000 samples, safety alignment ≤5,000, ASR ≤1,000 hours, TTS ≤10 hours; separate caps for safety samples, lexicons and hot fixes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Export and portability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Per verified model, format, framework and target environment; subject to model architecture, operator and licence constraints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504688"/>
            <a:ext cx="11274552" cy="36576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Performance upgrades are limited to the agreed number within 12 months, with at most 3 main objectives per NLP upgrade. Build-phase versions and defect fixes are not counted.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A3 · Brazilian Portuguese corpus: volume, quality and data control</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How much corpus, from whom, held where?</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p:cNvSpPr/>
          <p:nvPr/>
        </p:nvSpPr>
        <p:spPr>
          <a:xfrm>
            <a:off x="1815084"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A3</a:t>
            </a:r>
          </a:p>
        </p:txBody>
      </p:sp>
      <p:sp>
        <p:nvSpPr>
          <p:cNvPr id="8" name="Rounded Rectangle 7">
            <a:hlinkClick action="ppaction://hlinksldjump" r:id="rId5"/>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6"/>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7"/>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p.5</a:t>
            </a:r>
          </a:p>
        </p:txBody>
      </p:sp>
      <p:graphicFrame>
        <p:nvGraphicFramePr>
          <p:cNvPr id="21" name="Table 20"/>
          <p:cNvGraphicFramePr>
            <a:graphicFrameLocks noGrp="1"/>
          </p:cNvGraphicFramePr>
          <p:nvPr/>
        </p:nvGraphicFramePr>
        <p:xfrm>
          <a:off x="457200" y="1051560"/>
          <a:ext cx="11274552" cy="3950208"/>
        </p:xfrm>
        <a:graphic>
          <a:graphicData uri="http://schemas.openxmlformats.org/drawingml/2006/table">
            <a:tbl>
              <a:tblPr firstRow="0" bandRow="0">
                <a:tableStyleId>{2D5ABB26-0587-4C30-8999-92F81FD0307C}</a:tableStyleId>
              </a:tblPr>
              <a:tblGrid>
                <a:gridCol w="2377440"/>
                <a:gridCol w="8897112"/>
              </a:tblGrid>
              <a:tr h="365760">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Item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Content (volumes are minimum references)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Unsupervised text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50B tokens of valid data counted with the approved tokenizer, de-duplicated and screened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Supervised and safety data</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200,000 supervised tuning samples; 20,000 safety and values samples, counted as complete valid samples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Speech data</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ASR: 10,000 hours of valid audio with qualified transcription; TTS: 100,000 items and at least 100 hours of high-quality recording, with lexicon and samples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Split of work and early compute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RNP organises data acquisition, licensing and full-volume production; iFLYTEK provides the platform, specifications, pilot-batch guidance and sampling quality checks. </a:t>
                      </a:r>
                      <a:r>
                        <a:rPr sz="1000" b="0">
                          <a:solidFill>
                            <a:srgbClr val="0070C0"/>
                          </a:solidFill>
                          <a:latin typeface="Arial"/>
                          <a:ea typeface="Arial"/>
                        </a:rPr>
                        <a:t>Compute for corpus collection and processing before the data center opens is arranged locally by RNP.</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Quality rules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Counting, sampling, quality thresholds, batching and re-check rules agreed before volume production; data that fails is not counted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Data control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Project data is stored in the Brazilian environment designated by RNP, managed by access rights and audit; data rights and permitted use follow the original licences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iFLYTEK public corpus (Approach)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iFLYTEK uses its own compute in China to collect and process public Portuguese corpus to strengthen the base model's general Portuguese, and hands that corpus to Brazil as well. </a:t>
                      </a:r>
                      <a:r>
                        <a:rPr sz="1000" b="0">
                          <a:solidFill>
                            <a:srgbClr val="0070C0"/>
                          </a:solidFill>
                          <a:latin typeface="Arial"/>
                          <a:ea typeface="Arial"/>
                        </a:rPr>
                        <a:t>Volume and handover method confirmed before implementation.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120640"/>
            <a:ext cx="11274552" cy="36576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Corpus acceptance is measured by the definition of valid data and the approved plan; model performance is verified separately under the A2 evaluation rules.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A4 · National AI Application: functions and limits</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What can the app do, where are the limits?</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p:cNvSpPr/>
          <p:nvPr/>
        </p:nvSpPr>
        <p:spPr>
          <a:xfrm>
            <a:off x="2267712"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A4</a:t>
            </a:r>
          </a:p>
        </p:txBody>
      </p:sp>
      <p:sp>
        <p:nvSpPr>
          <p:cNvPr id="9" name="Rounded Rectangle 8">
            <a:hlinkClick action="ppaction://hlinksldjump" r:id="rId6"/>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7"/>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p.7</a:t>
            </a:r>
          </a:p>
        </p:txBody>
      </p:sp>
      <p:graphicFrame>
        <p:nvGraphicFramePr>
          <p:cNvPr id="21" name="Table 20"/>
          <p:cNvGraphicFramePr>
            <a:graphicFrameLocks noGrp="1"/>
          </p:cNvGraphicFramePr>
          <p:nvPr/>
        </p:nvGraphicFramePr>
        <p:xfrm>
          <a:off x="457200" y="896112"/>
          <a:ext cx="11274552" cy="4873752"/>
        </p:xfrm>
        <a:graphic>
          <a:graphicData uri="http://schemas.openxmlformats.org/drawingml/2006/table">
            <a:tbl>
              <a:tblPr firstRow="0" bandRow="0">
                <a:tableStyleId>{2D5ABB26-0587-4C30-8999-92F81FD0307C}</a:tableStyleId>
              </a:tblPr>
              <a:tblGrid>
                <a:gridCol w="2057400"/>
                <a:gridCol w="4937760"/>
                <a:gridCol w="4279392"/>
              </a:tblGrid>
              <a:tr h="347472">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Function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Included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Excluded or limited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Chat and Q&amp;A</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Single entry point: text input, answers, regeneration, feedback, history; general Q&amp;A and Q&amp;A over connected knowledge bases with source citation; multi-turn follow-up</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No guarantee of an answer to every question or of correctness; custom industry chatbots excluded; context limited by token limits and session policy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Search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Search across connected knowledge bases, applications and authorised documents; web results shown with links to the source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Search of unconnected systems, all local files or arbitrary web content excluded; web search depends on an external service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Documents and translation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Attachment parsing, document Q&amp;A, summaries, outlines and key points; </a:t>
                      </a:r>
                      <a:r>
                        <a:rPr sz="800" b="1">
                          <a:solidFill>
                            <a:srgbClr val="333333"/>
                          </a:solidFill>
                          <a:latin typeface="Arial"/>
                          <a:ea typeface="Arial"/>
                        </a:rPr>
                        <a:t>translation assistance for parsed document text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Limited to supported, successfully parsed formats; very long whole-document translation, complex layout retention, full scan recognition and professional review not committed; </a:t>
                      </a:r>
                      <a:r>
                        <a:rPr sz="800" b="1">
                          <a:solidFill>
                            <a:srgbClr val="333333"/>
                          </a:solidFill>
                          <a:latin typeface="Arial"/>
                          <a:ea typeface="Arial"/>
                        </a:rPr>
                        <a:t>standalone speech translation excluded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Writing and presentations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AI writing, AI notes and AI presentation creation, with assisted generation, editing, templates and export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0070C0"/>
                          </a:solidFill>
                          <a:latin typeface="Arial"/>
                          <a:ea typeface="Arial"/>
                        </a:rPr>
                        <a:t>Portuguese slide generation and official templates included only after adaptation is verified</a:t>
                      </a:r>
                      <a:r>
                        <a:rPr sz="800" b="0">
                          <a:solidFill>
                            <a:srgbClr val="333333"/>
                          </a:solidFill>
                          <a:latin typeface="Arial"/>
                          <a:ea typeface="Arial"/>
                        </a:rPr>
                        <a:t>; professional design services and lossless format conversion excluded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Three usage directions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Learning: Q&amp;A and document summaries. Work: notes, writing, documents, app shortcuts. Daily life: everyday queries with web search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Teaching systems, curricula and exam scoring excluded; OA approvals and process automation excluded; bookings, payments and lifestyle services excluded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Portuguese speech, multi-device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This project's ASR and TTS for voice input and read-aloud; web client plus the clients in this project's delivery scope, verified on specified browsers and OS versions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Audio spec, duration, concurrency and voices limited to the delivered speech service; multi-device is not every device or OS — final scope per the BOQ</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Authentication and users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Platform account login, plus external authentication through product-verified methods; organisation, user, tenant, role and menu permissions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1">
                          <a:solidFill>
                            <a:srgbClr val="333333"/>
                          </a:solidFill>
                          <a:latin typeface="Arial"/>
                          <a:ea typeface="Arial"/>
                        </a:rPr>
                        <a:t>iFLYTEK QR-code login is not required to run locally in Brazil</a:t>
                      </a:r>
                      <a:r>
                        <a:rPr sz="800" b="0">
                          <a:solidFill>
                            <a:srgbClr val="333333"/>
                          </a:solidFill>
                          <a:latin typeface="Arial"/>
                          <a:ea typeface="Arial"/>
                        </a:rPr>
                        <a:t>; MFA and arbitrary identity systems not included by default; directory sync needs verified interfaces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Content review and security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Connected to this project's content safety review platform, applying policy at the agreed text interaction points; authentication, role authorisation, tenant access control, logging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1">
                          <a:solidFill>
                            <a:srgbClr val="333333"/>
                          </a:solidFill>
                          <a:latin typeface="Arial"/>
                          <a:ea typeface="Arial"/>
                        </a:rPr>
                        <a:t>Spark Cloud does not replace the standalone review platform</a:t>
                      </a:r>
                      <a:r>
                        <a:rPr sz="800" b="0">
                          <a:solidFill>
                            <a:srgbClr val="333333"/>
                          </a:solidFill>
                          <a:latin typeface="Arial"/>
                          <a:ea typeface="Arial"/>
                        </a:rPr>
                        <a:t>; image, audio and video review not included by default; not all risks guaranteed to be caught; not a full security framework or SOC</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02920">
                <a:tc>
                  <a:txBody>
                    <a:bodyPr wrap="square" lIns="73152" tIns="36576" rIns="73152" bIns="36576" anchor="ctr">
                      <a:noAutofit/>
                    </a:bodyPr>
                    <a:lstStyle/>
                    <a:p>
                      <a:pPr algn="l">
                        <a:lnSpc>
                          <a:spcPct val="110000"/>
                        </a:lnSpc>
                        <a:spcAft>
                          <a:spcPts val="100"/>
                        </a:spcAft>
                      </a:pPr>
                      <a:r>
                        <a:rPr sz="800" b="1">
                          <a:solidFill>
                            <a:srgbClr val="1D1D1A"/>
                          </a:solidFill>
                          <a:latin typeface="Arial"/>
                          <a:ea typeface="Arial"/>
                        </a:rPr>
                        <a:t>Logs and operations reports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Query and export of the operation, client and service logs the product records; visits, active users, usage trends, favourites and feedback statistics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00" b="0">
                          <a:solidFill>
                            <a:srgbClr val="333333"/>
                          </a:solidFill>
                          <a:latin typeface="Arial"/>
                          <a:ea typeface="Arial"/>
                        </a:rPr>
                        <a:t>Not every business activity is logged; log fields, retention and capacity set at deployment; unconnected-system statistics, custom BI and billing excluded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A5 · Domain Large Models: scope, inputs and service acceptance</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Who builds the DLMs, and how far?</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p:cNvSpPr/>
          <p:nvPr/>
        </p:nvSpPr>
        <p:spPr>
          <a:xfrm>
            <a:off x="2720340"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A5</a:t>
            </a:r>
          </a:p>
        </p:txBody>
      </p:sp>
      <p:sp>
        <p:nvSpPr>
          <p:cNvPr id="10" name="Rounded Rectangle 9">
            <a:hlinkClick action="ppaction://hlinksldjump" r:id="rId7"/>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p.9</a:t>
            </a:r>
          </a:p>
        </p:txBody>
      </p:sp>
      <p:graphicFrame>
        <p:nvGraphicFramePr>
          <p:cNvPr id="21" name="Table 20"/>
          <p:cNvGraphicFramePr>
            <a:graphicFrameLocks noGrp="1"/>
          </p:cNvGraphicFramePr>
          <p:nvPr/>
        </p:nvGraphicFramePr>
        <p:xfrm>
          <a:off x="457200" y="1051560"/>
          <a:ext cx="11274552" cy="3950208"/>
        </p:xfrm>
        <a:graphic>
          <a:graphicData uri="http://schemas.openxmlformats.org/drawingml/2006/table">
            <a:tbl>
              <a:tblPr firstRow="0" bandRow="0">
                <a:tableStyleId>{2D5ABB26-0587-4C30-8999-92F81FD0307C}</a:tableStyleId>
              </a:tblPr>
              <a:tblGrid>
                <a:gridCol w="2377440"/>
                <a:gridCol w="8897112"/>
              </a:tblGrid>
              <a:tr h="365760">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Item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Content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Number and scope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Three DLM advisory training services; one clearly bounded fixed scenario each. RNP proposes the domain, iFLYTEK assesses feasibility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Base model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An existing base model agreed by both parties; version, size, licence and toolchain verified first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Data requirements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RNP provides lawful, sufficient and representative training, validation, safety and independent evaluation data; volumes per the specific plan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Training route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One main route confirmed per service — LoRA-SFT, SFT, GRPO or similar, selected on feasibility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Delivery model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RNP performs training and evaluation; iFLYTEK provides guidance, analysis and optimisation advice within the agreed effort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Rights and boundaries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Weights are produced by RNP's training and belong to RNP; iFLYTEK delivers the plan, advisory records and analysis report. Production deployment, API development and application integration can be agreed separately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Start confirmation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A DLM Scenario and Technical Plan Confirmation is signed for each service, setting duration, effort, deliverable form and pass rules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120640"/>
            <a:ext cx="11274552" cy="36576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Service acceptance checks the plan, the advisory activity and the analysis based on RNP's actual results. Model performance targets are separate from iFLYTEK's service acceptance.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A6 · Handover, licensing and operational support</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Will we be locked in, what costs follow?</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p:cNvSpPr/>
          <p:nvPr/>
        </p:nvSpPr>
        <p:spPr>
          <a:xfrm>
            <a:off x="3172968"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A6</a:t>
            </a:r>
          </a:p>
        </p:txBody>
      </p:sp>
      <p:sp>
        <p:nvSpPr>
          <p:cNvPr id="11" name="Rounded Rectangle 10">
            <a:hlinkClick action="ppaction://hlinksldjump" r:id="rId8"/>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p.10</a:t>
            </a:r>
          </a:p>
        </p:txBody>
      </p:sp>
      <p:graphicFrame>
        <p:nvGraphicFramePr>
          <p:cNvPr id="21" name="Table 20"/>
          <p:cNvGraphicFramePr>
            <a:graphicFrameLocks noGrp="1"/>
          </p:cNvGraphicFramePr>
          <p:nvPr/>
        </p:nvGraphicFramePr>
        <p:xfrm>
          <a:off x="457200" y="1051560"/>
          <a:ext cx="11274552" cy="3950208"/>
        </p:xfrm>
        <a:graphic>
          <a:graphicData uri="http://schemas.openxmlformats.org/drawingml/2006/table">
            <a:tbl>
              <a:tblPr firstRow="0" bandRow="0">
                <a:tableStyleId>{2D5ABB26-0587-4C30-8999-92F81FD0307C}</a:tableStyleId>
              </a:tblPr>
              <a:tblGrid>
                <a:gridCol w="2377440"/>
                <a:gridCol w="8897112"/>
              </a:tblGrid>
              <a:tr h="365760">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Item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50" b="1">
                          <a:solidFill>
                            <a:srgbClr val="1D1D1A"/>
                          </a:solidFill>
                          <a:latin typeface="Arial"/>
                          <a:ea typeface="Arial"/>
                        </a:rPr>
                        <a:t>Content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Model rights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Base weights, post-training weights and DLM outputs are listed separately for delivery and licensing; weight delivery does not include background intellectual property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Platform and custom code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Platform software used per the BOQ and its licences; for custom development, source code and modification rights are delivered per the list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Perpetual use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Versions marked perpetual remain valid after payment and do not expire when the service period ends; maintenance, support and upgrades follow their own service terms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Export and third-party adaptation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Export and migration per licence and technical feasibility, with format, framework and target environment confirmed item by item; the BOQ lists 2 third-party model inference adaptation services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On-site and remote support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12 months assisted O&amp;M on site (5×8); 60 months remote technical support (7×24, L3/L4); the first 12 months overlap</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First response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P1 ≤30 minutes; P2 ≤60 minutes; P3 ≤2 hours; P4 ≤next working day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12064">
                <a:tc>
                  <a:txBody>
                    <a:bodyPr wrap="square" lIns="73152" tIns="36576" rIns="73152" bIns="36576" anchor="ctr">
                      <a:noAutofit/>
                    </a:bodyPr>
                    <a:lstStyle/>
                    <a:p>
                      <a:pPr algn="l">
                        <a:lnSpc>
                          <a:spcPct val="110000"/>
                        </a:lnSpc>
                        <a:spcAft>
                          <a:spcPts val="100"/>
                        </a:spcAft>
                      </a:pPr>
                      <a:r>
                        <a:rPr sz="1000" b="1">
                          <a:solidFill>
                            <a:srgbClr val="1D1D1A"/>
                          </a:solidFill>
                          <a:latin typeface="Arial"/>
                          <a:ea typeface="Arial"/>
                        </a:rPr>
                        <a:t>Later costs and documents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1000" b="0">
                          <a:solidFill>
                            <a:srgbClr val="333333"/>
                          </a:solidFill>
                          <a:latin typeface="Arial"/>
                          <a:ea typeface="Arial"/>
                        </a:rPr>
                        <a:t>Listed support follows the BOQ; expansion, renewal, third-party licences and out-of-scope work are confirmed separately on stated terms; documentation in English or Brazilian Portuguese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120640"/>
            <a:ext cx="11274552" cy="36576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These are first-response times, not restoration times. The last four years of remote support do not include permanent on-site staff.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A7 · RNP staffing detail: three intakes</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How many people of each type, and when?</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p:cNvSpPr/>
          <p:nvPr/>
        </p:nvSpPr>
        <p:spPr>
          <a:xfrm>
            <a:off x="3790188"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A7</a:t>
            </a:r>
          </a:p>
        </p:txBody>
      </p:sp>
      <p:sp>
        <p:nvSpPr>
          <p:cNvPr id="12" name="Rounded Rectangle 11">
            <a:hlinkClick action="ppaction://hlinksldjump" r:id="rId9"/>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p.13</a:t>
            </a:r>
          </a:p>
        </p:txBody>
      </p:sp>
      <p:graphicFrame>
        <p:nvGraphicFramePr>
          <p:cNvPr id="21" name="Table 20"/>
          <p:cNvGraphicFramePr>
            <a:graphicFrameLocks noGrp="1"/>
          </p:cNvGraphicFramePr>
          <p:nvPr/>
        </p:nvGraphicFramePr>
        <p:xfrm>
          <a:off x="457200" y="1051560"/>
          <a:ext cx="11274552" cy="3730752"/>
        </p:xfrm>
        <a:graphic>
          <a:graphicData uri="http://schemas.openxmlformats.org/drawingml/2006/table">
            <a:tbl>
              <a:tblPr firstRow="0" bandRow="0">
                <a:tableStyleId>{2D5ABB26-0587-4C30-8999-92F81FD0307C}</a:tableStyleId>
              </a:tblPr>
              <a:tblGrid>
                <a:gridCol w="2057400"/>
                <a:gridCol w="3383280"/>
                <a:gridCol w="2743200"/>
                <a:gridCol w="1691640"/>
                <a:gridCol w="1399032"/>
              </a:tblGrid>
              <a:tr h="365760">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Role group</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Composition (indicative)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Main responsibility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Intake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Indicative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Project and product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Project managers 2, product managers 4, PMO / data center experts 3</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Requirements, schedule, resources, delivery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1 · from step 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9</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Corpus and data resources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Resource engineers 6, data QC 6, annotators 20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Organise data, annotation and quality checks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1 · from step 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32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Portuguese language experts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Language experts 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Portuguese quality, annotation and speech standards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1 · from step 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Compliance and review</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Review experts 2, legal experts 2, review leads 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Content, safety and legal compliance review</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1 · from step 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Business and domain experts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Business requirements 3, domain requirements 2, domain experts 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Confirm business scenarios and domain results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2 · from step 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7</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Model and test engineering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Algorithm engineers 12, test engineers 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Model training, evaluation and technical validation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2 · from step 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18</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Application and operations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Software developers 15, operations engineers 10, architects 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Application architecture, integration and operations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3 · from step 3</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27</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420624">
                <a:tc>
                  <a:txBody>
                    <a:bodyPr wrap="square" lIns="73152" tIns="36576" rIns="73152" bIns="36576" anchor="ctr">
                      <a:noAutofit/>
                    </a:bodyPr>
                    <a:lstStyle/>
                    <a:p>
                      <a:pPr algn="l">
                        <a:lnSpc>
                          <a:spcPct val="110000"/>
                        </a:lnSpc>
                        <a:spcAft>
                          <a:spcPts val="100"/>
                        </a:spcAft>
                      </a:pPr>
                      <a:r>
                        <a:rPr sz="950" b="1">
                          <a:solidFill>
                            <a:srgbClr val="1D1D1A"/>
                          </a:solidFill>
                          <a:latin typeface="Arial"/>
                          <a:ea typeface="Arial"/>
                        </a:rPr>
                        <a:t>Platform O&amp;M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O&amp;M engineers 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Run management, deployment and escalation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333333"/>
                          </a:solidFill>
                          <a:latin typeface="Arial"/>
                          <a:ea typeface="Arial"/>
                        </a:rPr>
                        <a:t>Intake 3 · from step 3</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50" b="0">
                          <a:solidFill>
                            <a:srgbClr val="0070C0"/>
                          </a:solidFill>
                          <a:latin typeface="Arial"/>
                          <a:ea typeface="Arial"/>
                        </a:rPr>
                        <a:t>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4937760"/>
            <a:ext cx="11274552" cy="640080"/>
          </a:xfrm>
          <a:prstGeom prst="rect">
            <a:avLst/>
          </a:prstGeom>
          <a:noFill/>
        </p:spPr>
        <p:txBody>
          <a:bodyPr wrap="square" lIns="0" tIns="0" rIns="0" bIns="0" anchor="ctr">
            <a:noAutofit/>
          </a:bodyPr>
          <a:lstStyle/>
          <a:p>
            <a:pPr algn="l">
              <a:lnSpc>
                <a:spcPct val="115000"/>
              </a:lnSpc>
              <a:spcAft>
                <a:spcPts val="0"/>
              </a:spcAft>
            </a:pPr>
            <a:r>
              <a:rPr sz="900" b="0">
                <a:solidFill>
                  <a:srgbClr val="666666"/>
                </a:solidFill>
                <a:latin typeface="Arial"/>
                <a:ea typeface="Arial"/>
              </a:rPr>
              <a:t>Intake subtotals: intake 1 </a:t>
            </a:r>
            <a:r>
              <a:rPr sz="900" b="0">
                <a:solidFill>
                  <a:srgbClr val="0070C0"/>
                </a:solidFill>
                <a:latin typeface="Arial"/>
                <a:ea typeface="Arial"/>
              </a:rPr>
              <a:t>about 53</a:t>
            </a:r>
            <a:r>
              <a:rPr sz="900" b="0">
                <a:solidFill>
                  <a:srgbClr val="666666"/>
                </a:solidFill>
                <a:latin typeface="Arial"/>
                <a:ea typeface="Arial"/>
              </a:rPr>
              <a:t>, intake 2 </a:t>
            </a:r>
            <a:r>
              <a:rPr sz="900" b="0">
                <a:solidFill>
                  <a:srgbClr val="0070C0"/>
                </a:solidFill>
                <a:latin typeface="Arial"/>
                <a:ea typeface="Arial"/>
              </a:rPr>
              <a:t>about 25</a:t>
            </a:r>
            <a:r>
              <a:rPr sz="900" b="0">
                <a:solidFill>
                  <a:srgbClr val="666666"/>
                </a:solidFill>
                <a:latin typeface="Arial"/>
                <a:ea typeface="Arial"/>
              </a:rPr>
              <a:t>, intake 3 </a:t>
            </a:r>
            <a:r>
              <a:rPr sz="900" b="0">
                <a:solidFill>
                  <a:srgbClr val="0070C0"/>
                </a:solidFill>
                <a:latin typeface="Arial"/>
                <a:ea typeface="Arial"/>
              </a:rPr>
              <a:t>about 33</a:t>
            </a:r>
            <a:r>
              <a:rPr sz="900" b="0">
                <a:solidFill>
                  <a:srgbClr val="666666"/>
                </a:solidFill>
                <a:latin typeface="Arial"/>
                <a:ea typeface="Arial"/>
              </a:rPr>
              <a:t>; the total of </a:t>
            </a:r>
            <a:r>
              <a:rPr sz="900" b="0">
                <a:solidFill>
                  <a:srgbClr val="0070C0"/>
                </a:solidFill>
                <a:latin typeface="Arial"/>
                <a:ea typeface="Arial"/>
              </a:rPr>
              <a:t>111</a:t>
            </a:r>
            <a:r>
              <a:rPr sz="900" b="0">
                <a:solidFill>
                  <a:srgbClr val="666666"/>
                </a:solidFill>
                <a:latin typeface="Arial"/>
                <a:ea typeface="Arial"/>
              </a:rPr>
              <a:t> is the sum of peaks per function, reusable across activities, not people on site at once.</a:t>
            </a:r>
          </a:p>
          <a:p>
            <a:pPr algn="l">
              <a:lnSpc>
                <a:spcPct val="115000"/>
              </a:lnSpc>
              <a:spcAft>
                <a:spcPts val="0"/>
              </a:spcAft>
            </a:pPr>
            <a:r>
              <a:rPr sz="900" b="0">
                <a:solidFill>
                  <a:srgbClr val="666666"/>
                </a:solidFill>
                <a:latin typeface="Arial"/>
                <a:ea typeface="Arial"/>
              </a:rPr>
              <a:t>These indicative numbers come from iFLYTEK's early, non-binding estimate for a full-delivery model. Under this SOW RNP takes on full data production, DLM training and daily operations, so headcount should be re-checked against the actual split.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A8 · Knowledge transfer: the four stages in detail</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What happens in each stage, how many days?</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p:cNvSpPr/>
          <p:nvPr/>
        </p:nvSpPr>
        <p:spPr>
          <a:xfrm>
            <a:off x="4242816"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A8</a:t>
            </a:r>
          </a:p>
        </p:txBody>
      </p:sp>
      <p:sp>
        <p:nvSpPr>
          <p:cNvPr id="13" name="Rounded Rectangle 12">
            <a:hlinkClick action="ppaction://hlinksldjump" r:id="rId10"/>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p.11</a:t>
            </a:r>
          </a:p>
        </p:txBody>
      </p:sp>
      <p:graphicFrame>
        <p:nvGraphicFramePr>
          <p:cNvPr id="21" name="Table 20"/>
          <p:cNvGraphicFramePr>
            <a:graphicFrameLocks noGrp="1"/>
          </p:cNvGraphicFramePr>
          <p:nvPr/>
        </p:nvGraphicFramePr>
        <p:xfrm>
          <a:off x="457200" y="1051560"/>
          <a:ext cx="11274551" cy="3749040"/>
        </p:xfrm>
        <a:graphic>
          <a:graphicData uri="http://schemas.openxmlformats.org/drawingml/2006/table">
            <a:tbl>
              <a:tblPr firstRow="0" bandRow="0">
                <a:tableStyleId>{2D5ABB26-0587-4C30-8999-92F81FD0307C}</a:tableStyleId>
              </a:tblPr>
              <a:tblGrid>
                <a:gridCol w="1600200"/>
                <a:gridCol w="3703320"/>
                <a:gridCol w="1463040"/>
                <a:gridCol w="1554480"/>
                <a:gridCol w="1097280"/>
                <a:gridCol w="1856231"/>
              </a:tblGrid>
              <a:tr h="365760">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Stage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Learning objectives and scope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Roles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Hours / days per round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Trainees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Completion evidence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685800">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Foundation</a:t>
                      </a:r>
                    </a:p>
                    <a:p>
                      <a:pPr algn="l">
                        <a:lnSpc>
                          <a:spcPct val="110000"/>
                        </a:lnSpc>
                        <a:spcAft>
                          <a:spcPts val="100"/>
                        </a:spcAft>
                      </a:pPr>
                      <a:r>
                        <a:rPr sz="850" b="1">
                          <a:solidFill>
                            <a:srgbClr val="1D1D1A"/>
                          </a:solidFill>
                          <a:latin typeface="Arial"/>
                          <a:ea typeface="Arial"/>
                        </a:rPr>
                        <a:t>(AI basics)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A shared understanding of machine learning, deep learning, NLP and large models; covers corpus preparation, training, evaluation, model services, application innovation, Capability Center architecture and O&amp;M basics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iFLYTEK teaches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60 hours</a:t>
                      </a:r>
                    </a:p>
                    <a:p>
                      <a:pPr algn="l">
                        <a:lnSpc>
                          <a:spcPct val="110000"/>
                        </a:lnSpc>
                        <a:spcAft>
                          <a:spcPts val="100"/>
                        </a:spcAft>
                      </a:pPr>
                      <a:r>
                        <a:rPr sz="850" b="0">
                          <a:solidFill>
                            <a:srgbClr val="333333"/>
                          </a:solidFill>
                          <a:latin typeface="Arial"/>
                          <a:ea typeface="Arial"/>
                        </a:rPr>
                        <a:t>~10 working days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50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Stage requirements met</a:t>
                      </a:r>
                    </a:p>
                    <a:p>
                      <a:pPr algn="l">
                        <a:lnSpc>
                          <a:spcPct val="110000"/>
                        </a:lnSpc>
                        <a:spcAft>
                          <a:spcPts val="100"/>
                        </a:spcAft>
                      </a:pPr>
                      <a:r>
                        <a:rPr sz="850" b="0">
                          <a:solidFill>
                            <a:srgbClr val="333333"/>
                          </a:solidFill>
                          <a:latin typeface="Arial"/>
                          <a:ea typeface="Arial"/>
                        </a:rPr>
                        <a:t>(target ≥80%)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85800">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Shadowing</a:t>
                      </a:r>
                    </a:p>
                    <a:p>
                      <a:pPr algn="l">
                        <a:lnSpc>
                          <a:spcPct val="110000"/>
                        </a:lnSpc>
                        <a:spcAft>
                          <a:spcPts val="100"/>
                        </a:spcAft>
                      </a:pPr>
                      <a:r>
                        <a:rPr sz="850" b="1">
                          <a:solidFill>
                            <a:srgbClr val="1D1D1A"/>
                          </a:solidFill>
                          <a:latin typeface="Arial"/>
                          <a:ea typeface="Arial"/>
                        </a:rPr>
                        <a:t>(iFLYTEK operates)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Observe and assist iFLYTEK engineers on the delivered platform: dataset management, training jobs, resource configuration, evaluation, release, serving and basic O&amp;M; content follows live delivery and operations work</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iFLYTEK operates</a:t>
                      </a:r>
                    </a:p>
                    <a:p>
                      <a:pPr algn="l">
                        <a:lnSpc>
                          <a:spcPct val="110000"/>
                        </a:lnSpc>
                        <a:spcAft>
                          <a:spcPts val="100"/>
                        </a:spcAft>
                      </a:pPr>
                      <a:r>
                        <a:rPr sz="850" b="0">
                          <a:solidFill>
                            <a:srgbClr val="333333"/>
                          </a:solidFill>
                          <a:latin typeface="Arial"/>
                          <a:ea typeface="Arial"/>
                        </a:rPr>
                        <a:t>RNP observes, assists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360 hours</a:t>
                      </a:r>
                    </a:p>
                    <a:p>
                      <a:pPr algn="l">
                        <a:lnSpc>
                          <a:spcPct val="110000"/>
                        </a:lnSpc>
                        <a:spcAft>
                          <a:spcPts val="100"/>
                        </a:spcAft>
                      </a:pPr>
                      <a:r>
                        <a:rPr sz="850" b="0">
                          <a:solidFill>
                            <a:srgbClr val="333333"/>
                          </a:solidFill>
                          <a:latin typeface="Arial"/>
                          <a:ea typeface="Arial"/>
                        </a:rPr>
                        <a:t>~45 working days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20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Hands-on assessment passed</a:t>
                      </a:r>
                    </a:p>
                    <a:p>
                      <a:pPr algn="l">
                        <a:lnSpc>
                          <a:spcPct val="110000"/>
                        </a:lnSpc>
                        <a:spcAft>
                          <a:spcPts val="100"/>
                        </a:spcAft>
                      </a:pPr>
                      <a:r>
                        <a:rPr sz="850" b="0">
                          <a:solidFill>
                            <a:srgbClr val="333333"/>
                          </a:solidFill>
                          <a:latin typeface="Arial"/>
                          <a:ea typeface="Arial"/>
                        </a:rPr>
                        <a:t>(target ≥70%)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85800">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Guided hands-on</a:t>
                      </a:r>
                    </a:p>
                    <a:p>
                      <a:pPr algn="l">
                        <a:lnSpc>
                          <a:spcPct val="110000"/>
                        </a:lnSpc>
                        <a:spcAft>
                          <a:spcPts val="100"/>
                        </a:spcAft>
                      </a:pPr>
                      <a:r>
                        <a:rPr sz="850" b="1">
                          <a:solidFill>
                            <a:srgbClr val="1D1D1A"/>
                          </a:solidFill>
                          <a:latin typeface="Arial"/>
                          <a:ea typeface="Arial"/>
                        </a:rPr>
                        <a:t>(RNP operates)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RNP performs the pre-agreed task list: platform operation, data processing, training job submission, model deployment, monitoring, alarms and fault triage; iFLYTEK guides and checks the key steps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RNP operates</a:t>
                      </a:r>
                    </a:p>
                    <a:p>
                      <a:pPr algn="l">
                        <a:lnSpc>
                          <a:spcPct val="110000"/>
                        </a:lnSpc>
                        <a:spcAft>
                          <a:spcPts val="100"/>
                        </a:spcAft>
                      </a:pPr>
                      <a:r>
                        <a:rPr sz="850" b="0">
                          <a:solidFill>
                            <a:srgbClr val="333333"/>
                          </a:solidFill>
                          <a:latin typeface="Arial"/>
                          <a:ea typeface="Arial"/>
                        </a:rPr>
                        <a:t>iFLYTEK guides, checks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20 hours</a:t>
                      </a:r>
                    </a:p>
                    <a:p>
                      <a:pPr algn="l">
                        <a:lnSpc>
                          <a:spcPct val="110000"/>
                        </a:lnSpc>
                        <a:spcAft>
                          <a:spcPts val="100"/>
                        </a:spcAft>
                      </a:pPr>
                      <a:r>
                        <a:rPr sz="850" b="0">
                          <a:solidFill>
                            <a:srgbClr val="333333"/>
                          </a:solidFill>
                          <a:latin typeface="Arial"/>
                          <a:ea typeface="Arial"/>
                        </a:rPr>
                        <a:t>~3 working days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20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Hands-on record signed by both</a:t>
                      </a:r>
                    </a:p>
                    <a:p>
                      <a:pPr algn="l">
                        <a:lnSpc>
                          <a:spcPct val="110000"/>
                        </a:lnSpc>
                        <a:spcAft>
                          <a:spcPts val="100"/>
                        </a:spcAft>
                      </a:pPr>
                      <a:r>
                        <a:rPr sz="850" b="0">
                          <a:solidFill>
                            <a:srgbClr val="333333"/>
                          </a:solidFill>
                          <a:latin typeface="Arial"/>
                          <a:ea typeface="Arial"/>
                        </a:rPr>
                        <a:t>(target ≥50% met)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85800">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Formal handover</a:t>
                      </a:r>
                    </a:p>
                    <a:p>
                      <a:pPr algn="l">
                        <a:lnSpc>
                          <a:spcPct val="110000"/>
                        </a:lnSpc>
                        <a:spcAft>
                          <a:spcPts val="100"/>
                        </a:spcAft>
                      </a:pPr>
                      <a:r>
                        <a:rPr sz="850" b="1">
                          <a:solidFill>
                            <a:srgbClr val="1D1D1A"/>
                          </a:solidFill>
                          <a:latin typeface="Arial"/>
                          <a:ea typeface="Arial"/>
                        </a:rPr>
                        <a:t>(operational ownership)</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Handover coaching on the platform, licensed assets, configuration, access rights and documents actually delivered under the SOW, BOQ and final acceptance list; RNP's independent operation is verified; open items and support arrangements confirmed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RNP operates alone</a:t>
                      </a:r>
                    </a:p>
                    <a:p>
                      <a:pPr algn="l">
                        <a:lnSpc>
                          <a:spcPct val="110000"/>
                        </a:lnSpc>
                        <a:spcAft>
                          <a:spcPts val="100"/>
                        </a:spcAft>
                      </a:pPr>
                      <a:r>
                        <a:rPr sz="850" b="0">
                          <a:solidFill>
                            <a:srgbClr val="333333"/>
                          </a:solidFill>
                          <a:latin typeface="Arial"/>
                          <a:ea typeface="Arial"/>
                        </a:rPr>
                        <a:t>iFLYTEK verifies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168 hours</a:t>
                      </a:r>
                    </a:p>
                    <a:p>
                      <a:pPr algn="l">
                        <a:lnSpc>
                          <a:spcPct val="110000"/>
                        </a:lnSpc>
                        <a:spcAft>
                          <a:spcPts val="100"/>
                        </a:spcAft>
                      </a:pPr>
                      <a:r>
                        <a:rPr sz="850" b="0">
                          <a:solidFill>
                            <a:srgbClr val="333333"/>
                          </a:solidFill>
                          <a:latin typeface="Arial"/>
                          <a:ea typeface="Arial"/>
                        </a:rPr>
                        <a:t>~21 working days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40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Handover confirmation signed by both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40080">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Total</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Hours are counted once across topics; two rounds are delivered with trainees taking part in batches; stage dates follow the approved knowledge transfer plan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Per round 608 h / ~79 days</a:t>
                      </a:r>
                    </a:p>
                    <a:p>
                      <a:pPr algn="l">
                        <a:lnSpc>
                          <a:spcPct val="110000"/>
                        </a:lnSpc>
                        <a:spcAft>
                          <a:spcPts val="100"/>
                        </a:spcAft>
                      </a:pPr>
                      <a:r>
                        <a:rPr sz="850" b="0">
                          <a:solidFill>
                            <a:srgbClr val="333333"/>
                          </a:solidFill>
                          <a:latin typeface="Arial"/>
                          <a:ea typeface="Arial"/>
                        </a:rPr>
                        <a:t>Two rounds 1,216 h / ~158 days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Per round 50/20/20/40</a:t>
                      </a:r>
                    </a:p>
                    <a:p>
                      <a:pPr algn="l">
                        <a:lnSpc>
                          <a:spcPct val="110000"/>
                        </a:lnSpc>
                        <a:spcAft>
                          <a:spcPts val="100"/>
                        </a:spcAft>
                      </a:pPr>
                      <a:r>
                        <a:rPr sz="850" b="0">
                          <a:solidFill>
                            <a:srgbClr val="333333"/>
                          </a:solidFill>
                          <a:latin typeface="Arial"/>
                          <a:ea typeface="Arial"/>
                        </a:rPr>
                        <a:t>Two rounds: 260 attendances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074920"/>
            <a:ext cx="11274552" cy="685800"/>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Hours and headcount in the table are per round and delivered twice. Working days are the sum of training days, not a continuous period. Percentages are development targets for qualified core trainees, not acceptance thresholds. Formal handover starts at least 3 months before the year of assisted O&amp;M ends — the 168 hours do not begin at that point.</a:t>
            </a:r>
          </a:p>
          <a:p>
            <a:pPr algn="l">
              <a:lnSpc>
                <a:spcPct val="115000"/>
              </a:lnSpc>
              <a:spcAft>
                <a:spcPts val="0"/>
              </a:spcAft>
            </a:pPr>
            <a:r>
              <a:rPr sz="850" b="0">
                <a:solidFill>
                  <a:srgbClr val="666666"/>
                </a:solidFill>
                <a:latin typeface="Arial"/>
                <a:ea typeface="Arial"/>
              </a:rPr>
              <a:t>Trainees take part in batches and need not be the same people across stages. 260 is the total attendances across two rounds — one person joining several stages is counted each time, so it is not 260 distinct trainees. Formal handover targets the O&amp;M team, so its headcount is wider. Basis: SOW and the approved knowledge transfer plan.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A9 · Knowledge transfer: topics and exchange formats</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What exactly is taught, in what formats?</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10"/>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p:cNvSpPr/>
          <p:nvPr/>
        </p:nvSpPr>
        <p:spPr>
          <a:xfrm>
            <a:off x="4695444"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A9</a:t>
            </a:r>
          </a:p>
        </p:txBody>
      </p:sp>
      <p:sp>
        <p:nvSpPr>
          <p:cNvPr id="14" name="Rounded Rectangle 13">
            <a:hlinkClick action="ppaction://hlinksldjump" r:id="rId11"/>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p.10</a:t>
            </a:r>
          </a:p>
        </p:txBody>
      </p:sp>
      <p:sp>
        <p:nvSpPr>
          <p:cNvPr id="21" name="TextBox 20"/>
          <p:cNvSpPr txBox="1"/>
          <p:nvPr/>
        </p:nvSpPr>
        <p:spPr>
          <a:xfrm>
            <a:off x="457200" y="932688"/>
            <a:ext cx="822960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Four tracks · a grouping of the 12 SOW course topics, adding no hours</a:t>
            </a:r>
          </a:p>
        </p:txBody>
      </p:sp>
      <p:sp>
        <p:nvSpPr>
          <p:cNvPr id="22" name="Rounded Rectangle 21"/>
          <p:cNvSpPr/>
          <p:nvPr/>
        </p:nvSpPr>
        <p:spPr>
          <a:xfrm>
            <a:off x="457200" y="1280160"/>
            <a:ext cx="2647188" cy="22402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3504" y="1408176"/>
            <a:ext cx="292608" cy="292608"/>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000" b="1">
                <a:solidFill>
                  <a:srgbClr val="FFFFFF"/>
                </a:solidFill>
                <a:latin typeface="Arial"/>
                <a:ea typeface="Arial"/>
              </a:rPr>
              <a:t>1</a:t>
            </a:r>
          </a:p>
        </p:txBody>
      </p:sp>
      <p:sp>
        <p:nvSpPr>
          <p:cNvPr id="24" name="TextBox 23"/>
          <p:cNvSpPr txBox="1"/>
          <p:nvPr/>
        </p:nvSpPr>
        <p:spPr>
          <a:xfrm>
            <a:off x="969264" y="1353312"/>
            <a:ext cx="2007108" cy="402336"/>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Models and data evaluation</a:t>
            </a:r>
          </a:p>
        </p:txBody>
      </p:sp>
      <p:sp>
        <p:nvSpPr>
          <p:cNvPr id="25" name="TextBox 24"/>
          <p:cNvSpPr txBox="1"/>
          <p:nvPr/>
        </p:nvSpPr>
        <p:spPr>
          <a:xfrm>
            <a:off x="603504" y="1810512"/>
            <a:ext cx="2354580" cy="1234440"/>
          </a:xfrm>
          <a:prstGeom prst="rect">
            <a:avLst/>
          </a:prstGeom>
          <a:noFill/>
        </p:spPr>
        <p:txBody>
          <a:bodyPr wrap="square" lIns="0" tIns="0" rIns="0" bIns="0" anchor="t">
            <a:noAutofit/>
          </a:bodyPr>
          <a:lstStyle/>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Model architecture and training routes: continued pre-training, SFT, LoRA, preference alignment</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Portuguese data: source, quality, lineage, privacy and lifecycle governance</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Evaluation: regression, robustness, bias, safety, hallucination, cultural fit</a:t>
            </a:r>
          </a:p>
        </p:txBody>
      </p:sp>
      <p:sp>
        <p:nvSpPr>
          <p:cNvPr id="26" name="TextBox 25"/>
          <p:cNvSpPr txBox="1"/>
          <p:nvPr/>
        </p:nvSpPr>
        <p:spPr>
          <a:xfrm>
            <a:off x="603504" y="3081528"/>
            <a:ext cx="2354580" cy="402336"/>
          </a:xfrm>
          <a:prstGeom prst="rect">
            <a:avLst/>
          </a:prstGeom>
          <a:noFill/>
        </p:spPr>
        <p:txBody>
          <a:bodyPr wrap="square" lIns="0" tIns="0" rIns="0" bIns="0" anchor="t">
            <a:noAutofit/>
          </a:bodyPr>
          <a:lstStyle/>
          <a:p>
            <a:pPr algn="l">
              <a:lnSpc>
                <a:spcPct val="120000"/>
              </a:lnSpc>
              <a:spcAft>
                <a:spcPts val="400"/>
              </a:spcAft>
            </a:pPr>
            <a:r>
              <a:rPr sz="850" b="0">
                <a:solidFill>
                  <a:srgbClr val="666666"/>
                </a:solidFill>
                <a:latin typeface="Arial"/>
                <a:ea typeface="Arial"/>
              </a:rPr>
              <a:t>Goal: compare training routes, check data quality, evaluate against agreed baselines</a:t>
            </a:r>
          </a:p>
        </p:txBody>
      </p:sp>
      <p:sp>
        <p:nvSpPr>
          <p:cNvPr id="27" name="Rounded Rectangle 26"/>
          <p:cNvSpPr/>
          <p:nvPr/>
        </p:nvSpPr>
        <p:spPr>
          <a:xfrm>
            <a:off x="3332988" y="1280160"/>
            <a:ext cx="2647188" cy="22402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479292" y="1408176"/>
            <a:ext cx="292608" cy="292608"/>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000" b="1">
                <a:solidFill>
                  <a:srgbClr val="FFFFFF"/>
                </a:solidFill>
                <a:latin typeface="Arial"/>
                <a:ea typeface="Arial"/>
              </a:rPr>
              <a:t>2</a:t>
            </a:r>
          </a:p>
        </p:txBody>
      </p:sp>
      <p:sp>
        <p:nvSpPr>
          <p:cNvPr id="29" name="TextBox 28"/>
          <p:cNvSpPr txBox="1"/>
          <p:nvPr/>
        </p:nvSpPr>
        <p:spPr>
          <a:xfrm>
            <a:off x="3845052" y="1353312"/>
            <a:ext cx="2007108" cy="402336"/>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Software stack and lifecycle</a:t>
            </a:r>
          </a:p>
        </p:txBody>
      </p:sp>
      <p:sp>
        <p:nvSpPr>
          <p:cNvPr id="30" name="TextBox 29"/>
          <p:cNvSpPr txBox="1"/>
          <p:nvPr/>
        </p:nvSpPr>
        <p:spPr>
          <a:xfrm>
            <a:off x="3479292" y="1810512"/>
            <a:ext cx="2354580" cy="1234440"/>
          </a:xfrm>
          <a:prstGeom prst="rect">
            <a:avLst/>
          </a:prstGeom>
          <a:noFill/>
        </p:spPr>
        <p:txBody>
          <a:bodyPr wrap="square" lIns="0" tIns="0" rIns="0" bIns="0" anchor="t">
            <a:noAutofit/>
          </a:bodyPr>
          <a:lstStyle/>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Software layers and dependencies; version and compatibility management</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MLOps / LLMOps: experiment tracking, release, monitoring and rollback</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Hardware-software-algorithm fit: load and resource bottlenecks</a:t>
            </a:r>
          </a:p>
        </p:txBody>
      </p:sp>
      <p:sp>
        <p:nvSpPr>
          <p:cNvPr id="31" name="TextBox 30"/>
          <p:cNvSpPr txBox="1"/>
          <p:nvPr/>
        </p:nvSpPr>
        <p:spPr>
          <a:xfrm>
            <a:off x="3479292" y="3081528"/>
            <a:ext cx="2354580" cy="402336"/>
          </a:xfrm>
          <a:prstGeom prst="rect">
            <a:avLst/>
          </a:prstGeom>
          <a:noFill/>
        </p:spPr>
        <p:txBody>
          <a:bodyPr wrap="square" lIns="0" tIns="0" rIns="0" bIns="0" anchor="t">
            <a:noAutofit/>
          </a:bodyPr>
          <a:lstStyle/>
          <a:p>
            <a:pPr algn="l">
              <a:lnSpc>
                <a:spcPct val="120000"/>
              </a:lnSpc>
              <a:spcAft>
                <a:spcPts val="400"/>
              </a:spcAft>
            </a:pPr>
            <a:r>
              <a:rPr sz="850" b="0">
                <a:solidFill>
                  <a:srgbClr val="666666"/>
                </a:solidFill>
                <a:latin typeface="Arial"/>
                <a:ea typeface="Arial"/>
              </a:rPr>
              <a:t>Goal: understand dependencies, lifecycle operations and what the platform can do</a:t>
            </a:r>
          </a:p>
        </p:txBody>
      </p:sp>
      <p:sp>
        <p:nvSpPr>
          <p:cNvPr id="32" name="Rounded Rectangle 31"/>
          <p:cNvSpPr/>
          <p:nvPr/>
        </p:nvSpPr>
        <p:spPr>
          <a:xfrm>
            <a:off x="6208776" y="1280160"/>
            <a:ext cx="2647188" cy="22402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5080" y="1408176"/>
            <a:ext cx="292608" cy="292608"/>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000" b="1">
                <a:solidFill>
                  <a:srgbClr val="FFFFFF"/>
                </a:solidFill>
                <a:latin typeface="Arial"/>
                <a:ea typeface="Arial"/>
              </a:rPr>
              <a:t>3</a:t>
            </a:r>
          </a:p>
        </p:txBody>
      </p:sp>
      <p:sp>
        <p:nvSpPr>
          <p:cNvPr id="34" name="TextBox 33"/>
          <p:cNvSpPr txBox="1"/>
          <p:nvPr/>
        </p:nvSpPr>
        <p:spPr>
          <a:xfrm>
            <a:off x="6720840" y="1353312"/>
            <a:ext cx="2007108" cy="402336"/>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Training and inference at scale</a:t>
            </a:r>
          </a:p>
        </p:txBody>
      </p:sp>
      <p:sp>
        <p:nvSpPr>
          <p:cNvPr id="35" name="TextBox 34"/>
          <p:cNvSpPr txBox="1"/>
          <p:nvPr/>
        </p:nvSpPr>
        <p:spPr>
          <a:xfrm>
            <a:off x="6355080" y="1810512"/>
            <a:ext cx="2354580" cy="1234440"/>
          </a:xfrm>
          <a:prstGeom prst="rect">
            <a:avLst/>
          </a:prstGeom>
          <a:noFill/>
        </p:spPr>
        <p:txBody>
          <a:bodyPr wrap="square" lIns="0" tIns="0" rIns="0" bIns="0" anchor="t">
            <a:noAutofit/>
          </a:bodyPr>
          <a:lstStyle/>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Resource allocation and checkpoint recovery; data, tensor, pipeline and sequence parallelism</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Model serving, batching, KV cache; throughput, latency and capacity</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Quantisation, pruning, distillation; compression and energy analysis</a:t>
            </a:r>
          </a:p>
        </p:txBody>
      </p:sp>
      <p:sp>
        <p:nvSpPr>
          <p:cNvPr id="36" name="TextBox 35"/>
          <p:cNvSpPr txBox="1"/>
          <p:nvPr/>
        </p:nvSpPr>
        <p:spPr>
          <a:xfrm>
            <a:off x="6355080" y="3081528"/>
            <a:ext cx="2354580" cy="402336"/>
          </a:xfrm>
          <a:prstGeom prst="rect">
            <a:avLst/>
          </a:prstGeom>
          <a:noFill/>
        </p:spPr>
        <p:txBody>
          <a:bodyPr wrap="square" lIns="0" tIns="0" rIns="0" bIns="0" anchor="t">
            <a:noAutofit/>
          </a:bodyPr>
          <a:lstStyle/>
          <a:p>
            <a:pPr algn="l">
              <a:lnSpc>
                <a:spcPct val="120000"/>
              </a:lnSpc>
              <a:spcAft>
                <a:spcPts val="400"/>
              </a:spcAft>
            </a:pPr>
            <a:r>
              <a:rPr sz="850" b="0">
                <a:solidFill>
                  <a:srgbClr val="666666"/>
                </a:solidFill>
                <a:latin typeface="Arial"/>
                <a:ea typeface="Arial"/>
              </a:rPr>
              <a:t>Goal: find bottlenecks and trade off quality, latency, throughput and cost</a:t>
            </a:r>
          </a:p>
        </p:txBody>
      </p:sp>
      <p:sp>
        <p:nvSpPr>
          <p:cNvPr id="37" name="Rounded Rectangle 36"/>
          <p:cNvSpPr/>
          <p:nvPr/>
        </p:nvSpPr>
        <p:spPr>
          <a:xfrm>
            <a:off x="9084564" y="1280160"/>
            <a:ext cx="2647188" cy="22402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230868" y="1408176"/>
            <a:ext cx="292608" cy="292608"/>
          </a:xfrm>
          <a:prstGeom prst="ellipse">
            <a:avLst/>
          </a:prstGeom>
          <a:solidFill>
            <a:srgbClr val="E900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1000" b="1">
                <a:solidFill>
                  <a:srgbClr val="FFFFFF"/>
                </a:solidFill>
                <a:latin typeface="Arial"/>
                <a:ea typeface="Arial"/>
              </a:rPr>
              <a:t>4</a:t>
            </a:r>
          </a:p>
        </p:txBody>
      </p:sp>
      <p:sp>
        <p:nvSpPr>
          <p:cNvPr id="39" name="TextBox 38"/>
          <p:cNvSpPr txBox="1"/>
          <p:nvPr/>
        </p:nvSpPr>
        <p:spPr>
          <a:xfrm>
            <a:off x="9596628" y="1353312"/>
            <a:ext cx="2007108" cy="402336"/>
          </a:xfrm>
          <a:prstGeom prst="rect">
            <a:avLst/>
          </a:prstGeom>
          <a:noFill/>
        </p:spPr>
        <p:txBody>
          <a:bodyPr wrap="square" lIns="0" tIns="0" rIns="0" bIns="0" anchor="ctr">
            <a:noAutofit/>
          </a:bodyPr>
          <a:lstStyle/>
          <a:p>
            <a:pPr algn="l">
              <a:lnSpc>
                <a:spcPct val="110000"/>
              </a:lnSpc>
              <a:spcAft>
                <a:spcPts val="0"/>
              </a:spcAft>
            </a:pPr>
            <a:r>
              <a:rPr sz="1050" b="1">
                <a:solidFill>
                  <a:srgbClr val="1D1D1A"/>
                </a:solidFill>
                <a:latin typeface="Arial"/>
                <a:ea typeface="Arial"/>
              </a:rPr>
              <a:t>Retrieval, agents and safety</a:t>
            </a:r>
          </a:p>
        </p:txBody>
      </p:sp>
      <p:sp>
        <p:nvSpPr>
          <p:cNvPr id="40" name="TextBox 39"/>
          <p:cNvSpPr txBox="1"/>
          <p:nvPr/>
        </p:nvSpPr>
        <p:spPr>
          <a:xfrm>
            <a:off x="9230868" y="1810512"/>
            <a:ext cx="2354580" cy="1234440"/>
          </a:xfrm>
          <a:prstGeom prst="rect">
            <a:avLst/>
          </a:prstGeom>
          <a:noFill/>
        </p:spPr>
        <p:txBody>
          <a:bodyPr wrap="square" lIns="0" tIns="0" rIns="0" bIns="0" anchor="t">
            <a:noAutofit/>
          </a:bodyPr>
          <a:lstStyle/>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RAG and graph retrieval; hybrid retrieval and re-ranking</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Agents: tools, planning, memory and multi-agent collaboration</a:t>
            </a:r>
          </a:p>
          <a:p>
            <a:pPr algn="l" marL="164592" indent="-164592">
              <a:lnSpc>
                <a:spcPct val="125000"/>
              </a:lnSpc>
              <a:spcAft>
                <a:spcPts val="200"/>
              </a:spcAft>
              <a:buClr>
                <a:srgbClr val="C00000"/>
              </a:buClr>
              <a:buSzPct val="100000"/>
              <a:buFont typeface="Arial"/>
              <a:buChar char="•"/>
            </a:pPr>
            <a:r>
              <a:rPr sz="850" b="0">
                <a:solidFill>
                  <a:srgbClr val="333333"/>
                </a:solidFill>
                <a:latin typeface="Arial"/>
                <a:ea typeface="Arial"/>
              </a:rPr>
              <a:t>System and model safety: prompts, content review, supply chain</a:t>
            </a:r>
          </a:p>
        </p:txBody>
      </p:sp>
      <p:sp>
        <p:nvSpPr>
          <p:cNvPr id="41" name="TextBox 40"/>
          <p:cNvSpPr txBox="1"/>
          <p:nvPr/>
        </p:nvSpPr>
        <p:spPr>
          <a:xfrm>
            <a:off x="9230868" y="3081528"/>
            <a:ext cx="2354580" cy="402336"/>
          </a:xfrm>
          <a:prstGeom prst="rect">
            <a:avLst/>
          </a:prstGeom>
          <a:noFill/>
        </p:spPr>
        <p:txBody>
          <a:bodyPr wrap="square" lIns="0" tIns="0" rIns="0" bIns="0" anchor="t">
            <a:noAutofit/>
          </a:bodyPr>
          <a:lstStyle/>
          <a:p>
            <a:pPr algn="l">
              <a:lnSpc>
                <a:spcPct val="120000"/>
              </a:lnSpc>
              <a:spcAft>
                <a:spcPts val="400"/>
              </a:spcAft>
            </a:pPr>
            <a:r>
              <a:rPr sz="850" b="0">
                <a:solidFill>
                  <a:srgbClr val="666666"/>
                </a:solidFill>
                <a:latin typeface="Arial"/>
                <a:ea typeface="Arial"/>
              </a:rPr>
              <a:t>Goal: design knowledge services and research assistants with source checking and risk control</a:t>
            </a:r>
          </a:p>
        </p:txBody>
      </p:sp>
      <p:sp>
        <p:nvSpPr>
          <p:cNvPr id="42" name="TextBox 41"/>
          <p:cNvSpPr txBox="1"/>
          <p:nvPr/>
        </p:nvSpPr>
        <p:spPr>
          <a:xfrm>
            <a:off x="457200" y="3657600"/>
            <a:ext cx="548640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Four exchange formats</a:t>
            </a:r>
          </a:p>
        </p:txBody>
      </p:sp>
      <p:sp>
        <p:nvSpPr>
          <p:cNvPr id="43" name="Rounded Rectangle 42"/>
          <p:cNvSpPr/>
          <p:nvPr/>
        </p:nvSpPr>
        <p:spPr>
          <a:xfrm>
            <a:off x="457200" y="3968496"/>
            <a:ext cx="2647188" cy="1298448"/>
          </a:xfrm>
          <a:prstGeom prst="roundRect">
            <a:avLst>
              <a:gd name="adj" fmla="val 4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 y="4041648"/>
            <a:ext cx="1504188" cy="365760"/>
          </a:xfrm>
          <a:prstGeom prst="rect">
            <a:avLst/>
          </a:prstGeom>
          <a:noFill/>
        </p:spPr>
        <p:txBody>
          <a:bodyPr wrap="square" lIns="0" tIns="0" rIns="0" bIns="0" anchor="ctr">
            <a:noAutofit/>
          </a:bodyPr>
          <a:lstStyle/>
          <a:p>
            <a:pPr algn="l">
              <a:lnSpc>
                <a:spcPct val="110000"/>
              </a:lnSpc>
              <a:spcAft>
                <a:spcPts val="0"/>
              </a:spcAft>
            </a:pPr>
            <a:r>
              <a:rPr sz="1000" b="1">
                <a:solidFill>
                  <a:srgbClr val="1D1D1A"/>
                </a:solidFill>
                <a:latin typeface="Arial"/>
                <a:ea typeface="Arial"/>
              </a:rPr>
              <a:t>Advanced AI seminars</a:t>
            </a:r>
          </a:p>
        </p:txBody>
      </p:sp>
      <p:sp>
        <p:nvSpPr>
          <p:cNvPr id="45" name="Rounded Rectangle 44"/>
          <p:cNvSpPr/>
          <p:nvPr/>
        </p:nvSpPr>
        <p:spPr>
          <a:xfrm>
            <a:off x="2144268" y="4069080"/>
            <a:ext cx="822960" cy="256032"/>
          </a:xfrm>
          <a:prstGeom prst="roundRect">
            <a:avLst>
              <a:gd name="adj" fmla="val 50000"/>
            </a:avLst>
          </a:prstGeom>
          <a:solidFill>
            <a:srgbClr val="FFFFFF"/>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800" b="1">
                <a:solidFill>
                  <a:srgbClr val="1D1D1A"/>
                </a:solidFill>
                <a:latin typeface="Arial"/>
                <a:ea typeface="Arial"/>
              </a:rPr>
              <a:t>In scope</a:t>
            </a:r>
          </a:p>
        </p:txBody>
      </p:sp>
      <p:sp>
        <p:nvSpPr>
          <p:cNvPr id="46" name="TextBox 45"/>
          <p:cNvSpPr txBox="1"/>
          <p:nvPr/>
        </p:nvSpPr>
        <p:spPr>
          <a:xfrm>
            <a:off x="603504" y="4443983"/>
            <a:ext cx="2354580" cy="768096"/>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Per the approved course plan, on the delivered platform and models; content and depth follow that plan</a:t>
            </a:r>
          </a:p>
        </p:txBody>
      </p:sp>
      <p:sp>
        <p:nvSpPr>
          <p:cNvPr id="47" name="Rounded Rectangle 46"/>
          <p:cNvSpPr/>
          <p:nvPr/>
        </p:nvSpPr>
        <p:spPr>
          <a:xfrm>
            <a:off x="3332988" y="3968496"/>
            <a:ext cx="2647188" cy="1298448"/>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9292" y="4041648"/>
            <a:ext cx="1504188" cy="365760"/>
          </a:xfrm>
          <a:prstGeom prst="rect">
            <a:avLst/>
          </a:prstGeom>
          <a:noFill/>
        </p:spPr>
        <p:txBody>
          <a:bodyPr wrap="square" lIns="0" tIns="0" rIns="0" bIns="0" anchor="ctr">
            <a:noAutofit/>
          </a:bodyPr>
          <a:lstStyle/>
          <a:p>
            <a:pPr algn="l">
              <a:lnSpc>
                <a:spcPct val="110000"/>
              </a:lnSpc>
              <a:spcAft>
                <a:spcPts val="0"/>
              </a:spcAft>
            </a:pPr>
            <a:r>
              <a:rPr sz="1000" b="1">
                <a:solidFill>
                  <a:srgbClr val="1D1D1A"/>
                </a:solidFill>
                <a:latin typeface="Arial"/>
                <a:ea typeface="Arial"/>
              </a:rPr>
              <a:t>China AI study visit</a:t>
            </a:r>
          </a:p>
        </p:txBody>
      </p:sp>
      <p:sp>
        <p:nvSpPr>
          <p:cNvPr id="49" name="Rounded Rectangle 48"/>
          <p:cNvSpPr/>
          <p:nvPr/>
        </p:nvSpPr>
        <p:spPr>
          <a:xfrm>
            <a:off x="5020056" y="4069080"/>
            <a:ext cx="822960" cy="256032"/>
          </a:xfrm>
          <a:prstGeom prst="roundRect">
            <a:avLst>
              <a:gd name="adj" fmla="val 50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800" b="1">
                <a:solidFill>
                  <a:srgbClr val="0070C0"/>
                </a:solidFill>
                <a:latin typeface="Arial"/>
                <a:ea typeface="Arial"/>
              </a:rPr>
              <a:t>See A11</a:t>
            </a:r>
          </a:p>
        </p:txBody>
      </p:sp>
      <p:sp>
        <p:nvSpPr>
          <p:cNvPr id="50" name="TextBox 49"/>
          <p:cNvSpPr txBox="1"/>
          <p:nvPr/>
        </p:nvSpPr>
        <p:spPr>
          <a:xfrm>
            <a:off x="3479292" y="4443983"/>
            <a:ext cx="2354580" cy="768096"/>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Visit iFLYTEK teams and compute facilities. Huawei's plan already includes a 6-day China journey for 100 people — this is the iFLYTEK technical variant, arranged so the two do not overlap</a:t>
            </a:r>
          </a:p>
        </p:txBody>
      </p:sp>
      <p:sp>
        <p:nvSpPr>
          <p:cNvPr id="51" name="Rounded Rectangle 50"/>
          <p:cNvSpPr/>
          <p:nvPr/>
        </p:nvSpPr>
        <p:spPr>
          <a:xfrm>
            <a:off x="6208776" y="3968496"/>
            <a:ext cx="2647188" cy="1298448"/>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4041648"/>
            <a:ext cx="1504188" cy="365760"/>
          </a:xfrm>
          <a:prstGeom prst="rect">
            <a:avLst/>
          </a:prstGeom>
          <a:noFill/>
        </p:spPr>
        <p:txBody>
          <a:bodyPr wrap="square" lIns="0" tIns="0" rIns="0" bIns="0" anchor="ctr">
            <a:noAutofit/>
          </a:bodyPr>
          <a:lstStyle/>
          <a:p>
            <a:pPr algn="l">
              <a:lnSpc>
                <a:spcPct val="110000"/>
              </a:lnSpc>
              <a:spcAft>
                <a:spcPts val="0"/>
              </a:spcAft>
            </a:pPr>
            <a:r>
              <a:rPr sz="1000" b="1">
                <a:solidFill>
                  <a:srgbClr val="1D1D1A"/>
                </a:solidFill>
                <a:latin typeface="Arial"/>
                <a:ea typeface="Arial"/>
              </a:rPr>
              <a:t>One-to-one expert consulting</a:t>
            </a:r>
          </a:p>
        </p:txBody>
      </p:sp>
      <p:sp>
        <p:nvSpPr>
          <p:cNvPr id="53" name="Rounded Rectangle 52"/>
          <p:cNvSpPr/>
          <p:nvPr/>
        </p:nvSpPr>
        <p:spPr>
          <a:xfrm>
            <a:off x="7895844" y="4069080"/>
            <a:ext cx="822960" cy="256032"/>
          </a:xfrm>
          <a:prstGeom prst="roundRect">
            <a:avLst>
              <a:gd name="adj" fmla="val 50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800" b="1">
                <a:solidFill>
                  <a:srgbClr val="0070C0"/>
                </a:solidFill>
                <a:latin typeface="Arial"/>
                <a:ea typeface="Arial"/>
              </a:rPr>
              <a:t>See A11</a:t>
            </a:r>
          </a:p>
        </p:txBody>
      </p:sp>
      <p:sp>
        <p:nvSpPr>
          <p:cNvPr id="54" name="TextBox 53"/>
          <p:cNvSpPr txBox="1"/>
          <p:nvPr/>
        </p:nvSpPr>
        <p:spPr>
          <a:xfrm>
            <a:off x="6355080" y="4443983"/>
            <a:ext cx="2354580" cy="768096"/>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Design review on questions raised by RNP engineers; scope and duration agreed in advance, no long-term advisory role</a:t>
            </a:r>
          </a:p>
        </p:txBody>
      </p:sp>
      <p:sp>
        <p:nvSpPr>
          <p:cNvPr id="55" name="Rounded Rectangle 54"/>
          <p:cNvSpPr/>
          <p:nvPr/>
        </p:nvSpPr>
        <p:spPr>
          <a:xfrm>
            <a:off x="9084564" y="3968496"/>
            <a:ext cx="2647188" cy="1298448"/>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30868" y="4041648"/>
            <a:ext cx="1504188" cy="365760"/>
          </a:xfrm>
          <a:prstGeom prst="rect">
            <a:avLst/>
          </a:prstGeom>
          <a:noFill/>
        </p:spPr>
        <p:txBody>
          <a:bodyPr wrap="square" lIns="0" tIns="0" rIns="0" bIns="0" anchor="ctr">
            <a:noAutofit/>
          </a:bodyPr>
          <a:lstStyle/>
          <a:p>
            <a:pPr algn="l">
              <a:lnSpc>
                <a:spcPct val="110000"/>
              </a:lnSpc>
              <a:spcAft>
                <a:spcPts val="0"/>
              </a:spcAft>
            </a:pPr>
            <a:r>
              <a:rPr sz="1000" b="1">
                <a:solidFill>
                  <a:srgbClr val="1D1D1A"/>
                </a:solidFill>
                <a:latin typeface="Arial"/>
                <a:ea typeface="Arial"/>
              </a:rPr>
              <a:t>AI strategy round table</a:t>
            </a:r>
          </a:p>
        </p:txBody>
      </p:sp>
      <p:sp>
        <p:nvSpPr>
          <p:cNvPr id="57" name="Rounded Rectangle 56"/>
          <p:cNvSpPr/>
          <p:nvPr/>
        </p:nvSpPr>
        <p:spPr>
          <a:xfrm>
            <a:off x="10771632" y="4069080"/>
            <a:ext cx="822960" cy="256032"/>
          </a:xfrm>
          <a:prstGeom prst="roundRect">
            <a:avLst>
              <a:gd name="adj" fmla="val 50000"/>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800" b="1">
                <a:solidFill>
                  <a:srgbClr val="0070C0"/>
                </a:solidFill>
                <a:latin typeface="Arial"/>
                <a:ea typeface="Arial"/>
              </a:rPr>
              <a:t>Proposed</a:t>
            </a:r>
          </a:p>
        </p:txBody>
      </p:sp>
      <p:sp>
        <p:nvSpPr>
          <p:cNvPr id="58" name="TextBox 57"/>
          <p:cNvSpPr txBox="1"/>
          <p:nvPr/>
        </p:nvSpPr>
        <p:spPr>
          <a:xfrm>
            <a:off x="9230868" y="4443983"/>
            <a:ext cx="2354580" cy="768096"/>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RNP leadership and iFLYTEK architects discuss model roadmap, technology choices and capability planning; participants and timing agreed in advance</a:t>
            </a:r>
          </a:p>
        </p:txBody>
      </p:sp>
      <p:sp>
        <p:nvSpPr>
          <p:cNvPr id="59" name="TextBox 58"/>
          <p:cNvSpPr txBox="1"/>
          <p:nvPr/>
        </p:nvSpPr>
        <p:spPr>
          <a:xfrm>
            <a:off x="457200" y="5358384"/>
            <a:ext cx="11274552" cy="457200"/>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Track-to-topic mapping: track 1 = SOW topics 1, 7, 8; track 2 = 2, 10, 11; track 3 = 3, 4, 9; track 4 = 5, 6, 12. Teaching a method does not mean every delivered model supports it, and no new optimisation work is implied. Basis: SOW. Of the four formats, only the advanced seminars are in project scope; the other three are agreed separately.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A10 · Knowledge transfer: learning path by role</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What does each role learn?</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10"/>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1"/>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p:cNvSpPr/>
          <p:nvPr/>
        </p:nvSpPr>
        <p:spPr>
          <a:xfrm>
            <a:off x="5148072"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A10</a:t>
            </a:r>
          </a:p>
        </p:txBody>
      </p:sp>
      <p:sp>
        <p:nvSpPr>
          <p:cNvPr id="15" name="Rounded Rectangle 14">
            <a:hlinkClick action="ppaction://hlinksldjump" r:id="rId12"/>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p.10</a:t>
            </a:r>
          </a:p>
        </p:txBody>
      </p:sp>
      <p:graphicFrame>
        <p:nvGraphicFramePr>
          <p:cNvPr id="21" name="Table 20"/>
          <p:cNvGraphicFramePr>
            <a:graphicFrameLocks noGrp="1"/>
          </p:cNvGraphicFramePr>
          <p:nvPr/>
        </p:nvGraphicFramePr>
        <p:xfrm>
          <a:off x="457200" y="1051560"/>
          <a:ext cx="11274552" cy="3657600"/>
        </p:xfrm>
        <a:graphic>
          <a:graphicData uri="http://schemas.openxmlformats.org/drawingml/2006/table">
            <a:tbl>
              <a:tblPr firstRow="0" bandRow="0">
                <a:tableStyleId>{2D5ABB26-0587-4C30-8999-92F81FD0307C}</a:tableStyleId>
              </a:tblPr>
              <a:tblGrid>
                <a:gridCol w="1920240"/>
                <a:gridCol w="1691640"/>
                <a:gridCol w="3017520"/>
                <a:gridCol w="2880360"/>
                <a:gridCol w="1764792"/>
              </a:tblGrid>
              <a:tr h="365760">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Role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Stages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What they take part in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How iFLYTEK supports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Completion evidence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4864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Corpus collection team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Foundation, Shadowing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Data sources, licensing, standards and platform processing flow</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Materials, tool guides, representative samples and processing guidance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Course, shadowing and issue records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4864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Language and annotation experts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Foundation, Shadowing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Annotation, language quality, safety labels and speech standards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Standards walkthrough, sample analysis, quality check methods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Agreed exercises and rule confirmation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4864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Model engineers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Shadowing, Guided hands-on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Submit training jobs, read logs and evaluations, understand model release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Job configuration, log analysis, evaluation and release guidance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Agreed hands-on results and advisory records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4864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Application staff</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Shadowing, Guided hands-on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App configuration, user permissions, API calls and usage analytics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Guidance on the application platform, APIs and operations features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Agreed feature and API walkthroughs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4864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O&amp;M engineers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Guided hands-on, Handover</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Monitoring, incidents, changes, common faults and escalation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Runbooks, representative operations and independent-verification coaching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Independent operation and handover confirmation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48640">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Domain experts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Shadowing, Guided hands-on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Scenarios, data and how model results are assessed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Evaluation methods, report reading and content boundaries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Participation records and agreed evaluation exercises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4846320"/>
            <a:ext cx="11274552" cy="365760"/>
          </a:xfrm>
          <a:prstGeom prst="rect">
            <a:avLst/>
          </a:prstGeom>
          <a:noFill/>
        </p:spPr>
        <p:txBody>
          <a:bodyPr wrap="square" lIns="0" tIns="0" rIns="0" bIns="0" anchor="ctr">
            <a:noAutofit/>
          </a:bodyPr>
          <a:lstStyle/>
          <a:p>
            <a:pPr algn="l">
              <a:lnSpc>
                <a:spcPct val="115000"/>
              </a:lnSpc>
              <a:spcAft>
                <a:spcPts val="0"/>
              </a:spcAft>
            </a:pPr>
            <a:r>
              <a:rPr sz="900" b="0">
                <a:solidFill>
                  <a:srgbClr val="0070C0"/>
                </a:solidFill>
                <a:latin typeface="Arial"/>
                <a:ea typeface="Arial"/>
              </a:rPr>
              <a:t>TBC: how the four stages map to the five implementation steps.</a:t>
            </a:r>
            <a:r>
              <a:rPr sz="900" b="0">
                <a:solidFill>
                  <a:srgbClr val="666666"/>
                </a:solidFill>
                <a:latin typeface="Arial"/>
                <a:ea typeface="Arial"/>
              </a:rPr>
              <a:t> Role allocation and exercises are set by the approved knowledge transfer plan; dedicated DLM advisory work and implementation training are not double-counted.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A11 · Premium knowledge transfer: optional menu</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Can we learn how this system was built?</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10"/>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1"/>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2"/>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p:cNvSpPr/>
          <p:nvPr/>
        </p:nvSpPr>
        <p:spPr>
          <a:xfrm>
            <a:off x="5600700"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A11</a:t>
            </a:r>
          </a:p>
        </p:txBody>
      </p:sp>
      <p:sp>
        <p:nvSpPr>
          <p:cNvPr id="16" name="Rounded Rectangle 15">
            <a:hlinkClick action="ppaction://hlinksldjump" r:id="rId13"/>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p.10</a:t>
            </a:r>
          </a:p>
        </p:txBody>
      </p:sp>
      <p:sp>
        <p:nvSpPr>
          <p:cNvPr id="21" name="TextBox 20"/>
          <p:cNvSpPr txBox="1"/>
          <p:nvPr/>
        </p:nvSpPr>
        <p:spPr>
          <a:xfrm>
            <a:off x="457200" y="896112"/>
            <a:ext cx="11274552" cy="512064"/>
          </a:xfrm>
          <a:prstGeom prst="rect">
            <a:avLst/>
          </a:prstGeom>
          <a:noFill/>
        </p:spPr>
        <p:txBody>
          <a:bodyPr wrap="square" lIns="0" tIns="0" rIns="0" bIns="0" anchor="ctr">
            <a:noAutofit/>
          </a:bodyPr>
          <a:lstStyle/>
          <a:p>
            <a:pPr algn="l">
              <a:lnSpc>
                <a:spcPct val="125000"/>
              </a:lnSpc>
              <a:spcAft>
                <a:spcPts val="0"/>
              </a:spcAft>
            </a:pPr>
            <a:r>
              <a:rPr sz="950" b="0">
                <a:solidFill>
                  <a:srgbClr val="666666"/>
                </a:solidFill>
                <a:latin typeface="Arial"/>
                <a:ea typeface="Arial"/>
              </a:rPr>
              <a:t>Baseline support inside the project is open documentation and answers to technical questions. Below is optional, proactive premium transfer for RNP's core R&amp;D staff and university groups, from architecture and principles through to engineering experience and source-code practice. </a:t>
            </a:r>
            <a:r>
              <a:rPr sz="950" b="1">
                <a:solidFill>
                  <a:srgbClr val="666666"/>
                </a:solidFill>
                <a:latin typeface="Arial"/>
                <a:ea typeface="Arial"/>
              </a:rPr>
              <a:t>Entry</a:t>
            </a:r>
            <a:r>
              <a:rPr sz="950" b="0">
                <a:solidFill>
                  <a:srgbClr val="666666"/>
                </a:solidFill>
                <a:latin typeface="Arial"/>
                <a:ea typeface="Arial"/>
              </a:rPr>
              <a:t>: all Huawei AI Developer courses completed first.   </a:t>
            </a:r>
            <a:r>
              <a:rPr sz="950" b="1">
                <a:solidFill>
                  <a:srgbClr val="666666"/>
                </a:solidFill>
                <a:latin typeface="Arial"/>
                <a:ea typeface="Arial"/>
              </a:rPr>
              <a:t>Budget</a:t>
            </a:r>
            <a:r>
              <a:rPr sz="950" b="0">
                <a:solidFill>
                  <a:srgbClr val="666666"/>
                </a:solidFill>
                <a:latin typeface="Arial"/>
                <a:ea typeface="Arial"/>
              </a:rPr>
              <a:t>: outside this project's scope and price — separate budget required</a:t>
            </a:r>
          </a:p>
        </p:txBody>
      </p:sp>
      <p:sp>
        <p:nvSpPr>
          <p:cNvPr id="22" name="TextBox 21"/>
          <p:cNvSpPr txBox="1"/>
          <p:nvPr/>
        </p:nvSpPr>
        <p:spPr>
          <a:xfrm>
            <a:off x="457200" y="1481328"/>
            <a:ext cx="640080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Four directions · about 5 hours each</a:t>
            </a:r>
          </a:p>
        </p:txBody>
      </p:sp>
      <p:sp>
        <p:nvSpPr>
          <p:cNvPr id="23" name="Rounded Rectangle 22"/>
          <p:cNvSpPr/>
          <p:nvPr/>
        </p:nvSpPr>
        <p:spPr>
          <a:xfrm>
            <a:off x="457200" y="1810512"/>
            <a:ext cx="2647188"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1920240"/>
            <a:ext cx="2281428" cy="713232"/>
          </a:xfrm>
          <a:prstGeom prst="rect">
            <a:avLst/>
          </a:prstGeom>
          <a:noFill/>
        </p:spPr>
        <p:txBody>
          <a:bodyPr wrap="square" lIns="0" tIns="0" rIns="0" bIns="0" anchor="t">
            <a:noAutofit/>
          </a:bodyPr>
          <a:lstStyle/>
          <a:p>
            <a:pPr algn="l">
              <a:lnSpc>
                <a:spcPct val="115000"/>
              </a:lnSpc>
              <a:spcAft>
                <a:spcPts val="0"/>
              </a:spcAft>
            </a:pPr>
            <a:r>
              <a:rPr sz="1050" b="1">
                <a:solidFill>
                  <a:srgbClr val="1D1D1A"/>
                </a:solidFill>
                <a:latin typeface="Arial"/>
                <a:ea typeface="Arial"/>
              </a:rPr>
              <a:t>1  Scheduling and managing clusters above 1,000 PFLOPS</a:t>
            </a:r>
          </a:p>
        </p:txBody>
      </p:sp>
      <p:sp>
        <p:nvSpPr>
          <p:cNvPr id="25" name="TextBox 24"/>
          <p:cNvSpPr txBox="1"/>
          <p:nvPr/>
        </p:nvSpPr>
        <p:spPr>
          <a:xfrm>
            <a:off x="640080" y="2688336"/>
            <a:ext cx="2281428" cy="54864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Cluster build and management; core scheduling techniques and practice</a:t>
            </a:r>
          </a:p>
        </p:txBody>
      </p:sp>
      <p:sp>
        <p:nvSpPr>
          <p:cNvPr id="26" name="TextBox 25"/>
          <p:cNvSpPr txBox="1"/>
          <p:nvPr/>
        </p:nvSpPr>
        <p:spPr>
          <a:xfrm>
            <a:off x="640080" y="3255264"/>
            <a:ext cx="2281428" cy="237744"/>
          </a:xfrm>
          <a:prstGeom prst="rect">
            <a:avLst/>
          </a:prstGeom>
          <a:noFill/>
        </p:spPr>
        <p:txBody>
          <a:bodyPr wrap="square" lIns="0" tIns="0" rIns="0" bIns="0" anchor="ctr">
            <a:noAutofit/>
          </a:bodyPr>
          <a:lstStyle/>
          <a:p>
            <a:pPr algn="l">
              <a:lnSpc>
                <a:spcPct val="115000"/>
              </a:lnSpc>
              <a:spcAft>
                <a:spcPts val="0"/>
              </a:spcAft>
            </a:pPr>
            <a:r>
              <a:rPr sz="850" b="0">
                <a:solidFill>
                  <a:srgbClr val="0070C0"/>
                </a:solidFill>
                <a:latin typeface="Arial"/>
                <a:ea typeface="Arial"/>
              </a:rPr>
              <a:t>Proposed · priced separately</a:t>
            </a:r>
          </a:p>
        </p:txBody>
      </p:sp>
      <p:sp>
        <p:nvSpPr>
          <p:cNvPr id="27" name="Rounded Rectangle 26"/>
          <p:cNvSpPr/>
          <p:nvPr/>
        </p:nvSpPr>
        <p:spPr>
          <a:xfrm>
            <a:off x="3332988" y="1810512"/>
            <a:ext cx="2647188"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15868" y="1920240"/>
            <a:ext cx="2281428" cy="713232"/>
          </a:xfrm>
          <a:prstGeom prst="rect">
            <a:avLst/>
          </a:prstGeom>
          <a:noFill/>
        </p:spPr>
        <p:txBody>
          <a:bodyPr wrap="square" lIns="0" tIns="0" rIns="0" bIns="0" anchor="t">
            <a:noAutofit/>
          </a:bodyPr>
          <a:lstStyle/>
          <a:p>
            <a:pPr algn="l">
              <a:lnSpc>
                <a:spcPct val="115000"/>
              </a:lnSpc>
              <a:spcAft>
                <a:spcPts val="0"/>
              </a:spcAft>
            </a:pPr>
            <a:r>
              <a:rPr sz="1050" b="1">
                <a:solidFill>
                  <a:srgbClr val="1D1D1A"/>
                </a:solidFill>
                <a:latin typeface="Arial"/>
                <a:ea typeface="Arial"/>
              </a:rPr>
              <a:t>2  Long, stable training of 100B+ parameter models</a:t>
            </a:r>
          </a:p>
        </p:txBody>
      </p:sp>
      <p:sp>
        <p:nvSpPr>
          <p:cNvPr id="29" name="TextBox 28"/>
          <p:cNvSpPr txBox="1"/>
          <p:nvPr/>
        </p:nvSpPr>
        <p:spPr>
          <a:xfrm>
            <a:off x="3515868" y="2688336"/>
            <a:ext cx="2281428" cy="54864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Stability assurance and optimisation experience at scale</a:t>
            </a:r>
          </a:p>
        </p:txBody>
      </p:sp>
      <p:sp>
        <p:nvSpPr>
          <p:cNvPr id="30" name="TextBox 29"/>
          <p:cNvSpPr txBox="1"/>
          <p:nvPr/>
        </p:nvSpPr>
        <p:spPr>
          <a:xfrm>
            <a:off x="3515868" y="3255264"/>
            <a:ext cx="2281428" cy="237744"/>
          </a:xfrm>
          <a:prstGeom prst="rect">
            <a:avLst/>
          </a:prstGeom>
          <a:noFill/>
        </p:spPr>
        <p:txBody>
          <a:bodyPr wrap="square" lIns="0" tIns="0" rIns="0" bIns="0" anchor="ctr">
            <a:noAutofit/>
          </a:bodyPr>
          <a:lstStyle/>
          <a:p>
            <a:pPr algn="l">
              <a:lnSpc>
                <a:spcPct val="115000"/>
              </a:lnSpc>
              <a:spcAft>
                <a:spcPts val="0"/>
              </a:spcAft>
            </a:pPr>
            <a:r>
              <a:rPr sz="850" b="0">
                <a:solidFill>
                  <a:srgbClr val="0070C0"/>
                </a:solidFill>
                <a:latin typeface="Arial"/>
                <a:ea typeface="Arial"/>
              </a:rPr>
              <a:t>Proposed · priced separately</a:t>
            </a:r>
          </a:p>
        </p:txBody>
      </p:sp>
      <p:sp>
        <p:nvSpPr>
          <p:cNvPr id="31" name="Rounded Rectangle 30"/>
          <p:cNvSpPr/>
          <p:nvPr/>
        </p:nvSpPr>
        <p:spPr>
          <a:xfrm>
            <a:off x="6208776" y="1810512"/>
            <a:ext cx="2647188"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1656" y="1920240"/>
            <a:ext cx="2281428" cy="713232"/>
          </a:xfrm>
          <a:prstGeom prst="rect">
            <a:avLst/>
          </a:prstGeom>
          <a:noFill/>
        </p:spPr>
        <p:txBody>
          <a:bodyPr wrap="square" lIns="0" tIns="0" rIns="0" bIns="0" anchor="t">
            <a:noAutofit/>
          </a:bodyPr>
          <a:lstStyle/>
          <a:p>
            <a:pPr algn="l">
              <a:lnSpc>
                <a:spcPct val="115000"/>
              </a:lnSpc>
              <a:spcAft>
                <a:spcPts val="0"/>
              </a:spcAft>
            </a:pPr>
            <a:r>
              <a:rPr sz="1050" b="1">
                <a:solidFill>
                  <a:srgbClr val="1D1D1A"/>
                </a:solidFill>
                <a:latin typeface="Arial"/>
                <a:ea typeface="Arial"/>
              </a:rPr>
              <a:t>3  Building and processing TB-scale corpora</a:t>
            </a:r>
          </a:p>
        </p:txBody>
      </p:sp>
      <p:sp>
        <p:nvSpPr>
          <p:cNvPr id="33" name="TextBox 32"/>
          <p:cNvSpPr txBox="1"/>
          <p:nvPr/>
        </p:nvSpPr>
        <p:spPr>
          <a:xfrm>
            <a:off x="6391656" y="2688336"/>
            <a:ext cx="2281428" cy="54864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Collection, cleaning and processing methods and pipelines at scale</a:t>
            </a:r>
          </a:p>
        </p:txBody>
      </p:sp>
      <p:sp>
        <p:nvSpPr>
          <p:cNvPr id="34" name="TextBox 33"/>
          <p:cNvSpPr txBox="1"/>
          <p:nvPr/>
        </p:nvSpPr>
        <p:spPr>
          <a:xfrm>
            <a:off x="6391656" y="3255264"/>
            <a:ext cx="2281428" cy="237744"/>
          </a:xfrm>
          <a:prstGeom prst="rect">
            <a:avLst/>
          </a:prstGeom>
          <a:noFill/>
        </p:spPr>
        <p:txBody>
          <a:bodyPr wrap="square" lIns="0" tIns="0" rIns="0" bIns="0" anchor="ctr">
            <a:noAutofit/>
          </a:bodyPr>
          <a:lstStyle/>
          <a:p>
            <a:pPr algn="l">
              <a:lnSpc>
                <a:spcPct val="115000"/>
              </a:lnSpc>
              <a:spcAft>
                <a:spcPts val="0"/>
              </a:spcAft>
            </a:pPr>
            <a:r>
              <a:rPr sz="850" b="0">
                <a:solidFill>
                  <a:srgbClr val="0070C0"/>
                </a:solidFill>
                <a:latin typeface="Arial"/>
                <a:ea typeface="Arial"/>
              </a:rPr>
              <a:t>Proposed · priced separately</a:t>
            </a:r>
          </a:p>
        </p:txBody>
      </p:sp>
      <p:sp>
        <p:nvSpPr>
          <p:cNvPr id="35" name="Rounded Rectangle 34"/>
          <p:cNvSpPr/>
          <p:nvPr/>
        </p:nvSpPr>
        <p:spPr>
          <a:xfrm>
            <a:off x="9084564" y="1810512"/>
            <a:ext cx="2647188"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67444" y="1920240"/>
            <a:ext cx="2281428" cy="713232"/>
          </a:xfrm>
          <a:prstGeom prst="rect">
            <a:avLst/>
          </a:prstGeom>
          <a:noFill/>
        </p:spPr>
        <p:txBody>
          <a:bodyPr wrap="square" lIns="0" tIns="0" rIns="0" bIns="0" anchor="t">
            <a:noAutofit/>
          </a:bodyPr>
          <a:lstStyle/>
          <a:p>
            <a:pPr algn="l">
              <a:lnSpc>
                <a:spcPct val="115000"/>
              </a:lnSpc>
              <a:spcAft>
                <a:spcPts val="0"/>
              </a:spcAft>
            </a:pPr>
            <a:r>
              <a:rPr sz="1050" b="1">
                <a:solidFill>
                  <a:srgbClr val="1D1D1A"/>
                </a:solidFill>
                <a:latin typeface="Arial"/>
                <a:ea typeface="Arial"/>
              </a:rPr>
              <a:t>4  Inference serving at a trillion tokens a day</a:t>
            </a:r>
          </a:p>
        </p:txBody>
      </p:sp>
      <p:sp>
        <p:nvSpPr>
          <p:cNvPr id="37" name="TextBox 36"/>
          <p:cNvSpPr txBox="1"/>
          <p:nvPr/>
        </p:nvSpPr>
        <p:spPr>
          <a:xfrm>
            <a:off x="9267444" y="2688336"/>
            <a:ext cx="2281428" cy="548640"/>
          </a:xfrm>
          <a:prstGeom prst="rect">
            <a:avLst/>
          </a:prstGeom>
          <a:noFill/>
        </p:spPr>
        <p:txBody>
          <a:bodyPr wrap="square" lIns="0" tIns="0" rIns="0" bIns="0" anchor="t">
            <a:noAutofit/>
          </a:bodyPr>
          <a:lstStyle/>
          <a:p>
            <a:pPr algn="l">
              <a:lnSpc>
                <a:spcPct val="125000"/>
              </a:lnSpc>
              <a:spcAft>
                <a:spcPts val="400"/>
              </a:spcAft>
            </a:pPr>
            <a:r>
              <a:rPr sz="900" b="0">
                <a:solidFill>
                  <a:srgbClr val="333333"/>
                </a:solidFill>
                <a:latin typeface="Arial"/>
                <a:ea typeface="Arial"/>
              </a:rPr>
              <a:t>Token gateway and routing; low-latency optimisation and stability</a:t>
            </a:r>
          </a:p>
        </p:txBody>
      </p:sp>
      <p:sp>
        <p:nvSpPr>
          <p:cNvPr id="38" name="TextBox 37"/>
          <p:cNvSpPr txBox="1"/>
          <p:nvPr/>
        </p:nvSpPr>
        <p:spPr>
          <a:xfrm>
            <a:off x="9267444" y="3255264"/>
            <a:ext cx="2281428" cy="237744"/>
          </a:xfrm>
          <a:prstGeom prst="rect">
            <a:avLst/>
          </a:prstGeom>
          <a:noFill/>
        </p:spPr>
        <p:txBody>
          <a:bodyPr wrap="square" lIns="0" tIns="0" rIns="0" bIns="0" anchor="ctr">
            <a:noAutofit/>
          </a:bodyPr>
          <a:lstStyle/>
          <a:p>
            <a:pPr algn="l">
              <a:lnSpc>
                <a:spcPct val="115000"/>
              </a:lnSpc>
              <a:spcAft>
                <a:spcPts val="0"/>
              </a:spcAft>
            </a:pPr>
            <a:r>
              <a:rPr sz="850" b="0">
                <a:solidFill>
                  <a:srgbClr val="0070C0"/>
                </a:solidFill>
                <a:latin typeface="Arial"/>
                <a:ea typeface="Arial"/>
              </a:rPr>
              <a:t>Proposed · priced separately</a:t>
            </a:r>
          </a:p>
        </p:txBody>
      </p:sp>
      <p:sp>
        <p:nvSpPr>
          <p:cNvPr id="39" name="TextBox 38"/>
          <p:cNvSpPr txBox="1"/>
          <p:nvPr/>
        </p:nvSpPr>
        <p:spPr>
          <a:xfrm>
            <a:off x="457200" y="3712463"/>
            <a:ext cx="6400800" cy="310896"/>
          </a:xfrm>
          <a:prstGeom prst="rect">
            <a:avLst/>
          </a:prstGeom>
          <a:noFill/>
        </p:spPr>
        <p:txBody>
          <a:bodyPr wrap="square" lIns="0" tIns="0" rIns="0" bIns="0" anchor="ctr">
            <a:noAutofit/>
          </a:bodyPr>
          <a:lstStyle/>
          <a:p>
            <a:pPr algn="l">
              <a:lnSpc>
                <a:spcPct val="115000"/>
              </a:lnSpc>
              <a:spcAft>
                <a:spcPts val="0"/>
              </a:spcAft>
            </a:pPr>
            <a:r>
              <a:rPr sz="1150" b="1">
                <a:solidFill>
                  <a:srgbClr val="1D1D1A"/>
                </a:solidFill>
                <a:latin typeface="Arial"/>
                <a:ea typeface="Arial"/>
              </a:rPr>
              <a:t>Three supporting formats</a:t>
            </a:r>
          </a:p>
        </p:txBody>
      </p:sp>
      <p:sp>
        <p:nvSpPr>
          <p:cNvPr id="40" name="Rounded Rectangle 39"/>
          <p:cNvSpPr/>
          <p:nvPr/>
        </p:nvSpPr>
        <p:spPr>
          <a:xfrm>
            <a:off x="457200" y="4041648"/>
            <a:ext cx="3575304" cy="1298448"/>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133087"/>
            <a:ext cx="3209544" cy="292608"/>
          </a:xfrm>
          <a:prstGeom prst="rect">
            <a:avLst/>
          </a:prstGeom>
          <a:noFill/>
        </p:spPr>
        <p:txBody>
          <a:bodyPr wrap="square" lIns="0" tIns="0" rIns="0" bIns="0" anchor="ctr">
            <a:noAutofit/>
          </a:bodyPr>
          <a:lstStyle/>
          <a:p>
            <a:pPr algn="l">
              <a:lnSpc>
                <a:spcPct val="115000"/>
              </a:lnSpc>
              <a:spcAft>
                <a:spcPts val="0"/>
              </a:spcAft>
            </a:pPr>
            <a:r>
              <a:rPr sz="1100" b="1">
                <a:solidFill>
                  <a:srgbClr val="1D1D1A"/>
                </a:solidFill>
                <a:latin typeface="Arial"/>
                <a:ea typeface="Arial"/>
              </a:rPr>
              <a:t>Expert seminars and case studies</a:t>
            </a:r>
          </a:p>
        </p:txBody>
      </p:sp>
      <p:sp>
        <p:nvSpPr>
          <p:cNvPr id="42" name="TextBox 41"/>
          <p:cNvSpPr txBox="1"/>
          <p:nvPr/>
        </p:nvSpPr>
        <p:spPr>
          <a:xfrm>
            <a:off x="640080" y="4462272"/>
            <a:ext cx="3209544" cy="804671"/>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Seminars, engineering case reviews and practice walkthroughs on selected directions, tailored to RNP's actual environment — for example model migration, platform architecture and implementation principles, training adaptation on Huawei compute</a:t>
            </a:r>
          </a:p>
        </p:txBody>
      </p:sp>
      <p:sp>
        <p:nvSpPr>
          <p:cNvPr id="43" name="Rounded Rectangle 42"/>
          <p:cNvSpPr/>
          <p:nvPr/>
        </p:nvSpPr>
        <p:spPr>
          <a:xfrm>
            <a:off x="4306824" y="4041648"/>
            <a:ext cx="3575304" cy="1298448"/>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89704" y="4133087"/>
            <a:ext cx="3209544" cy="292608"/>
          </a:xfrm>
          <a:prstGeom prst="rect">
            <a:avLst/>
          </a:prstGeom>
          <a:noFill/>
        </p:spPr>
        <p:txBody>
          <a:bodyPr wrap="square" lIns="0" tIns="0" rIns="0" bIns="0" anchor="ctr">
            <a:noAutofit/>
          </a:bodyPr>
          <a:lstStyle/>
          <a:p>
            <a:pPr algn="l">
              <a:lnSpc>
                <a:spcPct val="115000"/>
              </a:lnSpc>
              <a:spcAft>
                <a:spcPts val="0"/>
              </a:spcAft>
            </a:pPr>
            <a:r>
              <a:rPr sz="1100" b="1">
                <a:solidFill>
                  <a:srgbClr val="1D1D1A"/>
                </a:solidFill>
                <a:latin typeface="Arial"/>
                <a:ea typeface="Arial"/>
              </a:rPr>
              <a:t>One-to-one expert consulting</a:t>
            </a:r>
          </a:p>
        </p:txBody>
      </p:sp>
      <p:sp>
        <p:nvSpPr>
          <p:cNvPr id="45" name="TextBox 44"/>
          <p:cNvSpPr txBox="1"/>
          <p:nvPr/>
        </p:nvSpPr>
        <p:spPr>
          <a:xfrm>
            <a:off x="4489704" y="4462272"/>
            <a:ext cx="3209544" cy="804671"/>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Technical Q&amp;A, solution discussion and engineering experience exchange on specific R&amp;D problems raised by RNP engineers, agreed by duration</a:t>
            </a:r>
          </a:p>
        </p:txBody>
      </p:sp>
      <p:sp>
        <p:nvSpPr>
          <p:cNvPr id="46" name="Rounded Rectangle 45"/>
          <p:cNvSpPr/>
          <p:nvPr/>
        </p:nvSpPr>
        <p:spPr>
          <a:xfrm>
            <a:off x="8156448" y="4041648"/>
            <a:ext cx="3575304" cy="1298448"/>
          </a:xfrm>
          <a:prstGeom prst="roundRect">
            <a:avLst>
              <a:gd name="adj" fmla="val 4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39327" y="4133087"/>
            <a:ext cx="3209544" cy="292608"/>
          </a:xfrm>
          <a:prstGeom prst="rect">
            <a:avLst/>
          </a:prstGeom>
          <a:noFill/>
        </p:spPr>
        <p:txBody>
          <a:bodyPr wrap="square" lIns="0" tIns="0" rIns="0" bIns="0" anchor="ctr">
            <a:noAutofit/>
          </a:bodyPr>
          <a:lstStyle/>
          <a:p>
            <a:pPr algn="l">
              <a:lnSpc>
                <a:spcPct val="115000"/>
              </a:lnSpc>
              <a:spcAft>
                <a:spcPts val="0"/>
              </a:spcAft>
            </a:pPr>
            <a:r>
              <a:rPr sz="1100" b="1">
                <a:solidFill>
                  <a:srgbClr val="1F4E79"/>
                </a:solidFill>
                <a:latin typeface="Arial"/>
                <a:ea typeface="Arial"/>
              </a:rPr>
              <a:t>China study visit and technical exchange</a:t>
            </a:r>
          </a:p>
        </p:txBody>
      </p:sp>
      <p:sp>
        <p:nvSpPr>
          <p:cNvPr id="48" name="TextBox 47"/>
          <p:cNvSpPr txBox="1"/>
          <p:nvPr/>
        </p:nvSpPr>
        <p:spPr>
          <a:xfrm>
            <a:off x="8339327" y="4462272"/>
            <a:ext cx="3209544" cy="804671"/>
          </a:xfrm>
          <a:prstGeom prst="rect">
            <a:avLst/>
          </a:prstGeom>
          <a:noFill/>
        </p:spPr>
        <p:txBody>
          <a:bodyPr wrap="square" lIns="0" tIns="0" rIns="0" bIns="0" anchor="t">
            <a:noAutofit/>
          </a:bodyPr>
          <a:lstStyle/>
          <a:p>
            <a:pPr algn="l">
              <a:lnSpc>
                <a:spcPct val="125000"/>
              </a:lnSpc>
              <a:spcAft>
                <a:spcPts val="400"/>
              </a:spcAft>
            </a:pPr>
            <a:r>
              <a:rPr sz="850" b="0">
                <a:solidFill>
                  <a:srgbClr val="333333"/>
                </a:solidFill>
                <a:latin typeface="Arial"/>
                <a:ea typeface="Arial"/>
              </a:rPr>
              <a:t>Optional format combining expert learning with on-site technical exchange; language, itinerary and related costs agreed separately. </a:t>
            </a:r>
            <a:r>
              <a:rPr sz="850" b="0">
                <a:solidFill>
                  <a:srgbClr val="0070C0"/>
                </a:solidFill>
                <a:latin typeface="Arial"/>
                <a:ea typeface="Arial"/>
              </a:rPr>
              <a:t>Distinct from the 6-day China journey for 100 people in Huawei's plan, so the two do not overlap.</a:t>
            </a:r>
          </a:p>
        </p:txBody>
      </p:sp>
      <p:sp>
        <p:nvSpPr>
          <p:cNvPr id="49" name="TextBox 48"/>
          <p:cNvSpPr txBox="1"/>
          <p:nvPr/>
        </p:nvSpPr>
        <p:spPr>
          <a:xfrm>
            <a:off x="457200" y="5504688"/>
            <a:ext cx="11274552" cy="411480"/>
          </a:xfrm>
          <a:prstGeom prst="rect">
            <a:avLst/>
          </a:prstGeom>
          <a:noFill/>
        </p:spPr>
        <p:txBody>
          <a:bodyPr wrap="square" lIns="0" tIns="0" rIns="0" bIns="0" anchor="ctr">
            <a:noAutofit/>
          </a:bodyPr>
          <a:lstStyle/>
          <a:p>
            <a:pPr algn="l">
              <a:lnSpc>
                <a:spcPct val="125000"/>
              </a:lnSpc>
              <a:spcAft>
                <a:spcPts val="0"/>
              </a:spcAft>
            </a:pPr>
            <a:r>
              <a:rPr sz="850" b="0">
                <a:solidFill>
                  <a:srgbClr val="666666"/>
                </a:solidFill>
                <a:latin typeface="Arial"/>
                <a:ea typeface="Arial"/>
              </a:rPr>
              <a:t>All of the above is separate from the core knowledge transfer (four stages, 1,216 hours across two rounds) and outside the current SOW and price. Scope, hours, headcount, format and fees are agreed separately. Basis: proposal and suggestion, not a commitment.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A12 · Product operations training: getting O&amp;M started</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How does O&amp;M get started after delivery?</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10"/>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1"/>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2"/>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3"/>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p:cNvSpPr/>
          <p:nvPr/>
        </p:nvSpPr>
        <p:spPr>
          <a:xfrm>
            <a:off x="6053328"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A12</a:t>
            </a:r>
          </a:p>
        </p:txBody>
      </p:sp>
      <p:sp>
        <p:nvSpPr>
          <p:cNvPr id="17" name="Rounded Rectangle 16">
            <a:hlinkClick action="ppaction://hlinksldjump" r:id="rId14"/>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p.3</a:t>
            </a:r>
          </a:p>
        </p:txBody>
      </p:sp>
      <p:sp>
        <p:nvSpPr>
          <p:cNvPr id="21" name="TextBox 20"/>
          <p:cNvSpPr txBox="1"/>
          <p:nvPr/>
        </p:nvSpPr>
        <p:spPr>
          <a:xfrm>
            <a:off x="457200" y="914400"/>
            <a:ext cx="11274552" cy="329184"/>
          </a:xfrm>
          <a:prstGeom prst="rect">
            <a:avLst/>
          </a:prstGeom>
          <a:noFill/>
        </p:spPr>
        <p:txBody>
          <a:bodyPr wrap="square" lIns="0" tIns="0" rIns="0" bIns="0" anchor="ctr">
            <a:noAutofit/>
          </a:bodyPr>
          <a:lstStyle/>
          <a:p>
            <a:pPr algn="l">
              <a:lnSpc>
                <a:spcPct val="125000"/>
              </a:lnSpc>
              <a:spcAft>
                <a:spcPts val="0"/>
              </a:spcAft>
            </a:pPr>
            <a:r>
              <a:rPr sz="1000" b="0">
                <a:solidFill>
                  <a:srgbClr val="666666"/>
                </a:solidFill>
                <a:latin typeface="Arial"/>
                <a:ea typeface="Arial"/>
              </a:rPr>
              <a:t>iFLYTEK demonstrates operation, gives configuration guidance and explains handover for the delivered software, models and security products. For RNP's O&amp;M team, starting with assisted O&amp;M — parallel to the four-stage knowledge transfer, with no double-counted hours.</a:t>
            </a:r>
          </a:p>
        </p:txBody>
      </p:sp>
      <p:graphicFrame>
        <p:nvGraphicFramePr>
          <p:cNvPr id="22" name="Table 21"/>
          <p:cNvGraphicFramePr>
            <a:graphicFrameLocks noGrp="1"/>
          </p:cNvGraphicFramePr>
          <p:nvPr/>
        </p:nvGraphicFramePr>
        <p:xfrm>
          <a:off x="457200" y="1298448"/>
          <a:ext cx="11274552" cy="3547872"/>
        </p:xfrm>
        <a:graphic>
          <a:graphicData uri="http://schemas.openxmlformats.org/drawingml/2006/table">
            <a:tbl>
              <a:tblPr firstRow="0" bandRow="0">
                <a:tableStyleId>{2D5ABB26-0587-4C30-8999-92F81FD0307C}</a:tableStyleId>
              </a:tblPr>
              <a:tblGrid>
                <a:gridCol w="2880360"/>
                <a:gridCol w="6336792"/>
                <a:gridCol w="868680"/>
                <a:gridCol w="1188720"/>
              </a:tblGrid>
              <a:tr h="365760">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Topic</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Training content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Days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1000" b="1">
                          <a:solidFill>
                            <a:srgbClr val="1D1D1A"/>
                          </a:solidFill>
                          <a:latin typeface="Arial"/>
                          <a:ea typeface="Arial"/>
                        </a:rPr>
                        <a:t>Per batch</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530352">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Corpus and model training platforms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Dataset workflows, quality checks and lineage; container images, training jobs, logs and model outputs; delivered speech tools and checkpoint recovery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30352">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Compute management and cluster O&amp;M</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Tenants, roles, resource pools, quotas and scheduling; cluster health, node status, logs and alarms; resource usage, incidents and escalation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30352">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Application services, APIs and data operations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Service credentials, permissions, rate limits and usage; enabled knowledge Q&amp;A and search; API calls and error handling; portal setup, app publishing, users and feedback</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30352">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Foundation models and the National AI Application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Model files, loading, calls and configuration; known limits and operational checks; login, Q&amp;A, documents and voice; enabled notes, writing and presentation features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30352">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Content safety and security products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Risk labels, review rules, lexicons and quick fixes; review logs and verification of enabled functions; access, policy and logs for the supplied security products; basic operation and vendor support channels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530352">
                <a:tc>
                  <a:txBody>
                    <a:bodyPr wrap="square" lIns="73152" tIns="36576" rIns="73152" bIns="36576" anchor="ctr">
                      <a:noAutofit/>
                    </a:bodyPr>
                    <a:lstStyle/>
                    <a:p>
                      <a:pPr algn="l">
                        <a:lnSpc>
                          <a:spcPct val="110000"/>
                        </a:lnSpc>
                        <a:spcAft>
                          <a:spcPts val="100"/>
                        </a:spcAft>
                      </a:pPr>
                      <a:r>
                        <a:rPr sz="900" b="1">
                          <a:solidFill>
                            <a:srgbClr val="1D1D1A"/>
                          </a:solidFill>
                          <a:latin typeface="Arial"/>
                          <a:ea typeface="Arial"/>
                        </a:rPr>
                        <a:t>Configuration, documents and support handover</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Deployed versions, key settings and documentation; supported backup and recovery; open issues, support tickets and escalation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900" b="0">
                          <a:solidFill>
                            <a:srgbClr val="333333"/>
                          </a:solidFill>
                          <a:latin typeface="Arial"/>
                          <a:ea typeface="Arial"/>
                        </a:rPr>
                        <a:t>12</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3" name="Rounded Rectangle 22"/>
          <p:cNvSpPr/>
          <p:nvPr/>
        </p:nvSpPr>
        <p:spPr>
          <a:xfrm>
            <a:off x="457200" y="4974336"/>
            <a:ext cx="11274552" cy="420624"/>
          </a:xfrm>
          <a:prstGeom prst="roundRect">
            <a:avLst>
              <a:gd name="adj" fmla="val 4000"/>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029200"/>
            <a:ext cx="914400" cy="310896"/>
          </a:xfrm>
          <a:prstGeom prst="rect">
            <a:avLst/>
          </a:prstGeom>
          <a:noFill/>
        </p:spPr>
        <p:txBody>
          <a:bodyPr wrap="square" lIns="0" tIns="0" rIns="0" bIns="0" anchor="ctr">
            <a:noAutofit/>
          </a:bodyPr>
          <a:lstStyle/>
          <a:p>
            <a:pPr algn="l">
              <a:lnSpc>
                <a:spcPct val="115000"/>
              </a:lnSpc>
              <a:spcAft>
                <a:spcPts val="0"/>
              </a:spcAft>
            </a:pPr>
            <a:r>
              <a:rPr sz="1150" b="1">
                <a:solidFill>
                  <a:srgbClr val="C00000"/>
                </a:solidFill>
                <a:latin typeface="Arial"/>
                <a:ea typeface="Arial"/>
              </a:rPr>
              <a:t>Timing</a:t>
            </a:r>
          </a:p>
        </p:txBody>
      </p:sp>
      <p:sp>
        <p:nvSpPr>
          <p:cNvPr id="25" name="TextBox 24"/>
          <p:cNvSpPr txBox="1"/>
          <p:nvPr/>
        </p:nvSpPr>
        <p:spPr>
          <a:xfrm>
            <a:off x="1600200" y="5029200"/>
            <a:ext cx="9902952" cy="310896"/>
          </a:xfrm>
          <a:prstGeom prst="rect">
            <a:avLst/>
          </a:prstGeom>
          <a:noFill/>
        </p:spPr>
        <p:txBody>
          <a:bodyPr wrap="square" lIns="0" tIns="0" rIns="0" bIns="0" anchor="ctr">
            <a:noAutofit/>
          </a:bodyPr>
          <a:lstStyle/>
          <a:p>
            <a:pPr algn="l">
              <a:lnSpc>
                <a:spcPct val="115000"/>
              </a:lnSpc>
              <a:spcAft>
                <a:spcPts val="400"/>
              </a:spcAft>
            </a:pPr>
            <a:r>
              <a:rPr sz="950" b="0">
                <a:solidFill>
                  <a:srgbClr val="333333"/>
                </a:solidFill>
                <a:latin typeface="Arial"/>
                <a:ea typeface="Arial"/>
              </a:rPr>
              <a:t>Product operations training runs when assisted O&amp;M begins; knowledge transfer activity continues through the following 12 months of assisted O&amp;M. Formal handover starts at least 3 months before assisted O&amp;M ends.</a:t>
            </a:r>
          </a:p>
        </p:txBody>
      </p:sp>
      <p:sp>
        <p:nvSpPr>
          <p:cNvPr id="26" name="TextBox 25"/>
          <p:cNvSpPr txBox="1"/>
          <p:nvPr/>
        </p:nvSpPr>
        <p:spPr>
          <a:xfrm>
            <a:off x="457200" y="5468112"/>
            <a:ext cx="11274552" cy="457200"/>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The six topics are a consolidated view of the twelve product-use themes in SOW section 7.5; they are not six separately quantified courses. Training uses delivered versions and authorised samples.</a:t>
            </a:r>
          </a:p>
          <a:p>
            <a:pPr algn="l">
              <a:lnSpc>
                <a:spcPct val="115000"/>
              </a:lnSpc>
              <a:spcAft>
                <a:spcPts val="0"/>
              </a:spcAft>
            </a:pPr>
            <a:r>
              <a:rPr sz="850" b="0">
                <a:solidFill>
                  <a:srgbClr val="0070C0"/>
                </a:solidFill>
                <a:latin typeface="Arial"/>
                <a:ea typeface="Arial"/>
              </a:rPr>
              <a:t>Batches, days, participants, language and on-site/remote arrangements are agreed before implementation. The topic days total 9; the joint material states about 10 — to be confirmed.</a:t>
            </a:r>
            <a:r>
              <a:rPr sz="850" b="0">
                <a:solidFill>
                  <a:srgbClr val="666666"/>
                </a:solidFill>
                <a:latin typeface="Arial"/>
                <a:ea typeface="Arial"/>
              </a:rPr>
              <a:t>   Basis: SOW 7.5 / 8.3 / 9.4.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A13 · National AI Application: deliverables and acceptance</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What is delivered, how is it accepted?</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10"/>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1"/>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2"/>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3"/>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4"/>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p:cNvSpPr/>
          <p:nvPr/>
        </p:nvSpPr>
        <p:spPr>
          <a:xfrm>
            <a:off x="6505956"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A13</a:t>
            </a:r>
          </a:p>
        </p:txBody>
      </p:sp>
      <p:sp>
        <p:nvSpPr>
          <p:cNvPr id="18" name="Rounded Rectangle 17">
            <a:hlinkClick action="ppaction://hlinksldjump" r:id="rId15"/>
          </p:cNvPr>
          <p:cNvSpPr/>
          <p:nvPr/>
        </p:nvSpPr>
        <p:spPr>
          <a:xfrm>
            <a:off x="69585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p.7</a:t>
            </a:r>
          </a:p>
        </p:txBody>
      </p:sp>
      <p:graphicFrame>
        <p:nvGraphicFramePr>
          <p:cNvPr id="21" name="Table 20"/>
          <p:cNvGraphicFramePr>
            <a:graphicFrameLocks noGrp="1"/>
          </p:cNvGraphicFramePr>
          <p:nvPr/>
        </p:nvGraphicFramePr>
        <p:xfrm>
          <a:off x="457200" y="932688"/>
          <a:ext cx="11274552" cy="4315968"/>
        </p:xfrm>
        <a:graphic>
          <a:graphicData uri="http://schemas.openxmlformats.org/drawingml/2006/table">
            <a:tbl>
              <a:tblPr firstRow="0" bandRow="0">
                <a:tableStyleId>{2D5ABB26-0587-4C30-8999-92F81FD0307C}</a:tableStyleId>
              </a:tblPr>
              <a:tblGrid>
                <a:gridCol w="2514600"/>
                <a:gridCol w="4434840"/>
                <a:gridCol w="4325112"/>
              </a:tblGrid>
              <a:tr h="365760">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Service scope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Deliverables (SOW 8.5)</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Minimum acceptance criteria (SOW 9.6)</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658368">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Scope and localisation confirmation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National AI Application function and configuration guide: actual functions, supported platforms, interface localisation, connected services and usage limits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Specified Portuguese interfaces and branding complete; key operating information understandable and usable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58368">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Multi-device software delivery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Deployment packages or client installers for the confirmed platforms, licensing materials and release notes; application deployment records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Software for the confirmed platforms is deployed or installed and can be accessed and operated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58368">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Data Operations Platform delivery</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Platform software and licensing materials; Data Operations Platform configuration and user guide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App configuration, user permissions, logging, feedback and statistics verified against test cases; displayed results match the test data</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58368">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Interface and workflow integration testing</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Application interface and integration test records covering the models, identity and knowledge services actually connected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Specified model and external interfaces pass integration testing; authentication, permissions and connected review workflows verified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58368">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Testing and acceptance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National AI Application and Data Operations Platform test report; go-live release and acceptance confirmation materials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Functions on the explicit list pass the approved test cases; representative workflows run from user input to displayed result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58368">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User and administrator guidance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User guide; administrator guide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Operating materials, test results, versions and release records submitted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358384"/>
            <a:ext cx="11274552" cy="457200"/>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Acceptance flow: check platforms and versions → test interfaces and functions → verify integration and permissions → reference capacity and model tests → clear issues → confirm the application.</a:t>
            </a:r>
          </a:p>
          <a:p>
            <a:pPr algn="l">
              <a:lnSpc>
                <a:spcPct val="115000"/>
              </a:lnSpc>
              <a:spcAft>
                <a:spcPts val="0"/>
              </a:spcAft>
            </a:pPr>
            <a:r>
              <a:rPr sz="850" b="0">
                <a:solidFill>
                  <a:srgbClr val="666666"/>
                </a:solidFill>
                <a:latin typeface="Arial"/>
                <a:ea typeface="Arial"/>
              </a:rPr>
              <a:t>Responsibility: RNP provides branding, knowledge content and business rules, confirms Portuguese terminology and interfaces, approves go-live and operates users, content and services. iFLYTEK does not take on user growth, content production, human moderation or managed business operations. Basis: SOW 3.9 / 8.5 / 9.6 / 10.7.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lIns="45720" tIns="0" rIns="45720" bIns="0" anchor="b">
            <a:noAutofit/>
          </a:bodyPr>
          <a:lstStyle/>
          <a:p>
            <a:pPr algn="l">
              <a:lnSpc>
                <a:spcPct val="115000"/>
              </a:lnSpc>
              <a:spcAft>
                <a:spcPts val="0"/>
              </a:spcAft>
            </a:pPr>
            <a:r>
              <a:rPr sz="1900" b="1">
                <a:solidFill>
                  <a:srgbClr val="C00000"/>
                </a:solidFill>
                <a:latin typeface="Arial"/>
                <a:ea typeface="Arial"/>
              </a:rPr>
              <a:t>A14 · Supporting Brazil's own R&amp;D: TR requirement mapping</a:t>
            </a:r>
          </a:p>
        </p:txBody>
      </p:sp>
      <p:sp>
        <p:nvSpPr>
          <p:cNvPr id="3" name="Rounded Rectangle 2"/>
          <p:cNvSpPr/>
          <p:nvPr/>
        </p:nvSpPr>
        <p:spPr>
          <a:xfrm>
            <a:off x="7525512" y="274320"/>
            <a:ext cx="4206240" cy="292608"/>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D1D1A"/>
                </a:solidFill>
                <a:latin typeface="Arial"/>
                <a:ea typeface="Arial"/>
              </a:rPr>
              <a:t>Q: How do you answer the TR's R&amp;D requirements?</a:t>
            </a:r>
          </a:p>
        </p:txBody>
      </p:sp>
      <p:sp>
        <p:nvSpPr>
          <p:cNvPr id="4" name="Rounded Rectangle 3">
            <a:hlinkClick action="ppaction://hlinksldjump" r:id="rId2"/>
          </p:cNvPr>
          <p:cNvSpPr/>
          <p:nvPr/>
        </p:nvSpPr>
        <p:spPr>
          <a:xfrm>
            <a:off x="4572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A0</a:t>
            </a:r>
          </a:p>
        </p:txBody>
      </p:sp>
      <p:sp>
        <p:nvSpPr>
          <p:cNvPr id="5" name="Rounded Rectangle 4">
            <a:hlinkClick action="ppaction://hlinksldjump" r:id="rId3"/>
          </p:cNvPr>
          <p:cNvSpPr/>
          <p:nvPr/>
        </p:nvSpPr>
        <p:spPr>
          <a:xfrm>
            <a:off x="9098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a:t>
            </a:r>
          </a:p>
        </p:txBody>
      </p:sp>
      <p:sp>
        <p:nvSpPr>
          <p:cNvPr id="6" name="Rounded Rectangle 5">
            <a:hlinkClick action="ppaction://hlinksldjump" r:id="rId4"/>
          </p:cNvPr>
          <p:cNvSpPr/>
          <p:nvPr/>
        </p:nvSpPr>
        <p:spPr>
          <a:xfrm>
            <a:off x="13624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A2</a:t>
            </a:r>
          </a:p>
        </p:txBody>
      </p:sp>
      <p:sp>
        <p:nvSpPr>
          <p:cNvPr id="7" name="Rounded Rectangle 6">
            <a:hlinkClick action="ppaction://hlinksldjump" r:id="rId5"/>
          </p:cNvPr>
          <p:cNvSpPr/>
          <p:nvPr/>
        </p:nvSpPr>
        <p:spPr>
          <a:xfrm>
            <a:off x="181508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A3</a:t>
            </a:r>
          </a:p>
        </p:txBody>
      </p:sp>
      <p:sp>
        <p:nvSpPr>
          <p:cNvPr id="8" name="Rounded Rectangle 7">
            <a:hlinkClick action="ppaction://hlinksldjump" r:id="rId6"/>
          </p:cNvPr>
          <p:cNvSpPr/>
          <p:nvPr/>
        </p:nvSpPr>
        <p:spPr>
          <a:xfrm>
            <a:off x="226771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A4</a:t>
            </a:r>
          </a:p>
        </p:txBody>
      </p:sp>
      <p:sp>
        <p:nvSpPr>
          <p:cNvPr id="9" name="Rounded Rectangle 8">
            <a:hlinkClick action="ppaction://hlinksldjump" r:id="rId7"/>
          </p:cNvPr>
          <p:cNvSpPr/>
          <p:nvPr/>
        </p:nvSpPr>
        <p:spPr>
          <a:xfrm>
            <a:off x="272034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A5</a:t>
            </a:r>
          </a:p>
        </p:txBody>
      </p:sp>
      <p:sp>
        <p:nvSpPr>
          <p:cNvPr id="10" name="Rounded Rectangle 9">
            <a:hlinkClick action="ppaction://hlinksldjump" r:id="rId8"/>
          </p:cNvPr>
          <p:cNvSpPr/>
          <p:nvPr/>
        </p:nvSpPr>
        <p:spPr>
          <a:xfrm>
            <a:off x="317296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A6</a:t>
            </a:r>
          </a:p>
        </p:txBody>
      </p:sp>
      <p:sp>
        <p:nvSpPr>
          <p:cNvPr id="11" name="Rounded Rectangle 10">
            <a:hlinkClick action="ppaction://hlinksldjump" r:id="rId9"/>
          </p:cNvPr>
          <p:cNvSpPr/>
          <p:nvPr/>
        </p:nvSpPr>
        <p:spPr>
          <a:xfrm>
            <a:off x="379018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A7</a:t>
            </a:r>
          </a:p>
        </p:txBody>
      </p:sp>
      <p:sp>
        <p:nvSpPr>
          <p:cNvPr id="12" name="Rounded Rectangle 11">
            <a:hlinkClick action="ppaction://hlinksldjump" r:id="rId10"/>
          </p:cNvPr>
          <p:cNvSpPr/>
          <p:nvPr/>
        </p:nvSpPr>
        <p:spPr>
          <a:xfrm>
            <a:off x="424281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A8</a:t>
            </a:r>
          </a:p>
        </p:txBody>
      </p:sp>
      <p:sp>
        <p:nvSpPr>
          <p:cNvPr id="13" name="Rounded Rectangle 12">
            <a:hlinkClick action="ppaction://hlinksldjump" r:id="rId11"/>
          </p:cNvPr>
          <p:cNvSpPr/>
          <p:nvPr/>
        </p:nvSpPr>
        <p:spPr>
          <a:xfrm>
            <a:off x="4695444"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A9</a:t>
            </a:r>
          </a:p>
        </p:txBody>
      </p:sp>
      <p:sp>
        <p:nvSpPr>
          <p:cNvPr id="14" name="Rounded Rectangle 13">
            <a:hlinkClick action="ppaction://hlinksldjump" r:id="rId12"/>
          </p:cNvPr>
          <p:cNvSpPr/>
          <p:nvPr/>
        </p:nvSpPr>
        <p:spPr>
          <a:xfrm>
            <a:off x="5148072"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A10</a:t>
            </a:r>
          </a:p>
        </p:txBody>
      </p:sp>
      <p:sp>
        <p:nvSpPr>
          <p:cNvPr id="15" name="Rounded Rectangle 14">
            <a:hlinkClick action="ppaction://hlinksldjump" r:id="rId13"/>
          </p:cNvPr>
          <p:cNvSpPr/>
          <p:nvPr/>
        </p:nvSpPr>
        <p:spPr>
          <a:xfrm>
            <a:off x="5600700"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A11</a:t>
            </a:r>
          </a:p>
        </p:txBody>
      </p:sp>
      <p:sp>
        <p:nvSpPr>
          <p:cNvPr id="16" name="Rounded Rectangle 15">
            <a:hlinkClick action="ppaction://hlinksldjump" r:id="rId14"/>
          </p:cNvPr>
          <p:cNvSpPr/>
          <p:nvPr/>
        </p:nvSpPr>
        <p:spPr>
          <a:xfrm>
            <a:off x="6053328"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A12</a:t>
            </a:r>
          </a:p>
        </p:txBody>
      </p:sp>
      <p:sp>
        <p:nvSpPr>
          <p:cNvPr id="17" name="Rounded Rectangle 16">
            <a:hlinkClick action="ppaction://hlinksldjump" r:id="rId15"/>
          </p:cNvPr>
          <p:cNvSpPr/>
          <p:nvPr/>
        </p:nvSpPr>
        <p:spPr>
          <a:xfrm>
            <a:off x="6505956" y="6035040"/>
            <a:ext cx="402336" cy="219456"/>
          </a:xfrm>
          <a:prstGeom prst="roundRect">
            <a:avLst>
              <a:gd name="adj" fmla="val 35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666666"/>
                </a:solidFill>
                <a:latin typeface="Arial"/>
                <a:ea typeface="Arial"/>
              </a:rPr>
              <a:t>A13</a:t>
            </a:r>
          </a:p>
        </p:txBody>
      </p:sp>
      <p:sp>
        <p:nvSpPr>
          <p:cNvPr id="18" name="Rounded Rectangle 17"/>
          <p:cNvSpPr/>
          <p:nvPr/>
        </p:nvSpPr>
        <p:spPr>
          <a:xfrm>
            <a:off x="6958584" y="6035040"/>
            <a:ext cx="402336" cy="219456"/>
          </a:xfrm>
          <a:prstGeom prst="roundRect">
            <a:avLst>
              <a:gd name="adj" fmla="val 3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15000"/>
              </a:lnSpc>
              <a:spcAft>
                <a:spcPts val="0"/>
              </a:spcAft>
            </a:pPr>
            <a:r>
              <a:rPr sz="800" b="1">
                <a:solidFill>
                  <a:srgbClr val="FFFFFF"/>
                </a:solidFill>
                <a:latin typeface="Arial"/>
                <a:ea typeface="Arial"/>
              </a:rPr>
              <a:t>A14</a:t>
            </a:r>
          </a:p>
        </p:txBody>
      </p:sp>
      <p:sp>
        <p:nvSpPr>
          <p:cNvPr id="19" name="Rounded Rectangle 18">
            <a:hlinkClick action="ppaction://hlinksldjump" r:id="rId16"/>
          </p:cNvPr>
          <p:cNvSpPr/>
          <p:nvPr/>
        </p:nvSpPr>
        <p:spPr>
          <a:xfrm>
            <a:off x="751636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50" b="1">
                <a:solidFill>
                  <a:srgbClr val="1F4E79"/>
                </a:solidFill>
                <a:latin typeface="Arial"/>
                <a:ea typeface="Arial"/>
              </a:rPr>
              <a:t>Index</a:t>
            </a:r>
          </a:p>
        </p:txBody>
      </p:sp>
      <p:sp>
        <p:nvSpPr>
          <p:cNvPr id="20" name="Rounded Rectangle 19">
            <a:hlinkClick action="ppaction://hlinksldjump" r:id="rId17"/>
          </p:cNvPr>
          <p:cNvSpPr/>
          <p:nvPr/>
        </p:nvSpPr>
        <p:spPr>
          <a:xfrm>
            <a:off x="8796528" y="6035040"/>
            <a:ext cx="1188720" cy="219456"/>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a:lnSpc>
                <a:spcPct val="115000"/>
              </a:lnSpc>
              <a:spcAft>
                <a:spcPts val="0"/>
              </a:spcAft>
            </a:pPr>
            <a:r>
              <a:rPr sz="900" b="1">
                <a:solidFill>
                  <a:srgbClr val="C00000"/>
                </a:solidFill>
                <a:latin typeface="Arial"/>
                <a:ea typeface="Arial"/>
              </a:rPr>
              <a:t>Back to p.14</a:t>
            </a:r>
          </a:p>
        </p:txBody>
      </p:sp>
      <p:graphicFrame>
        <p:nvGraphicFramePr>
          <p:cNvPr id="21" name="Table 20"/>
          <p:cNvGraphicFramePr>
            <a:graphicFrameLocks noGrp="1"/>
          </p:cNvGraphicFramePr>
          <p:nvPr/>
        </p:nvGraphicFramePr>
        <p:xfrm>
          <a:off x="457200" y="932688"/>
          <a:ext cx="11274552" cy="4096512"/>
        </p:xfrm>
        <a:graphic>
          <a:graphicData uri="http://schemas.openxmlformats.org/drawingml/2006/table">
            <a:tbl>
              <a:tblPr firstRow="0" bandRow="0">
                <a:tableStyleId>{2D5ABB26-0587-4C30-8999-92F81FD0307C}</a:tableStyleId>
              </a:tblPr>
              <a:tblGrid>
                <a:gridCol w="2377440"/>
                <a:gridCol w="3931920"/>
                <a:gridCol w="4965192"/>
              </a:tblGrid>
              <a:tr h="365760">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TR requirement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What it asks for</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lIns="73152" tIns="18288" rIns="73152" bIns="18288" anchor="ctr">
                      <a:noAutofit/>
                    </a:bodyPr>
                    <a:lstStyle/>
                    <a:p>
                      <a:pPr algn="l">
                        <a:lnSpc>
                          <a:spcPct val="115000"/>
                        </a:lnSpc>
                        <a:spcAft>
                          <a:spcPts val="0"/>
                        </a:spcAft>
                      </a:pPr>
                      <a:r>
                        <a:rPr sz="950" b="1">
                          <a:solidFill>
                            <a:srgbClr val="1D1D1A"/>
                          </a:solidFill>
                          <a:latin typeface="Arial"/>
                          <a:ea typeface="Arial"/>
                        </a:rPr>
                        <a:t>How we answer it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2F2F2"/>
                    </a:solidFill>
                  </a:tcPr>
                </a:tc>
              </a:tr>
              <a:tr h="621792">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R&amp;D cooperation plan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Objectives, research directions supported, participating institutions, resources, responsibilities, schedule, indicators and acceptance criteria</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Four specialist directions: cluster build and scheduling, long stable training of large models, large-scale corpus construction, high-throughput inference optimisation; </a:t>
                      </a:r>
                      <a:r>
                        <a:rPr sz="850" b="0">
                          <a:solidFill>
                            <a:srgbClr val="0070C0"/>
                          </a:solidFill>
                          <a:latin typeface="Arial"/>
                          <a:ea typeface="Arial"/>
                        </a:rPr>
                        <a:t>written into the cooperation plan once matched to RNP's priority tasks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21792">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Interfaces, tools and materials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APIs, connectors, SDKs and toolchains, data formats and interface specs, logs, performance metrics and usage documentation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Platform interfaces, developer documentation and samples are delivered — see Appendix A4; </a:t>
                      </a:r>
                      <a:r>
                        <a:rPr sz="850" b="0">
                          <a:solidFill>
                            <a:srgbClr val="0070C0"/>
                          </a:solidFill>
                          <a:latin typeface="Arial"/>
                          <a:ea typeface="Arial"/>
                        </a:rPr>
                        <a:t>list, versions, permissions and terms of use confirmed against the research tasks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21792">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R&amp;D technical support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Support for development, adaptation, testing and optimisation across operators, libraries, runtimes, compilers and training/inference frameworks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Expert Q&amp;A, specialist walkthroughs, design review, demonstrations, shadowing and regular technical discussion; </a:t>
                      </a:r>
                      <a:r>
                        <a:rPr sz="850" b="0">
                          <a:solidFill>
                            <a:srgbClr val="0070C0"/>
                          </a:solidFill>
                          <a:latin typeface="Arial"/>
                          <a:ea typeface="Arial"/>
                        </a:rPr>
                        <a:t>in-scope support and separately agreed premium services listed apart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21792">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Practical training and knowledge transfer</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Practical training and knowledge transfer for the researchers, engineers and O&amp;M staff RNP designates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Four-stage knowledge transfer — see pages 10–11 and Appendix A8; topics in A9, learning path by role in A10</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21792">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Retained results and progress reports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A version-controlled technical repository; regular reporting of research progress</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Course materials, operating manuals and case sharing; </a:t>
                      </a:r>
                      <a:r>
                        <a:rPr sz="850" b="0">
                          <a:solidFill>
                            <a:srgbClr val="0070C0"/>
                          </a:solidFill>
                          <a:latin typeface="Arial"/>
                          <a:ea typeface="Arial"/>
                        </a:rPr>
                        <a:t>archive location and access rights for scripts, configurations, test results and progress reports confirmed before implementation</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r h="621792">
                <a:tc>
                  <a:txBody>
                    <a:bodyPr wrap="square" lIns="73152" tIns="36576" rIns="73152" bIns="36576" anchor="ctr">
                      <a:noAutofit/>
                    </a:bodyPr>
                    <a:lstStyle/>
                    <a:p>
                      <a:pPr algn="l">
                        <a:lnSpc>
                          <a:spcPct val="110000"/>
                        </a:lnSpc>
                        <a:spcAft>
                          <a:spcPts val="100"/>
                        </a:spcAft>
                      </a:pPr>
                      <a:r>
                        <a:rPr sz="850" b="1">
                          <a:solidFill>
                            <a:srgbClr val="1D1D1A"/>
                          </a:solidFill>
                          <a:latin typeface="Arial"/>
                          <a:ea typeface="Arial"/>
                        </a:rPr>
                        <a:t>Interoperability and continued use</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Interoperability and comparison of technical options; proprietary dependencies, licence limits, future cost and alternatives explained</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lIns="73152" tIns="36576" rIns="73152" bIns="36576" anchor="ctr">
                      <a:noAutofit/>
                    </a:bodyPr>
                    <a:lstStyle/>
                    <a:p>
                      <a:pPr algn="l">
                        <a:lnSpc>
                          <a:spcPct val="110000"/>
                        </a:lnSpc>
                        <a:spcAft>
                          <a:spcPts val="100"/>
                        </a:spcAft>
                      </a:pPr>
                      <a:r>
                        <a:rPr sz="850" b="0">
                          <a:solidFill>
                            <a:srgbClr val="333333"/>
                          </a:solidFill>
                          <a:latin typeface="Arial"/>
                          <a:ea typeface="Arial"/>
                        </a:rPr>
                        <a:t>See Appendix A6 on handover, licensing and operational support; </a:t>
                      </a:r>
                      <a:r>
                        <a:rPr sz="850" b="0">
                          <a:solidFill>
                            <a:srgbClr val="0070C0"/>
                          </a:solidFill>
                          <a:latin typeface="Arial"/>
                          <a:ea typeface="Arial"/>
                        </a:rPr>
                        <a:t>open scope, modification rights and terms of continued use explained component by component</a:t>
                      </a:r>
                    </a:p>
                  </a:txBody>
                  <a:tcPr anchor="ctr">
                    <a:lnL w="0">
                      <a:noFill/>
                    </a:lnL>
                    <a:lnR w="0">
                      <a:noFill/>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22" name="TextBox 21"/>
          <p:cNvSpPr txBox="1"/>
          <p:nvPr/>
        </p:nvSpPr>
        <p:spPr>
          <a:xfrm>
            <a:off x="457200" y="5120640"/>
            <a:ext cx="11274552" cy="457200"/>
          </a:xfrm>
          <a:prstGeom prst="rect">
            <a:avLst/>
          </a:prstGeom>
          <a:noFill/>
        </p:spPr>
        <p:txBody>
          <a:bodyPr wrap="square" lIns="0" tIns="0" rIns="0" bIns="0" anchor="ctr">
            <a:noAutofit/>
          </a:bodyPr>
          <a:lstStyle/>
          <a:p>
            <a:pPr algn="l">
              <a:lnSpc>
                <a:spcPct val="115000"/>
              </a:lnSpc>
              <a:spcAft>
                <a:spcPts val="0"/>
              </a:spcAft>
            </a:pPr>
            <a:r>
              <a:rPr sz="850" b="0">
                <a:solidFill>
                  <a:srgbClr val="666666"/>
                </a:solidFill>
                <a:latin typeface="Arial"/>
                <a:ea typeface="Arial"/>
              </a:rPr>
              <a:t>FP1–FP9 are RNP's research fronts (model construction, model serving, distributed execution, compiler optimisation, cluster management, data, cross-institution collaboration, performance, system security). This table shows how the contractor supports that research; it does not mean iFLYTEK covers every front alone.</a:t>
            </a:r>
          </a:p>
          <a:p>
            <a:pPr algn="l">
              <a:lnSpc>
                <a:spcPct val="115000"/>
              </a:lnSpc>
              <a:spcAft>
                <a:spcPts val="0"/>
              </a:spcAft>
            </a:pPr>
            <a:r>
              <a:rPr sz="850" b="0">
                <a:solidFill>
                  <a:srgbClr val="666666"/>
                </a:solidFill>
                <a:latin typeface="Arial"/>
                <a:ea typeface="Arial"/>
              </a:rPr>
              <a:t>These requirements address the contractor side as a whole: the base software stack is Huawei's, as shown on page 14. Basis: SOW and the R&amp;D cooperation plan confirmed before implementation.</a:t>
            </a:r>
          </a:p>
        </p:txBody>
      </p:sp>
    </p:spTree>
  </p:cSld>
  <p:clrMapOvr>
    <a:masterClrMapping/>
  </p:clrMapOvr>
</p:sld>
</file>

<file path=ppt/theme/theme1.xml><?xml version="1.0" encoding="utf-8"?>
<a:theme xmlns:a="http://schemas.openxmlformats.org/drawingml/2006/main" name="7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307</Words>
  <Application>Microsoft Office PowerPoint</Application>
  <PresentationFormat>宽屏</PresentationFormat>
  <Paragraphs>37</Paragraphs>
  <Slides>1</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vt:i4>
      </vt:variant>
    </vt:vector>
  </HeadingPairs>
  <TitlesOfParts>
    <vt:vector size="8" baseType="lpstr">
      <vt:lpstr>等线</vt:lpstr>
      <vt:lpstr>楷体</vt:lpstr>
      <vt:lpstr>Microsoft YaHei</vt:lpstr>
      <vt:lpstr>Microsoft YaHei</vt:lpstr>
      <vt:lpstr>Arial</vt:lpstr>
      <vt:lpstr>Calibri</vt:lpstr>
      <vt:lpstr>7_章节页</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Hao</dc:creator>
  <cp:lastModifiedBy>Chen Hao</cp:lastModifiedBy>
  <cp:revision>1</cp:revision>
  <dcterms:created xsi:type="dcterms:W3CDTF">2026-08-27T14:04:28Z</dcterms:created>
  <dcterms:modified xsi:type="dcterms:W3CDTF">2026-08-27T14:04:38Z</dcterms:modified>
</cp:coreProperties>
</file>