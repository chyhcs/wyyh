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147483630" r:id="rId8"/>
    <p:sldId id="2147483631" r:id="rId9"/>
    <p:sldId id="2147483632" r:id="rId10"/>
    <p:sldId id="2147483633" r:id="rId11"/>
    <p:sldId id="2147483634" r:id="rId12"/>
    <p:sldId id="2147483635" r:id="rId13"/>
    <p:sldId id="2147483636" r:id="rId14"/>
    <p:sldId id="2147483637" r:id="rId15"/>
    <p:sldId id="2147483638" r:id="rId16"/>
    <p:sldId id="2147483639" r:id="rId17"/>
    <p:sldId id="2147483640" r:id="rId18"/>
    <p:sldId id="2147483641" r:id="rId19"/>
    <p:sldId id="2147483642" r:id="rId20"/>
    <p:sldId id="2147483643" r:id="rId21"/>
    <p:sldId id="2147483644" r:id="rId22"/>
    <p:sldId id="2147483645" r:id="rId23"/>
    <p:sldId id="2147483646" r:id="rId24"/>
    <p:sldId id="2147483647" r:id="rId25"/>
    <p:sldId id="256" r:id="rId26"/>
    <p:sldId id="257" r:id="rId27"/>
    <p:sldId id="258" r:id="rId28"/>
    <p:sldId id="259" r:id="rId29"/>
    <p:sldId id="260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>
        <p:scale>
          <a:sx n="66" d="100"/>
          <a:sy n="66" d="100"/>
        </p:scale>
        <p:origin x="24" y="3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1D33DA-F32C-4BB5-A35D-C2C64315327B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A69E06-539E-443E-9D9E-DA313339D2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360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简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6894" y="145343"/>
            <a:ext cx="10440017" cy="4868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2797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lvl="0" defTabSz="913303">
              <a:spcBef>
                <a:spcPct val="0"/>
              </a:spcBef>
            </a:pPr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614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041" y="6356939"/>
            <a:ext cx="3502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6" y="6402809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1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1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85671" y="2625392"/>
            <a:ext cx="1967204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31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1186848" rtl="0" eaLnBrk="1" latinLnBrk="0" hangingPunct="1">
        <a:lnSpc>
          <a:spcPct val="90000"/>
        </a:lnSpc>
        <a:spcBef>
          <a:spcPct val="0"/>
        </a:spcBef>
        <a:buNone/>
        <a:defRPr sz="57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712" indent="-296712" algn="l" defTabSz="1186848" rtl="0" eaLnBrk="1" latinLnBrk="0" hangingPunct="1">
        <a:lnSpc>
          <a:spcPct val="90000"/>
        </a:lnSpc>
        <a:spcBef>
          <a:spcPts val="1297"/>
        </a:spcBef>
        <a:buFont typeface="Arial" panose="020B0604020202020204" pitchFamily="34" charset="0"/>
        <a:buChar char="•"/>
        <a:defRPr sz="3634" kern="1200">
          <a:solidFill>
            <a:schemeClr val="tx1"/>
          </a:solidFill>
          <a:latin typeface="+mn-lt"/>
          <a:ea typeface="+mn-ea"/>
          <a:cs typeface="+mn-cs"/>
        </a:defRPr>
      </a:lvl1pPr>
      <a:lvl2pPr marL="89013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6" kern="1200">
          <a:solidFill>
            <a:schemeClr val="tx1"/>
          </a:solidFill>
          <a:latin typeface="+mn-lt"/>
          <a:ea typeface="+mn-ea"/>
          <a:cs typeface="+mn-cs"/>
        </a:defRPr>
      </a:lvl2pPr>
      <a:lvl3pPr marL="1483560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6" kern="1200">
          <a:solidFill>
            <a:schemeClr val="tx1"/>
          </a:solidFill>
          <a:latin typeface="+mn-lt"/>
          <a:ea typeface="+mn-ea"/>
          <a:cs typeface="+mn-cs"/>
        </a:defRPr>
      </a:lvl3pPr>
      <a:lvl4pPr marL="2076986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670409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3263834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857258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450682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504410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1pPr>
      <a:lvl2pPr marL="59342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2pPr>
      <a:lvl3pPr marL="118684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3pPr>
      <a:lvl4pPr marL="1780274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37369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296712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560546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15397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474739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666666"/>
                </a:solidFill>
                <a:latin typeface="微软雅黑"/>
                <a:ea typeface="微软雅黑"/>
              </a:rPr>
              <a:t>RNP × 科大讯飞 · 技术交流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8638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>
                <a:solidFill>
                  <a:srgbClr val="C00000"/>
                </a:solidFill>
                <a:latin typeface="微软雅黑"/>
                <a:ea typeface="微软雅黑"/>
              </a:rPr>
              <a:t>国家模型、国家 AI 应用与领域模型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1D1D1A"/>
                </a:solidFill>
                <a:latin typeface="微软雅黑"/>
                <a:ea typeface="微软雅黑"/>
              </a:rPr>
              <a:t>讯飞交付什么、双方怎么分工、能力如何转移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786384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里约热内卢 · </a:t>
            </a:r>
            <a:r>
              <a:rPr sz="1300" b="0">
                <a:solidFill>
                  <a:srgbClr val="0070C0"/>
                </a:solidFill>
                <a:latin typeface="微软雅黑"/>
                <a:ea typeface="微软雅黑"/>
              </a:rPr>
              <a:t>待确认：2026 年 9 月 X 日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汇报：科大讯飞 </a:t>
            </a:r>
            <a:r>
              <a:rPr sz="1300" b="0">
                <a:solidFill>
                  <a:srgbClr val="0070C0"/>
                </a:solidFill>
                <a:latin typeface="微软雅黑"/>
                <a:ea typeface="微软雅黑"/>
              </a:rPr>
              <a:t>待确认：主讲人、方案架构师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讨论稿，内容以 SOW、BOQ 与技术方案为准；第 2 页一页看全，附录按需查阅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12080"/>
            <a:ext cx="786384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图例：</a:t>
            </a: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蓝色文字</a:t>
            </a: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 = 待确认，实施前双方共同确定的数字或范围；黑色文字 = 已写入工作范围（SOW）或讯飞技术方案的做法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版式：红底 = 讯飞主导，蓝底 = RNP 主导，灰底 = 双方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1600200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0" y="1600200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1  国家 AI 能力中心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2478024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0" y="2478024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2  巴西葡语国家模型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60" y="3355848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0" y="3355848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3  国家 AI 应用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60" y="4233672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4233672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4  领域模型 DLM ×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5111496"/>
            <a:ext cx="2651760" cy="658368"/>
          </a:xfrm>
          <a:prstGeom prst="roundRect">
            <a:avLst>
              <a:gd name="adj" fmla="val 4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5111496"/>
            <a:ext cx="265176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知识转移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一页看全：讯飞交付的四项成果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68712" y="29260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666666"/>
                </a:solidFill>
                <a:latin typeface="微软雅黑"/>
                <a:ea typeface="微软雅黑"/>
              </a:rPr>
              <a:t>详见附录 A0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四项成果都由讯飞交付，其中平台是三项成果的共用工作平台；每项一句话，细节见后面各页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2626614" cy="2286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1  国家 AI 能力中心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训练模型、开发应用的工作平台；三项成果都在其上完成，未来由 RNP 自主使用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429000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3 个中心 + 审核平台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9846" y="1737360"/>
            <a:ext cx="2626614" cy="2286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1014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2  巴西葡语国家模型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1014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文本大模型加语音识别、语音合成；讯飞训练，权重交付 RNP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1014" y="3429000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≥290B 参数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2492" y="1737360"/>
            <a:ext cx="2626614" cy="2286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59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3  国家 AI 应用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3659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面向授权用户的国民 APP 和运营平台；讯飞交付软件，RNP 负责运营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3659" y="3429000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1,000 路并发问答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05138" y="1737360"/>
            <a:ext cx="2626614" cy="2286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06306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4  领域模型 DLM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6306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3 个行业场景的模型；RNP 训练，讯飞指导，权重归 RNP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6306" y="3429000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3 项 × 1 个场景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206240"/>
            <a:ext cx="11274552" cy="56692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224528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333333"/>
                </a:solidFill>
                <a:latin typeface="微软雅黑"/>
                <a:ea typeface="微软雅黑"/>
              </a:rPr>
              <a:t>知识转移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　四阶段共 578 小时、约 74 个工作日，RNP 核心团队从跟岗到独立操作　　</a:t>
            </a:r>
            <a:r>
              <a:rPr sz="1200" b="1">
                <a:solidFill>
                  <a:srgbClr val="333333"/>
                </a:solidFill>
                <a:latin typeface="微软雅黑"/>
                <a:ea typeface="微软雅黑"/>
              </a:rPr>
              <a:t>交付后支持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　现场陪伴 12 个月 + 远程支持 60 个月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937760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术语：文本大模型（NLP）处理文字的理解与生成；语音识别（ASR）将语音转为文字；语音合成（TTS）将文字转为语音；Token 是模型计量文本的单位，约等于一个词或词的一部分；Stage 1 / Stage 2 是两批算力对应的两个建设阶段。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国家 AI 能力中心：三项成果的共用平台，也是 RNP 未来的工作平台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68712" y="29260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666666"/>
                </a:solidFill>
                <a:latin typeface="微软雅黑"/>
                <a:ea typeface="微软雅黑"/>
              </a:rPr>
              <a:t>详见附录 A1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平台软件及授权、部署配置、API 接入说明、验收报告与运维文档；验收后由 RNP 管理，讯飞现场陪伴 12 个月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27632"/>
            <a:ext cx="1127455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三项成果都在平台上完成；四个模块各对应 RNP 的一支团队，本次逐一演示，约 10 分钟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39595" y="192024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巴西葡语国家模型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31436" y="192024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国家 AI 应用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23275" y="1920240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领域模型 DLM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331720"/>
            <a:ext cx="11274552" cy="17830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404872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国家 AI 能力中心（平台）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770632"/>
            <a:ext cx="2553462" cy="12161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862072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1  语料构建中心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3227832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导入、清洗、去重、标注、质量统计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" y="3639311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RNP 数据团队与葡语专家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40430" y="2770632"/>
            <a:ext cx="2553462" cy="12161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6734" y="2862072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2  模型训练中心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6734" y="3227832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数据集管理、训练任务、资源配置、评测、发布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6734" y="3639311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RNP 模型工程师；DLM 在此自主训练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5060" y="2770632"/>
            <a:ext cx="2553462" cy="12161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1364" y="2862072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3  AI 应用创新中心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1364" y="3227832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模型服务与 API、应用配置、运营统计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1364" y="3639311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RNP 应用与运营团队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49690" y="2770632"/>
            <a:ext cx="2553462" cy="12161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5994" y="2862072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4  安全审核平台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5994" y="3227832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审核策略、敏感词库、风险样例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5994" y="3639311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RNP 审核与合规团队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297680"/>
            <a:ext cx="5500116" cy="105156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38912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754880"/>
            <a:ext cx="5042916" cy="5394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部署平台、接通接口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培训 RNP 人员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1636" y="4297680"/>
            <a:ext cx="5500116" cy="105156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0236" y="438912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0236" y="4754880"/>
            <a:ext cx="5042916" cy="5394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提供环境和接口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验收后自主管理，四个模块对应四支团队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48640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53212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本次演示的每一步，都是跟岗和实操阶段 RNP 人员要自己完成的操作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巴西葡语国家模型：讯飞训练，RNP 提供语料，权重交付 RNP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948672" y="292608"/>
            <a:ext cx="17830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666666"/>
                </a:solidFill>
                <a:latin typeface="微软雅黑"/>
                <a:ea typeface="微软雅黑"/>
              </a:rPr>
              <a:t>详见附录 A2 · A3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文本大模型（≥290B 参数）、语音识别、语音合成各 1 个；权重、版本清单、模型卡、评测报告和部署说明交付 RNP</a:t>
            </a:r>
          </a:p>
        </p:txBody>
      </p:sp>
      <p:sp>
        <p:nvSpPr>
          <p:cNvPr id="5" name="Rectangle 4"/>
          <p:cNvSpPr/>
          <p:nvPr/>
        </p:nvSpPr>
        <p:spPr>
          <a:xfrm>
            <a:off x="7982712" y="1682496"/>
            <a:ext cx="201168" cy="146304"/>
          </a:xfrm>
          <a:prstGeom prst="rect">
            <a:avLst/>
          </a:prstGeom>
          <a:solidFill>
            <a:srgbClr val="FBE5E9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3874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讯飞主导</a:t>
            </a:r>
          </a:p>
        </p:txBody>
      </p:sp>
      <p:sp>
        <p:nvSpPr>
          <p:cNvPr id="7" name="Rectangle 6"/>
          <p:cNvSpPr/>
          <p:nvPr/>
        </p:nvSpPr>
        <p:spPr>
          <a:xfrm>
            <a:off x="9217152" y="1682496"/>
            <a:ext cx="201168" cy="146304"/>
          </a:xfrm>
          <a:prstGeom prst="rect">
            <a:avLst/>
          </a:prstGeom>
          <a:solidFill>
            <a:srgbClr val="E8F0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7318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RNP 主导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451592" y="1682496"/>
            <a:ext cx="201168" cy="14630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0762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双方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20240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48256"/>
            <a:ext cx="2281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1  语料准备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87168"/>
            <a:ext cx="228142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RNP 生产葡语语料；讯飞提供规范、工具、试批和抽样质检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22676" y="2121408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32988" y="1920240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5868" y="2048256"/>
            <a:ext cx="2281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2  模型训练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5868" y="2487168"/>
            <a:ext cx="228142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在讯飞已有的基础模型上，用葡语语料继续训练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98464" y="2121408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08776" y="1920240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6" y="2048256"/>
            <a:ext cx="2281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3  评测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2487168"/>
            <a:ext cx="228142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测试集与通过规则双方确定；讯飞出评测报告，RNP 专家评审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874252" y="2121408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84564" y="1920240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67444" y="2048256"/>
            <a:ext cx="2281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4  本地交付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7444" y="2487168"/>
            <a:ext cx="228142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部署在巴西环境，交付权重；12 个月内文本模型升级 3 次、语音各 1 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520440"/>
            <a:ext cx="5500116" cy="132588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61188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977639"/>
            <a:ext cx="5042916" cy="8138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训练、评测、交付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交付后 12 个月持续优化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1636" y="3520440"/>
            <a:ext cx="5500116" cy="13258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0236" y="361188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0236" y="3977639"/>
            <a:ext cx="5042916" cy="8138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生产葡语语料并取得授权，约 500 亿 Token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专家参与评测评审；组织验收与发布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07492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12064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第一阶段工作量最大的是语料；数据团队和葡语专家需最早到位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国家 AI 应用：讯飞交付软件，RNP 负责内容、用户与运营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68712" y="29260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666666"/>
                </a:solidFill>
                <a:latin typeface="微软雅黑"/>
                <a:ea typeface="微软雅黑"/>
              </a:rPr>
              <a:t>详见附录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国民 APP（手机、电脑多终端）和数据运营平台，面向 RNP 批准的用户；提供问答、检索、文档阅读、语音对话、写作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7982712" y="1682496"/>
            <a:ext cx="201168" cy="146304"/>
          </a:xfrm>
          <a:prstGeom prst="rect">
            <a:avLst/>
          </a:prstGeom>
          <a:solidFill>
            <a:srgbClr val="FBE5E9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3874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讯飞主导</a:t>
            </a:r>
          </a:p>
        </p:txBody>
      </p:sp>
      <p:sp>
        <p:nvSpPr>
          <p:cNvPr id="7" name="Rectangle 6"/>
          <p:cNvSpPr/>
          <p:nvPr/>
        </p:nvSpPr>
        <p:spPr>
          <a:xfrm>
            <a:off x="9217152" y="1682496"/>
            <a:ext cx="201168" cy="146304"/>
          </a:xfrm>
          <a:prstGeom prst="rect">
            <a:avLst/>
          </a:prstGeom>
          <a:solidFill>
            <a:srgbClr val="E8F0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7318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RNP 主导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451592" y="1682496"/>
            <a:ext cx="201168" cy="14630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0762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双方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20240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48256"/>
            <a:ext cx="2281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1  明确需求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87168"/>
            <a:ext cx="228142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功能、用户范围、内容规则双方共同确定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22676" y="2121408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32988" y="1920240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5868" y="2048256"/>
            <a:ext cx="2281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2  本地化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5868" y="2487168"/>
            <a:ext cx="228142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葡语界面，采用 RNP 的品牌和内容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98464" y="2121408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08776" y="1920240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6" y="2048256"/>
            <a:ext cx="2281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3  系统集成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2487168"/>
            <a:ext cx="228142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RNP 提供本地系统接口、账号凭证与搜索等第三方服务，讯飞完成集成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874252" y="2121408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84564" y="1920240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67444" y="2048256"/>
            <a:ext cx="2281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4  上线运营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7444" y="2487168"/>
            <a:ext cx="228142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Stage 1 初步交付，Stage 2 扩展运行；之后由 RNP 运营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520440"/>
            <a:ext cx="5500116" cy="132588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61188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977639"/>
            <a:ext cx="5042916" cy="8138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交付应用软件；接通接口、配置平台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APP 演示已在第 3 页平台演示中安排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1636" y="3520440"/>
            <a:ext cx="5500116" cy="13258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0236" y="361188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0236" y="3977639"/>
            <a:ext cx="5042916" cy="8138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提供内容、品牌、本地系统接口与搜索等第三方服务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审批用户；上线后由产品、运营和审核团队承接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07492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12064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容量按 1,000 路并发问答配置并实测；上线后的运营团队要在 Stage 1 交付前到位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领域模型 DLM：RNP 训练，讯飞指导；3 项服务，每项 1 个场景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68712" y="29260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666666"/>
                </a:solidFill>
                <a:latin typeface="微软雅黑"/>
                <a:ea typeface="微软雅黑"/>
              </a:rPr>
              <a:t>详见附录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3 项行业模型辅助训练服务，每项 1 个固定场景；讯飞交付可行性分析、方案、指导记录和分析报告，模型权重由 RNP 训练产生、归 RNP</a:t>
            </a:r>
          </a:p>
        </p:txBody>
      </p:sp>
      <p:sp>
        <p:nvSpPr>
          <p:cNvPr id="5" name="Rectangle 4"/>
          <p:cNvSpPr/>
          <p:nvPr/>
        </p:nvSpPr>
        <p:spPr>
          <a:xfrm>
            <a:off x="7982712" y="1682496"/>
            <a:ext cx="201168" cy="146304"/>
          </a:xfrm>
          <a:prstGeom prst="rect">
            <a:avLst/>
          </a:prstGeom>
          <a:solidFill>
            <a:srgbClr val="FBE5E9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3874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讯飞主导</a:t>
            </a:r>
          </a:p>
        </p:txBody>
      </p:sp>
      <p:sp>
        <p:nvSpPr>
          <p:cNvPr id="7" name="Rectangle 6"/>
          <p:cNvSpPr/>
          <p:nvPr/>
        </p:nvSpPr>
        <p:spPr>
          <a:xfrm>
            <a:off x="9217152" y="1682496"/>
            <a:ext cx="201168" cy="146304"/>
          </a:xfrm>
          <a:prstGeom prst="rect">
            <a:avLst/>
          </a:prstGeom>
          <a:solidFill>
            <a:srgbClr val="E8F0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7318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RNP 主导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451592" y="1682496"/>
            <a:ext cx="201168" cy="14630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0762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双方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20240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48256"/>
            <a:ext cx="2281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1  确定场景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87168"/>
            <a:ext cx="228142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明确用户、输入输出和边界，签署确认书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22676" y="2121408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32988" y="1920240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5868" y="2048256"/>
            <a:ext cx="2281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2  准备数据与路线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5868" y="2487168"/>
            <a:ext cx="228142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RNP 准备训练、验证与独立评测数据和环境；训练路线双方共同确定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998464" y="2121408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08776" y="1920240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6" y="2048256"/>
            <a:ext cx="2281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3  训练与评测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2487168"/>
            <a:ext cx="228142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RNP 在训练中心训练；讯飞给参数建议、看训练日志、协助分析问题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874252" y="2121408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84564" y="1920240"/>
            <a:ext cx="2647188" cy="13716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67444" y="2048256"/>
            <a:ext cx="228142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4  服务验收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7444" y="2487168"/>
            <a:ext cx="2281428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基于 RNP 的实际结果完成分析，核对指导记录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520440"/>
            <a:ext cx="5500116" cy="132588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61188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977639"/>
            <a:ext cx="5042916" cy="8138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可行性分析与技术方案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过程指导：参数建议、训练日志、问题分析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1636" y="3520440"/>
            <a:ext cx="5500116" cy="13258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0236" y="3611880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0236" y="3977639"/>
            <a:ext cx="5042916" cy="8138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提出场景，准备数据、环境与领域专家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执行训练、评测与业务验收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07492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12064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这是 RNP 首次独立训练模型，需要自己的算法工程师和领域专家；跟岗和指导实操正是为此设计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实施路径：两个 Stage、五个步骤、三方分工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五个步骤按条件推进：华为出算力，讯飞出软件和模型，RNP 出数据和运营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1127455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节点下方为各步骤的完成标志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199" y="1691640"/>
            <a:ext cx="5911595" cy="2743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59" y="169164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Stage 1 · 基础部署、模型建设与 APP 初交付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0155" y="2011680"/>
            <a:ext cx="5911596" cy="274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57315" y="201168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Stage 2 · 第二批算力就绪后扩展运行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2999232"/>
            <a:ext cx="9628632" cy="4572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8992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235915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平台与语料准备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3310127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平台验收，语料试批合格</a:t>
            </a:r>
          </a:p>
        </p:txBody>
      </p:sp>
      <p:sp>
        <p:nvSpPr>
          <p:cNvPr id="13" name="Oval 12"/>
          <p:cNvSpPr/>
          <p:nvPr/>
        </p:nvSpPr>
        <p:spPr>
          <a:xfrm>
            <a:off x="3486149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35758" y="235915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模型训练与评测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35758" y="3310127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文本与语音模型评测通过</a:t>
            </a:r>
          </a:p>
        </p:txBody>
      </p:sp>
      <p:sp>
        <p:nvSpPr>
          <p:cNvPr id="16" name="Oval 15"/>
          <p:cNvSpPr/>
          <p:nvPr/>
        </p:nvSpPr>
        <p:spPr>
          <a:xfrm>
            <a:off x="5893307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2915" y="235915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应用与 DLM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2915" y="3310127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APP Stage 1 交付；DLM 确认书签署</a:t>
            </a:r>
          </a:p>
        </p:txBody>
      </p:sp>
      <p:sp>
        <p:nvSpPr>
          <p:cNvPr id="19" name="Oval 18"/>
          <p:cNvSpPr/>
          <p:nvPr/>
        </p:nvSpPr>
        <p:spPr>
          <a:xfrm>
            <a:off x="8300465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0073" y="235915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验收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0073" y="3310127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分项验收报告签署</a:t>
            </a:r>
          </a:p>
        </p:txBody>
      </p:sp>
      <p:sp>
        <p:nvSpPr>
          <p:cNvPr id="22" name="Oval 21"/>
          <p:cNvSpPr/>
          <p:nvPr/>
        </p:nvSpPr>
        <p:spPr>
          <a:xfrm>
            <a:off x="10707624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57232" y="235915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移交与支持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57232" y="3310127"/>
            <a:ext cx="21031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移交确认签署，进入陪伴运维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80160" y="4114800"/>
            <a:ext cx="9628632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80160" y="4178808"/>
            <a:ext cx="962863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C00000"/>
                </a:solidFill>
                <a:latin typeface="微软雅黑"/>
                <a:ea typeface="微软雅黑"/>
              </a:rPr>
              <a:t>知识转移四阶段贯穿全程；正式移交在陪伴运维结束前至少 3 个月启动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572000"/>
            <a:ext cx="3575304" cy="658368"/>
          </a:xfrm>
          <a:prstGeom prst="roundRect">
            <a:avLst>
              <a:gd name="adj" fmla="val 4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745736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华为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626864"/>
            <a:ext cx="24780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算力、机房、网络与基础环境，由 RNP 协调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4572000"/>
            <a:ext cx="3575304" cy="65836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07992" y="4745736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21224" y="4626864"/>
            <a:ext cx="24780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平台、模型、应用、知识转移与支持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56448" y="4572000"/>
            <a:ext cx="3575304" cy="65836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57616" y="4745736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70848" y="4626864"/>
            <a:ext cx="24780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语料与授权、DLM 训练、验收与日常运营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39496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44068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各步骤月份实施前双方确定，T0 为第一批算力就绪；RNP 据此编制人力计划，三批到位顺序见下页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RNP 的投入：SOW 规定的职责与三批到位的人员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68712" y="29260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666666"/>
                </a:solidFill>
                <a:latin typeface="微软雅黑"/>
                <a:ea typeface="微软雅黑"/>
              </a:rPr>
              <a:t>详见附录 A7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SOW 规定由 RNP 承担：生产葡语语料并取得授权；自主训练和评测 DLM；审批用户并运营 APP；协调华为算力和环境，组织验收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575304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311810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第 1 批 · 第 1 步起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070C0"/>
                </a:solidFill>
                <a:latin typeface="微软雅黑"/>
                <a:ea typeface="微软雅黑"/>
              </a:rPr>
              <a:t>约 53 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8036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人员：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数据团队、葡语专家、合规审核、项目统筹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83280"/>
            <a:ext cx="3118104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任务：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采集、标注、质检语料并取得授权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69080" y="269748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06824" y="1828800"/>
            <a:ext cx="3575304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1965960"/>
            <a:ext cx="311810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第 2 批 · 第 2 步起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233172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070C0"/>
                </a:solidFill>
                <a:latin typeface="微软雅黑"/>
                <a:ea typeface="微软雅黑"/>
              </a:rPr>
              <a:t>约 25 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88036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人员：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算法与测试工程师、业务领域专家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3383280"/>
            <a:ext cx="3118104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任务：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参与国家模型训练评测，随后自主训练 DLM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918704" y="269748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56448" y="1828800"/>
            <a:ext cx="3575304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1965960"/>
            <a:ext cx="311810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第 3 批 · 第 3 步起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233172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070C0"/>
                </a:solidFill>
                <a:latin typeface="微软雅黑"/>
                <a:ea typeface="微软雅黑"/>
              </a:rPr>
              <a:t>约 33 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288036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人员：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应用开发与运营、平台运维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3383280"/>
            <a:ext cx="3118104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任务：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承接 APP 运营、用户审批与平台运维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114800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人数为参考量级，来自讯飞早期估算，各职能峰值可跨活动复用，不是同时在岗人数；最终按 SOW 分工与工作量确认。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709160"/>
            <a:ext cx="11274552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7548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首批组建数据团队与葡语专家，其次配置算法工程师，应用运营团队第三批到位；知识转移的 30 名核心学员从三批人员中指定，名额另计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知识转移的四个阶段：578 小时、约 74 个工作日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68712" y="292608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666666"/>
                </a:solidFill>
                <a:latin typeface="微软雅黑"/>
                <a:ea typeface="微软雅黑"/>
              </a:rPr>
              <a:t>详见附录 A8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一支核心团队，移交后能独立完成约定的平台运维、训练提交、模型部署与发布；30 人建立基础，10 人深入到独立操作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7982712" y="1682496"/>
            <a:ext cx="201168" cy="146304"/>
          </a:xfrm>
          <a:prstGeom prst="rect">
            <a:avLst/>
          </a:prstGeom>
          <a:solidFill>
            <a:srgbClr val="FBE5E9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3874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讯飞主导</a:t>
            </a:r>
          </a:p>
        </p:txBody>
      </p:sp>
      <p:sp>
        <p:nvSpPr>
          <p:cNvPr id="7" name="Rectangle 6"/>
          <p:cNvSpPr/>
          <p:nvPr/>
        </p:nvSpPr>
        <p:spPr>
          <a:xfrm>
            <a:off x="9217152" y="1682496"/>
            <a:ext cx="201168" cy="146304"/>
          </a:xfrm>
          <a:prstGeom prst="rect">
            <a:avLst/>
          </a:prstGeom>
          <a:solidFill>
            <a:srgbClr val="E8F0FA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7318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RNP 主导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451592" y="1682496"/>
            <a:ext cx="201168" cy="146304"/>
          </a:xfrm>
          <a:prstGeom prst="rect">
            <a:avLst/>
          </a:prstGeom>
          <a:solidFill>
            <a:srgbClr val="F2F2F2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07624" y="1627632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双方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20240"/>
            <a:ext cx="2647188" cy="201168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02996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1  奠基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30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小时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1635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约 5 个工作日 · 30 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127248"/>
            <a:ext cx="2281428" cy="7589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大模型基础、项目架构、语料到服务全流程、安全与运维基础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2988" y="1920240"/>
            <a:ext cx="2647188" cy="201168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15868" y="202996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2  跟岗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5868" y="237744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360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小时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15868" y="281635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约 45 个工作日 · 10 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15868" y="3127248"/>
            <a:ext cx="2281428" cy="7589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讯飞操作，RNP 观察协助：数据集、训练任务、评测、发布、基础运维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1920240"/>
            <a:ext cx="2647188" cy="20116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1656" y="202996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3  指导实操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6" y="237744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20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小时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281635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约 3 个工作日 · 10 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656" y="3127248"/>
            <a:ext cx="2281428" cy="7589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RNP 操作：数据处理、训练提交、模型部署、监控与故障处理；双方签实操记录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84564" y="1920240"/>
            <a:ext cx="2647188" cy="20116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67444" y="202996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4  正式移交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67444" y="237744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168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小时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67444" y="281635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约 21 个工作日 · 10 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7444" y="3127248"/>
            <a:ext cx="2281428" cy="7589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移交资产、许可、配置、接口文档与运行手册；验证独立操作，双方签确认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160520"/>
            <a:ext cx="5500116" cy="109728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251959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617720"/>
            <a:ext cx="5042916" cy="5852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由参与本项目交付的讯飞工程师带教，检查关键步骤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移交材料与独立操作验证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1636" y="4160520"/>
            <a:ext cx="5500116" cy="10972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60236" y="4251959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0236" y="4617720"/>
            <a:ext cx="5042916" cy="5852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指定稳定、具备基础的学员，阶段学员可重合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安排时间，参与真实交付任务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539496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44068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74 个工作日是培训活动天数，分散在实施期内，不是连续工期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知识转移：RNP 学到什么、获得什么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628632" y="292608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666666"/>
                </a:solidFill>
                <a:latin typeface="微软雅黑"/>
                <a:ea typeface="微软雅黑"/>
              </a:rPr>
              <a:t>详见附录 A9 · A10 · A6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12 项课程主题归为 4 个方向，讲师是参与本项目交付的讯飞工程师与方案架构师，研讨在交付的平台和模型上进行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5454396" cy="2286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4905756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学到什么：4 个方向，学完能做什么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04288"/>
            <a:ext cx="4905756" cy="1645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5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模型与数据评测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：能比较训练路线、检查数据质量、按约定基线评测模型</a:t>
            </a:r>
          </a:p>
          <a:p>
            <a:pPr algn="l" marL="164592" indent="-164592">
              <a:lnSpc>
                <a:spcPct val="115000"/>
              </a:lnSpc>
              <a:spcAft>
                <a:spcPts val="5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软件栈与生命周期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：能规划环境、管理依赖与版本、定位故障</a:t>
            </a:r>
          </a:p>
          <a:p>
            <a:pPr algn="l" marL="164592" indent="-164592">
              <a:lnSpc>
                <a:spcPct val="115000"/>
              </a:lnSpc>
              <a:spcAft>
                <a:spcPts val="5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规模化训练与推理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：能定位算力瓶颈，在效果、时延、吞吐与成本间权衡</a:t>
            </a:r>
          </a:p>
          <a:p>
            <a:pPr algn="l" marL="164592" indent="-164592">
              <a:lnSpc>
                <a:spcPct val="115000"/>
              </a:lnSpc>
              <a:spcAft>
                <a:spcPts val="5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检索、智能体与安全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：能设计带来源核验和风险控制的知识服务与研究助手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7356" y="1737360"/>
            <a:ext cx="5454396" cy="2286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51676" y="1874519"/>
            <a:ext cx="4905756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获得什么：权重、平台、文档、支持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1676" y="2304288"/>
            <a:ext cx="4905756" cy="1645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5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模型权重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，DLM 权重归 RNP</a:t>
            </a:r>
          </a:p>
          <a:p>
            <a:pPr algn="l" marL="164592" indent="-164592">
              <a:lnSpc>
                <a:spcPct val="115000"/>
              </a:lnSpc>
              <a:spcAft>
                <a:spcPts val="5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平台软件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和定制代码</a:t>
            </a:r>
          </a:p>
          <a:p>
            <a:pPr algn="l" marL="164592" indent="-164592">
              <a:lnSpc>
                <a:spcPct val="115000"/>
              </a:lnSpc>
              <a:spcAft>
                <a:spcPts val="5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全部文档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，英语或葡语</a:t>
            </a:r>
          </a:p>
          <a:p>
            <a:pPr algn="l" marL="164592" indent="-164592">
              <a:lnSpc>
                <a:spcPct val="115000"/>
              </a:lnSpc>
              <a:spcAft>
                <a:spcPts val="5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支持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：现场 12 个月 + 远程 60 个月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06240"/>
            <a:ext cx="5500116" cy="105156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297679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663440"/>
            <a:ext cx="5042916" cy="5394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按批准的课程计划授课，使用批准的样本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研讨、带教与移交材料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4206240"/>
            <a:ext cx="5500116" cy="105156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0236" y="4297679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0236" y="4663440"/>
            <a:ext cx="5042916" cy="5394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指定核心学员，安排参加研讨与实操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按六类岗位的学习任务组织本方人员，见附录 A10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44068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48640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研讨课程在批准的课程计划内；</a:t>
            </a:r>
            <a:r>
              <a:rPr sz="1250" b="0">
                <a:solidFill>
                  <a:srgbClr val="0070C0"/>
                </a:solidFill>
                <a:latin typeface="微软雅黑"/>
                <a:ea typeface="微软雅黑"/>
              </a:rPr>
              <a:t>赴华参访、专家交流、战略圆桌为建议增加，另行约定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本次需确认：范围边界与六项事项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验收按 SOW、BOQ、功能清单与批准方案执行；新增需求按书面变更处理。会中记录结论，会后形成双方行动清单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3575304" cy="13716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SOW 已列基线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12264"/>
            <a:ext cx="3209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平台、国家模型、AI 应用、安全产品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3 项 DLM 辅助训练；2 项推理适配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四阶段知识转移；12 + 60 个月支持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06824" y="1691640"/>
            <a:ext cx="357530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9704" y="17830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范围外 · 另行约定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9704" y="2112264"/>
            <a:ext cx="3209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新增模型、场景、终端、接口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额外语言、学员批次、专题培训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8C8C8C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扩容、续期、第三方许可费用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56448" y="1691640"/>
            <a:ext cx="3575304" cy="137160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9327" y="17830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RNP 承担与前置条件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7" y="2112264"/>
            <a:ext cx="3209544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数据、授权、专家、环境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接口与第三方 API 条件</a:t>
            </a:r>
          </a:p>
          <a:p>
            <a:pPr algn="l" marL="164592" indent="-164592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Char char="•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DLM 训练、验收、用户与运营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0040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六项确认事项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52044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6118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1  资产、交付与许可矩阵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92277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6052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确定版本、数量、权利与费用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06824" y="352044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9704" y="36118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2  模型与容量验收规则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9704" y="392277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9704" y="416052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确定测试集、通过规则与负载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56448" y="352044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7" y="361188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3  三项 DLM 场景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392277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416052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逐项确定场景、数据、路线，签署确认书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70916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80060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4  资源与实施计划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11149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/ 华为 + 讯飞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34924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确定两批环境到位时间与里程碑月份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470916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9704" y="480060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5  培训与移交计划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9704" y="511149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9704" y="534924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确定课时、学员名单、语言与日程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56448" y="4709160"/>
            <a:ext cx="3575304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9327" y="4800600"/>
            <a:ext cx="320954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6  SOW 待对齐条款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9327" y="5111496"/>
            <a:ext cx="320954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+ 讯飞 + 华为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9327" y="5349240"/>
            <a:ext cx="3209544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0070C0"/>
                </a:solidFill>
                <a:latin typeface="微软雅黑"/>
                <a:ea typeface="微软雅黑"/>
              </a:rPr>
              <a:t>待确认：是否本次讨论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附录：技术口径明细，按需查阅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05840"/>
            <a:ext cx="3840480" cy="46177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33832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表格“口径”列的三种标记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3383280" cy="3840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SOW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：已写入工作范围的内容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方案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：讯飞技术方案的做法，SOW 未逐条规定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1">
                <a:solidFill>
                  <a:srgbClr val="0070C0"/>
                </a:solidFill>
                <a:latin typeface="微软雅黑"/>
                <a:ea typeface="微软雅黑"/>
              </a:rPr>
              <a:t>待确认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：实施前双方共同确定的数字或范围，蓝字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附录每页右上角标注了这页回答的问题。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会后可整理为技术口径文档提供 RNP。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0" y="1005840"/>
          <a:ext cx="7159752" cy="459028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640080"/>
                <a:gridCol w="3931920"/>
                <a:gridCol w="258775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页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回答的问题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38404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A0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总览表：四项成果、怎么建、谁来做、关键数字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能否提供一页总览？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A1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能力中心：容量与验收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平台容量多大、如何验收？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A2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国家模型：规格与升级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模型多大、之后如何升级？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A3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语料：规模、质量与数据控制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语料需要多少、谁提供、存放在哪？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A4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国家 AI 应用：服务、容量与接口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APP 谁能用、能接入什么？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A5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DLM：范围、投入与服务验收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DLM 由谁做、做到哪一步？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A6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交接、许可与运营支持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是否会被锁定、后续有哪些费用？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A7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人员配置明细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每类人员多少、何时到位？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A8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知识转移：四阶段明细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每个阶段做什么、多少天、如何签认？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A9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知识转移：课程主题与交流形式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具体学什么、有哪些形式？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A10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知识转移：岗位学习路径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每类岗位学什么？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A0 · 总览表：四项成果，怎么建、谁来做、关键数字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问：能否提供一页总览？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60120"/>
          <a:ext cx="11274552" cy="367588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00200"/>
                <a:gridCol w="3246120"/>
                <a:gridCol w="2148840"/>
                <a:gridCol w="2286000"/>
                <a:gridCol w="1993392"/>
              </a:tblGrid>
              <a:tr h="384048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成果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RNP 获得什么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讯飞负责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RNP 负责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关键数字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00000"/>
                      </a:solidFill>
                      <a:prstDash val="solid"/>
                    </a:lnL>
                    <a:lnR w="6350" cap="flat" cmpd="sng" algn="ctr">
                      <a:solidFill>
                        <a:srgbClr val="C00000"/>
                      </a:solidFill>
                      <a:prstDash val="solid"/>
                    </a:lnR>
                    <a:lnT w="6350" cap="flat" cmpd="sng" algn="ctr">
                      <a:solidFill>
                        <a:srgbClr val="C00000"/>
                      </a:solidFill>
                      <a:prstDash val="solid"/>
                    </a:lnT>
                    <a:lnB w="6350" cap="flat" cmpd="sng" algn="ctr">
                      <a:solidFill>
                        <a:srgbClr val="C00000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82296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国家 AI 能力中心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（平台）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语料构建、模型训练、应用创新三个中心和一个安全审核平台；三项成果都在其上完成，未来由 RNP 自主使用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软件实施、测试与培训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基础环境、接口协调，验收后日常运营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个中心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 个安全审核平台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巴西葡语国家模型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 个 NLP 基础模型、1 个 ASR 模型、1 个 TTS 模型（男/女各 1 套发音人）；交付权重、模型卡、评测报告与部署说明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训练、技术评测与交付；交付后 12 个月持续优化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语料生产与授权、专家评审、验收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总参数 ≥290B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本地语料 50B Token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国家 AI 应用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国民 APP 多终端软件与数据运营平台，面向 RNP 批准的授权用户；问答、检索、文档、语音与写作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应用交付、接口联调、平台配置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内容、品牌、接口；用户审批与日常运营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1,000 路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ASR / TTS 各 200 路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安全审核 400 路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领域模型 DLM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项辅助训练服务，每项 1 个固定场景；模型由 RNP 训练，权重归 RNP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方案、过程指导、结果分析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数据、环境、执行训练与评测、业务验收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项服务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每项 1 个场景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754880"/>
            <a:ext cx="11274552" cy="47548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837176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知识转移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4809744"/>
            <a:ext cx="94914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四阶段共 578 小时、约 74 个工作日：奠基 30、跟岗 360、指导实操 20、正式移交 168 小时；核心学员 30 / 10 / 10 / 10 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340096"/>
            <a:ext cx="11274552" cy="47548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422392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交付后支持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5394959"/>
            <a:ext cx="94914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现场陪伴运维 12 个月（5×8）+ 远程技术支持 60 个月（7×24），首 12 个月重合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97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范围以 SOW 与 BOQ 为准；容量按服务分别验证。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 · 国家 AI 能力中心：容量与验收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问：平台容量多大、如何验收？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274552" cy="36576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28800"/>
                <a:gridCol w="8138160"/>
                <a:gridCol w="13075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口径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5486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软件组成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语料构建、模型训练、应用创新三个中心及安全审核平台；配套租户、资源、队列和监控管理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资源纳管授权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平台可纳管的加速卡授权上限 1,024 张；硬件数量以华为资源方案为准，扩容按 BOQ 确认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推理服务并发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1,000 路、ASR 200 路、TTS 200 路、安全审核 400 路；按服务分别配置与实测，不相加为总并发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容量测试条件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实施前确认硬件、模型版本、输入 / 输出长度、音频时长、请求分布、测试工具与通过规则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网络安全产品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 台堡垒机、1 台日志审计、1 台数据库审计、1 台漏洞扫描、2 台 WAF 及对应授权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验收方式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核对 BOQ 与授权；验证部署、功能、容量、安全与许可；提交测试记录并整改阻断问题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93776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并发是按服务配置并实测的授权容量基线，不是同时峰值；1,024 张是平台纳管授权上限，不是本期硬件数量。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A2 · 巴西葡语国家模型：规格与升级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问：模型多大、之后如何升级？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28800"/>
                <a:gridCol w="8138160"/>
                <a:gridCol w="13075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口径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模型规模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 个，总参数 ≥290B；ASR 1 个，亿级参数；TTS 1 个，男 / 女各 1 套发音人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基座与权利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交付基础模型实际权重及本地运行配套产物；基础权重与训练后权重分别标识，开放对象按资产与许可矩阵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基座名称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待确认：SOW 是否指明基座为讯飞星火基础模型；未指明则按“讯飞基础模型”表述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待确认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建设期训练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按批准的模型技术方案执行；技术路线、次数、初始交付时间与里程碑实施前书面确认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持续优化期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NLP、ASR、TTS 与安全审核平台全部初验后连续 12 个月；正式升级 NLP 3 次、ASR 1 次、TTS 1 次、安全平台 1 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优化数据上限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 个月累计：NLP 文本 ≤10B Token、监督 ≤2 万条、安全对齐 ≤5 千条、ASR ≤1 千小时、TTS ≤10 小时；安全样例、词库、快修另有上限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导出与移植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按已验证的模型、格式、框架与目标环境实施；受模型架构、算子和许可限制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效果升级以 12 个月内约定次数为限，NLP 每次最多 3 项主要优化目标；建设期版本和缺陷整改不计入次数。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A3 · 巴西葡语语料：规模、质量与数据控制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问：语料需要多少、谁提供、存放在哪？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28800"/>
                <a:gridCol w="8138160"/>
                <a:gridCol w="13075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内容（规模为最低参考量）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口径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无监督文本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50B Token，按批准 Tokenizer 统计有效数据，去重并剔除不合格内容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监督与安全数据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监督调优 20 万条；安全与价值观 2 万条，按完整有效样本计量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语音数据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ASR 1 万小时有效音频（含合格转写）；TTS 10 万条及不少于 100 小时高质量录音，配套发音词典与样本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分工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组织数据取得、授权和全量生产；讯飞提供平台、规范、试批指导及抽样质检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质量规则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批量生产前确认计量、抽样、质量阈值、批次与复验规则；不合格数据不计入有效规模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数据控制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项目数据存储于 RNP 指定的巴西环境，按权限与审计管理；数据权利与使用范围遵循原始许可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通用语料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待确认：讯飞通用语料的投入方式与规模（5/8 答复曾写 300B 以上）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待确认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语料验收按有效数据定义与批准方案计量；模型效果按 A2 的评测规则另行验证。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A4 · 国家 AI 应用：服务、容量与接口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问：APP 谁能用、能接入什么？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28800"/>
                <a:gridCol w="8138160"/>
                <a:gridCol w="13075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口径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服务对象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批准的特定授权用户；用户、租户、功能和终端范围实施前确认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交付形态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国民 APP 多终端软件及数据运营平台；Web 端和纳入 BOQ 的客户端按指定浏览器 / 操作系统验证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核心功能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问答、检索、文档分析、研究辅助、语音输入与朗读、笔记、写作及已验证的办公功能；葡语 PPT 生成与本地公文模板待适配验证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服务并发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1,000 路、ASR 200 路、TTS 200 路、安全审核 400 路，按服务分别配置与实测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模型接入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接入模型按确认的型号、版本、规模、精度、框架与硬件组合验证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程序化访问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约定的 HTTP/HTTPS、REST、JSON、WebSocket 或等效接口；提供开发者文档及确认语言的示例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外部依赖与不含项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搜索和第三方 API 的额度、许可及费用由 RNP 或相应责任方落实；独立语音翻译不在当前功能清单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并发按服务单独实测；容量测试前确认硬件、模型版本、输入输出长度、请求分布与测试工具。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A5 · 领域模型 DLM：范围、投入与服务验收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问：DLM 由谁做、做到哪一步？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28800"/>
                <a:gridCol w="8138160"/>
                <a:gridCol w="13075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口径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数量与范围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 DLM 辅助训练技术服务；每项 1 个边界清晰的固定场景，领域由 RNP 提出、讯飞评估可行性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基础模型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双方确认的既有基座；版本、规模、许可与工具链先核实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数据要求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提供合法、足量、有代表性的训练、验证、安全及独立评测数据；规模按专项方案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训练路线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每项确认 1 条主要路线，LoRA-SFT、SFT、GRPO 等按可行性选定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实施模式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执行训练与评测；讯飞按约定工作量提供指导、分析与优化建议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权利与边界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模型权重由 RNP 训练产生并归 RNP；讯飞交付方案、指导记录与分析报告；生产部署、API 开发与应用集成可另行约定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启动确认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逐项签署《DLM 场景及技术方案确认书》，明确周期、工作量、交付形式与通过规则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服务验收核对方案、指导活动和基于 RNP 实际结果的分析；模型效果目标与讯飞服务验收分开。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A6 · 交接、许可与运营支持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问：是否会被锁定、后续有哪些费用？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28800"/>
                <a:gridCol w="8138160"/>
                <a:gridCol w="13075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口径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模型权利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基础权重、训练后权重及 DLM 产物分别列明交付与许可；权重交付不含背景知识产权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平台与定制代码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平台软件按 BOQ 与许可使用；定制开发部分按清单交付源码与修改权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永久使用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标注永久使用的版本付清后永久有效，服务期结束不失效；维护、支持与升级按各自服务约定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导出与第三方适配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按许可与技术可行性导出迁移，格式、框架与目标环境逐项确认；BOQ 列明 2 项第三方模型推理适配服务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现场与远程支持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现场陪伴运维 12 个月（5×8）；远程技术支持 60 个月（7×24，L3/L4）；首 12 个月重合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首次响应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P1 ≤30 分钟；P2 ≤60 分钟；P3 ≤2 小时；P4 ≤下 1 个工作日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后续费用与文档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已列支持按 BOQ 执行；扩容、续期、第三方许可与范围外工作按明确条件另行确认；文档采用英语或巴西葡语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SOW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响应时间是首次响应，不是恢复时限；远程支持后四年不含固定驻场。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A7 · RNP 人员配置明细：按职能归组、分三批到位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问：每类人员多少、何时到位？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274552" cy="373075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920240"/>
                <a:gridCol w="3291840"/>
                <a:gridCol w="2651760"/>
                <a:gridCol w="1828800"/>
                <a:gridCol w="15819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角色分组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职能构成（参考名额）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主要职责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到位批次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参考名额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项目与产品统筹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项目经理 2、产品经理 4、PMO / 数据中心专家 3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统筹需求、排期、资源和交付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9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语料生产与数据资源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资源技术 6、数据质检 6、数据标注 20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组织数据、标注及质量检查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32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葡语语言专家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语言专家 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确认葡语质量、标注及语音规范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合规与审核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审核专家 2、法律专家 2、审核负责人 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审核内容、安全及法律合规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业务与领域专家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业务需求 3、领域需求 2、领域专家 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确认业务场景与领域效果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2 批 · 第 2 步起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模型与测试工程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算法工程师 12、测试工程师 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模型训练、评测及技术验证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2 批 · 第 2 步起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18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应用开发与运营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软件开发 15、运营工程师 10、架构师 2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应用架构、开发集成及运营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3 批 · 第 3 步起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27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平台运维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O&amp;M 工程师 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运行管理、部署及问题升级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3 批 · 第 3 步起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937760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三批小计：第 1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53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、第 2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25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、第 3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33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，合计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111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 为各职能峰值之和，可跨活动复用，不是同时在岗人数。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参考名额来自讯飞早期按全流程交付模式的非约束估算；本 SOW 下 RNP 承担全量数据生产、DLM 训练与日常运营，人数按实际分工复核。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A8 · 知识转移：四阶段明细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问：每个阶段做什么、多少天、如何签认？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274552" cy="37490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25880"/>
                <a:gridCol w="3931920"/>
                <a:gridCol w="1417320"/>
                <a:gridCol w="1417320"/>
                <a:gridCol w="1143000"/>
                <a:gridCol w="20391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学习目标与范围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讯飞与 RNP 角色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课时 / 工作日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核心学员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完成依据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7315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奠基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（AI 基础）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建立对机器学习、深度学习、自然语言处理和大模型的共同理解；覆盖语料准备、训练、评测、模型服务、应用创新、能力中心架构与运维基础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讯飞授课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30 小时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5 个工作日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达到阶段要求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（目标 ≥80%）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跟岗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（讯飞操作）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在交付平台上观察并协助讯飞工程师完成数据集管理、训练任务、资源配置、模型评测、发布、服务与基础运维；内容跟随实际交付与运营任务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讯飞操作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观察协助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360 小时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45 个工作日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通过实操考核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（目标 ≥70%）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指导实操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（RNP 操作）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执行预先约定的任务：平台操作、数据处理、训练任务提交、模型部署、监控、告警与故障分级；讯飞指导并检查关键步骤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操作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讯飞指导检查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20 小时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3 个工作日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双方签署实操记录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（目标 ≥50% 达标）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正式移交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（运营责任）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 SOW、BOQ 和最终验收清单实际交付的平台、许可资产、配置、权限和文档进行移交带教；验证 RNP 独立完成约定任务；确认遗留项与支持安排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独立操作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讯飞验证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168 小时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21 个工作日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双方签署移交确认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课时跨主题只计一次；阶段日期按批准的知识转移计划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578 小时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74 个工作日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30/10/10/10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937760"/>
            <a:ext cx="1127455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74 个工作日是培训活动天数之和，不是连续工期；百分比是合格核心学员的培养目标，不是验收阈值；正式移交至少在一年陪伴运维结束前 3 个月启动，不等于 168 小时从该时点开始。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学员安排不要求从 30 人中固定选出 10 人或各阶段同一批人，由 RNP 指定稳定且具备基础的学员；口径：SOW。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A9 · 知识转移：课程主题与交流形式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问：具体学什么、有哪些形式？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四个方向 · 12 项 SOW 课程主题的分组，不增加课时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03504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模型与数据评测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模型架构与训练路线：继续预训练、SFT、LoRA、偏好对齐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葡语数据：来源、质量、血缘、隐私与生命周期治理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评测：回归、鲁棒性、偏见、安全、幻觉与文化适配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目标：比较训练路线、检查数据质量、按约定基线评测模型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2988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79292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5052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软件栈与生命周期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9292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软件层次与依赖；版本与兼容管理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MLOps / LLMOps：实验跟踪、发布、监控与回滚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软硬件与算法协同：负载与资源瓶颈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9292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目标：理解依赖关系、生命周期运维和交付平台的能力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55080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规模化训练与推理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资源配置与检查点恢复；数据、张量、流水线与序列并行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模型服务、批处理、KV 缓存；吞吐、时延与容量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量化、剪枝、蒸馏；压缩与能效分析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目标：定位瓶颈，在效果、时延、吞吐与资源成本间权衡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84564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30868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96628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检索、智能体与安全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0868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RAG 与图检索；混合检索与重排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智能体：工具、规划、记忆与多智能体协作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系统与模型安全：提示词、内容审核、供应链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0868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目标：设计带来源核验和风险控制的知识服务与研究助手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56616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四种交流形式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高级 AI 研讨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98548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1D1D1A"/>
                </a:solidFill>
                <a:latin typeface="微软雅黑"/>
                <a:ea typeface="微软雅黑"/>
              </a:rPr>
              <a:t>计划内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按批准的课程计划，在交付平台和模型上进行；内容与深度随课程计划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32988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9292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中国 AI 考察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74336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070C0"/>
                </a:solidFill>
                <a:latin typeface="微软雅黑"/>
                <a:ea typeface="微软雅黑"/>
              </a:rPr>
              <a:t>建议增加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9292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拟访问讯飞团队与相关算力设施；行程、时长、语言和费用另行约定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08776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一对一专家交流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50124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070C0"/>
                </a:solidFill>
                <a:latin typeface="微软雅黑"/>
                <a:ea typeface="微软雅黑"/>
              </a:rPr>
              <a:t>建议增加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针对 RNP 工程师提出的问题做设计评审；范围与时长事先约定，不含长期顾问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84564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30868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AI 战略圆桌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725912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070C0"/>
                </a:solidFill>
                <a:latin typeface="微软雅黑"/>
                <a:ea typeface="微软雅黑"/>
              </a:rPr>
              <a:t>建议增加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0868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RNP 领导与讯飞架构师讨论模型路线、技术选型与能力规划；参与人与时间事先约定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212080"/>
            <a:ext cx="11274552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方向与主题对应：方向 1 = SOW 主题 1、7、8；方向 2 = 2、10、11；方向 3 = 3、4、9；方向 4 = 5、6、12。讲授方法不等于所有交付模型都支持该方法，也不包含新增优化任务；口径：SOW，交流形式中三项为建议。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A10 · 知识转移：岗位学习路径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问：每类岗位学什么？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51560"/>
          <a:ext cx="11274552" cy="35478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45920"/>
                <a:gridCol w="1417320"/>
                <a:gridCol w="3108960"/>
                <a:gridCol w="3108960"/>
                <a:gridCol w="19933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角色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培训阶段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参与任务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讯飞支持方式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完成依据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语料采集团队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奠基、跟岗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熟悉数据来源、授权、规范及平台处理流程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教材、工具说明、代表性样例与处理指导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课程、跟岗及问题记录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语言与标注专家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奠基、跟岗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理解标注、语言质量、安全标签及语音规范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规范讲解、样例分析、质量检查方法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约定练习及规则确认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模型工程师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提交训练任务、查看日志与评测，理解模型发布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任务配置、日志分析、评测及发布指导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约定实操结果与指导记录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应用人员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掌握应用配置、用户权限、接口调用与运营统计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应用平台、API 及运营功能使用指导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约定功能及调用演练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运维工程师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指导实操、移交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承接监控、事件、变更、常见故障与支持升级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运行资料、代表性操作与自主验证带教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自主操作及移交确认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行业专家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理解场景、数据及模型效果评估方法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评测方法、报告解读及内容边界说明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参与记录和约定评测练习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754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待确认：四阶段与实施五个步骤的对应关系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；岗位分配和练习由批准的知识转移计划明确；专项 DLM 指导与实施培训不重复计入。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7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</Words>
  <Application>Microsoft Office PowerPoint</Application>
  <PresentationFormat>宽屏</PresentationFormat>
  <Paragraphs>37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楷体</vt:lpstr>
      <vt:lpstr>Microsoft YaHei</vt:lpstr>
      <vt:lpstr>Microsoft YaHei</vt:lpstr>
      <vt:lpstr>Arial</vt:lpstr>
      <vt:lpstr>Calibri</vt:lpstr>
      <vt:lpstr>7_章节页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 Hao</dc:creator>
  <cp:lastModifiedBy>Chen Hao</cp:lastModifiedBy>
  <cp:revision>1</cp:revision>
  <dcterms:created xsi:type="dcterms:W3CDTF">2026-08-27T14:04:28Z</dcterms:created>
  <dcterms:modified xsi:type="dcterms:W3CDTF">2026-08-27T14:04:38Z</dcterms:modified>
</cp:coreProperties>
</file>