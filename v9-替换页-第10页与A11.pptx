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f" ContentType="image/tif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147483630" r:id="rId8"/>
    <p:sldId id="2147483631" r:id="rId9"/>
    <p:sldId id="2147483632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>
        <p:scale>
          <a:sx n="66" d="100"/>
          <a:sy n="66" d="100"/>
        </p:scale>
        <p:origin x="24" y="3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1D33DA-F32C-4BB5-A35D-C2C64315327B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A69E06-539E-443E-9D9E-DA313339D2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7360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简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76894" y="145343"/>
            <a:ext cx="10440017" cy="48684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2797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lvl="0" defTabSz="913303">
              <a:spcBef>
                <a:spcPct val="0"/>
              </a:spcBef>
            </a:pPr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86144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tif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041" y="6356939"/>
            <a:ext cx="35025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0" kern="1200" baseline="0" dirty="0">
                <a:solidFill>
                  <a:srgbClr val="1D1D1B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Huawei Proprietary - Restricted Distribution</a:t>
            </a:r>
            <a:endParaRPr lang="en-US" sz="900" b="0" kern="1200" baseline="0" dirty="0">
              <a:solidFill>
                <a:srgbClr val="1D1D1B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3846" y="6402809"/>
            <a:ext cx="49953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1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13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85671" y="2625392"/>
            <a:ext cx="1967204" cy="4233515"/>
            <a:chOff x="5343885" y="-48857"/>
            <a:chExt cx="3271316" cy="7037279"/>
          </a:xfrm>
        </p:grpSpPr>
        <p:sp>
          <p:nvSpPr>
            <p:cNvPr id="89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90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92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93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94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95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6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97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99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100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101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102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103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104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105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106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107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108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109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0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111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112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113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114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115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116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117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8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119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120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190/233/238</a:t>
              </a:r>
            </a:p>
          </p:txBody>
        </p:sp>
        <p:sp>
          <p:nvSpPr>
            <p:cNvPr id="121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122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123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0/0/0</a:t>
              </a:r>
            </a:p>
          </p:txBody>
        </p:sp>
        <p:sp>
          <p:nvSpPr>
            <p:cNvPr id="124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125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126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127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128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92D9040A-3082-2F49-987E-B51574332EF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2194" y="6323416"/>
            <a:ext cx="1270304" cy="27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31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1186848" rtl="0" eaLnBrk="1" latinLnBrk="0" hangingPunct="1">
        <a:lnSpc>
          <a:spcPct val="90000"/>
        </a:lnSpc>
        <a:spcBef>
          <a:spcPct val="0"/>
        </a:spcBef>
        <a:buNone/>
        <a:defRPr sz="571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712" indent="-296712" algn="l" defTabSz="1186848" rtl="0" eaLnBrk="1" latinLnBrk="0" hangingPunct="1">
        <a:lnSpc>
          <a:spcPct val="90000"/>
        </a:lnSpc>
        <a:spcBef>
          <a:spcPts val="1297"/>
        </a:spcBef>
        <a:buFont typeface="Arial" panose="020B0604020202020204" pitchFamily="34" charset="0"/>
        <a:buChar char="•"/>
        <a:defRPr sz="3634" kern="1200">
          <a:solidFill>
            <a:schemeClr val="tx1"/>
          </a:solidFill>
          <a:latin typeface="+mn-lt"/>
          <a:ea typeface="+mn-ea"/>
          <a:cs typeface="+mn-cs"/>
        </a:defRPr>
      </a:lvl1pPr>
      <a:lvl2pPr marL="890137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6" kern="1200">
          <a:solidFill>
            <a:schemeClr val="tx1"/>
          </a:solidFill>
          <a:latin typeface="+mn-lt"/>
          <a:ea typeface="+mn-ea"/>
          <a:cs typeface="+mn-cs"/>
        </a:defRPr>
      </a:lvl2pPr>
      <a:lvl3pPr marL="1483560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6" kern="1200">
          <a:solidFill>
            <a:schemeClr val="tx1"/>
          </a:solidFill>
          <a:latin typeface="+mn-lt"/>
          <a:ea typeface="+mn-ea"/>
          <a:cs typeface="+mn-cs"/>
        </a:defRPr>
      </a:lvl3pPr>
      <a:lvl4pPr marL="2076986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4pPr>
      <a:lvl5pPr marL="2670409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5pPr>
      <a:lvl6pPr marL="3263834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6pPr>
      <a:lvl7pPr marL="3857258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7pPr>
      <a:lvl8pPr marL="4450682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8pPr>
      <a:lvl9pPr marL="5044107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1pPr>
      <a:lvl2pPr marL="593425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2pPr>
      <a:lvl3pPr marL="1186848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3pPr>
      <a:lvl4pPr marL="1780274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4pPr>
      <a:lvl5pPr marL="2373698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5pPr>
      <a:lvl6pPr marL="2967122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6pPr>
      <a:lvl7pPr marL="3560546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7pPr>
      <a:lvl8pPr marL="4153972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8pPr>
      <a:lvl9pPr marL="4747395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知识转移：RNP 学到什么、获得什么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56648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69096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81544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12 项课程主题归为 4 个方向，讲师是参与本项目交付的讯飞工程师与方案架构师，研讨在交付的平台和模型上进行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737360"/>
            <a:ext cx="6539240" cy="269748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47088"/>
            <a:ext cx="5990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学到什么：三个层次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240280"/>
            <a:ext cx="5990600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276856"/>
            <a:ext cx="434468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1  基础课 · 奠基阶段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3360" y="2295144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微软雅黑"/>
                <a:ea typeface="微软雅黑"/>
              </a:rPr>
              <a:t>计划内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551176"/>
            <a:ext cx="57162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大模型基础、项目架构、语料到服务全流程、安全与运维基础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953512"/>
            <a:ext cx="5990600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990088"/>
            <a:ext cx="434468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2  12 门专题课 · 4 个方向的高级研讨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3360" y="3008376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微软雅黑"/>
                <a:ea typeface="微软雅黑"/>
              </a:rPr>
              <a:t>计划内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264408"/>
            <a:ext cx="57162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模型与数据评测 · 软件栈与生命周期 · 规模化训练与推理 · 检索、智能体与安全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666744"/>
            <a:ext cx="5990600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703320"/>
            <a:ext cx="434468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3  高端知识转移 · 怎么把这套系统做出来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3360" y="3721607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0070C0"/>
                </a:solidFill>
                <a:latin typeface="微软雅黑"/>
                <a:ea typeface="微软雅黑"/>
              </a:rPr>
              <a:t>建议 · 另行约定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977639"/>
            <a:ext cx="57162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集群调度、模型训练、语料、推理四个方向；定制课程、专家交流、访问学者计划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70760" y="1737360"/>
            <a:ext cx="4460991" cy="269748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45080" y="1847088"/>
            <a:ext cx="3912351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获得什么：权重、平台、文档、支持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5080" y="2286000"/>
            <a:ext cx="3912351" cy="2057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6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模型权重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，DLM 权重归 RNP</a:t>
            </a:r>
          </a:p>
          <a:p>
            <a:pPr algn="l" marL="164592" indent="-164592">
              <a:lnSpc>
                <a:spcPct val="115000"/>
              </a:lnSpc>
              <a:spcAft>
                <a:spcPts val="6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平台软件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和定制代码</a:t>
            </a:r>
          </a:p>
          <a:p>
            <a:pPr algn="l" marL="164592" indent="-164592">
              <a:lnSpc>
                <a:spcPct val="115000"/>
              </a:lnSpc>
              <a:spcAft>
                <a:spcPts val="6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全部文档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，英语或葡语</a:t>
            </a:r>
          </a:p>
          <a:p>
            <a:pPr algn="l" marL="164592" indent="-164592">
              <a:lnSpc>
                <a:spcPct val="115000"/>
              </a:lnSpc>
              <a:spcAft>
                <a:spcPts val="6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支持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：现场 12 个月 + 远程 60 个月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617720"/>
            <a:ext cx="5500116" cy="96012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709159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</a:rPr>
              <a:t>讯飞负责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074920"/>
            <a:ext cx="5042916" cy="4480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按批准的课程计划授课，使用批准的样本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研讨、带教与移交材料；高端课程按需另行安排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31636" y="4617720"/>
            <a:ext cx="5500116" cy="96012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60236" y="4709159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RNP 怎么参与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60236" y="5074920"/>
            <a:ext cx="5042916" cy="4480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指定核心学员，安排参加研讨与实操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按六类岗位的学习任务组织本方人员，见附录 A10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742432"/>
            <a:ext cx="11274552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5788152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基础课与专题课在批准的课程计划内；</a:t>
            </a:r>
            <a:r>
              <a:rPr sz="1250" b="0">
                <a:solidFill>
                  <a:srgbClr val="0070C0"/>
                </a:solidFill>
                <a:latin typeface="微软雅黑"/>
                <a:ea typeface="微软雅黑"/>
              </a:rPr>
              <a:t>高端课程、专家交流与访问学者计划为建议项，另行约定，见附录 A11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A11 · 高端知识转移：可选菜单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问：能否学到这套系统是怎么做出来的？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14032" y="2743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112745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面向 RNP 核心研发人员与高校课题组；内容可从架构与原理讲到工程经验与源码实践；均不在本项目范围与报价内，范围、课时、人数、形式与费用另行约定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81328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四个方向 · 每个方向约 5 课时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10512"/>
            <a:ext cx="2647188" cy="16916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38528"/>
            <a:ext cx="2281428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1  千 P 以上集群的算力调度与管理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60320"/>
            <a:ext cx="2281428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集群构建与管理、算力调度核心技术解析与方法实践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172968"/>
            <a:ext cx="2281428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建议 · 另行报价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2988" y="1810512"/>
            <a:ext cx="2647188" cy="16916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15868" y="1938528"/>
            <a:ext cx="2281428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2  百 B 参数以上模型的长期稳定训练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5868" y="2560320"/>
            <a:ext cx="2281428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大规模训练的稳定性保障与优化经验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15868" y="3172968"/>
            <a:ext cx="2281428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建议 · 另行报价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1810512"/>
            <a:ext cx="2647188" cy="16916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91656" y="1938528"/>
            <a:ext cx="2281428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3  TB 级语料的构建与处理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1656" y="2560320"/>
            <a:ext cx="2281428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大规模语料的采集、清洗、处理方法与流水线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1656" y="3172968"/>
            <a:ext cx="2281428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建议 · 另行报价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84564" y="1810512"/>
            <a:ext cx="2647188" cy="16916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67444" y="1938528"/>
            <a:ext cx="2281428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4  日产万亿 Token 的推理服务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67444" y="2560320"/>
            <a:ext cx="2281428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Token 网关与路由分发、低时延推理的极致性能优化与稳定性保障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67444" y="3172968"/>
            <a:ext cx="2281428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建议 · 另行报价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657600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三种补充形式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986784"/>
            <a:ext cx="3575304" cy="12344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096512"/>
            <a:ext cx="320954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定制课程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443984"/>
            <a:ext cx="3209544" cy="7040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按 RNP 提出的主题定制，例如模型迁移、平台架构设计与实现原理、在华为算力上的训练适配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06824" y="3986784"/>
            <a:ext cx="3575304" cy="12344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89704" y="4096512"/>
            <a:ext cx="320954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一对一专家交流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9704" y="4443984"/>
            <a:ext cx="3209544" cy="7040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针对 RNP 工程师提出的具体问题做设计评审与咨询，按时长约定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56448" y="3986784"/>
            <a:ext cx="3575304" cy="123444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39327" y="4096512"/>
            <a:ext cx="320954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F4E79"/>
                </a:solidFill>
                <a:latin typeface="微软雅黑"/>
                <a:ea typeface="微软雅黑"/>
              </a:rPr>
              <a:t>访问学者计划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39327" y="4443984"/>
            <a:ext cx="3209544" cy="7040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0070C0"/>
                </a:solidFill>
                <a:latin typeface="微软雅黑"/>
                <a:ea typeface="微软雅黑"/>
              </a:rPr>
              <a:t>拟议：5 到 10 名 RNP 研究人员或在读博士到讯飞参与前沿模型研发，一期约半年；讯飞不收取费用，人选需面试，差旅自理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394960"/>
            <a:ext cx="112745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以上与基础知识转移（四阶段 578 课时）分开，不在当前 SOW 与报价范围内；具体范围、日程与费用另行约定。口径：方案与建议，非承诺。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附录：12 个问题，按 RNP 的顺序讨论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主汇报讲完后从这页开始；每个问题对应一页附录，点击进入，页面右上角可返回本页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455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附录表格“口径”列：SOW = 已写入工作范围　·　方案 = 讯飞技术方案的做法　·　</a:t>
            </a: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待确认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 = 实施前双方共同确定，蓝字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57400"/>
            <a:ext cx="3575304" cy="8412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148840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能否提供一页总览？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14600"/>
            <a:ext cx="320954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总览表：四项成果、怎么建、谁来做、关键数字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06824" y="2057400"/>
            <a:ext cx="3575304" cy="8412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9704" y="2148840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84064" y="2148840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平台容量多大、如何验收？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9704" y="2514600"/>
            <a:ext cx="320954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能力中心：容量与验收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56448" y="2057400"/>
            <a:ext cx="3575304" cy="8412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9327" y="2148840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33688" y="2148840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模型多大、之后如何升级？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7" y="2514600"/>
            <a:ext cx="320954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国家模型：规格与升级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063240"/>
            <a:ext cx="3575304" cy="8412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154680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154680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语料需要多少、谁提供、存放在哪？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520440"/>
            <a:ext cx="320954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语料：规模、质量与数据控制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06824" y="3063240"/>
            <a:ext cx="3575304" cy="8412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9704" y="3154680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84064" y="3154680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APP 谁能用、能接入什么？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9704" y="3520440"/>
            <a:ext cx="320954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国家 AI 应用：服务、容量与接口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56448" y="3063240"/>
            <a:ext cx="3575304" cy="8412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39327" y="3154680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33688" y="3154680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DLM 由谁做、做到哪一步？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9327" y="3520440"/>
            <a:ext cx="320954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DLM：范围、投入与服务验收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069080"/>
            <a:ext cx="3575304" cy="8412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160520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4440" y="4160520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是否会被锁定、后续有哪些费用？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526280"/>
            <a:ext cx="320954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交接、许可与运营支持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06824" y="4069080"/>
            <a:ext cx="3575304" cy="8412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89704" y="4160520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84064" y="4160520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每类人员多少、何时到位？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9704" y="4526280"/>
            <a:ext cx="320954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RNP 人员配置明细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56448" y="4069080"/>
            <a:ext cx="3575304" cy="8412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39327" y="4160520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33688" y="4160520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每个阶段做什么、多少天、如何签认？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39327" y="4526280"/>
            <a:ext cx="320954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知识转移：四阶段明细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5074920"/>
            <a:ext cx="3575304" cy="8412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5166360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34440" y="5166360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具体学什么、有哪些形式？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5532120"/>
            <a:ext cx="320954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知识转移：课程主题与交流形式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306824" y="5074920"/>
            <a:ext cx="3575304" cy="8412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89704" y="5166360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84064" y="5166360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每类岗位学什么？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89704" y="5532120"/>
            <a:ext cx="320954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知识转移：岗位学习路径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156448" y="5074920"/>
            <a:ext cx="3575304" cy="8412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39327" y="5166360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33688" y="5166360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能否学到这套系统是怎么做出来的？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39327" y="5532120"/>
            <a:ext cx="320954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高端知识转移：可选菜单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7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C34AD67-7538-4717-9A73-50191031DBF3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307</Words>
  <Application>Microsoft Office PowerPoint</Application>
  <PresentationFormat>宽屏</PresentationFormat>
  <Paragraphs>37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楷体</vt:lpstr>
      <vt:lpstr>Microsoft YaHei</vt:lpstr>
      <vt:lpstr>Microsoft YaHei</vt:lpstr>
      <vt:lpstr>Arial</vt:lpstr>
      <vt:lpstr>Calibri</vt:lpstr>
      <vt:lpstr>7_章节页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Chen Hao</dc:creator>
  <cp:lastModifiedBy>Chen Hao</cp:lastModifiedBy>
  <cp:revision>1</cp:revision>
  <dcterms:created xsi:type="dcterms:W3CDTF">2026-08-27T14:04:28Z</dcterms:created>
  <dcterms:modified xsi:type="dcterms:W3CDTF">2026-08-27T14:04:38Z</dcterms:modified>
</cp:coreProperties>
</file>