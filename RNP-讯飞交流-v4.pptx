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页一页看全，附录按需翻阅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7863840" cy="8686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75895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图例：</a:t>
            </a: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= 待确认，开工前双方一起定的数字或范围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黑色文字 = 已写入工作范围（SOW）或讯飞技术方案的做法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1792224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1600200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国家 AI 能力中心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0" y="2670048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2478024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3547872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3355848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440" y="4425696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4233672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领域模型 DLM ×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一页看全：讯飞交四样东西，每样一句话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国家 AI 能力中心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训练模型、做应用的工作台；三项成果都在上面做，以后你们自己用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+ 1 个审核平台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9846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41014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8213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文本大模型加语音识别、语音合成；讯飞训练，权重交给你们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59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0859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和运营平台；讯飞交软件，你们运营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3659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5138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6306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3506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6306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个行业场景的模型；你们训练，讯飞指导，权重归你们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6306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8620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8678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941063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四阶段共 578 小时，你们的人从跟岗到独立操作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2628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2686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581144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现场陪伴 12 个月 + 远程支持 60 个月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266944"/>
            <a:ext cx="108173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今天用到的术语：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文本大模型（NLP）负责读写文字；语音识别（ASR）把话变成字；语音合成（TTS）把字变成话；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Token 是模型计量文本的单位，约等于一个词或词的一部分；Stage 1 / Stage 2 是两批算力对应的两个建设阶段。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四样东西的完整表格见附录 A0，可单独带回去。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能力中心：三项成果都在这个平台上做，以后你们也在这里做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064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你们拿到什么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一套软件平台，连同授权和文档；验收后由你们管理，讯飞现场陪伴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四个模块，各对应你们的一支团队，今天逐个演示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29968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语料构建中心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把葡语文本整理成能训练的语料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108960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你们的数据团队与葡语专家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2029968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9292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3339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模型训练中心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292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训练模型、看结果、发布版本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9292" y="3108960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你们的模型工程师；DLM 在这里自训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029968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AI 应用创新中心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把模型接进 APP 和其他系统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08960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你们的应用与运营团队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4564" y="2029968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0868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4916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0868" y="2633472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拦住不该出现的内容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0868" y="3108960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你们的审核与合规团队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05656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788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07992"/>
            <a:ext cx="504291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培训你们的人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105656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1788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507992"/>
            <a:ext cx="504291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验收后自己管理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37667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26694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今天演示的每一步，都是跟岗和实操阶段你们的人要自己做的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演示约 10 分钟；平台容量与验收见附录 A1。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巴西葡语国家模型：讯飞训练，你们出语料，权重交给你们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你们拿到什么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文本大模型（≥290B 参数）、语音识别、语音合成各 1 个；权重、模型卡和部署说明都交给你们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语料准备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你们生产葡语语料，讯飞给规范和工具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模型训练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讯飞在训练中心训练；路线开工前一起定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讯飞出评测结果，你们的专家评审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本地交付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部署在巴西环境，交付权重；之后 12 个月持续优化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训练、评测、交付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葡语语料与授权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专家评审、验收与发布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7667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26694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第一阶段最重的活是语料，约 500 亿 Token 的葡语文本；数据团队和葡语专家要最早到位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436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模型规格与升级次数见附录 A2；语料的各项数量见附录 A3。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应用：讯飞交软件，你们定内容、审用户、做运营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你们拿到什么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国民 APP（手机、电脑多终端）和数据运营平台，面向 RNP 批准的用户；能问答、检索、读文档、语音对话、写作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定需求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功能、用户范围、内容规则一起定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本地化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葡语界面，用你们的品牌和内容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系统集成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你们给接口，讯飞在应用中心接通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上线运营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Stage 1 先上，Stage 2 扩大；之后你们运营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交付应用软件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接通接口、配置平台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内容、品牌与接口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审批用户、日常运营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7667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26694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容量按 1,000 路并发问答配置并实测；上线后需要你们的产品、运营和审核团队接手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436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APP 演示已在第 3 页平台演示中安排；服务、容量与接口见附录 A4。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DLM：你们训练，讯飞指导；3 项服务，每项 1 个场景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你们拿到什么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个固定场景；讯飞交方案、指导记录和分析报告，模型权重由你们训练产生、归你们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定用户、输入输出和边界，签一份确认书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备数据与路线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你们备数据和环境；训练路线一起定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训练与评测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你们在训练中心训练，讯飞全程指导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服务验收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70048"/>
            <a:ext cx="23545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按你们的实际结果做分析，核对指导记录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可行性分析与方案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过程指导与结果分析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877056"/>
            <a:ext cx="5500116" cy="11430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39502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279392"/>
            <a:ext cx="504291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场景、数据与环境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执行训练、评测与验收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7667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26694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这是你们第一次独立训模型，需要自己的算法工程师和领域专家；跟岗和指导实操就是为这一步设计的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436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范围、投入与服务验收见附录 A5。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Stage、五步走，三方各管什么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4356201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408188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9433" y="960120"/>
            <a:ext cx="6662318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06593" y="960120"/>
            <a:ext cx="63879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9362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部署平台，开始做语料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4716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63316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5479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6468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476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训练国家模型并评测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0476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0833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9433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11596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2585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6593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APP 上线，DLM 自训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6593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1 → 2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46950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75550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17712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702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710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分项、分阶段验收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2710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每个 Stage 末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53067" y="219456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1667" y="1463040"/>
            <a:ext cx="2050084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23829" y="1609344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4819" y="2029968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8827" y="2395728"/>
            <a:ext cx="17757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移交资产，进入支持期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8827" y="2761488"/>
            <a:ext cx="17757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2 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3375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三方各管什么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648456"/>
            <a:ext cx="3575304" cy="7315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85876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721608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算力、机房、网络与基础环境（RNP 协调）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3648456"/>
            <a:ext cx="3575304" cy="7315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385876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21224" y="3721608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3648456"/>
            <a:ext cx="3575304" cy="7315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57616" y="385876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0848" y="3721608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语料、DLM 训练、验收与日常运营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57200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67258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4626864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四阶段贯穿五步；正式移交在陪伴运维结束前至少 3 个月启动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21208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31266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交接与运营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5266944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现场陪伴 12 个月 + 远程支持 60 个月；移交后你们主导运营，讯飞远程支持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85216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T0 = 第一批算力就绪；各步月份开工前一起定，你们据此排人力计划。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需要投入什么：SOW 规定你们做的事，和三批要到位的人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3291840" cy="3246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SOW 规定由 RNP 承担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2889504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</a:t>
            </a:r>
          </a:p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自己训练和评测 DLM</a:t>
            </a:r>
          </a:p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审批用户，运营 APP</a:t>
            </a:r>
          </a:p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协调华为算力和环境，组织验收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59" y="960120"/>
          <a:ext cx="7708392" cy="32369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2926080"/>
                <a:gridCol w="2286000"/>
                <a:gridCol w="112471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批次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为什么这时候要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参考人数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95097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1 批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数据团队、葡语专家、合规审核、项目统筹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语料是第一阶段最重的活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约 53 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2 批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算法与测试工程师、业务领域专家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跟着训国家模型，之后自己训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约 25 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3 批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应用开发与运营、平台运维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接手 APP 运营和平台管理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约 33 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43484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599431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对你们意味着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489703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先招数据团队和葡语专家，再配算法工程师，应用运营团队第三批到位；培训学员名额另计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八类岗位明细见附录 A7。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知识转移：你们学到什么、最后手里有什么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454396" cy="324612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61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能力层 · 学到什么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18488"/>
            <a:ext cx="49057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B7A1A"/>
                </a:solidFill>
                <a:latin typeface="微软雅黑"/>
                <a:ea typeface="微软雅黑"/>
              </a:rPr>
              <a:t>从跟岗到独立操作，共 578 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05756" cy="20116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奠基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：30 人一起打基础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跟岗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：10 人跟着讯飞做真实任务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指导实操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：10 人自己做，讯飞在旁边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正式移交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：验证能独立完成，双方签认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7356" y="960120"/>
            <a:ext cx="5454396" cy="32461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51676" y="118872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D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资产层 · 手里有什么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6" y="1618488"/>
            <a:ext cx="49057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35400"/>
                </a:solidFill>
                <a:latin typeface="微软雅黑"/>
                <a:ea typeface="微软雅黑"/>
              </a:rPr>
              <a:t>权重、平台、文档、支持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6" y="2103120"/>
            <a:ext cx="4905756" cy="20116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，DLM 权重归你们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8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55371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对你们的 Capacity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443983"/>
            <a:ext cx="843991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30 人起步、10 人深入；六类岗位各有学习任务，见附录 A8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正式移交在陪伴运维结束前至少 3 个月启动。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拟议赴华参访与专家交流另行约定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分阶段课时见附录 A8；许可与支持条件见附录 A6。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本次需确认：范围三栏和六件事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3575304" cy="146304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B7A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074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960120"/>
            <a:ext cx="3575304" cy="146304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1416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B35400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416" y="138074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960120"/>
            <a:ext cx="3575304" cy="1463040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38074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651760"/>
          <a:ext cx="11274552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2194560"/>
                <a:gridCol w="578815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确认事项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谁来定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下一步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1. 资产、交付与许可矩阵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定版本、数量、权利与费用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2. 模型与容量验收规则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定测试集、通过规则与负载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3. 三项 DLM 场景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逐项定场景、数据、路线，签确认书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4. 资源与实施计划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/ 华为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定两批环境到位时间与里程碑月份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5. 培训与移交计划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定课时、学员名单、语言与日程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6. SOW 待对齐条款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 + 华为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待确认：是否本次讨论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7150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会中记录结论，会后形成双方行动清单；新增需求按书面变更处理。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附录：技术口径明细，被问到再翻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840480" cy="4480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表格“口径”列的三种标记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38328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SOW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：已写入工作范围的内容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方案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：讯飞技术方案的做法，SOW 未逐条规定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待确认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：开工前双方一起定的数字或范围，蓝字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附录每页右上角写着“被问到什么时翻这页”。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会后可整理为技术口径文档提供 RNP。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005840"/>
          <a:ext cx="7159752" cy="4480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3931920"/>
                <a:gridCol w="258775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被问到什么时翻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总览表：四项成果、怎么建、谁来做、关键数字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能不能给我们一页带回去？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能力中心：容量与验收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平台多大、怎么验收？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国家模型：规格与升级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模型多大、之后怎么升级？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语料：规模、质量与数据控制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语料要多少、谁出、放在哪？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应用：服务、容量与接口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APP 谁能用、能接什么？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DLM：范围、投入与服务验收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 到底谁做、做到哪一步？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交接、许可与运营支持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以后会不会被锁定、要花什么钱？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人员配置明细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每类人具体几个、什么时候要？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知识转移：课时与学习路径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我们的人具体学什么、学多久？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总览表：四项成果，怎么建、谁来做、关键数字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问：能不能给我们一页带回去？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你们拿到什么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讯飞做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RNP 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语料构建、模型训练、应用创新三个中心和一个安全审核平台；三项成果都在上面做，以后你们也在上面做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个固定场景；模型由你们训练，权重归你们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5488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3717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0974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四阶段共 578 小时：奠基 30、跟岗 360、指导实操 20、正式移交 168 小时；核心学员 30 / 10 / 10 / 10 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4009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42239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394959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问：平台多大、怎么验收？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开工前确认硬件、模型版本、输入 / 输出长度、音频时长、请求分布、测试工具与通过规则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问：模型多大、之后怎么升级？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按批准的模型技术方案执行；技术路线、次数、初始交付时间与里程碑开工前书面确认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问：语料要多少、谁出、放在哪？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通用语料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待确认：讯飞通用语料的投入方式与规模（5/8 答复曾写 300B 以上）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谁能用、能接什么？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批准的特定授权用户；用户、租户、功能和终端范围开工前确认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到底谁做、做到哪一步？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问：以后会不会被锁定、要花什么钱？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人员配置明细：按职能归组、分三批到位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问：每类人具体几个、什么时候要？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知识转移：课时、课程与学习路径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问：我们的人具体学什么、学多久？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881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四阶段课时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06070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奠基 30 小时 / 30 人 · 跟岗 360 小时 / 10 人 · 指导实操 20 小时 / 10 人 · 正式移交 168 小时 / 10 人；合计 578 小时，阶段学员可重合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5506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课程与目标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27632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12 项课程 4 个方向：模型与数据评测、软件栈与生命周期、规模化训练与推理、检索智能体与安全；前三阶段培养目标 ≥80% / ≥70% / ≥50%，非验收阈值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194560"/>
          <a:ext cx="11274552" cy="32186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7548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48640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待确认：四阶段与实施五步的对应关系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