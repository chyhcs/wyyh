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【本页客户应记住什么】项目同时交付用户可使用的服务和RNP可管理的底层能力，并通过实施、培训及支持帮助落地。
【讲解词】这次建设要让RNP获得能够在巴西运行的葡语AI服务。用户看到的是应用，RNP同时获得数据处理、模型训练和服务管理工具。讯飞负责约定软件、模型、应用的交付和联调，并通过培训与支持帮助RNP承接。项目也需要RNP提供有授权的数据、本地专家和运营人员。后面几页将具体说明系统怎样工作、谁来使用，以及哪些条件决定上线。
【衔接下一页】先看RNP在后台怎样把数据和模型转成可使用的服务。
【来源与素材】S01第1章、§3.1、第8章；S02第4页（仅参考组织方式，已按SOW重排为可编辑对象，不使用旧图日期和未确认型号）。
【口径与边界】“交付”指SOW约定范围及目标，不表示已完成部署、验收或签约。HLD仅为历史方案参考，不覆盖SOW边界。安全审核与安全产品为贯穿能力：2台堡垒机、2台WAF、日志审计、数据库审计、漏洞扫描各1台，合计7台（S01 §8.8，合计为本稿加总）。SOW §5.2—5.4安全分工仍有“待与华为对齐”标记，整体安全责任由相关方统一，不宣称讯飞包揽整体安全治理。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【本页客户应记住什么】RNP获得一套可以持续操作的模型工程和服务管理工具，同时收到可验收的软件、模型资产和操作资料。
【讲解词】第一个中心解决数据能否用于模型的问题，第二个中心支持训练、评测和版本管理，第三个中心把模型能力发布给应用和开发者。约定基础模型的实际权重及必要组件在巴西交付，并验证本地加载和推理；其他模型按各自模型包和许可范围交付。资料既可以用于训练，也可以进入知识库支撑检索问答。领域模型方面，当前基线是三个固定场景的辅助训练服务，由RNP执行训练、讯飞提供方案和指导。
【衔接下一页】这些后台能力最后会体现在用户每天能完成的任务里。
【来源与素材】S01 §3.1、§3.3—3.8、§3.13、§8.1—8.4、§9.3；S02第5、9、12、13页。
【备注与边界】专项服务数量只放备注：3项固定场景领域模型辅助训练服务（S01 §8.4.3），不画成三个已交付的行业应用；第三方模型推理适配为2项服务（§8.4.5），不表示所有模型均已兼容。基础模型开放权重不自动延伸为语音识别、语音合成及安全审核模型全部开放。模型权重、源码和所有权应按资产许可矩阵分别说明。领域模型结果责任需先消除原文冲突（§3.14与§8.4.3、§9.5.3、§11.8）。模型规格：1个巴西葡语文本基础模型（总参数不低于290B）、1个语音识别模型、1个语音合成模型（男声、女声各1套约定发音人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【本页客户应记住什么】应用提供统一入口，帮助用户从问题、文档或语音得到可核对、可编辑的结果。
【讲解词】普通用户不需要理解模型训练。用户输入一个葡语问题，上传支持的文档，或者通过语音提问，就可以查找资料、提取要点、形成研究或办公草稿。引用帮助用户返回来源核对，专业判断和正式发布仍由人完成。RNP通过运营后台控制使用对象、权限、发布及反馈。
【衔接下一页】用一项完整工作任务，来看这些功能怎样组合起来。
【来源与素材】S01 §3.8—3.9、§8.5；S02第7—8页；S06官方产品指南只作中国产品演示参考。本页图片为S02第7页提取的中国星火桌面（639×352）和移动端（162×365）界面参考，仅用于功能讲解和构图参考；取得当前巴西葡语版本实图后应替换。
【必须保留的边界】葡语PPT生成及本地公文模板仍需适配验证，不能作为已经确认可用的主卖点。语音输入和朗读不等于同声传译。不得增加自动审批、付款、实验执行、任意业务系统操作或所有终端原生客户端。独立文档翻译系统亦不属于据此承诺的范围。画面中的国内工具和PPT入口不自动属于本期交付；SOW为Web加约定客户端，移动端小图不新增任何移动平台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【本页客户应记住什么】把任务、输入资料、核对方法和最终成果连起来，客户就能判断应用是否适用于自己的团队。
【讲解词】我们建议从边界清晰的资料整理任务开始。研究人员给出问题和允许使用的材料，系统帮助整理观点和引用，用户再核对来源，最后得到可以用于汇报的草稿。同样的流程可以用于机构制度查询和办公材料整理。中科院的官方开通通知提供了一个真实的中国科研工作流参考，但巴西的资料、语言效果、权限和用户规模仍要在本项目中验证。
【衔接下一页】明确任务以后，再确定哪些用户先使用，以及服务容量怎样匹配推广规模。
【来源与素材】功能依据S01 §3.8—3.9；中国案例依据S05中科院文献情报中心官方开通通知（2023-11-03，https://www.las.cas.cn/news/fwcx/202311/t20231103_6915220.html）。本页RNP场景为建议方案，中国案例为已公布的历史事实。三份资料是演示设计数量，不是产品上限。
【演示安排】如有经核实的30—45秒录屏（分镜见材料03），可在本页播放，并准备三张真实关键帧；没有视频时按本页静态流程独立讲解，不放空白播放器或假视频链接。
【边界】不得展示无证据的节时比例、科研提升率、国内用户规模或“巴西已落地”字样。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【本页客户应记住什么】总用户规划、同时调用的服务容量和真实应用体验需要分别管理；部署和推广应按已验证负载推进。
【讲解词】前期方案使用过1,000万总用户的覆盖规划，但这个数字不是日活人数，也不是今天已经验收的服务能力。SOW给出的是几类服务各自的并发基线，需要在约定模型、硬件和业务负载下验证。我们的建议是先确认首批机构、用户和任务组合，再开展端到端测试和分批推广。本地部署包括模型、平台及应用，联网搜索等外部服务仍要单独确认访问路径、授权及费用。一个研究任务可能触发多次检索、文本推理和审核，模型并发数不能直接换算成可以同时使用应用的人数。
【衔接下一页】系统运行之后，还要让RNP有人员、有方法管理它。
【来源与素材】S01 §3.1、§3.8—3.10、§8.5、§9.2；S02第19、21页；S03第3页。
【内部核对】旧HLD与资源稿的APP并发存在约1,000（S02第19、21页）和约500（S03第3页）两种口径，不同时作为本次承诺上屏；不把各服务并发相加成为用户数，不沿用旧带宽估算证明实际容量。若RNP不再认可1,000万规划，对外页可只展示用户类别，将该数字移到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【本页客户应记住什么】本地能力包括语言及内容适配、本地可用资产、RNP人员操作能力和持续支持渠道。
【讲解词】本地能力有三个实际表现：服务适配巴西葡语和约定内容，软件及模型资产在指定环境交付，RNP团队能够完成约定的操作与管理任务。培训共578小时，从基础学习到跟岗、指导实操，再到正式移交。第一年提供现场陪伴，五年内持续提供远程技术支持，二者前一年重叠。日常运营、内容审批和用户管理由RNP负责，因此固定参与的本地人员是项目成功的必要投入。
【衔接下一页】最后把这些交付对应到阶段成果，以及RNP现在需要落实的条件。
【来源与素材】S01 §3.1—3.2、第6章、§7.2—7.3、第11章；S02第15页（仅参考组织方法，不复用旧课时）。
【准确口径】四阶段30、360、20、168小时，合计578小时为本稿加总（S01 §6.1）。基础阶段30名核心学员，后续每阶段10名，不相加成60名不同人员。应至少在首年陪伴结束前3个月启动正式移交。五年支持不等于五年持续代运营或无限重训。另有模型持续优化服务：全部相关初验完成后连续12个月，文本3次、语音识别1次、语音合成1次、安全审核1次正式升级（S01 §3.11），其起点及内容与陪伴支持区分。正式起算日按SOW和书面确认填写。驻场人数、地点、语言安排仍待落实，不宣称已建成巴西研发中心或永久驻场团队。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【本页客户应记住什么】项目有清楚的交付路径；关键风险可以转化为有责任人、有证据的推进条件。
【讲解词】第一阶段在环境就绪后部署平台、训练适配葡语模型并交付应用初版；第二阶段在新增算力就绪后接入资源、启用服务并逐步移交。最关键的投入是可用环境、合格数据、本地专家和运营人员。双方需要明确首批用户与场景，冻结终端、接口和容量测试方法，并落实持续费用和责任人。这样可以按实际证据判断阶段完成情况，再决定推广。
【风险与应对】
1. 环境不具备或兼容性不足，会阻断部署、训练和容量验证 → 环境就绪清单、兼容性记录、阶段资源接入确认；RNP及基础设施方提供环境，讯飞核对产品依赖并开展范围内验证。
2. 数据授权、质量或本地专家不足，会影响训练与葡语效果 → 数据权利和质量清单、代表性试批、独立评测材料、专家确认记录；RNP组织数据及专家，讯飞提供范围内工具、辅助服务和模型工作。
3. 功能、终端、接口和负载不明确，会造成范围扩大与体验预期偏差 → 功能正面清单、终端及API目录、混合任务测试方案、缺陷闭环；双方冻结范围并按批准方法验收。
4. 运营人员或持续费用缺位，会影响移交及后续可用性 → 承接岗位、实操结果、外部搜索/API及许可费用安排、剩余支持计划；RNP落实日常运营，双方确认支持和费用边界。
【验收目标】本地部署能够运行，并实际交付约定权重及必要组件、确认许可满足约定用途（巴西本地加载推理和部署测试记录为证）；用户能完成约定任务（业务用例和功能测试为证）；平台能管理访问、容量和风险（配置及验证记录为证）；RNP能完成约定操作（实操和移交确认材料为证）。四项为本稿对SOW验收要求的高层归纳，具体通过规则以批准方案为准，不能另加“零错误”“100%安全”等承诺。
【来源】S01第2章、§3.1、§3.8—3.11、第6—11章。满足验收或双方书面确认等约定起算条件后进入支持期，不能据此认定60个月服务已经完成（§7.2—7.3、§9.8.2）。当前SOW未提供冻结的日历计划，不沿用旧HLD中的日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RNP Gains AI Services for Local Use and Operation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774375" y="3840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iFLYTEK for RNP   |   Executive briefing   |   Scope basis: SOW V1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801368" y="1463040"/>
            <a:ext cx="6263640" cy="621792"/>
          </a:xfrm>
          <a:prstGeom prst="roundRect">
            <a:avLst>
              <a:gd name="adj" fmla="val 8824"/>
            </a:avLst>
          </a:prstGeom>
          <a:solidFill>
            <a:srgbClr val="0B2A5B"/>
          </a:solidFill>
          <a:ln/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Brazilian Portuguese AI services for RNP-approved users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6304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receive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801368" y="2212848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9525">
            <a:solidFill>
              <a:srgbClr val="C9D6EA"/>
            </a:solidFill>
            <a:prstDash val="solid"/>
          </a:ln>
        </p:spPr>
        <p:txBody>
          <a:bodyPr wrap="square" lIns="38100" tIns="76200" rIns="76200" bIns="381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application and operations platform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212848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801368" y="3054096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9525">
            <a:solidFill>
              <a:srgbClr val="C9D6EA"/>
            </a:solidFill>
            <a:prstDash val="solid"/>
          </a:ln>
        </p:spPr>
        <p:txBody>
          <a:bodyPr wrap="square" lIns="38100" tIns="76200" rIns="76200" bIns="381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speech recognition and speech synthesis models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054096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01368" y="3895344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EEF3FB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84248" y="4032504"/>
            <a:ext cx="1539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  <p:txBody>
          <a:bodyPr wrap="square" lIns="38100" tIns="76200" rIns="762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construction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60648" y="4032504"/>
            <a:ext cx="1539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  <p:txBody>
          <a:bodyPr wrap="square" lIns="38100" tIns="76200" rIns="762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37048" y="4032504"/>
            <a:ext cx="1539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  <p:txBody>
          <a:bodyPr wrap="square" lIns="38100" tIns="76200" rIns="762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innovation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895344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centers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801368" y="4983480"/>
            <a:ext cx="6263640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9525">
            <a:solidFill>
              <a:srgbClr val="0B2A5B"/>
            </a:solidFill>
            <a:prstDash val="dash"/>
          </a:ln>
        </p:spPr>
        <p:txBody>
          <a:bodyPr wrap="square" lIns="38100" tIns="76200" rIns="76200" bIns="381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Brazilian local environment provided by RNP and its infrastructure providers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983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Brazil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 rot="16200000">
            <a:off x="6309360" y="3099816"/>
            <a:ext cx="2642616" cy="868680"/>
          </a:xfrm>
          <a:prstGeom prst="roundRect">
            <a:avLst>
              <a:gd name="adj" fmla="val 6316"/>
            </a:avLst>
          </a:prstGeom>
          <a:solidFill>
            <a:srgbClr val="17408F"/>
          </a:solidFill>
          <a:ln/>
        </p:spPr>
        <p:txBody>
          <a:bodyPr wrap="square" lIns="38100" tIns="76200" rIns="762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moderation and agreed security products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5687568"/>
            <a:ext cx="457200" cy="457200"/>
          </a:xfrm>
          <a:prstGeom prst="ellipse">
            <a:avLst/>
          </a:prstGeom>
          <a:solidFill>
            <a:srgbClr val="DCE6F7"/>
          </a:solidFill>
          <a:ln w="6350">
            <a:solidFill>
              <a:srgbClr val="DCE6F7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80644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097280" y="564184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RNP provides approved data, local experts and operating teams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430768" y="1463040"/>
            <a:ext cx="3258007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613648" y="1664208"/>
            <a:ext cx="457200" cy="457200"/>
          </a:xfrm>
          <a:prstGeom prst="ellipse">
            <a:avLst/>
          </a:prstGeom>
          <a:solidFill>
            <a:srgbClr val="1F5EDB"/>
          </a:solidFill>
          <a:ln w="6350">
            <a:solidFill>
              <a:srgbClr val="1F5EDB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783080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9180576" y="1645920"/>
            <a:ext cx="234360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services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8613648" y="2240280"/>
            <a:ext cx="28922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Deployment, integration, testing and operating documentation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8430768" y="3291840"/>
            <a:ext cx="3258007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613648" y="3493008"/>
            <a:ext cx="457200" cy="457200"/>
          </a:xfrm>
          <a:prstGeom prst="ellipse">
            <a:avLst/>
          </a:prstGeom>
          <a:solidFill>
            <a:srgbClr val="1F5EDB"/>
          </a:solidFill>
          <a:ln w="6350">
            <a:solidFill>
              <a:srgbClr val="1F5EDB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3611880"/>
            <a:ext cx="219456" cy="219456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180576" y="3474720"/>
            <a:ext cx="234360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building</a:t>
            </a:r>
            <a:endParaRPr lang="en-US" sz="1250" dirty="0"/>
          </a:p>
        </p:txBody>
      </p:sp>
      <p:sp>
        <p:nvSpPr>
          <p:cNvPr id="31" name="Text 26"/>
          <p:cNvSpPr txBox="1"/>
          <p:nvPr/>
        </p:nvSpPr>
        <p:spPr>
          <a:xfrm>
            <a:off x="8613648" y="4069080"/>
            <a:ext cx="28922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transfer and ongoing support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120640"/>
            <a:ext cx="3258007" cy="1097280"/>
          </a:xfrm>
          <a:prstGeom prst="roundRect">
            <a:avLst>
              <a:gd name="adj" fmla="val 5000"/>
            </a:avLst>
          </a:prstGeom>
          <a:solidFill>
            <a:srgbClr val="FFF3D6"/>
          </a:solidFill>
          <a:ln w="9525">
            <a:solidFill>
              <a:srgbClr val="E8CF93"/>
            </a:solidFill>
            <a:prstDash val="solid"/>
          </a:ln>
        </p:spPr>
        <p:txBody>
          <a:bodyPr wrap="square" lIns="76200" tIns="127000" rIns="1270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here means the agreed SOW scope and targets. It does not mean that deployment, acceptance or signature has been completed.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Centers Support Data Preparation, Model Training and Service Delivery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774375" y="3840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iFLYTEK for RNP   |   Executive briefing   |   Scope basis: SOW V1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350916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55648"/>
            <a:ext cx="502920" cy="502920"/>
          </a:xfrm>
          <a:prstGeom prst="ellipse">
            <a:avLst/>
          </a:prstGeom>
          <a:solidFill>
            <a:srgbClr val="1F5EDB"/>
          </a:solidFill>
          <a:ln w="6350">
            <a:solidFill>
              <a:srgbClr val="1F5ED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886407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07592" y="1737360"/>
            <a:ext cx="25490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Construction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423160"/>
            <a:ext cx="31434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action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670048"/>
            <a:ext cx="314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Import, clean and check approved data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145536"/>
            <a:ext cx="31434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RNP receives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401568"/>
            <a:ext cx="31434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and quality records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066946" y="2715768"/>
            <a:ext cx="219456" cy="0"/>
          </a:xfrm>
          <a:prstGeom prst="line">
            <a:avLst/>
          </a:prstGeom>
          <a:noFill/>
          <a:ln w="25400">
            <a:solidFill>
              <a:srgbClr val="1F5ED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341266" y="1572768"/>
            <a:ext cx="350916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24146" y="1755648"/>
            <a:ext cx="502920" cy="502920"/>
          </a:xfrm>
          <a:prstGeom prst="ellipse">
            <a:avLst/>
          </a:prstGeom>
          <a:solidFill>
            <a:srgbClr val="1F5EDB"/>
          </a:solidFill>
          <a:ln w="6350">
            <a:solidFill>
              <a:srgbClr val="1F5ED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906" y="1886407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145938" y="1737360"/>
            <a:ext cx="25490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524146" y="2423160"/>
            <a:ext cx="31434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action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4524146" y="2670048"/>
            <a:ext cx="314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Train, evaluate and manage model versions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4524146" y="3145536"/>
            <a:ext cx="31434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RNP receives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4524146" y="3401568"/>
            <a:ext cx="31434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Agreed model assets and evaluation reports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7905293" y="2715768"/>
            <a:ext cx="219456" cy="0"/>
          </a:xfrm>
          <a:prstGeom prst="line">
            <a:avLst/>
          </a:prstGeom>
          <a:noFill/>
          <a:ln w="25400">
            <a:solidFill>
              <a:srgbClr val="1F5EDB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8179613" y="1572768"/>
            <a:ext cx="350916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362493" y="1755648"/>
            <a:ext cx="502920" cy="502920"/>
          </a:xfrm>
          <a:prstGeom prst="ellipse">
            <a:avLst/>
          </a:prstGeom>
          <a:solidFill>
            <a:srgbClr val="1F5EDB"/>
          </a:solidFill>
          <a:ln w="6350">
            <a:solidFill>
              <a:srgbClr val="1F5EDB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252" y="1886407"/>
            <a:ext cx="241402" cy="24140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984285" y="1737360"/>
            <a:ext cx="25490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Innovation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8362493" y="2423160"/>
            <a:ext cx="31434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action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8362493" y="2670048"/>
            <a:ext cx="314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services and control access and usage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362493" y="3145536"/>
            <a:ext cx="31434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RNP receives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8362493" y="3401568"/>
            <a:ext cx="31434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interfaces for applications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502920" y="4087368"/>
            <a:ext cx="11185855" cy="512064"/>
          </a:xfrm>
          <a:prstGeom prst="roundRect">
            <a:avLst>
              <a:gd name="adj" fmla="val 14286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40080" y="4151376"/>
            <a:ext cx="384048" cy="384048"/>
          </a:xfrm>
          <a:prstGeom prst="ellipse">
            <a:avLst/>
          </a:prstGeom>
          <a:solidFill>
            <a:srgbClr val="DCE6F7"/>
          </a:solidFill>
          <a:ln w="6350">
            <a:solidFill>
              <a:srgbClr val="DCE6F7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251228"/>
            <a:ext cx="184343" cy="184343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143000" y="4087368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path: </a:t>
            </a:r>
            <a:pPr algn="l" indent="0" marL="0">
              <a:buNone/>
            </a:pPr>
            <a:r>
              <a:rPr lang="en-US" sz="13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documents can also support retrieval-based Q&amp;A directly, without retraining each time.</a:t>
            </a:r>
            <a:endParaRPr lang="en-US" sz="1350" dirty="0"/>
          </a:p>
        </p:txBody>
      </p:sp>
      <p:sp>
        <p:nvSpPr>
          <p:cNvPr id="35" name="Shape 29"/>
          <p:cNvSpPr/>
          <p:nvPr/>
        </p:nvSpPr>
        <p:spPr>
          <a:xfrm flipV="1">
            <a:off x="9934194" y="3895344"/>
            <a:ext cx="0" cy="192024"/>
          </a:xfrm>
          <a:prstGeom prst="line">
            <a:avLst/>
          </a:prstGeom>
          <a:noFill/>
          <a:ln w="19050">
            <a:solidFill>
              <a:srgbClr val="1F5EDB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640080" y="4736592"/>
            <a:ext cx="329184" cy="3291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68" y="4822180"/>
            <a:ext cx="158008" cy="158008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069848" y="470916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permissions, activity logs and content review apply across all three centers.</a:t>
            </a:r>
            <a:endParaRPr lang="en-US" sz="1250" dirty="0"/>
          </a:p>
        </p:txBody>
      </p:sp>
      <p:sp>
        <p:nvSpPr>
          <p:cNvPr id="39" name="Text 32"/>
          <p:cNvSpPr txBox="1"/>
          <p:nvPr/>
        </p:nvSpPr>
        <p:spPr>
          <a:xfrm>
            <a:off x="502920" y="5230368"/>
            <a:ext cx="11185855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0B2A5B"/>
            </a:solidFill>
            <a:prstDash val="solid"/>
          </a:ln>
        </p:spPr>
        <p:txBody>
          <a:bodyPr wrap="square" lIns="101600" tIns="177800" rIns="177800" bIns="1016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RNP receives the specified base model weights, required runtime components, licenses and operating guides for local use.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specification: one text model with at least 290B total parameters, one speech recognition model and one speech synthesis model with two agreed voices.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Ask, Read, Research and Draft in Portuguese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774375" y="3840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iFLYTEK for RNP   |   Executive briefing   |   Scope basis: SOW V1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" y="1435608"/>
            <a:ext cx="4535424" cy="2523029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pic>
        <p:nvPicPr>
          <p:cNvPr id="6" name="Image 0" descr="/home/user/wyyh/assets/A1_HLD_p07_SparkDesk_China_re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4480560" cy="24681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120640" y="1435608"/>
            <a:ext cx="1150323" cy="2523029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pic>
        <p:nvPicPr>
          <p:cNvPr id="8" name="Image 1" descr="/home/user/wyyh/assets/A2_HLD_p07_MobileApp_China_refer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1463040"/>
            <a:ext cx="1095459" cy="24681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4004357"/>
            <a:ext cx="57406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product interface reference (desktop and mobile). Brazilian features and the final client scope follow the agreed scope and localization validation.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5056632"/>
            <a:ext cx="5740611" cy="868680"/>
          </a:xfrm>
          <a:prstGeom prst="roundRect">
            <a:avLst>
              <a:gd name="adj" fmla="val 8421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67512" y="5239512"/>
            <a:ext cx="502920" cy="502920"/>
          </a:xfrm>
          <a:prstGeom prst="ellipse">
            <a:avLst/>
          </a:prstGeom>
          <a:solidFill>
            <a:srgbClr val="0B2A5B"/>
          </a:solidFill>
          <a:ln w="6350">
            <a:solidFill>
              <a:srgbClr val="0B2A5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" y="5370271"/>
            <a:ext cx="241402" cy="2414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5056632"/>
            <a:ext cx="47804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console</a:t>
            </a:r>
            <a:endParaRPr lang="en-US" sz="140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RNP manages users, permissions, publishing, usage and feedback.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609291" y="1463040"/>
            <a:ext cx="5079484" cy="804672"/>
          </a:xfrm>
          <a:prstGeom prst="roundRect">
            <a:avLst>
              <a:gd name="adj" fmla="val 9091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773883" y="1613916"/>
            <a:ext cx="502920" cy="502920"/>
          </a:xfrm>
          <a:prstGeom prst="ellipse">
            <a:avLst/>
          </a:prstGeom>
          <a:solidFill>
            <a:srgbClr val="1F5EDB"/>
          </a:solidFill>
          <a:ln w="6350">
            <a:solidFill>
              <a:srgbClr val="1F5ED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4643" y="1744675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432251" y="146304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and Search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9215331" y="1463040"/>
            <a:ext cx="23362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and check available sources.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609291" y="2377440"/>
            <a:ext cx="5079484" cy="804672"/>
          </a:xfrm>
          <a:prstGeom prst="roundRect">
            <a:avLst>
              <a:gd name="adj" fmla="val 9091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773883" y="2528316"/>
            <a:ext cx="502920" cy="502920"/>
          </a:xfrm>
          <a:prstGeom prst="ellipse">
            <a:avLst/>
          </a:prstGeom>
          <a:solidFill>
            <a:srgbClr val="1F5EDB"/>
          </a:solidFill>
          <a:ln w="6350">
            <a:solidFill>
              <a:srgbClr val="1F5ED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4643" y="2659075"/>
            <a:ext cx="241402" cy="2414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432251" y="237744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Documents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9215331" y="2377440"/>
            <a:ext cx="23362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supported files and ask follow-up questions.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609291" y="3291840"/>
            <a:ext cx="5079484" cy="804672"/>
          </a:xfrm>
          <a:prstGeom prst="roundRect">
            <a:avLst>
              <a:gd name="adj" fmla="val 9091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773883" y="3442716"/>
            <a:ext cx="502920" cy="502920"/>
          </a:xfrm>
          <a:prstGeom prst="ellipse">
            <a:avLst/>
          </a:prstGeom>
          <a:solidFill>
            <a:srgbClr val="1F5EDB"/>
          </a:solidFill>
          <a:ln w="6350">
            <a:solidFill>
              <a:srgbClr val="1F5EDB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4643" y="3573475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432251" y="329184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 Topic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9215331" y="3291840"/>
            <a:ext cx="23362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sources and create a report draft.</a:t>
            </a:r>
            <a:endParaRPr lang="en-US" sz="1350" dirty="0"/>
          </a:p>
        </p:txBody>
      </p:sp>
      <p:sp>
        <p:nvSpPr>
          <p:cNvPr id="29" name="Shape 21"/>
          <p:cNvSpPr/>
          <p:nvPr/>
        </p:nvSpPr>
        <p:spPr>
          <a:xfrm>
            <a:off x="6609291" y="4206240"/>
            <a:ext cx="5079484" cy="804672"/>
          </a:xfrm>
          <a:prstGeom prst="roundRect">
            <a:avLst>
              <a:gd name="adj" fmla="val 9091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773883" y="4357116"/>
            <a:ext cx="502920" cy="502920"/>
          </a:xfrm>
          <a:prstGeom prst="ellipse">
            <a:avLst/>
          </a:prstGeom>
          <a:solidFill>
            <a:srgbClr val="1F5EDB"/>
          </a:solidFill>
          <a:ln w="6350">
            <a:solidFill>
              <a:srgbClr val="1F5EDB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4643" y="4487875"/>
            <a:ext cx="241402" cy="24140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432251" y="420624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and Organize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9215331" y="4206240"/>
            <a:ext cx="23362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editable text, outlines and notes.</a:t>
            </a:r>
            <a:endParaRPr lang="en-US" sz="1350" dirty="0"/>
          </a:p>
        </p:txBody>
      </p:sp>
      <p:sp>
        <p:nvSpPr>
          <p:cNvPr id="34" name="Shape 25"/>
          <p:cNvSpPr/>
          <p:nvPr/>
        </p:nvSpPr>
        <p:spPr>
          <a:xfrm>
            <a:off x="6609291" y="5120640"/>
            <a:ext cx="5079484" cy="804672"/>
          </a:xfrm>
          <a:prstGeom prst="roundRect">
            <a:avLst>
              <a:gd name="adj" fmla="val 9091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6773883" y="5271516"/>
            <a:ext cx="502920" cy="502920"/>
          </a:xfrm>
          <a:prstGeom prst="ellipse">
            <a:avLst/>
          </a:prstGeom>
          <a:solidFill>
            <a:srgbClr val="1F5EDB"/>
          </a:solidFill>
          <a:ln w="6350">
            <a:solidFill>
              <a:srgbClr val="1F5EDB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4643" y="5402275"/>
            <a:ext cx="241402" cy="241402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432251" y="512064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and Listen</a:t>
            </a:r>
            <a:endParaRPr lang="en-US" sz="1500" dirty="0"/>
          </a:p>
        </p:txBody>
      </p:sp>
      <p:sp>
        <p:nvSpPr>
          <p:cNvPr id="38" name="Text 28"/>
          <p:cNvSpPr txBox="1"/>
          <p:nvPr/>
        </p:nvSpPr>
        <p:spPr>
          <a:xfrm>
            <a:off x="9215331" y="5120640"/>
            <a:ext cx="23362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Portuguese voice input and answer readout.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 Can Prepare a Source-Based Brief for Review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774375" y="3840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iFLYTEK for RNP   |   Executive briefing   |   Scope basis: SOW V1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36192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 w="9525">
            <a:solidFill>
              <a:srgbClr val="E8CF9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RNP scenario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0" cy="2926080"/>
          </a:xfrm>
          <a:prstGeom prst="line">
            <a:avLst/>
          </a:prstGeom>
          <a:noFill/>
          <a:ln w="25400">
            <a:solidFill>
              <a:srgbClr val="C9D6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011680"/>
            <a:ext cx="7040880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103120"/>
            <a:ext cx="457200" cy="457200"/>
          </a:xfrm>
          <a:prstGeom prst="ellipse">
            <a:avLst/>
          </a:prstGeom>
          <a:solidFill>
            <a:srgbClr val="0B2A5B"/>
          </a:solidFill>
          <a:ln w="190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011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and task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0116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authorized researcher compares two campus AI deployment options.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05840" y="2743200"/>
            <a:ext cx="7040880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0B2A5B"/>
          </a:solidFill>
          <a:ln w="190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43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27432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question and three approved documents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05840" y="3474720"/>
            <a:ext cx="7040880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566160"/>
            <a:ext cx="457200" cy="457200"/>
          </a:xfrm>
          <a:prstGeom prst="ellipse">
            <a:avLst/>
          </a:prstGeom>
          <a:solidFill>
            <a:srgbClr val="0B2A5B"/>
          </a:solidFill>
          <a:ln w="190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assistance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4747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findings, compare evidence and draft a brief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05840" y="4206240"/>
            <a:ext cx="7040880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297680"/>
            <a:ext cx="457200" cy="457200"/>
          </a:xfrm>
          <a:prstGeom prst="ellipse">
            <a:avLst/>
          </a:prstGeom>
          <a:solidFill>
            <a:srgbClr val="0B2A5B"/>
          </a:solidFill>
          <a:ln w="190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2062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42062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sources and correct unsupported claims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05840" y="4937760"/>
            <a:ext cx="7040880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5029200"/>
            <a:ext cx="457200" cy="457200"/>
          </a:xfrm>
          <a:prstGeom prst="ellipse">
            <a:avLst/>
          </a:prstGeom>
          <a:solidFill>
            <a:srgbClr val="0B2A5B"/>
          </a:solidFill>
          <a:ln w="190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4937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output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017520" y="49377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editable brief with references and open questions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5806440"/>
            <a:ext cx="365760" cy="365760"/>
          </a:xfrm>
          <a:prstGeom prst="ellipse">
            <a:avLst/>
          </a:prstGeom>
          <a:solidFill>
            <a:srgbClr val="DCE6F7"/>
          </a:solidFill>
          <a:ln w="6350">
            <a:solidFill>
              <a:srgbClr val="DCE6F7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5901538"/>
            <a:ext cx="175565" cy="17556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051560" y="5779008"/>
            <a:ext cx="6995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can query approved institutional guidance and prepare office drafts.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8412480" y="2011680"/>
            <a:ext cx="3276295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8595360" y="21945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CE6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reference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595360" y="2606040"/>
            <a:ext cx="2910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reference: CAS and iFLYTEK jointly developed Spark Research Assistant. CAS announced internal access in November 2023.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595360" y="3886200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reference for institutional research workflows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8595360" y="4480560"/>
            <a:ext cx="2910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National Science Library, Chinese Academy of Sciences. Public notice dated 3 November 2023.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412480" y="5321808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output stays a draft until a person has checked the sources.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Rollout Depends on Workloads and Local Service Capacity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774375" y="3840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iFLYTEK for RNP   |   Executive briefing   |   Scope basis: SOW V1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2918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860804"/>
            <a:ext cx="502920" cy="502920"/>
          </a:xfrm>
          <a:prstGeom prst="ellipse">
            <a:avLst/>
          </a:prstGeom>
          <a:solidFill>
            <a:srgbClr val="1F5EDB"/>
          </a:solidFill>
          <a:ln w="6350">
            <a:solidFill>
              <a:srgbClr val="1F5ED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271" y="1991563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645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RNP-approved users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23113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Entry: Web and agreed clients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852928"/>
            <a:ext cx="32918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" y="3159252"/>
            <a:ext cx="502920" cy="502920"/>
          </a:xfrm>
          <a:prstGeom prst="ellipse">
            <a:avLst/>
          </a:prstGeom>
          <a:solidFill>
            <a:srgbClr val="1F5EDB"/>
          </a:solidFill>
          <a:ln w="6350">
            <a:solidFill>
              <a:srgbClr val="1F5ED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1" y="329001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25880" y="29443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applications and developers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1325880" y="352958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Entry: Approved service interfaces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160520" y="1554480"/>
            <a:ext cx="4023360" cy="241401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0B2A5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343400" y="1664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Brazilian deployment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343400" y="2121408"/>
            <a:ext cx="1127760" cy="731520"/>
          </a:xfrm>
          <a:prstGeom prst="roundRect">
            <a:avLst>
              <a:gd name="adj" fmla="val 7500"/>
            </a:avLst>
          </a:prstGeom>
          <a:solidFill>
            <a:srgbClr val="1F5E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5608320" y="2121408"/>
            <a:ext cx="1127760" cy="731520"/>
          </a:xfrm>
          <a:prstGeom prst="roundRect">
            <a:avLst>
              <a:gd name="adj" fmla="val 7500"/>
            </a:avLst>
          </a:prstGeom>
          <a:solidFill>
            <a:srgbClr val="1F5E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6873240" y="2121408"/>
            <a:ext cx="1127760" cy="731520"/>
          </a:xfrm>
          <a:prstGeom prst="roundRect">
            <a:avLst>
              <a:gd name="adj" fmla="val 7500"/>
            </a:avLst>
          </a:prstGeom>
          <a:solidFill>
            <a:srgbClr val="1F5E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4343400" y="29718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Applications, models and platforms run in the agreed Brazilian environment.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3840480" y="2112264"/>
            <a:ext cx="274320" cy="0"/>
          </a:xfrm>
          <a:prstGeom prst="line">
            <a:avLst/>
          </a:prstGeom>
          <a:noFill/>
          <a:ln w="22225">
            <a:solidFill>
              <a:srgbClr val="1F5EDB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3840480" y="3410712"/>
            <a:ext cx="274320" cy="0"/>
          </a:xfrm>
          <a:prstGeom prst="line">
            <a:avLst/>
          </a:prstGeom>
          <a:noFill/>
          <a:ln w="22225">
            <a:solidFill>
              <a:srgbClr val="1F5EDB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8549640" y="1554480"/>
            <a:ext cx="3139135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714232" y="1860804"/>
            <a:ext cx="502920" cy="502920"/>
          </a:xfrm>
          <a:prstGeom prst="ellipse">
            <a:avLst/>
          </a:prstGeom>
          <a:solidFill>
            <a:srgbClr val="0B2A5B"/>
          </a:solidFill>
          <a:ln w="6350">
            <a:solidFill>
              <a:srgbClr val="0B2A5B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991" y="1991563"/>
            <a:ext cx="241402" cy="24140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372600" y="1645920"/>
            <a:ext cx="2179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RNP administrators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9372600" y="2231136"/>
            <a:ext cx="21790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Entry: Operations and management tools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229600" y="2112264"/>
            <a:ext cx="274320" cy="0"/>
          </a:xfrm>
          <a:prstGeom prst="line">
            <a:avLst/>
          </a:prstGeom>
          <a:noFill/>
          <a:ln w="22225">
            <a:solidFill>
              <a:srgbClr val="0B2A5B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8549640" y="2852928"/>
            <a:ext cx="3139135" cy="1115568"/>
          </a:xfrm>
          <a:prstGeom prst="roundRect">
            <a:avLst>
              <a:gd name="adj" fmla="val 6557"/>
            </a:avLst>
          </a:prstGeom>
          <a:solidFill>
            <a:srgbClr val="F4F6FA"/>
          </a:solidFill>
          <a:ln w="9525">
            <a:solidFill>
              <a:srgbClr val="5F6F86"/>
            </a:solidFill>
            <a:prstDash val="dash"/>
          </a:ln>
        </p:spPr>
      </p:sp>
      <p:sp>
        <p:nvSpPr>
          <p:cNvPr id="30" name="Shape 25"/>
          <p:cNvSpPr/>
          <p:nvPr/>
        </p:nvSpPr>
        <p:spPr>
          <a:xfrm>
            <a:off x="8714232" y="3159252"/>
            <a:ext cx="502920" cy="502920"/>
          </a:xfrm>
          <a:prstGeom prst="ellipse">
            <a:avLst/>
          </a:prstGeom>
          <a:solidFill>
            <a:srgbClr val="DCE6F7"/>
          </a:solidFill>
          <a:ln w="6350">
            <a:solidFill>
              <a:srgbClr val="DCE6F7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4991" y="3290011"/>
            <a:ext cx="241402" cy="24140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372600" y="2944368"/>
            <a:ext cx="2179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external services</a:t>
            </a:r>
            <a:endParaRPr lang="en-US" sz="1450" dirty="0"/>
          </a:p>
        </p:txBody>
      </p:sp>
      <p:sp>
        <p:nvSpPr>
          <p:cNvPr id="33" name="Text 27"/>
          <p:cNvSpPr txBox="1"/>
          <p:nvPr/>
        </p:nvSpPr>
        <p:spPr>
          <a:xfrm>
            <a:off x="9372600" y="3529584"/>
            <a:ext cx="21790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search and third-party services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8229600" y="3410712"/>
            <a:ext cx="274320" cy="0"/>
          </a:xfrm>
          <a:prstGeom prst="line">
            <a:avLst/>
          </a:prstGeom>
          <a:noFill/>
          <a:ln w="15875">
            <a:solidFill>
              <a:srgbClr val="5F6F86"/>
            </a:solidFill>
            <a:prstDash val="dash"/>
            <a:headEnd type="triangle"/>
            <a:tailEnd type="triangle"/>
          </a:ln>
        </p:spPr>
      </p:sp>
      <p:sp>
        <p:nvSpPr>
          <p:cNvPr id="35" name="Text 29"/>
          <p:cNvSpPr txBox="1"/>
          <p:nvPr/>
        </p:nvSpPr>
        <p:spPr>
          <a:xfrm>
            <a:off x="502920" y="4315968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C9D6E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planning reference</a:t>
            </a:r>
            <a:endParaRPr lang="en-US" sz="1150" dirty="0"/>
          </a:p>
        </p:txBody>
      </p:sp>
      <p:sp>
        <p:nvSpPr>
          <p:cNvPr id="36" name="Text 30"/>
          <p:cNvSpPr txBox="1"/>
          <p:nvPr/>
        </p:nvSpPr>
        <p:spPr>
          <a:xfrm>
            <a:off x="3200400" y="4242816"/>
            <a:ext cx="84883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HLD planning reference: 10 million total users</a:t>
            </a:r>
            <a:endParaRPr lang="en-US" sz="1500" dirty="0"/>
          </a:p>
        </p:txBody>
      </p:sp>
      <p:sp>
        <p:nvSpPr>
          <p:cNvPr id="37" name="Text 31"/>
          <p:cNvSpPr txBox="1"/>
          <p:nvPr/>
        </p:nvSpPr>
        <p:spPr>
          <a:xfrm>
            <a:off x="502920" y="4956048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 capacity baseline</a:t>
            </a:r>
            <a:endParaRPr lang="en-US" sz="1150" dirty="0"/>
          </a:p>
        </p:txBody>
      </p:sp>
      <p:sp>
        <p:nvSpPr>
          <p:cNvPr id="38" name="Text 32"/>
          <p:cNvSpPr txBox="1"/>
          <p:nvPr/>
        </p:nvSpPr>
        <p:spPr>
          <a:xfrm>
            <a:off x="502920" y="53766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requests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3200400" y="4846320"/>
            <a:ext cx="1984934" cy="932688"/>
          </a:xfrm>
          <a:prstGeom prst="roundRect">
            <a:avLst>
              <a:gd name="adj" fmla="val 7843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3200400" y="4901184"/>
            <a:ext cx="19849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2600" dirty="0"/>
          </a:p>
        </p:txBody>
      </p:sp>
      <p:sp>
        <p:nvSpPr>
          <p:cNvPr id="41" name="Text 35"/>
          <p:cNvSpPr txBox="1"/>
          <p:nvPr/>
        </p:nvSpPr>
        <p:spPr>
          <a:xfrm>
            <a:off x="3200400" y="5394960"/>
            <a:ext cx="19849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5368214" y="4846320"/>
            <a:ext cx="1984934" cy="932688"/>
          </a:xfrm>
          <a:prstGeom prst="roundRect">
            <a:avLst>
              <a:gd name="adj" fmla="val 7843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5368214" y="4901184"/>
            <a:ext cx="19849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2600" dirty="0"/>
          </a:p>
        </p:txBody>
      </p:sp>
      <p:sp>
        <p:nvSpPr>
          <p:cNvPr id="44" name="Text 38"/>
          <p:cNvSpPr txBox="1"/>
          <p:nvPr/>
        </p:nvSpPr>
        <p:spPr>
          <a:xfrm>
            <a:off x="5368214" y="5394960"/>
            <a:ext cx="19849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recognition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7536028" y="4846320"/>
            <a:ext cx="1984934" cy="932688"/>
          </a:xfrm>
          <a:prstGeom prst="roundRect">
            <a:avLst>
              <a:gd name="adj" fmla="val 7843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7536028" y="4901184"/>
            <a:ext cx="19849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2600" dirty="0"/>
          </a:p>
        </p:txBody>
      </p:sp>
      <p:sp>
        <p:nvSpPr>
          <p:cNvPr id="47" name="Text 41"/>
          <p:cNvSpPr txBox="1"/>
          <p:nvPr/>
        </p:nvSpPr>
        <p:spPr>
          <a:xfrm>
            <a:off x="7536028" y="5394960"/>
            <a:ext cx="19849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synthesis</a:t>
            </a:r>
            <a:endParaRPr lang="en-US" sz="1200" dirty="0"/>
          </a:p>
        </p:txBody>
      </p:sp>
      <p:sp>
        <p:nvSpPr>
          <p:cNvPr id="48" name="Shape 42"/>
          <p:cNvSpPr/>
          <p:nvPr/>
        </p:nvSpPr>
        <p:spPr>
          <a:xfrm>
            <a:off x="9703841" y="4846320"/>
            <a:ext cx="1984934" cy="932688"/>
          </a:xfrm>
          <a:prstGeom prst="roundRect">
            <a:avLst>
              <a:gd name="adj" fmla="val 7843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9703841" y="4901184"/>
            <a:ext cx="19849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2600" dirty="0"/>
          </a:p>
        </p:txBody>
      </p:sp>
      <p:sp>
        <p:nvSpPr>
          <p:cNvPr id="50" name="Text 44"/>
          <p:cNvSpPr txBox="1"/>
          <p:nvPr/>
        </p:nvSpPr>
        <p:spPr>
          <a:xfrm>
            <a:off x="9703841" y="5394960"/>
            <a:ext cx="19849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moderation</a:t>
            </a:r>
            <a:endParaRPr lang="en-US" sz="1200" dirty="0"/>
          </a:p>
        </p:txBody>
      </p:sp>
      <p:sp>
        <p:nvSpPr>
          <p:cNvPr id="51" name="Text 45"/>
          <p:cNvSpPr txBox="1"/>
          <p:nvPr/>
        </p:nvSpPr>
        <p:spPr>
          <a:xfrm>
            <a:off x="502920" y="5888736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targets require confirmation. Capacity tests use agreed workloads. Peak capacities are not assumed to run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and Supported Practice Prepare RNP to Operate Locally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774375" y="3840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iFLYTEK for RNP   |   Executive briefing   |   Scope basis: SOW V1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5448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capability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48840" y="1554480"/>
            <a:ext cx="3058058" cy="603504"/>
          </a:xfrm>
          <a:prstGeom prst="roundRect">
            <a:avLst>
              <a:gd name="adj" fmla="val 12121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1645920"/>
            <a:ext cx="420624" cy="420624"/>
          </a:xfrm>
          <a:prstGeom prst="ellipse">
            <a:avLst/>
          </a:prstGeom>
          <a:solidFill>
            <a:srgbClr val="DCE6F7"/>
          </a:solidFill>
          <a:ln w="6350">
            <a:solidFill>
              <a:srgbClr val="DCE6F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362" y="1755282"/>
            <a:ext cx="201900" cy="2019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834640" y="1554480"/>
            <a:ext cx="22808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Brazilian Portuguese adaptation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389778" y="1554480"/>
            <a:ext cx="3058058" cy="603504"/>
          </a:xfrm>
          <a:prstGeom prst="roundRect">
            <a:avLst>
              <a:gd name="adj" fmla="val 12121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26938" y="1645920"/>
            <a:ext cx="420624" cy="420624"/>
          </a:xfrm>
          <a:prstGeom prst="ellipse">
            <a:avLst/>
          </a:prstGeom>
          <a:solidFill>
            <a:srgbClr val="DCE6F7"/>
          </a:solidFill>
          <a:ln w="6350">
            <a:solidFill>
              <a:srgbClr val="DCE6F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301" y="1755282"/>
            <a:ext cx="201900" cy="201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075578" y="1554480"/>
            <a:ext cx="22808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deployment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630717" y="1554480"/>
            <a:ext cx="3058058" cy="603504"/>
          </a:xfrm>
          <a:prstGeom prst="roundRect">
            <a:avLst>
              <a:gd name="adj" fmla="val 12121"/>
            </a:avLst>
          </a:prstGeom>
          <a:solidFill>
            <a:srgbClr val="EEF3FB"/>
          </a:solidFill>
          <a:ln w="9525">
            <a:solidFill>
              <a:srgbClr val="EEF3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767877" y="1645920"/>
            <a:ext cx="420624" cy="420624"/>
          </a:xfrm>
          <a:prstGeom prst="ellipse">
            <a:avLst/>
          </a:prstGeom>
          <a:solidFill>
            <a:srgbClr val="DCE6F7"/>
          </a:solidFill>
          <a:ln w="6350">
            <a:solidFill>
              <a:srgbClr val="DCE6F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239" y="1755282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316517" y="1554480"/>
            <a:ext cx="22808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RNP operating capability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02920" y="2340864"/>
            <a:ext cx="2590724" cy="914400"/>
          </a:xfrm>
          <a:prstGeom prst="roundRect">
            <a:avLst>
              <a:gd name="adj" fmla="val 8000"/>
            </a:avLst>
          </a:prstGeom>
          <a:solidFill>
            <a:srgbClr val="2F6FE4"/>
          </a:solidFill>
          <a:ln w="9525">
            <a:solidFill>
              <a:srgbClr val="2F6FE4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685800" y="2432304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85800" y="2779776"/>
            <a:ext cx="22249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hours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3139364" y="2798064"/>
            <a:ext cx="182880" cy="0"/>
          </a:xfrm>
          <a:prstGeom prst="line">
            <a:avLst/>
          </a:prstGeom>
          <a:noFill/>
          <a:ln w="25400">
            <a:solidFill>
              <a:srgbClr val="0B2A5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3367964" y="2340864"/>
            <a:ext cx="2590724" cy="914400"/>
          </a:xfrm>
          <a:prstGeom prst="roundRect">
            <a:avLst>
              <a:gd name="adj" fmla="val 8000"/>
            </a:avLst>
          </a:prstGeom>
          <a:solidFill>
            <a:srgbClr val="1F5EDB"/>
          </a:solidFill>
          <a:ln w="9525">
            <a:solidFill>
              <a:srgbClr val="1F5EDB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3550844" y="2432304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Shadowing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3550844" y="2779776"/>
            <a:ext cx="22249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hours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6004408" y="2798064"/>
            <a:ext cx="182880" cy="0"/>
          </a:xfrm>
          <a:prstGeom prst="line">
            <a:avLst/>
          </a:prstGeom>
          <a:noFill/>
          <a:ln w="25400">
            <a:solidFill>
              <a:srgbClr val="0B2A5B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6233008" y="2340864"/>
            <a:ext cx="2590724" cy="914400"/>
          </a:xfrm>
          <a:prstGeom prst="roundRect">
            <a:avLst>
              <a:gd name="adj" fmla="val 8000"/>
            </a:avLst>
          </a:prstGeom>
          <a:solidFill>
            <a:srgbClr val="17408F"/>
          </a:solidFill>
          <a:ln w="9525">
            <a:solidFill>
              <a:srgbClr val="17408F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6415888" y="2432304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6415888" y="2779776"/>
            <a:ext cx="22249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hours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8869451" y="2798064"/>
            <a:ext cx="182880" cy="0"/>
          </a:xfrm>
          <a:prstGeom prst="line">
            <a:avLst/>
          </a:prstGeom>
          <a:noFill/>
          <a:ln w="25400">
            <a:solidFill>
              <a:srgbClr val="0B2A5B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9098051" y="2340864"/>
            <a:ext cx="2590724" cy="91440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 w="9525">
            <a:solidFill>
              <a:srgbClr val="0B2A5B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1" name="Text 26"/>
          <p:cNvSpPr txBox="1"/>
          <p:nvPr/>
        </p:nvSpPr>
        <p:spPr>
          <a:xfrm>
            <a:off x="9280931" y="2432304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9280931" y="2779776"/>
            <a:ext cx="22249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 hours</a:t>
            </a:r>
            <a:endParaRPr lang="en-US" sz="2200" dirty="0"/>
          </a:p>
        </p:txBody>
      </p:sp>
      <p:sp>
        <p:nvSpPr>
          <p:cNvPr id="33" name="Text 28"/>
          <p:cNvSpPr txBox="1"/>
          <p:nvPr/>
        </p:nvSpPr>
        <p:spPr>
          <a:xfrm>
            <a:off x="502920" y="33467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iFLYTEK leads, RNP shadows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3337560" y="3502152"/>
            <a:ext cx="5516575" cy="0"/>
          </a:xfrm>
          <a:prstGeom prst="line">
            <a:avLst/>
          </a:prstGeom>
          <a:noFill/>
          <a:ln w="15875">
            <a:solidFill>
              <a:srgbClr val="5F6F86"/>
            </a:solidFill>
            <a:prstDash val="solid"/>
            <a:tailEnd type="triangle"/>
          </a:ln>
        </p:spPr>
      </p:sp>
      <p:sp>
        <p:nvSpPr>
          <p:cNvPr id="35" name="Text 30"/>
          <p:cNvSpPr txBox="1"/>
          <p:nvPr/>
        </p:nvSpPr>
        <p:spPr>
          <a:xfrm>
            <a:off x="8945575" y="33467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RNP leads, iFLYTEK guides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502920" y="3730752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578 training hours support agreed operating tasks and handover.</a:t>
            </a:r>
            <a:endParaRPr lang="en-US" sz="1500" dirty="0"/>
          </a:p>
        </p:txBody>
      </p:sp>
      <p:sp>
        <p:nvSpPr>
          <p:cNvPr id="37" name="Text 32"/>
          <p:cNvSpPr txBox="1"/>
          <p:nvPr/>
        </p:nvSpPr>
        <p:spPr>
          <a:xfrm>
            <a:off x="502920" y="42611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Onsite support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months, 5×8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2880360" y="4261104"/>
            <a:ext cx="1761683" cy="402336"/>
          </a:xfrm>
          <a:prstGeom prst="roundRect">
            <a:avLst>
              <a:gd name="adj" fmla="val 11364"/>
            </a:avLst>
          </a:prstGeom>
          <a:solidFill>
            <a:srgbClr val="1F5EDB"/>
          </a:solidFill>
          <a:ln w="9525">
            <a:solidFill>
              <a:srgbClr val="1F5EDB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502920" y="47731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technical support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months, 7×24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2880360" y="4773168"/>
            <a:ext cx="8808415" cy="402336"/>
          </a:xfrm>
          <a:prstGeom prst="roundRect">
            <a:avLst>
              <a:gd name="adj" fmla="val 11364"/>
            </a:avLst>
          </a:prstGeom>
          <a:solidFill>
            <a:srgbClr val="0B2A5B"/>
          </a:solidFill>
          <a:ln w="9525">
            <a:solidFill>
              <a:srgbClr val="0B2A5B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4642043" y="4169664"/>
            <a:ext cx="0" cy="1097280"/>
          </a:xfrm>
          <a:prstGeom prst="line">
            <a:avLst/>
          </a:prstGeom>
          <a:noFill/>
          <a:ln w="12700">
            <a:solidFill>
              <a:srgbClr val="5F6F86"/>
            </a:solidFill>
            <a:prstDash val="dash"/>
          </a:ln>
        </p:spPr>
      </p:sp>
      <p:sp>
        <p:nvSpPr>
          <p:cNvPr id="42" name="Text 37"/>
          <p:cNvSpPr txBox="1"/>
          <p:nvPr/>
        </p:nvSpPr>
        <p:spPr>
          <a:xfrm>
            <a:off x="4751771" y="426110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12 months overlap.</a:t>
            </a:r>
            <a:endParaRPr lang="en-US" sz="1200" dirty="0"/>
          </a:p>
        </p:txBody>
      </p:sp>
      <p:sp>
        <p:nvSpPr>
          <p:cNvPr id="43" name="Shape 38"/>
          <p:cNvSpPr/>
          <p:nvPr/>
        </p:nvSpPr>
        <p:spPr>
          <a:xfrm>
            <a:off x="2880360" y="5266944"/>
            <a:ext cx="8808415" cy="0"/>
          </a:xfrm>
          <a:prstGeom prst="line">
            <a:avLst/>
          </a:prstGeom>
          <a:noFill/>
          <a:ln w="12700">
            <a:solidFill>
              <a:srgbClr val="C9D6E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2880360" y="5221224"/>
            <a:ext cx="0" cy="91440"/>
          </a:xfrm>
          <a:prstGeom prst="line">
            <a:avLst/>
          </a:prstGeom>
          <a:noFill/>
          <a:ln w="12700">
            <a:solidFill>
              <a:srgbClr val="5F6F86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2468880" y="53218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0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4642043" y="5221224"/>
            <a:ext cx="0" cy="91440"/>
          </a:xfrm>
          <a:prstGeom prst="line">
            <a:avLst/>
          </a:prstGeom>
          <a:noFill/>
          <a:ln w="12700">
            <a:solidFill>
              <a:srgbClr val="5F6F86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4230563" y="53218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6403726" y="5221224"/>
            <a:ext cx="0" cy="91440"/>
          </a:xfrm>
          <a:prstGeom prst="line">
            <a:avLst/>
          </a:prstGeom>
          <a:noFill/>
          <a:ln w="12700">
            <a:solidFill>
              <a:srgbClr val="5F6F86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5992246" y="53218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50" dirty="0"/>
          </a:p>
        </p:txBody>
      </p:sp>
      <p:sp>
        <p:nvSpPr>
          <p:cNvPr id="50" name="Shape 45"/>
          <p:cNvSpPr/>
          <p:nvPr/>
        </p:nvSpPr>
        <p:spPr>
          <a:xfrm>
            <a:off x="8165409" y="5221224"/>
            <a:ext cx="0" cy="91440"/>
          </a:xfrm>
          <a:prstGeom prst="line">
            <a:avLst/>
          </a:prstGeom>
          <a:noFill/>
          <a:ln w="12700">
            <a:solidFill>
              <a:srgbClr val="5F6F86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7753929" y="53218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50" dirty="0"/>
          </a:p>
        </p:txBody>
      </p:sp>
      <p:sp>
        <p:nvSpPr>
          <p:cNvPr id="52" name="Shape 47"/>
          <p:cNvSpPr/>
          <p:nvPr/>
        </p:nvSpPr>
        <p:spPr>
          <a:xfrm>
            <a:off x="9927092" y="5221224"/>
            <a:ext cx="0" cy="91440"/>
          </a:xfrm>
          <a:prstGeom prst="line">
            <a:avLst/>
          </a:prstGeom>
          <a:noFill/>
          <a:ln w="12700">
            <a:solidFill>
              <a:srgbClr val="5F6F86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9515612" y="53218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11688775" y="5221224"/>
            <a:ext cx="0" cy="91440"/>
          </a:xfrm>
          <a:prstGeom prst="line">
            <a:avLst/>
          </a:prstGeom>
          <a:noFill/>
          <a:ln w="12700">
            <a:solidFill>
              <a:srgbClr val="5F6F86"/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11277295" y="53218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050" dirty="0"/>
          </a:p>
        </p:txBody>
      </p:sp>
      <p:sp>
        <p:nvSpPr>
          <p:cNvPr id="56" name="Shape 51"/>
          <p:cNvSpPr/>
          <p:nvPr/>
        </p:nvSpPr>
        <p:spPr>
          <a:xfrm>
            <a:off x="502920" y="5733288"/>
            <a:ext cx="365760" cy="365760"/>
          </a:xfrm>
          <a:prstGeom prst="ellipse">
            <a:avLst/>
          </a:prstGeom>
          <a:solidFill>
            <a:srgbClr val="DCE6F7"/>
          </a:solidFill>
          <a:ln w="6350">
            <a:solidFill>
              <a:srgbClr val="DCE6F7"/>
            </a:solidFill>
            <a:prstDash val="solid"/>
          </a:ln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8" y="5828386"/>
            <a:ext cx="175565" cy="175565"/>
          </a:xfrm>
          <a:prstGeom prst="rect">
            <a:avLst/>
          </a:prstGeom>
        </p:spPr>
      </p:pic>
      <p:sp>
        <p:nvSpPr>
          <p:cNvPr id="58" name="Text 52"/>
          <p:cNvSpPr txBox="1"/>
          <p:nvPr/>
        </p:nvSpPr>
        <p:spPr>
          <a:xfrm>
            <a:off x="1005840" y="5705856"/>
            <a:ext cx="106372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RNP leads daily operations, content decisions and user management.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Milestones Depend on Resources, Data and Operating Readiness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774375" y="3840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iFLYTEK for RNP   |   Executive briefing   |   Scope basis: SOW V1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5410048" cy="1005840"/>
          </a:xfrm>
          <a:prstGeom prst="roundRect">
            <a:avLst>
              <a:gd name="adj" fmla="val 7273"/>
            </a:avLst>
          </a:prstGeom>
          <a:solidFill>
            <a:srgbClr val="1F5EDB"/>
          </a:solidFill>
          <a:ln w="9525">
            <a:solidFill>
              <a:srgbClr val="1F5EDB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682496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02536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platforms, adapt models and deliver the initial application.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33472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environment readiness checklist, local model loading and inference records, deployment and functional test results.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67832" y="2075688"/>
            <a:ext cx="256032" cy="0"/>
          </a:xfrm>
          <a:prstGeom prst="line">
            <a:avLst/>
          </a:prstGeom>
          <a:noFill/>
          <a:ln w="25400">
            <a:solidFill>
              <a:srgbClr val="0B2A5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78728" y="1572768"/>
            <a:ext cx="5410048" cy="1005840"/>
          </a:xfrm>
          <a:prstGeom prst="roundRect">
            <a:avLst>
              <a:gd name="adj" fmla="val 7273"/>
            </a:avLst>
          </a:prstGeom>
          <a:solidFill>
            <a:srgbClr val="0B2A5B"/>
          </a:solidFill>
          <a:ln w="9525">
            <a:solidFill>
              <a:srgbClr val="0B2A5B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07328" y="1682496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507328" y="2002536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additional resources, enable agreed services and transfer operations.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07328" y="2633472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resource connection confirmation, capacity and configuration validation records, hands-on results and handover confirmation.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18688"/>
            <a:ext cx="11185855" cy="384048"/>
          </a:xfrm>
          <a:prstGeom prst="roundRect">
            <a:avLst>
              <a:gd name="adj" fmla="val 9524"/>
            </a:avLst>
          </a:prstGeom>
          <a:solidFill>
            <a:srgbClr val="DCE6F7"/>
          </a:solidFill>
          <a:ln w="9525">
            <a:solidFill>
              <a:srgbClr val="DCE6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2186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dependency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218688"/>
            <a:ext cx="7482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action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059936"/>
            <a:ext cx="11185855" cy="0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666744"/>
            <a:ext cx="329184" cy="3291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668" y="3752332"/>
            <a:ext cx="158008" cy="15800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97280" y="36027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readiness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206240" y="3602736"/>
            <a:ext cx="7482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resources and compatibility.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02920" y="4059936"/>
            <a:ext cx="11185855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2920" y="4517136"/>
            <a:ext cx="11185855" cy="0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0080" y="4123944"/>
            <a:ext cx="329184" cy="3291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68" y="4209532"/>
            <a:ext cx="158008" cy="15800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097280" y="40599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Portuguese quality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4206240" y="4059936"/>
            <a:ext cx="7482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data, experts and evaluation tasks.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502920" y="4974336"/>
            <a:ext cx="11185855" cy="0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40080" y="4581144"/>
            <a:ext cx="329184" cy="3291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68" y="4666732"/>
            <a:ext cx="158008" cy="15800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097280" y="45171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 service capacity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4206240" y="4517136"/>
            <a:ext cx="7482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channels, interfaces and test workloads.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502920" y="4974336"/>
            <a:ext cx="11185855" cy="4572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02920" y="5431536"/>
            <a:ext cx="11185855" cy="0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40080" y="5038344"/>
            <a:ext cx="329184" cy="3291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68" y="5123932"/>
            <a:ext cx="158008" cy="158008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097280" y="49743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continuity</a:t>
            </a:r>
            <a:endParaRPr lang="en-US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4206240" y="4974336"/>
            <a:ext cx="7482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owners and ongoing service budgets.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502920" y="5687568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0B2A5B"/>
          </a:solidFill>
          <a:ln w="9525">
            <a:solidFill>
              <a:srgbClr val="0B2A5B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640080" y="5779008"/>
            <a:ext cx="365760" cy="365760"/>
          </a:xfrm>
          <a:prstGeom prst="ellipse">
            <a:avLst/>
          </a:prstGeom>
          <a:solidFill>
            <a:srgbClr val="1F5EDB"/>
          </a:solidFill>
          <a:ln w="6350">
            <a:solidFill>
              <a:srgbClr val="1F5EDB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8" y="5874106"/>
            <a:ext cx="175565" cy="175565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143000" y="5687568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RNP confirms the first users and scenarios. Both teams agree owners, readiness gates and acceptance evidence.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iFLYTEK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RNP Executive Briefing</dc:title>
  <dc:subject>PptxGenJS Presentation</dc:subject>
  <dc:creator>iFLYTEK RNP project team</dc:creator>
  <cp:lastModifiedBy>iFLYTEK RNP project team</cp:lastModifiedBy>
  <cp:revision>1</cp:revision>
  <dcterms:created xsi:type="dcterms:W3CDTF">2026-09-07T07:23:22Z</dcterms:created>
  <dcterms:modified xsi:type="dcterms:W3CDTF">2026-09-07T07:23:22Z</dcterms:modified>
</cp:coreProperties>
</file>