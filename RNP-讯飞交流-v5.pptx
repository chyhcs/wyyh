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7863840" cy="868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75895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= 待确认，实施前双方共同确定的数字或范围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黑色文字 = 已写入工作范围（SOW）或讯飞技术方案的做法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792224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1600200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0" y="2670048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478024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354787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355848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4425696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4233672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领域模型 DLM ×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9846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41014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8213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59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0859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59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5138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6306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3506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6306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6306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8678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941063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小时、约 74 个工作日，RNP 核心团队从跟岗到独立操作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2686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8114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现场陪伴 12 个月 + 远程支持 60 个月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108173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本材料用到的术语：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文本大模型（NLP）处理文字的理解与生成；语音识别（ASR）将语音转为文字；语音合成（TTS）将文字转为语音；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Token 是模型计量文本的单位，约等于一个词或词的一部分；Stage 1 / Stage 2 是两批算力对应的两个建设阶段。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四项成果的完整表格见附录 A0，可单独转发。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一套软件平台，连同授权和文档；验收后由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四个模块，各对应 RNP 的一支团队，本次逐一演示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语料构建中心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将葡语文本整理为可训练的语料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9292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3339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训练模型、查看结果、发布版本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9292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AI 应用创新中心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将模型接入 APP 和其他系统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4564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0868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4916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868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拦截违规与风险内容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868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05656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07992"/>
            <a:ext cx="504291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105656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507992"/>
            <a:ext cx="504291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本次演示的每一步，都是跟岗和实操阶段 RNP 人员要自己完成的操作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演示约 10 分钟；平台容量与验收见附录 A1。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文本大模型（≥290B 参数）、语音识别、语音合成各 1 个；权重、模型卡和部署说明交付 RNP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生产葡语语料，讯飞提供规范和工具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讯飞在训练中心训练；技术路线实施前双方确定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讯飞提供评测结果，RNP 专家评审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本地交付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部署在巴西环境，交付权重；之后 12 个月持续优化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葡语语料与授权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专家评审、验收与发布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第一阶段工作量最大的是语料，约 500 亿 Token 的葡语文本；数据团队和葡语专家需最早到位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模型规格与升级次数见附录 A2；语料各项数量见附录 A3。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明确需求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本地化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葡语界面，采用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系统集成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提供接口，讯飞完成集成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交付应用软件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接通接口、配置平台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内容、品牌与接口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审批用户、日常运营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容量按 1,000 路并发问答配置并实测；上线后需要 RNP 的产品、运营和审核团队承接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APP 演示已在第 3 页平台演示中安排；服务、容量与接口见附录 A4。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个固定场景；讯飞交付方案、指导记录和分析报告，模型权重由 RNP 训练产生、归 RNP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明确用户、输入输出和边界，签署确认书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准备数据与路线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准备数据和环境；训练路线双方共同确定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训练与评测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在训练中心训练，讯飞全程指导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服务验收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的实际结果完成分析，核对指导记录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可行性分析与方案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过程指导与结果分析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场景、数据与环境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这是 RNP 首次独立训练模型，需要自己的算法工程师和领域专家；跟岗和指导实操正是为此设计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范围、投入与服务验收见附录 A5。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4356201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0818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9433" y="960120"/>
            <a:ext cx="6662318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6593" y="960120"/>
            <a:ext cx="63879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9362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部署平台，启动语料生产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4716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63316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5479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6468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476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训练国家模型并评测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476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0833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9433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11596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2585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6593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APP 上线，DLM 自主训练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6593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 → 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46950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75550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17712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702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710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分项、分阶段验收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2710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每个 Stage 末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53067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1667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23829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4819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8827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移交资产，进入支持期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8827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2 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3375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三方分工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48456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85876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72160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算力、机房、网络与基础环境（RNP 协调）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648456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385876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21224" y="372160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648456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7616" y="385876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0848" y="372160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语料、DLM 训练、验收与日常运营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7200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67258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62686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四阶段贯穿五个步骤；正式移交在陪伴运维结束前至少 3 个月启动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21208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31266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交接与运营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526694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现场陪伴 12 个月 + 远程支持 60 个月；移交后 RNP 主导运营，讯飞远程支持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85216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T0 = 第一批算力就绪；各步骤月份实施前双方确定，RNP 据此编制人力计划。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291840" cy="3246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SOW 规定由 RNP 承担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2889504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自主训练和评测 DLM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审批用户，运营 APP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协调华为算力和环境，组织验收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59" y="960120"/>
          <a:ext cx="7708392" cy="32369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2926080"/>
                <a:gridCol w="2286000"/>
                <a:gridCol w="112471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到位原因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1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数据团队、葡语专家、合规审核、项目统筹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语料是第一阶段工作量最大的任务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53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2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算法与测试工程师、业务领域专家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参与国家模型训练，随后自主训练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25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3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应用开发与运营、平台运维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 APP 运营和平台管理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33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3484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99431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48970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首批组建数据团队与葡语专家，其次配置算法工程师，应用运营团队第三批到位；知识转移的 30 名核心学员从三批人员中指定，名额另计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八类岗位明细见附录 A7。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知识转移的四个阶段：578 小时、约 74 个工作日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一支能独立运行平台和模型的核心团队：30 人建立共同基础，10 人深入到独立操作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四个阶段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6459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奠基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AI 与大模型基础、项目架构、平台与职责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29184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30 小时 · 5 工作日 · 30 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2988" y="2048256"/>
            <a:ext cx="2647188" cy="1645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跟岗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9292" y="2670048"/>
            <a:ext cx="23545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讯飞操作真实的交付任务，RNP 观察并协助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9292" y="329184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360 小时 · 45 工作日 · 10 人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2048256"/>
            <a:ext cx="2647188" cy="1645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指导实操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670048"/>
            <a:ext cx="23545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操作约定任务，讯飞检查关键步骤；双方签署实操记录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9184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20 小时 · 3 工作日 · 10 人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84564" y="2048256"/>
            <a:ext cx="2647188" cy="1645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正式移交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868" y="2670048"/>
            <a:ext cx="23545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验证 RNP 独立操作，确认遗留项与支持通道；双方签署移交确认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0868" y="329184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168 小时 · 21 工作日 · 10 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51376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2452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53712"/>
            <a:ext cx="504291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课程、带教与关键步骤检查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4151376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0236" y="422452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0236" y="4553712"/>
            <a:ext cx="504291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安排时间，参与真实任务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035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4681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35838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74 个工作日是培训活动天数，分散在实施期内，不是连续工期；正式移交至少在陪伴运维结束前 3 个月启动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03504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阶段学员可重合，不要求从 30 人中固定选出 10 人；四阶段明细见附录 A8。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454396" cy="324612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能力层 · 学到什么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B7A1A"/>
                </a:solidFill>
                <a:latin typeface="微软雅黑"/>
                <a:ea typeface="微软雅黑"/>
              </a:rPr>
              <a:t>12 项课程主题，归为 4 个方向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05756" cy="20116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模型与数据评测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：训练路线、葡语数据治理、模型评测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软件栈与生命周期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：依赖、版本、运维与发布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规模化训练与推理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：并行训练、推理服务、效率优化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检索、智能体与安全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：检索增强、智能体、系统与模型安全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960120"/>
            <a:ext cx="5454396" cy="32461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6" y="118872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资产层 · 获得什么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6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35400"/>
                </a:solidFill>
                <a:latin typeface="微软雅黑"/>
                <a:ea typeface="微软雅黑"/>
              </a:rPr>
              <a:t>权重、平台、文档、支持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103120"/>
            <a:ext cx="4905756" cy="20116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55371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Capacity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443983"/>
            <a:ext cx="86227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研讨课程在批准的课程计划内；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赴华参访、专家交流、战略圆桌为建议增加，另行约定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课程主题与交流形式见附录 A9；六类岗位的学习任务见附录 A10；许可与支持条件见附录 A6。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B7A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1416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35400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51760"/>
          <a:ext cx="11274552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2194560"/>
                <a:gridCol w="578815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确认事项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资产、交付与许可矩阵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确定版本、数量、权利与费用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模型与容量验收规则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确定测试集、通过规则与负载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三项 DLM 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逐项确定场景、数据、路线，签署确认书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资源与实施计划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/ 华为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确定两批环境到位时间与里程碑月份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培训与移交计划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确定课时、学员名单、语言与日程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SOW 待对齐条款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待确认：是否本次讨论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7150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会中记录结论，会后形成双方行动清单；新增需求按书面变更处理。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附录：技术口径明细，按需查阅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840480" cy="4617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表格“口径”列的三种标记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SOW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：已写入工作范围的内容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方案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：讯飞技术方案的做法，SOW 未逐条规定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：实施前双方共同确定的数字或范围，蓝字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附录每页右上角标注了这页回答的问题。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会后可整理为技术口径文档提供 RNP。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005840"/>
          <a:ext cx="7159752" cy="4590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931920"/>
                <a:gridCol w="25877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总览表：四项成果、怎么建、谁来做、关键数字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能否提供一页总览？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能力中心：容量与验收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平台容量多大、如何验收？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国家模型：规格与升级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模型多大、之后如何升级？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语料：规模、质量与数据控制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语料需要多少、谁提供、存放在哪？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应用：服务、容量与接口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APP 谁能用、能接入什么？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DLM：范围、投入与服务验收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由谁做、做到哪一步？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交接、许可与运营支持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是否会被锁定、后续有哪些费用？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人员配置明细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每类人员多少、何时到位？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知识转移：四阶段明细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每个阶段做什么、多少天、如何签认？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知识转移：课程主题与交流形式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具体学什么、有哪些形式？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知识转移：岗位学习路径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每类岗位学什么？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总览表：四项成果，怎么建、谁来做、关键数字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小时、约 74 个工作日：奠基 30、跟岗 360、指导实操 20、正式移交 168 小时；核心学员 30 / 10 / 10 / 10 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人员配置明细：按职能归组、分三批到位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931920"/>
                <a:gridCol w="1417320"/>
                <a:gridCol w="141732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课时 / 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核心学员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课时跨主题只计一次；阶段日期按批准的知识转移计划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578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74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30/10/10/10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74 个工作日是培训活动天数之和，不是连续工期；百分比是合格核心学员的培养目标，不是验收阈值；正式移交至少在一年陪伴运维结束前 3 个月启动，不等于 168 小时从该时点开始。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学员安排不要求从 30 人中固定选出 10 人或各阶段同一批人，由 RNP 指定稳定且具备基础的学员；口径：SOW。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1B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