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811" r:id="rId2"/>
    <p:sldId id="812" r:id="rId3"/>
    <p:sldId id="842" r:id="rId20"/>
    <p:sldId id="843" r:id="rId21"/>
    <p:sldId id="844" r:id="rId22"/>
    <p:sldId id="845" r:id="rId23"/>
    <p:sldId id="846" r:id="rId24"/>
    <p:sldId id="847" r:id="rId25"/>
    <p:sldId id="848" r:id="rId26"/>
    <p:sldId id="849" r:id="rId27"/>
    <p:sldId id="850" r:id="rId28"/>
    <p:sldId id="851" r:id="rId29"/>
    <p:sldId id="852" r:id="rId30"/>
    <p:sldId id="853" r:id="rId31"/>
    <p:sldId id="854" r:id="rId32"/>
    <p:sldId id="855" r:id="rId33"/>
    <p:sldId id="856" r:id="rId34"/>
    <p:sldId id="857" r:id="rId35"/>
    <p:sldId id="858" r:id="rId36"/>
    <p:sldId id="859" r:id="rId37"/>
    <p:sldId id="860" r:id="rId38"/>
    <p:sldId id="861" r:id="rId39"/>
    <p:sldId id="862" r:id="rId40"/>
    <p:sldId id="863" r:id="rId41"/>
    <p:sldId id="864" r:id="rId42"/>
    <p:sldId id="865" r:id="rId43"/>
    <p:sldId id="866" r:id="rId44"/>
    <p:sldId id="867" r:id="rId45"/>
    <p:sldId id="868" r:id="rId46"/>
    <p:sldId id="869" r:id="rId47"/>
    <p:sldId id="870" r:id="rId48"/>
    <p:sldId id="821" r:id="rId11"/>
  </p:sldIdLst>
  <p:sldSz cx="12192000" cy="6858000"/>
  <p:notesSz cx="6858000" cy="9144000"/>
  <p:custDataLst>
    <p:tags r:id="rId1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69">
          <p15:clr>
            <a:srgbClr val="A4A3A4"/>
          </p15:clr>
        </p15:guide>
        <p15:guide id="2" pos="7502">
          <p15:clr>
            <a:srgbClr val="A4A3A4"/>
          </p15:clr>
        </p15:guide>
        <p15:guide id="3" orient="horz" pos="2387">
          <p15:clr>
            <a:srgbClr val="A4A3A4"/>
          </p15:clr>
        </p15:guide>
        <p15:guide id="4" pos="191">
          <p15:clr>
            <a:srgbClr val="A4A3A4"/>
          </p15:clr>
        </p15:guide>
        <p15:guide id="5" orient="horz" pos="746">
          <p15:clr>
            <a:srgbClr val="A4A3A4"/>
          </p15:clr>
        </p15:guide>
        <p15:guide id="6" orient="horz" pos="4201">
          <p15:clr>
            <a:srgbClr val="A4A3A4"/>
          </p15:clr>
        </p15:guide>
        <p15:guide id="7" pos="1413">
          <p15:clr>
            <a:srgbClr val="A4A3A4"/>
          </p15:clr>
        </p15:guide>
        <p15:guide id="8" pos="37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BA1"/>
    <a:srgbClr val="1CADE4"/>
    <a:srgbClr val="505864"/>
    <a:srgbClr val="F0E20B"/>
    <a:srgbClr val="D1E7F6"/>
    <a:srgbClr val="F2F2F2"/>
    <a:srgbClr val="7F7F7F"/>
    <a:srgbClr val="000000"/>
    <a:srgbClr val="D41D00"/>
    <a:srgbClr val="CCE3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71" autoAdjust="0"/>
    <p:restoredTop sz="95383" autoAdjust="0"/>
  </p:normalViewPr>
  <p:slideViewPr>
    <p:cSldViewPr snapToGrid="0" snapToObjects="1" showGuides="1">
      <p:cViewPr varScale="1">
        <p:scale>
          <a:sx n="67" d="100"/>
          <a:sy n="67" d="100"/>
        </p:scale>
        <p:origin x="708" y="72"/>
      </p:cViewPr>
      <p:guideLst>
        <p:guide pos="3869"/>
        <p:guide pos="7502"/>
        <p:guide orient="horz" pos="2387"/>
        <p:guide pos="191"/>
        <p:guide orient="horz" pos="746"/>
        <p:guide orient="horz" pos="4201"/>
        <p:guide pos="1413"/>
        <p:guide pos="37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0" d="100"/>
          <a:sy n="70" d="100"/>
        </p:scale>
        <p:origin x="3624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tags" Target="tags/tag1.xml"/><Relationship Id="rId15" Type="http://schemas.openxmlformats.org/officeDocument/2006/relationships/commentAuthors" Target="commentAuthors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/Relationships>
</file>

<file path=ppt/_rels/viewProps.xml.rels><?xml version='1.0' encoding='UTF-8' standalone='yes'?>
<Relationships xmlns="http://schemas.openxmlformats.org/package/2006/relationships"><Relationship Id="rId1" Type="http://schemas.openxmlformats.org/officeDocument/2006/relationships/slide" Target="slides/slide1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207D9A-C977-B049-B3AB-308D5FC0C364}" type="datetimeFigureOut">
              <a:rPr kumimoji="1" lang="zh-CN" altLang="en-US" smtClean="0"/>
              <a:t>2023/6/12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308F29-32F0-2946-ABB1-5042AD023C4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074901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2AF180-8060-D647-83C2-14CFB6B8A0B4}" type="datetimeFigureOut">
              <a:rPr kumimoji="1" lang="zh-CN" altLang="en-US" smtClean="0"/>
              <a:t>2023/6/12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90A175-438D-8F46-9D15-39916454810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433374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一句：这段时间，我一方面在巴西亲自牵引国家AI项目和重点应用合作，另一方面同步建设国际咨询队伍、持续支撑各区域业务。本次汇报两条线取得的成果、关键贡献，以及下一阶段如何完成商业闭环和强化组织承接。</a:t>
            </a: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0A175-438D-8F46-9D15-39916454810A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298619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dirty="0" smtClean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90A175-438D-8F46-9D15-39916454810A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7460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 sz="19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fld id="{0611ECFE-4471-4ABC-B9B9-A548CC5F23AD}" type="slidenum">
              <a:rPr lang="en-US" altLang="zh-CN" sz="1200" b="0" smtClean="0"/>
              <a:t>10</a:t>
            </a:fld>
            <a:endParaRPr lang="en-US" altLang="zh-CN" sz="1200" b="0"/>
          </a:p>
        </p:txBody>
      </p:sp>
      <p:sp>
        <p:nvSpPr>
          <p:cNvPr id="768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t>结尾只保留两条成果和一个后续方向，不再重复项目清单。</a:t>
            </a:r>
          </a:p>
        </p:txBody>
      </p:sp>
    </p:spTree>
    <p:extLst>
      <p:ext uri="{BB962C8B-B14F-4D97-AF65-F5344CB8AC3E}">
        <p14:creationId xmlns:p14="http://schemas.microsoft.com/office/powerpoint/2010/main" val="11048799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主讲2分钟。先讲公司拿到了什么，再讲本人起了什么作用，最后讲是在什么条件下完成的。全篇只在这一页评价自己，后面全部用事实。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主讲1分钟。只讲四行角色定位，不念表格。评委关心的看定位、看结果、看过程、看时间精力分别在P3、P6、案例页和P5。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主讲1分钟。强调的是同一时期两条线并行，不是先后完成。差旅和时差只作为条件说明。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主讲1分钟。讲状态变化，不讲每次会议。最后一句明确边界：合同、回款、验收未完成。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主讲2分钟。四层：障碍是什么、我怎么判断、我做了什么、发生了什么变化。不把政府批准归因个人，但写足组织材料、提出诉求、持续跟踪的责任。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主讲2分钟。这页证明的是专业判断：不只懂技术，而是把客户理想目标、供应商责任和实施路径组织成可讨论的选择。客户复述是直接证据，再接周报和TR。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备讲页，追问技术细节时使用。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备讲或主讲半分钟。要点：我处理的是交易怎样成立，不是方案讲得好不好。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备讲页。追问采购进展时用。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主讲2分钟。证明跨专业落地：识别“方案能做”与“主体能这样签、团队能这样交”的差异，并承担把问题推向解决的责任。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主讲1分钟。归因清楚：开发是研发产出，我的贡献是需求、方案、客户、资源和节奏的牵引。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备讲页。周报已记录SERPRO确认与SGP确认的区别、资源等待、开发优化及销售背景导入。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主讲1分钟。不是接手成熟团队，而是在业务已经发生、需求持续进入的情况下建立能被部署并承担任务的咨询力量。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主讲1.5分钟。重点讲右表：骨干现在能独立承担什么、哪些仍由我把关。这比“成长很快”具体。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备讲页。追问埃及时使用。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备讲页。KNG可作为全球线的追问案例：客户认知与合同范围不一致的风险管理。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主讲1.5分钟。先讲为什么需要管理判断（总集责任、伙伴集成、利润），再讲产出（五个子项目SoC）。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备讲页。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主讲1分钟。讲总监的取舍，不重复项目列表。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备讲页。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备讲页。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备讲页。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主讲1分钟。把案例收回四类角色，回应模板“各项展开述职”的要求，并过渡到不足分析。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主讲1.5分钟。不把“尚未签约”全部归为个人不足，也不回避缺口。第一项拆成经营状态、本人可改进、外部依赖三类。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主讲半分钟。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主讲半分钟。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主讲半分钟。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按学习平台记录补充课程与考试结果。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主讲1分钟。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203200">
            <a:solidFill>
              <a:srgbClr val="0C4BA1"/>
            </a:solidFill>
            <a:miter lim="800000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6" tIns="45718" rIns="91436" bIns="45718" rtlCol="0" anchor="ctr"/>
          <a:lstStyle/>
          <a:p>
            <a:pPr marL="0" indent="1270" algn="ctr">
              <a:lnSpc>
                <a:spcPct val="150000"/>
              </a:lnSpc>
            </a:pPr>
            <a:endParaRPr lang="zh-CN" altLang="en-US" sz="2105" dirty="0">
              <a:solidFill>
                <a:srgbClr val="FFFFFF"/>
              </a:solidFill>
              <a:latin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  <a14:imgEffect>
                      <a14:colorTemperature colorTemp="5300"/>
                    </a14:imgEffect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80281" y="6035042"/>
            <a:ext cx="2484707" cy="569742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2"/>
          <p:cNvSpPr>
            <a:spLocks noGrp="1"/>
          </p:cNvSpPr>
          <p:nvPr>
            <p:ph sz="quarter" idx="11"/>
          </p:nvPr>
        </p:nvSpPr>
        <p:spPr>
          <a:xfrm>
            <a:off x="363175" y="1252026"/>
            <a:ext cx="11547472" cy="518971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600">
                <a:latin typeface="+mn-ea"/>
                <a:ea typeface="+mn-ea"/>
              </a:defRPr>
            </a:lvl1pPr>
            <a:lvl2pPr marL="408305" indent="0">
              <a:lnSpc>
                <a:spcPct val="150000"/>
              </a:lnSpc>
              <a:buNone/>
              <a:defRPr sz="1050">
                <a:latin typeface="+mn-ea"/>
                <a:ea typeface="+mn-ea"/>
              </a:defRPr>
            </a:lvl2pPr>
            <a:lvl3pPr marL="816610" indent="0">
              <a:lnSpc>
                <a:spcPct val="150000"/>
              </a:lnSpc>
              <a:buNone/>
              <a:defRPr sz="1050">
                <a:latin typeface="+mn-ea"/>
                <a:ea typeface="+mn-ea"/>
              </a:defRPr>
            </a:lvl3pPr>
            <a:lvl4pPr marL="1224280" indent="0">
              <a:lnSpc>
                <a:spcPct val="150000"/>
              </a:lnSpc>
              <a:buNone/>
              <a:defRPr sz="1050">
                <a:latin typeface="+mn-ea"/>
                <a:ea typeface="+mn-ea"/>
              </a:defRPr>
            </a:lvl4pPr>
            <a:lvl5pPr marL="1632585" indent="0">
              <a:lnSpc>
                <a:spcPct val="150000"/>
              </a:lnSpc>
              <a:buNone/>
              <a:defRPr sz="1050">
                <a:latin typeface="+mn-ea"/>
                <a:ea typeface="+mn-ea"/>
              </a:defRPr>
            </a:lvl5pPr>
          </a:lstStyle>
          <a:p>
            <a:pPr lvl="0"/>
            <a:r>
              <a:rPr kumimoji="1" lang="zh-CN" altLang="en-US" dirty="0"/>
              <a:t>单击此处编辑母版文本样式</a:t>
            </a:r>
          </a:p>
        </p:txBody>
      </p:sp>
      <p:cxnSp>
        <p:nvCxnSpPr>
          <p:cNvPr id="5" name="直线连接符 4"/>
          <p:cNvCxnSpPr/>
          <p:nvPr userDrawn="1"/>
        </p:nvCxnSpPr>
        <p:spPr bwMode="auto">
          <a:xfrm>
            <a:off x="372143" y="409961"/>
            <a:ext cx="0" cy="601147"/>
          </a:xfrm>
          <a:prstGeom prst="line">
            <a:avLst/>
          </a:prstGeom>
          <a:noFill/>
          <a:ln w="57150" cap="flat" cmpd="sng" algn="ctr">
            <a:solidFill>
              <a:srgbClr val="0C4BA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475719" y="409961"/>
            <a:ext cx="11434928" cy="601147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lvl1pPr>
              <a:defRPr sz="2800">
                <a:solidFill>
                  <a:srgbClr val="0C4BA1"/>
                </a:solidFill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线连接符 8"/>
          <p:cNvCxnSpPr/>
          <p:nvPr userDrawn="1"/>
        </p:nvCxnSpPr>
        <p:spPr bwMode="auto">
          <a:xfrm>
            <a:off x="303271" y="214967"/>
            <a:ext cx="0" cy="749306"/>
          </a:xfrm>
          <a:prstGeom prst="line">
            <a:avLst/>
          </a:prstGeom>
          <a:noFill/>
          <a:ln w="12700" cap="flat" cmpd="sng" algn="ctr">
            <a:solidFill>
              <a:srgbClr val="0C4BA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标题 5"/>
          <p:cNvSpPr>
            <a:spLocks noGrp="1"/>
          </p:cNvSpPr>
          <p:nvPr>
            <p:ph type="title"/>
          </p:nvPr>
        </p:nvSpPr>
        <p:spPr>
          <a:xfrm>
            <a:off x="303271" y="487968"/>
            <a:ext cx="10515600" cy="476305"/>
          </a:xfrm>
          <a:prstGeom prst="rect">
            <a:avLst/>
          </a:prstGeom>
          <a:noFill/>
          <a:ln>
            <a:noFill/>
          </a:ln>
        </p:spPr>
        <p:txBody>
          <a:bodyPr anchor="ctr" anchorCtr="0">
            <a:normAutofit/>
          </a:bodyPr>
          <a:lstStyle>
            <a:lvl1pPr>
              <a:defRPr sz="2000" b="1">
                <a:solidFill>
                  <a:srgbClr val="0C4BA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kumimoji="1" lang="zh-CN" altLang="en-US" dirty="0" smtClean="0"/>
              <a:t>单击此处编辑母版标题样式</a:t>
            </a:r>
            <a:endParaRPr kumimoji="1" lang="zh-CN" altLang="en-US" dirty="0"/>
          </a:p>
        </p:txBody>
      </p:sp>
      <p:sp>
        <p:nvSpPr>
          <p:cNvPr id="11" name="文本占位符 17"/>
          <p:cNvSpPr>
            <a:spLocks noGrp="1"/>
          </p:cNvSpPr>
          <p:nvPr>
            <p:ph type="body" sz="quarter" idx="10"/>
          </p:nvPr>
        </p:nvSpPr>
        <p:spPr>
          <a:xfrm>
            <a:off x="286645" y="160902"/>
            <a:ext cx="4659428" cy="335378"/>
          </a:xfrm>
          <a:prstGeom prst="rect">
            <a:avLst/>
          </a:prstGeom>
          <a:solidFill>
            <a:srgbClr val="0C4BA1"/>
          </a:solidFill>
          <a:ln>
            <a:noFill/>
          </a:ln>
        </p:spPr>
        <p:txBody>
          <a:bodyPr vert="horz" wrap="square" anchor="ctr" anchorCtr="0">
            <a:noAutofit/>
          </a:bodyPr>
          <a:lstStyle>
            <a:lvl1pPr marL="0" indent="0">
              <a:buNone/>
              <a:defRPr sz="14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pPr marL="228600" marR="0" lvl="0" indent="-228600" algn="l" defTabSz="61087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defRPr/>
            </a:pPr>
            <a:endParaRPr kumimoji="1" lang="zh-CN" altLang="en-US" dirty="0"/>
          </a:p>
        </p:txBody>
      </p:sp>
      <p:sp>
        <p:nvSpPr>
          <p:cNvPr id="12" name="内容占位符 2"/>
          <p:cNvSpPr>
            <a:spLocks noGrp="1"/>
          </p:cNvSpPr>
          <p:nvPr>
            <p:ph sz="quarter" idx="11"/>
          </p:nvPr>
        </p:nvSpPr>
        <p:spPr>
          <a:xfrm>
            <a:off x="303271" y="1097431"/>
            <a:ext cx="11607378" cy="54907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>
                <a:latin typeface="微软雅黑" panose="020B0503020204020204" charset="-122"/>
                <a:ea typeface="微软雅黑" panose="020B0503020204020204" charset="-122"/>
              </a:defRPr>
            </a:lvl1pPr>
            <a:lvl2pPr marL="306070" indent="0">
              <a:lnSpc>
                <a:spcPct val="150000"/>
              </a:lnSpc>
              <a:buNone/>
              <a:defRPr sz="790">
                <a:latin typeface="+mn-ea"/>
                <a:ea typeface="+mn-ea"/>
              </a:defRPr>
            </a:lvl2pPr>
            <a:lvl3pPr marL="612775" indent="0">
              <a:lnSpc>
                <a:spcPct val="150000"/>
              </a:lnSpc>
              <a:buNone/>
              <a:defRPr sz="790">
                <a:latin typeface="+mn-ea"/>
                <a:ea typeface="+mn-ea"/>
              </a:defRPr>
            </a:lvl3pPr>
            <a:lvl4pPr marL="918210" indent="0">
              <a:lnSpc>
                <a:spcPct val="150000"/>
              </a:lnSpc>
              <a:buNone/>
              <a:defRPr sz="790">
                <a:latin typeface="+mn-ea"/>
                <a:ea typeface="+mn-ea"/>
              </a:defRPr>
            </a:lvl4pPr>
            <a:lvl5pPr marL="1224280" indent="0">
              <a:lnSpc>
                <a:spcPct val="150000"/>
              </a:lnSpc>
              <a:buNone/>
              <a:defRPr sz="790">
                <a:latin typeface="+mn-ea"/>
                <a:ea typeface="+mn-ea"/>
              </a:defRPr>
            </a:lvl5pPr>
          </a:lstStyle>
          <a:p>
            <a:pPr lvl="0"/>
            <a:r>
              <a:rPr kumimoji="1" lang="zh-CN" altLang="en-US" dirty="0" smtClean="0"/>
              <a:t>单击此处编辑母版文本样式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>
          <a:xfrm>
            <a:off x="9228909" y="6473916"/>
            <a:ext cx="2743200" cy="365125"/>
          </a:xfrm>
        </p:spPr>
        <p:txBody>
          <a:bodyPr/>
          <a:lstStyle/>
          <a:p>
            <a:fld id="{0F28217F-644D-4A0A-AEE9-46C265F22BE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线连接符 8"/>
          <p:cNvCxnSpPr/>
          <p:nvPr userDrawn="1"/>
        </p:nvCxnSpPr>
        <p:spPr bwMode="auto">
          <a:xfrm>
            <a:off x="296671" y="260219"/>
            <a:ext cx="2584" cy="626836"/>
          </a:xfrm>
          <a:prstGeom prst="line">
            <a:avLst/>
          </a:prstGeom>
          <a:noFill/>
          <a:ln w="76200" cap="flat" cmpd="sng" algn="ctr">
            <a:solidFill>
              <a:srgbClr val="0C4BA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标题 5"/>
          <p:cNvSpPr>
            <a:spLocks noGrp="1"/>
          </p:cNvSpPr>
          <p:nvPr>
            <p:ph type="title"/>
          </p:nvPr>
        </p:nvSpPr>
        <p:spPr>
          <a:xfrm>
            <a:off x="479548" y="273064"/>
            <a:ext cx="11357995" cy="601147"/>
          </a:xfrm>
          <a:prstGeom prst="rect">
            <a:avLst/>
          </a:prstGeom>
          <a:noFill/>
          <a:ln>
            <a:noFill/>
          </a:ln>
        </p:spPr>
        <p:txBody>
          <a:bodyPr anchor="ctr" anchorCtr="0">
            <a:normAutofit/>
          </a:bodyPr>
          <a:lstStyle>
            <a:lvl1pPr>
              <a:defRPr sz="2400" b="1">
                <a:solidFill>
                  <a:srgbClr val="0C4B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12" name="内容占位符 2"/>
          <p:cNvSpPr>
            <a:spLocks noGrp="1"/>
          </p:cNvSpPr>
          <p:nvPr>
            <p:ph sz="quarter" idx="11"/>
          </p:nvPr>
        </p:nvSpPr>
        <p:spPr>
          <a:xfrm>
            <a:off x="285772" y="1091306"/>
            <a:ext cx="11557497" cy="5683566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06288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612577" indent="0">
              <a:lnSpc>
                <a:spcPct val="150000"/>
              </a:lnSpc>
              <a:buNone/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917972" indent="0">
              <a:lnSpc>
                <a:spcPct val="150000"/>
              </a:lnSpc>
              <a:buNone/>
              <a:defRPr sz="788">
                <a:latin typeface="+mn-ea"/>
                <a:ea typeface="+mn-ea"/>
              </a:defRPr>
            </a:lvl4pPr>
            <a:lvl5pPr marL="1224260" indent="0">
              <a:lnSpc>
                <a:spcPct val="150000"/>
              </a:lnSpc>
              <a:buNone/>
              <a:defRPr sz="788">
                <a:latin typeface="+mn-ea"/>
                <a:ea typeface="+mn-ea"/>
              </a:defRPr>
            </a:lvl5pPr>
          </a:lstStyle>
          <a:p>
            <a:pPr lvl="0"/>
            <a:r>
              <a:rPr kumimoji="1" lang="zh-CN" altLang="en-US" dirty="0"/>
              <a:t>单击此处编辑母版文本样式</a:t>
            </a:r>
            <a:endParaRPr kumimoji="1" lang="en-US" altLang="zh-CN" dirty="0"/>
          </a:p>
          <a:p>
            <a:pPr marL="306288" marR="0" lvl="1" indent="0" algn="l" defTabSz="914400" rtl="0" eaLnBrk="1" fontAlgn="auto" latinLnBrk="0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zh-CN" altLang="en-US" dirty="0"/>
              <a:t>单击此处编辑母版文本样式</a:t>
            </a:r>
            <a:endParaRPr kumimoji="1" lang="en-US" altLang="zh-CN" dirty="0"/>
          </a:p>
          <a:p>
            <a:pPr marL="612577" marR="0" lvl="2" indent="0" algn="l" defTabSz="914400" rtl="0" eaLnBrk="1" fontAlgn="auto" latinLnBrk="0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zh-CN" altLang="en-US" dirty="0"/>
              <a:t>单击此处编辑母版文本样式</a:t>
            </a:r>
            <a:endParaRPr kumimoji="1" lang="en-US" altLang="zh-CN" dirty="0"/>
          </a:p>
          <a:p>
            <a:pPr marL="306288" marR="0" lvl="1" indent="0" algn="l" defTabSz="914400" rtl="0" eaLnBrk="1" fontAlgn="auto" latinLnBrk="0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en-US" altLang="zh-CN" dirty="0"/>
          </a:p>
          <a:p>
            <a:pPr lvl="0"/>
            <a:endParaRPr kumimoji="1" lang="zh-CN" altLang="en-US" dirty="0"/>
          </a:p>
        </p:txBody>
      </p:sp>
      <p:cxnSp>
        <p:nvCxnSpPr>
          <p:cNvPr id="7" name="直线连接符 8"/>
          <p:cNvCxnSpPr/>
          <p:nvPr userDrawn="1"/>
        </p:nvCxnSpPr>
        <p:spPr bwMode="auto">
          <a:xfrm>
            <a:off x="388110" y="260219"/>
            <a:ext cx="2584" cy="626836"/>
          </a:xfrm>
          <a:prstGeom prst="line">
            <a:avLst/>
          </a:prstGeom>
          <a:noFill/>
          <a:ln w="38100" cap="flat" cmpd="sng" algn="ctr">
            <a:solidFill>
              <a:srgbClr val="0C4BA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" name="直线连接符 8"/>
          <p:cNvCxnSpPr/>
          <p:nvPr userDrawn="1"/>
        </p:nvCxnSpPr>
        <p:spPr bwMode="auto">
          <a:xfrm>
            <a:off x="466068" y="260219"/>
            <a:ext cx="2584" cy="626836"/>
          </a:xfrm>
          <a:prstGeom prst="line">
            <a:avLst/>
          </a:prstGeom>
          <a:noFill/>
          <a:ln w="19050" cap="flat" cmpd="sng" algn="ctr">
            <a:solidFill>
              <a:srgbClr val="0C4BA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8622245"/>
      </p:ext>
    </p:extLst>
  </p:cSld>
  <p:clrMapOvr>
    <a:masterClrMapping/>
  </p:clrMapOvr>
  <p:transition/>
  <p:extLst mod="1">
    <p:ext uri="{DCECCB84-F9BA-43D5-87BE-67443E8EF086}">
      <p15:sldGuideLst xmlns:p15="http://schemas.microsoft.com/office/powerpoint/2012/main">
        <p15:guide id="1" orient="horz" pos="164">
          <p15:clr>
            <a:srgbClr val="FBAE40"/>
          </p15:clr>
        </p15:guide>
        <p15:guide id="2" pos="166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slow" advClick="0"/>
  <p:hf hdr="0" dt="0"/>
  <p:txStyles>
    <p:titleStyle>
      <a:lvl1pPr algn="l" defTabSz="814705" rtl="0" eaLnBrk="0" fontAlgn="base" hangingPunct="0">
        <a:spcBef>
          <a:spcPct val="0"/>
        </a:spcBef>
        <a:spcAft>
          <a:spcPct val="0"/>
        </a:spcAft>
        <a:defRPr kumimoji="1" lang="zh-CN" altLang="en-US" sz="2700" b="1" kern="1200">
          <a:solidFill>
            <a:schemeClr val="bg1"/>
          </a:solidFill>
          <a:latin typeface="+mj-ea"/>
          <a:ea typeface="+mj-ea"/>
          <a:cs typeface="微软雅黑" panose="020B0503020204020204" charset="-122"/>
        </a:defRPr>
      </a:lvl1pPr>
      <a:lvl2pPr algn="l" defTabSz="814705" rtl="0" eaLnBrk="0" fontAlgn="base" hangingPunct="0">
        <a:spcBef>
          <a:spcPct val="0"/>
        </a:spcBef>
        <a:spcAft>
          <a:spcPct val="0"/>
        </a:spcAft>
        <a:defRPr kumimoji="1" sz="3375" b="1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2pPr>
      <a:lvl3pPr algn="l" defTabSz="814705" rtl="0" eaLnBrk="0" fontAlgn="base" hangingPunct="0">
        <a:spcBef>
          <a:spcPct val="0"/>
        </a:spcBef>
        <a:spcAft>
          <a:spcPct val="0"/>
        </a:spcAft>
        <a:defRPr kumimoji="1" sz="3375" b="1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3pPr>
      <a:lvl4pPr algn="l" defTabSz="814705" rtl="0" eaLnBrk="0" fontAlgn="base" hangingPunct="0">
        <a:spcBef>
          <a:spcPct val="0"/>
        </a:spcBef>
        <a:spcAft>
          <a:spcPct val="0"/>
        </a:spcAft>
        <a:defRPr kumimoji="1" sz="3375" b="1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4pPr>
      <a:lvl5pPr algn="l" defTabSz="814705" rtl="0" eaLnBrk="0" fontAlgn="base" hangingPunct="0">
        <a:spcBef>
          <a:spcPct val="0"/>
        </a:spcBef>
        <a:spcAft>
          <a:spcPct val="0"/>
        </a:spcAft>
        <a:defRPr kumimoji="1" sz="3375" b="1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5pPr>
      <a:lvl6pPr marL="390525" algn="ctr" defTabSz="816610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bg1"/>
          </a:solidFill>
          <a:latin typeface="Times New Roman" panose="02020603050405020304" pitchFamily="18" charset="0"/>
          <a:ea typeface="方正大黑简体" pitchFamily="2" charset="-122"/>
        </a:defRPr>
      </a:lvl6pPr>
      <a:lvl7pPr marL="781685" algn="ctr" defTabSz="816610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bg1"/>
          </a:solidFill>
          <a:latin typeface="Times New Roman" panose="02020603050405020304" pitchFamily="18" charset="0"/>
          <a:ea typeface="方正大黑简体" pitchFamily="2" charset="-122"/>
        </a:defRPr>
      </a:lvl7pPr>
      <a:lvl8pPr marL="1172210" algn="ctr" defTabSz="816610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bg1"/>
          </a:solidFill>
          <a:latin typeface="Times New Roman" panose="02020603050405020304" pitchFamily="18" charset="0"/>
          <a:ea typeface="方正大黑简体" pitchFamily="2" charset="-122"/>
        </a:defRPr>
      </a:lvl8pPr>
      <a:lvl9pPr marL="1562735" algn="ctr" defTabSz="816610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bg1"/>
          </a:solidFill>
          <a:latin typeface="Times New Roman" panose="02020603050405020304" pitchFamily="18" charset="0"/>
          <a:ea typeface="方正大黑简体" pitchFamily="2" charset="-122"/>
        </a:defRPr>
      </a:lvl9pPr>
    </p:titleStyle>
    <p:bodyStyle>
      <a:lvl1pPr marL="304800" indent="-304800" algn="l" defTabSz="814705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微软雅黑" panose="020B0503020204020204" charset="-122"/>
        </a:defRPr>
      </a:lvl1pPr>
      <a:lvl2pPr marL="662305" indent="-253365" algn="l" defTabSz="814705" rtl="0" eaLnBrk="0" fontAlgn="base" hangingPunct="0">
        <a:spcBef>
          <a:spcPct val="20000"/>
        </a:spcBef>
        <a:spcAft>
          <a:spcPct val="0"/>
        </a:spcAft>
        <a:buChar char="–"/>
        <a:defRPr kumimoji="1" sz="2175">
          <a:solidFill>
            <a:schemeClr val="tx1"/>
          </a:solidFill>
          <a:latin typeface="+mn-lt"/>
          <a:ea typeface="+mn-ea"/>
          <a:cs typeface="微软雅黑" panose="020B0503020204020204" charset="-122"/>
        </a:defRPr>
      </a:lvl2pPr>
      <a:lvl3pPr marL="1017905" indent="-201295" algn="l" defTabSz="814705" rtl="0" eaLnBrk="0" fontAlgn="base" hangingPunct="0">
        <a:spcBef>
          <a:spcPct val="20000"/>
        </a:spcBef>
        <a:spcAft>
          <a:spcPct val="0"/>
        </a:spcAft>
        <a:buChar char="•"/>
        <a:defRPr kumimoji="1" sz="2100">
          <a:solidFill>
            <a:schemeClr val="tx1"/>
          </a:solidFill>
          <a:latin typeface="+mn-lt"/>
          <a:ea typeface="+mn-ea"/>
          <a:cs typeface="微软雅黑" panose="020B0503020204020204" charset="-122"/>
        </a:defRPr>
      </a:lvl3pPr>
      <a:lvl4pPr marL="1426210" indent="-202565" algn="l" defTabSz="814705" rtl="0" eaLnBrk="0" fontAlgn="base" hangingPunct="0">
        <a:spcBef>
          <a:spcPct val="20000"/>
        </a:spcBef>
        <a:spcAft>
          <a:spcPct val="0"/>
        </a:spcAft>
        <a:buChar char="–"/>
        <a:defRPr kumimoji="1" sz="1800">
          <a:solidFill>
            <a:schemeClr val="tx1"/>
          </a:solidFill>
          <a:latin typeface="+mn-lt"/>
          <a:ea typeface="+mn-ea"/>
          <a:cs typeface="微软雅黑" panose="020B0503020204020204" charset="-122"/>
        </a:defRPr>
      </a:lvl4pPr>
      <a:lvl5pPr marL="1834515" indent="-202565" algn="l" defTabSz="814705" rtl="0" eaLnBrk="0" fontAlgn="base" hangingPunct="0">
        <a:spcBef>
          <a:spcPct val="20000"/>
        </a:spcBef>
        <a:spcAft>
          <a:spcPct val="0"/>
        </a:spcAft>
        <a:buChar char="»"/>
        <a:defRPr kumimoji="1" sz="1800">
          <a:solidFill>
            <a:schemeClr val="tx1"/>
          </a:solidFill>
          <a:latin typeface="+mn-lt"/>
          <a:ea typeface="+mn-ea"/>
          <a:cs typeface="微软雅黑" panose="020B0503020204020204" charset="-122"/>
        </a:defRPr>
      </a:lvl5pPr>
      <a:lvl6pPr marL="2227580" indent="-205105" algn="l" defTabSz="816610" rtl="0" eaLnBrk="1" fontAlgn="base" hangingPunct="1">
        <a:spcBef>
          <a:spcPct val="20000"/>
        </a:spcBef>
        <a:spcAft>
          <a:spcPct val="0"/>
        </a:spcAft>
        <a:buChar char="»"/>
        <a:defRPr kumimoji="1" sz="1800">
          <a:solidFill>
            <a:schemeClr val="tx1"/>
          </a:solidFill>
          <a:latin typeface="+mn-lt"/>
          <a:ea typeface="+mn-ea"/>
        </a:defRPr>
      </a:lvl6pPr>
      <a:lvl7pPr marL="2618105" indent="-205105" algn="l" defTabSz="816610" rtl="0" eaLnBrk="1" fontAlgn="base" hangingPunct="1">
        <a:spcBef>
          <a:spcPct val="20000"/>
        </a:spcBef>
        <a:spcAft>
          <a:spcPct val="0"/>
        </a:spcAft>
        <a:buChar char="»"/>
        <a:defRPr kumimoji="1" sz="1800">
          <a:solidFill>
            <a:schemeClr val="tx1"/>
          </a:solidFill>
          <a:latin typeface="+mn-lt"/>
          <a:ea typeface="+mn-ea"/>
        </a:defRPr>
      </a:lvl7pPr>
      <a:lvl8pPr marL="3008630" indent="-205105" algn="l" defTabSz="816610" rtl="0" eaLnBrk="1" fontAlgn="base" hangingPunct="1">
        <a:spcBef>
          <a:spcPct val="20000"/>
        </a:spcBef>
        <a:spcAft>
          <a:spcPct val="0"/>
        </a:spcAft>
        <a:buChar char="»"/>
        <a:defRPr kumimoji="1" sz="1800">
          <a:solidFill>
            <a:schemeClr val="tx1"/>
          </a:solidFill>
          <a:latin typeface="+mn-lt"/>
          <a:ea typeface="+mn-ea"/>
        </a:defRPr>
      </a:lvl8pPr>
      <a:lvl9pPr marL="3399790" indent="-205105" algn="l" defTabSz="816610" rtl="0" eaLnBrk="1" fontAlgn="base" hangingPunct="1">
        <a:spcBef>
          <a:spcPct val="20000"/>
        </a:spcBef>
        <a:spcAft>
          <a:spcPct val="0"/>
        </a:spcAft>
        <a:buChar char="»"/>
        <a:defRPr kumimoji="1"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7816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90525" algn="l" defTabSz="7816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81685" algn="l" defTabSz="7816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72210" algn="l" defTabSz="7816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62735" algn="l" defTabSz="7816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53260" algn="l" defTabSz="7816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344420" algn="l" defTabSz="7816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34945" algn="l" defTabSz="7816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125470" algn="l" defTabSz="7816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1774825" y="1848717"/>
            <a:ext cx="8642350" cy="108839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ctr" defTabSz="915035" fontAlgn="base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5400" b="1" dirty="0">
                <a:solidFill>
                  <a:srgbClr val="0C4BA1"/>
                </a:solidFill>
                <a:latin typeface="+mn-ea"/>
              </a:rPr>
              <a:t>干部试用期转正述职</a:t>
            </a: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3355848" y="4526280"/>
            <a:ext cx="5486400" cy="10972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>
            <a:spAutoFit/>
          </a:bodyPr>
          <a:lstStyle/>
          <a:p>
            <a:pPr algn="ctr" defTabSz="915035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rgbClr val="0C4BA1"/>
                </a:solidFill>
                <a:latin typeface="微软雅黑" panose="020B0503020204020204" charset="-122"/>
                <a:ea typeface="微软雅黑" panose="020B0503020204020204" charset="-122"/>
              </a:rPr>
              <a:t>汇报人：陈昊　市场咨询总监</a:t>
            </a:r>
          </a:p>
          <a:p>
            <a:pPr algn="ctr" defTabSz="915035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rgbClr val="0C4BA1"/>
                </a:solidFill>
                <a:latin typeface="微软雅黑" panose="020B0503020204020204" charset="-122"/>
                <a:ea typeface="微软雅黑" panose="020B0503020204020204" charset="-122"/>
              </a:rPr>
              <a:t>2026年9月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3936" y="2999232"/>
            <a:ext cx="8641080" cy="54864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0A2A5E"/>
                </a:solidFill>
              </a:rPr>
              <a:t>国家级战略业务突破与国际咨询能力建设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目录</a:t>
            </a:r>
            <a:endParaRPr lang="zh-CN" altLang="en-US" dirty="0"/>
          </a:p>
        </p:txBody>
      </p:sp>
      <p:sp>
        <p:nvSpPr>
          <p:cNvPr id="27" name="矩形 26"/>
          <p:cNvSpPr/>
          <p:nvPr/>
        </p:nvSpPr>
        <p:spPr>
          <a:xfrm>
            <a:off x="1880789" y="6350691"/>
            <a:ext cx="8576196" cy="3683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zh-CN" altLang="en-US" b="1" dirty="0">
                <a:solidFill>
                  <a:schemeClr val="bg1">
                    <a:lumMod val="7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黑体" panose="02010609060101010101" charset="-122"/>
              </a:rPr>
              <a:t>注：转正述职</a:t>
            </a:r>
            <a:r>
              <a:rPr lang="zh-CN" altLang="en-US" b="1" dirty="0" smtClean="0">
                <a:solidFill>
                  <a:schemeClr val="bg1">
                    <a:lumMod val="7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黑体" panose="02010609060101010101" charset="-122"/>
              </a:rPr>
              <a:t>共</a:t>
            </a:r>
            <a:r>
              <a:rPr lang="en-US" altLang="zh-CN" b="1" dirty="0" smtClean="0">
                <a:solidFill>
                  <a:schemeClr val="bg1">
                    <a:lumMod val="7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黑体" panose="02010609060101010101" charset="-122"/>
              </a:rPr>
              <a:t>40</a:t>
            </a:r>
            <a:r>
              <a:rPr lang="zh-CN" altLang="en-US" b="1" dirty="0" smtClean="0">
                <a:solidFill>
                  <a:schemeClr val="bg1">
                    <a:lumMod val="7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黑体" panose="02010609060101010101" charset="-122"/>
              </a:rPr>
              <a:t>分钟</a:t>
            </a:r>
            <a:r>
              <a:rPr lang="zh-CN" altLang="en-US" b="1" dirty="0">
                <a:solidFill>
                  <a:schemeClr val="bg1">
                    <a:lumMod val="7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黑体" panose="02010609060101010101" charset="-122"/>
              </a:rPr>
              <a:t>。其中</a:t>
            </a:r>
            <a:r>
              <a:rPr lang="en-US" altLang="zh-CN" b="1" dirty="0">
                <a:solidFill>
                  <a:schemeClr val="bg1">
                    <a:lumMod val="7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黑体" panose="02010609060101010101" charset="-122"/>
              </a:rPr>
              <a:t>,</a:t>
            </a:r>
            <a:r>
              <a:rPr lang="zh-CN" altLang="en-US" b="1" dirty="0">
                <a:solidFill>
                  <a:schemeClr val="bg1">
                    <a:lumMod val="7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黑体" panose="02010609060101010101" charset="-122"/>
              </a:rPr>
              <a:t>汇报</a:t>
            </a:r>
            <a:r>
              <a:rPr lang="en-US" altLang="zh-CN" b="1" dirty="0" smtClean="0">
                <a:solidFill>
                  <a:schemeClr val="bg1">
                    <a:lumMod val="7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黑体" panose="02010609060101010101" charset="-122"/>
              </a:rPr>
              <a:t>20</a:t>
            </a:r>
            <a:r>
              <a:rPr lang="zh-CN" altLang="en-US" b="1" dirty="0" smtClean="0">
                <a:solidFill>
                  <a:schemeClr val="bg1">
                    <a:lumMod val="7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黑体" panose="02010609060101010101" charset="-122"/>
              </a:rPr>
              <a:t>分钟</a:t>
            </a:r>
            <a:r>
              <a:rPr lang="zh-CN" altLang="en-US" b="1" dirty="0">
                <a:solidFill>
                  <a:schemeClr val="bg1">
                    <a:lumMod val="7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黑体" panose="02010609060101010101" charset="-122"/>
              </a:rPr>
              <a:t>，领导点评及沟通交流</a:t>
            </a:r>
            <a:r>
              <a:rPr lang="en-US" altLang="zh-CN" b="1" dirty="0" smtClean="0">
                <a:solidFill>
                  <a:schemeClr val="bg1">
                    <a:lumMod val="7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黑体" panose="02010609060101010101" charset="-122"/>
              </a:rPr>
              <a:t>20</a:t>
            </a:r>
            <a:r>
              <a:rPr lang="zh-CN" altLang="en-US" b="1" dirty="0" smtClean="0">
                <a:solidFill>
                  <a:schemeClr val="bg1">
                    <a:lumMod val="7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黑体" panose="02010609060101010101" charset="-122"/>
              </a:rPr>
              <a:t>分钟</a:t>
            </a:r>
            <a:endParaRPr lang="en-US" altLang="zh-CN" b="1" dirty="0">
              <a:solidFill>
                <a:schemeClr val="bg1">
                  <a:lumMod val="75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  <a:cs typeface="黑体" panose="02010609060101010101" charset="-122"/>
            </a:endParaRPr>
          </a:p>
        </p:txBody>
      </p:sp>
      <p:grpSp>
        <p:nvGrpSpPr>
          <p:cNvPr id="30" name="组合 29"/>
          <p:cNvGrpSpPr/>
          <p:nvPr/>
        </p:nvGrpSpPr>
        <p:grpSpPr>
          <a:xfrm>
            <a:off x="4100090" y="1239266"/>
            <a:ext cx="7143750" cy="405765"/>
            <a:chOff x="3758" y="1855"/>
            <a:chExt cx="11250" cy="639"/>
          </a:xfrm>
        </p:grpSpPr>
        <p:sp>
          <p:nvSpPr>
            <p:cNvPr id="32" name="矩形 31"/>
            <p:cNvSpPr/>
            <p:nvPr/>
          </p:nvSpPr>
          <p:spPr>
            <a:xfrm>
              <a:off x="5794" y="1855"/>
              <a:ext cx="131" cy="635"/>
            </a:xfrm>
            <a:prstGeom prst="rect">
              <a:avLst/>
            </a:prstGeom>
            <a:solidFill>
              <a:srgbClr val="0C4BA1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/>
          </p:spPr>
          <p:txBody>
            <a:bodyPr lIns="74808" tIns="37405" rIns="74808" bIns="37405" rtlCol="0" anchor="ctr"/>
            <a:lstStyle/>
            <a:p>
              <a:pPr indent="1270" algn="ctr">
                <a:lnSpc>
                  <a:spcPct val="150000"/>
                </a:lnSpc>
                <a:defRPr/>
              </a:pPr>
              <a:endParaRPr kumimoji="1" lang="zh-CN" altLang="en-US" sz="1670" kern="0" dirty="0">
                <a:solidFill>
                  <a:srgbClr val="FFFFFF"/>
                </a:solidFill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6098" y="1855"/>
              <a:ext cx="8910" cy="6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zh-CN" altLang="en-US" sz="2000" b="1" kern="0" dirty="0" smtClean="0">
                  <a:solidFill>
                    <a:srgbClr val="0C4BA1"/>
                  </a:solidFill>
                  <a:cs typeface="黑体" panose="02010609060101010101" charset="-122"/>
                </a:rPr>
                <a:t>管理角色澄清与成果回顾</a:t>
              </a:r>
            </a:p>
          </p:txBody>
        </p:sp>
        <p:sp>
          <p:nvSpPr>
            <p:cNvPr id="35" name="矩形 34"/>
            <p:cNvSpPr/>
            <p:nvPr/>
          </p:nvSpPr>
          <p:spPr>
            <a:xfrm>
              <a:off x="3758" y="1864"/>
              <a:ext cx="1898" cy="630"/>
            </a:xfrm>
            <a:prstGeom prst="rect">
              <a:avLst/>
            </a:prstGeom>
            <a:solidFill>
              <a:srgbClr val="0C4BA1"/>
            </a:solidFill>
          </p:spPr>
          <p:txBody>
            <a:bodyPr wrap="square" anchor="ctr" anchorCtr="0">
              <a:spAutoFit/>
            </a:bodyPr>
            <a:lstStyle/>
            <a:p>
              <a:pPr algn="ctr">
                <a:defRPr/>
              </a:pPr>
              <a:r>
                <a:rPr kumimoji="1" lang="en-US" altLang="zh-CN" sz="2000" b="1" kern="0" dirty="0">
                  <a:solidFill>
                    <a:prstClr val="white"/>
                  </a:solidFill>
                  <a:cs typeface="黑体" panose="02010609060101010101" charset="-122"/>
                </a:rPr>
                <a:t>Part</a:t>
              </a:r>
              <a:r>
                <a:rPr kumimoji="1" lang="zh-CN" altLang="en-US" sz="2000" b="1" kern="0" dirty="0">
                  <a:solidFill>
                    <a:prstClr val="white"/>
                  </a:solidFill>
                  <a:cs typeface="黑体" panose="02010609060101010101" charset="-122"/>
                </a:rPr>
                <a:t> </a:t>
              </a:r>
              <a:r>
                <a:rPr kumimoji="1" lang="en-US" altLang="zh-CN" sz="2000" b="1" kern="0" dirty="0">
                  <a:solidFill>
                    <a:prstClr val="white"/>
                  </a:solidFill>
                  <a:cs typeface="黑体" panose="02010609060101010101" charset="-122"/>
                </a:rPr>
                <a:t>1</a:t>
              </a:r>
              <a:endParaRPr kumimoji="1" lang="zh-CN" altLang="en-US" sz="2000" b="1" kern="0" dirty="0">
                <a:solidFill>
                  <a:prstClr val="white"/>
                </a:solidFill>
                <a:cs typeface="黑体" panose="02010609060101010101" charset="-122"/>
              </a:endParaRPr>
            </a:p>
          </p:txBody>
        </p:sp>
      </p:grpSp>
      <p:grpSp>
        <p:nvGrpSpPr>
          <p:cNvPr id="36" name="组合 35"/>
          <p:cNvGrpSpPr/>
          <p:nvPr/>
        </p:nvGrpSpPr>
        <p:grpSpPr>
          <a:xfrm>
            <a:off x="4100090" y="2073084"/>
            <a:ext cx="7143750" cy="405765"/>
            <a:chOff x="3758" y="1855"/>
            <a:chExt cx="11250" cy="639"/>
          </a:xfrm>
        </p:grpSpPr>
        <p:sp>
          <p:nvSpPr>
            <p:cNvPr id="37" name="矩形 36"/>
            <p:cNvSpPr/>
            <p:nvPr/>
          </p:nvSpPr>
          <p:spPr>
            <a:xfrm>
              <a:off x="5794" y="1855"/>
              <a:ext cx="131" cy="635"/>
            </a:xfrm>
            <a:prstGeom prst="rect">
              <a:avLst/>
            </a:prstGeom>
            <a:solidFill>
              <a:srgbClr val="0C4BA1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/>
          </p:spPr>
          <p:txBody>
            <a:bodyPr lIns="74808" tIns="37405" rIns="74808" bIns="37405" rtlCol="0" anchor="ctr"/>
            <a:lstStyle/>
            <a:p>
              <a:pPr indent="1270" algn="ctr">
                <a:lnSpc>
                  <a:spcPct val="150000"/>
                </a:lnSpc>
                <a:defRPr/>
              </a:pPr>
              <a:endParaRPr kumimoji="1" lang="zh-CN" altLang="en-US" sz="1670" kern="0" dirty="0">
                <a:solidFill>
                  <a:srgbClr val="FFFFFF"/>
                </a:solidFill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6098" y="1855"/>
              <a:ext cx="8910" cy="6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zh-CN" altLang="en-US" sz="2000" b="1" kern="0" dirty="0" smtClean="0">
                  <a:solidFill>
                    <a:srgbClr val="0C4BA1"/>
                  </a:solidFill>
                  <a:cs typeface="黑体" panose="02010609060101010101" charset="-122"/>
                </a:rPr>
                <a:t>不足分析与改进</a:t>
              </a:r>
              <a:endParaRPr kumimoji="1" lang="zh-CN" altLang="en-US" sz="2000" b="1" kern="0" dirty="0">
                <a:solidFill>
                  <a:srgbClr val="0C4BA1"/>
                </a:solidFill>
                <a:cs typeface="黑体" panose="02010609060101010101" charset="-122"/>
              </a:endParaRPr>
            </a:p>
          </p:txBody>
        </p:sp>
        <p:sp>
          <p:nvSpPr>
            <p:cNvPr id="39" name="矩形 38"/>
            <p:cNvSpPr/>
            <p:nvPr/>
          </p:nvSpPr>
          <p:spPr>
            <a:xfrm>
              <a:off x="3758" y="1864"/>
              <a:ext cx="1898" cy="630"/>
            </a:xfrm>
            <a:prstGeom prst="rect">
              <a:avLst/>
            </a:prstGeom>
            <a:solidFill>
              <a:srgbClr val="0C4BA1"/>
            </a:solidFill>
          </p:spPr>
          <p:txBody>
            <a:bodyPr wrap="square" anchor="ctr" anchorCtr="0">
              <a:spAutoFit/>
            </a:bodyPr>
            <a:lstStyle/>
            <a:p>
              <a:pPr algn="ctr">
                <a:defRPr/>
              </a:pPr>
              <a:r>
                <a:rPr kumimoji="1" lang="en-US" altLang="zh-CN" sz="2000" b="1" kern="0" dirty="0">
                  <a:solidFill>
                    <a:prstClr val="white"/>
                  </a:solidFill>
                  <a:cs typeface="黑体" panose="02010609060101010101" charset="-122"/>
                </a:rPr>
                <a:t>Part</a:t>
              </a:r>
              <a:r>
                <a:rPr kumimoji="1" lang="zh-CN" altLang="en-US" sz="2000" b="1" kern="0" dirty="0">
                  <a:solidFill>
                    <a:prstClr val="white"/>
                  </a:solidFill>
                  <a:cs typeface="黑体" panose="02010609060101010101" charset="-122"/>
                </a:rPr>
                <a:t> </a:t>
              </a:r>
              <a:r>
                <a:rPr kumimoji="1" lang="en-US" altLang="zh-CN" sz="2000" b="1" kern="0" dirty="0" smtClean="0">
                  <a:solidFill>
                    <a:prstClr val="white"/>
                  </a:solidFill>
                  <a:cs typeface="黑体" panose="02010609060101010101" charset="-122"/>
                </a:rPr>
                <a:t>2</a:t>
              </a:r>
              <a:endParaRPr kumimoji="1" lang="zh-CN" altLang="en-US" sz="2000" b="1" kern="0" dirty="0">
                <a:solidFill>
                  <a:prstClr val="white"/>
                </a:solidFill>
                <a:cs typeface="黑体" panose="02010609060101010101" charset="-122"/>
              </a:endParaRPr>
            </a:p>
          </p:txBody>
        </p:sp>
      </p:grpSp>
      <p:grpSp>
        <p:nvGrpSpPr>
          <p:cNvPr id="40" name="组合 39"/>
          <p:cNvGrpSpPr/>
          <p:nvPr/>
        </p:nvGrpSpPr>
        <p:grpSpPr>
          <a:xfrm>
            <a:off x="4100090" y="2893450"/>
            <a:ext cx="7143750" cy="405765"/>
            <a:chOff x="3758" y="1855"/>
            <a:chExt cx="11250" cy="639"/>
          </a:xfrm>
        </p:grpSpPr>
        <p:sp>
          <p:nvSpPr>
            <p:cNvPr id="41" name="矩形 40"/>
            <p:cNvSpPr/>
            <p:nvPr/>
          </p:nvSpPr>
          <p:spPr>
            <a:xfrm>
              <a:off x="5794" y="1855"/>
              <a:ext cx="131" cy="635"/>
            </a:xfrm>
            <a:prstGeom prst="rect">
              <a:avLst/>
            </a:prstGeom>
            <a:solidFill>
              <a:srgbClr val="0C4BA1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/>
          </p:spPr>
          <p:txBody>
            <a:bodyPr lIns="74808" tIns="37405" rIns="74808" bIns="37405" rtlCol="0" anchor="ctr"/>
            <a:lstStyle/>
            <a:p>
              <a:pPr indent="1270" algn="ctr">
                <a:lnSpc>
                  <a:spcPct val="150000"/>
                </a:lnSpc>
                <a:defRPr/>
              </a:pPr>
              <a:endParaRPr kumimoji="1" lang="zh-CN" altLang="en-US" sz="1670" kern="0" dirty="0">
                <a:solidFill>
                  <a:srgbClr val="FFFFFF"/>
                </a:solidFill>
              </a:endParaRPr>
            </a:p>
          </p:txBody>
        </p:sp>
        <p:sp>
          <p:nvSpPr>
            <p:cNvPr id="42" name="矩形 41"/>
            <p:cNvSpPr/>
            <p:nvPr/>
          </p:nvSpPr>
          <p:spPr>
            <a:xfrm>
              <a:off x="6098" y="1855"/>
              <a:ext cx="8910" cy="6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zh-CN" altLang="en-US" sz="2000" b="1" kern="0" dirty="0" smtClean="0">
                  <a:solidFill>
                    <a:srgbClr val="0C4BA1"/>
                  </a:solidFill>
                  <a:cs typeface="黑体" panose="02010609060101010101" charset="-122"/>
                </a:rPr>
                <a:t>工作规划与路径</a:t>
              </a:r>
              <a:endParaRPr kumimoji="1" lang="zh-CN" altLang="en-US" sz="2000" b="1" kern="0" dirty="0">
                <a:solidFill>
                  <a:srgbClr val="0C4BA1"/>
                </a:solidFill>
                <a:cs typeface="黑体" panose="02010609060101010101" charset="-122"/>
              </a:endParaRPr>
            </a:p>
          </p:txBody>
        </p:sp>
        <p:sp>
          <p:nvSpPr>
            <p:cNvPr id="43" name="矩形 42"/>
            <p:cNvSpPr/>
            <p:nvPr/>
          </p:nvSpPr>
          <p:spPr>
            <a:xfrm>
              <a:off x="3758" y="1864"/>
              <a:ext cx="1898" cy="630"/>
            </a:xfrm>
            <a:prstGeom prst="rect">
              <a:avLst/>
            </a:prstGeom>
            <a:solidFill>
              <a:srgbClr val="0C4BA1"/>
            </a:solidFill>
          </p:spPr>
          <p:txBody>
            <a:bodyPr wrap="square" anchor="ctr" anchorCtr="0">
              <a:spAutoFit/>
            </a:bodyPr>
            <a:lstStyle/>
            <a:p>
              <a:pPr algn="ctr">
                <a:defRPr/>
              </a:pPr>
              <a:r>
                <a:rPr kumimoji="1" lang="en-US" altLang="zh-CN" sz="2000" b="1" kern="0" dirty="0">
                  <a:solidFill>
                    <a:prstClr val="white"/>
                  </a:solidFill>
                  <a:cs typeface="黑体" panose="02010609060101010101" charset="-122"/>
                </a:rPr>
                <a:t>Part</a:t>
              </a:r>
              <a:r>
                <a:rPr kumimoji="1" lang="zh-CN" altLang="en-US" sz="2000" b="1" kern="0" dirty="0">
                  <a:solidFill>
                    <a:prstClr val="white"/>
                  </a:solidFill>
                  <a:cs typeface="黑体" panose="02010609060101010101" charset="-122"/>
                </a:rPr>
                <a:t> </a:t>
              </a:r>
              <a:r>
                <a:rPr kumimoji="1" lang="en-US" altLang="zh-CN" sz="2000" b="1" kern="0" dirty="0" smtClean="0">
                  <a:solidFill>
                    <a:prstClr val="white"/>
                  </a:solidFill>
                  <a:cs typeface="黑体" panose="02010609060101010101" charset="-122"/>
                </a:rPr>
                <a:t>3</a:t>
              </a:r>
              <a:endParaRPr kumimoji="1" lang="zh-CN" altLang="en-US" sz="2000" b="1" kern="0" dirty="0">
                <a:solidFill>
                  <a:prstClr val="white"/>
                </a:solidFill>
                <a:cs typeface="黑体" panose="02010609060101010101" charset="-122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4100090" y="3698218"/>
            <a:ext cx="7143750" cy="405765"/>
            <a:chOff x="3758" y="1855"/>
            <a:chExt cx="11250" cy="639"/>
          </a:xfrm>
        </p:grpSpPr>
        <p:sp>
          <p:nvSpPr>
            <p:cNvPr id="45" name="矩形 44"/>
            <p:cNvSpPr/>
            <p:nvPr/>
          </p:nvSpPr>
          <p:spPr>
            <a:xfrm>
              <a:off x="5794" y="1855"/>
              <a:ext cx="131" cy="635"/>
            </a:xfrm>
            <a:prstGeom prst="rect">
              <a:avLst/>
            </a:prstGeom>
            <a:solidFill>
              <a:srgbClr val="0C4BA1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/>
          </p:spPr>
          <p:txBody>
            <a:bodyPr lIns="74808" tIns="37405" rIns="74808" bIns="37405" rtlCol="0" anchor="ctr"/>
            <a:lstStyle/>
            <a:p>
              <a:pPr indent="1270" algn="ctr">
                <a:lnSpc>
                  <a:spcPct val="150000"/>
                </a:lnSpc>
                <a:defRPr/>
              </a:pPr>
              <a:endParaRPr kumimoji="1" lang="zh-CN" altLang="en-US" sz="1670" kern="0" dirty="0">
                <a:solidFill>
                  <a:srgbClr val="FFFFFF"/>
                </a:solidFill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6098" y="1855"/>
              <a:ext cx="8910" cy="6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zh-CN" altLang="en-US" sz="2000" b="1" kern="0" dirty="0" smtClean="0">
                  <a:solidFill>
                    <a:srgbClr val="0C4BA1"/>
                  </a:solidFill>
                  <a:cs typeface="黑体" panose="02010609060101010101" charset="-122"/>
                </a:rPr>
                <a:t>自我发展</a:t>
              </a:r>
              <a:endParaRPr kumimoji="1" lang="zh-CN" altLang="en-US" sz="2000" b="1" kern="0" dirty="0">
                <a:solidFill>
                  <a:srgbClr val="0C4BA1"/>
                </a:solidFill>
                <a:cs typeface="黑体" panose="02010609060101010101" charset="-122"/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3758" y="1864"/>
              <a:ext cx="1898" cy="630"/>
            </a:xfrm>
            <a:prstGeom prst="rect">
              <a:avLst/>
            </a:prstGeom>
            <a:solidFill>
              <a:srgbClr val="0C4BA1"/>
            </a:solidFill>
          </p:spPr>
          <p:txBody>
            <a:bodyPr wrap="square" anchor="ctr" anchorCtr="0">
              <a:spAutoFit/>
            </a:bodyPr>
            <a:lstStyle/>
            <a:p>
              <a:pPr algn="ctr">
                <a:defRPr/>
              </a:pPr>
              <a:r>
                <a:rPr kumimoji="1" lang="en-US" altLang="zh-CN" sz="2000" b="1" kern="0" dirty="0">
                  <a:solidFill>
                    <a:prstClr val="white"/>
                  </a:solidFill>
                  <a:cs typeface="黑体" panose="02010609060101010101" charset="-122"/>
                </a:rPr>
                <a:t>Part</a:t>
              </a:r>
              <a:r>
                <a:rPr kumimoji="1" lang="zh-CN" altLang="en-US" sz="2000" b="1" kern="0" dirty="0">
                  <a:solidFill>
                    <a:prstClr val="white"/>
                  </a:solidFill>
                  <a:cs typeface="黑体" panose="02010609060101010101" charset="-122"/>
                </a:rPr>
                <a:t> </a:t>
              </a:r>
              <a:r>
                <a:rPr kumimoji="1" lang="en-US" altLang="zh-CN" sz="2000" b="1" kern="0" dirty="0" smtClean="0">
                  <a:solidFill>
                    <a:prstClr val="white"/>
                  </a:solidFill>
                  <a:cs typeface="黑体" panose="02010609060101010101" charset="-122"/>
                </a:rPr>
                <a:t>4</a:t>
              </a:r>
              <a:endParaRPr kumimoji="1" lang="zh-CN" altLang="en-US" sz="2000" b="1" kern="0" dirty="0">
                <a:solidFill>
                  <a:prstClr val="white"/>
                </a:solidFill>
                <a:cs typeface="黑体" panose="02010609060101010101" charset="-122"/>
              </a:endParaRPr>
            </a:p>
          </p:txBody>
        </p:sp>
      </p:grpSp>
      <p:grpSp>
        <p:nvGrpSpPr>
          <p:cNvPr id="48" name="组合 47"/>
          <p:cNvGrpSpPr/>
          <p:nvPr/>
        </p:nvGrpSpPr>
        <p:grpSpPr>
          <a:xfrm>
            <a:off x="4100090" y="5277600"/>
            <a:ext cx="7143750" cy="405765"/>
            <a:chOff x="3758" y="1855"/>
            <a:chExt cx="11250" cy="639"/>
          </a:xfrm>
        </p:grpSpPr>
        <p:sp>
          <p:nvSpPr>
            <p:cNvPr id="49" name="矩形 48"/>
            <p:cNvSpPr/>
            <p:nvPr/>
          </p:nvSpPr>
          <p:spPr>
            <a:xfrm>
              <a:off x="5794" y="1855"/>
              <a:ext cx="131" cy="635"/>
            </a:xfrm>
            <a:prstGeom prst="rect">
              <a:avLst/>
            </a:prstGeom>
            <a:solidFill>
              <a:srgbClr val="0C4BA1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/>
          </p:spPr>
          <p:txBody>
            <a:bodyPr lIns="74808" tIns="37405" rIns="74808" bIns="37405" rtlCol="0" anchor="ctr"/>
            <a:lstStyle/>
            <a:p>
              <a:pPr indent="1270" algn="ctr">
                <a:lnSpc>
                  <a:spcPct val="150000"/>
                </a:lnSpc>
                <a:defRPr/>
              </a:pPr>
              <a:endParaRPr kumimoji="1" lang="zh-CN" altLang="en-US" sz="1670" kern="0" dirty="0">
                <a:solidFill>
                  <a:srgbClr val="FFFFFF"/>
                </a:solidFill>
              </a:endParaRPr>
            </a:p>
          </p:txBody>
        </p:sp>
        <p:sp>
          <p:nvSpPr>
            <p:cNvPr id="51" name="矩形 50"/>
            <p:cNvSpPr/>
            <p:nvPr/>
          </p:nvSpPr>
          <p:spPr>
            <a:xfrm>
              <a:off x="6098" y="1855"/>
              <a:ext cx="8910" cy="6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zh-CN" altLang="en-US" sz="2000" b="1" kern="0" dirty="0" smtClean="0">
                  <a:solidFill>
                    <a:srgbClr val="0C4BA1"/>
                  </a:solidFill>
                  <a:cs typeface="黑体" panose="02010609060101010101" charset="-122"/>
                </a:rPr>
                <a:t>其他建议</a:t>
              </a:r>
              <a:endParaRPr kumimoji="1" lang="zh-CN" altLang="en-US" sz="2000" b="1" kern="0" dirty="0">
                <a:solidFill>
                  <a:srgbClr val="0C4BA1"/>
                </a:solidFill>
                <a:cs typeface="黑体" panose="02010609060101010101" charset="-122"/>
              </a:endParaRPr>
            </a:p>
          </p:txBody>
        </p:sp>
        <p:sp>
          <p:nvSpPr>
            <p:cNvPr id="52" name="矩形 51"/>
            <p:cNvSpPr/>
            <p:nvPr/>
          </p:nvSpPr>
          <p:spPr>
            <a:xfrm>
              <a:off x="3758" y="1864"/>
              <a:ext cx="1898" cy="630"/>
            </a:xfrm>
            <a:prstGeom prst="rect">
              <a:avLst/>
            </a:prstGeom>
            <a:solidFill>
              <a:srgbClr val="0C4BA1"/>
            </a:solidFill>
          </p:spPr>
          <p:txBody>
            <a:bodyPr wrap="square" anchor="ctr" anchorCtr="0">
              <a:spAutoFit/>
            </a:bodyPr>
            <a:lstStyle/>
            <a:p>
              <a:pPr algn="ctr">
                <a:defRPr/>
              </a:pPr>
              <a:r>
                <a:rPr kumimoji="1" lang="en-US" altLang="zh-CN" sz="2000" b="1" kern="0" dirty="0" smtClean="0">
                  <a:solidFill>
                    <a:prstClr val="white"/>
                  </a:solidFill>
                  <a:cs typeface="黑体" panose="02010609060101010101" charset="-122"/>
                </a:rPr>
                <a:t>Part 6</a:t>
              </a:r>
            </a:p>
          </p:txBody>
        </p:sp>
      </p:grpSp>
      <p:grpSp>
        <p:nvGrpSpPr>
          <p:cNvPr id="24" name="组合 23"/>
          <p:cNvGrpSpPr/>
          <p:nvPr/>
        </p:nvGrpSpPr>
        <p:grpSpPr>
          <a:xfrm>
            <a:off x="4100090" y="4525214"/>
            <a:ext cx="7143750" cy="405765"/>
            <a:chOff x="3758" y="1855"/>
            <a:chExt cx="11250" cy="639"/>
          </a:xfrm>
        </p:grpSpPr>
        <p:sp>
          <p:nvSpPr>
            <p:cNvPr id="25" name="矩形 24"/>
            <p:cNvSpPr/>
            <p:nvPr/>
          </p:nvSpPr>
          <p:spPr>
            <a:xfrm>
              <a:off x="5794" y="1855"/>
              <a:ext cx="131" cy="635"/>
            </a:xfrm>
            <a:prstGeom prst="rect">
              <a:avLst/>
            </a:prstGeom>
            <a:solidFill>
              <a:srgbClr val="0C4BA1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/>
          </p:spPr>
          <p:txBody>
            <a:bodyPr lIns="74808" tIns="37405" rIns="74808" bIns="37405" rtlCol="0" anchor="ctr"/>
            <a:lstStyle/>
            <a:p>
              <a:pPr indent="1270" algn="ctr">
                <a:lnSpc>
                  <a:spcPct val="150000"/>
                </a:lnSpc>
                <a:defRPr/>
              </a:pPr>
              <a:endParaRPr kumimoji="1" lang="zh-CN" altLang="en-US" sz="1670" kern="0" dirty="0">
                <a:solidFill>
                  <a:srgbClr val="FFFFFF"/>
                </a:solidFill>
              </a:endParaRPr>
            </a:p>
          </p:txBody>
        </p:sp>
        <p:sp>
          <p:nvSpPr>
            <p:cNvPr id="26" name="矩形 25"/>
            <p:cNvSpPr/>
            <p:nvPr/>
          </p:nvSpPr>
          <p:spPr>
            <a:xfrm>
              <a:off x="6098" y="1855"/>
              <a:ext cx="8910" cy="6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kumimoji="1" lang="zh-CN" altLang="en-US" sz="2000" b="1" kern="0" dirty="0" smtClean="0">
                  <a:solidFill>
                    <a:srgbClr val="0C4BA1"/>
                  </a:solidFill>
                  <a:cs typeface="黑体" panose="02010609060101010101" charset="-122"/>
                </a:rPr>
                <a:t>课程学习自检</a:t>
              </a:r>
              <a:endParaRPr kumimoji="1" lang="zh-CN" altLang="en-US" sz="2000" b="1" kern="0" dirty="0">
                <a:solidFill>
                  <a:srgbClr val="0C4BA1"/>
                </a:solidFill>
                <a:cs typeface="黑体" panose="02010609060101010101" charset="-122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3758" y="1864"/>
              <a:ext cx="1898" cy="630"/>
            </a:xfrm>
            <a:prstGeom prst="rect">
              <a:avLst/>
            </a:prstGeom>
            <a:solidFill>
              <a:srgbClr val="0C4BA1"/>
            </a:solidFill>
          </p:spPr>
          <p:txBody>
            <a:bodyPr wrap="square" anchor="ctr" anchorCtr="0">
              <a:spAutoFit/>
            </a:bodyPr>
            <a:lstStyle/>
            <a:p>
              <a:pPr algn="ctr">
                <a:defRPr/>
              </a:pPr>
              <a:r>
                <a:rPr kumimoji="1" lang="en-US" altLang="zh-CN" sz="2000" b="1" kern="0" dirty="0" smtClean="0">
                  <a:solidFill>
                    <a:prstClr val="white"/>
                  </a:solidFill>
                  <a:cs typeface="黑体" panose="02010609060101010101" charset="-122"/>
                </a:rPr>
                <a:t>Part 5</a:t>
              </a:r>
            </a:p>
          </p:txBody>
        </p:sp>
      </p:grpSp>
      <p:sp>
        <p:nvSpPr>
          <p:cNvPr id="53" name="TextBox 52"/>
          <p:cNvSpPr txBox="1"/>
          <p:nvPr/>
        </p:nvSpPr>
        <p:spPr>
          <a:xfrm>
            <a:off x="5669280" y="1682496"/>
            <a:ext cx="5760720" cy="384048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F7E8F"/>
                </a:solidFill>
              </a:rPr>
              <a:t>战略目标与核心成果 · 管理角色澄清表 · 双线并发 · 成果一：巴西战略业务突破 · 成果二：国际咨询能力与全球支撑 · 角色自评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5"/>
          <p:cNvSpPr txBox="1">
            <a:spLocks noChangeArrowheads="1"/>
          </p:cNvSpPr>
          <p:nvPr/>
        </p:nvSpPr>
        <p:spPr bwMode="auto">
          <a:xfrm>
            <a:off x="2624025" y="2501586"/>
            <a:ext cx="6943950" cy="133882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ctr" defTabSz="915035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5400" b="1" dirty="0">
                <a:solidFill>
                  <a:srgbClr val="0C4BA1"/>
                </a:solidFill>
              </a:rPr>
              <a:t>交流与讨论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4069080"/>
            <a:ext cx="8165592" cy="155448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1300" b="0">
                <a:solidFill>
                  <a:srgbClr val="0A2A5E"/>
                </a:solidFill>
              </a:rPr>
              <a:t>业务上　持续牵引巴西国家AI与重点应用合作，取得重大阶段突破并推进商业落地</a:t>
            </a:r>
          </a:p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1300" b="0">
                <a:solidFill>
                  <a:srgbClr val="0A2A5E"/>
                </a:solidFill>
              </a:rPr>
              <a:t>组织上　建设国际咨询队伍，形成多区域方案、商机与风险管理的实际支撑</a:t>
            </a:r>
          </a:p>
          <a:p>
            <a:pPr algn="ctr">
              <a:lnSpc>
                <a:spcPct val="112000"/>
              </a:lnSpc>
              <a:spcAft>
                <a:spcPts val="800"/>
              </a:spcAft>
            </a:pPr>
            <a:r>
              <a:rPr sz="1300" b="0">
                <a:solidFill>
                  <a:srgbClr val="0A2A5E"/>
                </a:solidFill>
              </a:rPr>
              <a:t>下一阶段　将阶段成果转化为可持续商业结果，将关键个人经验转化为稳定组织能力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战略目标承接：两条成果线的结果与本人作用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17352" y="54864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70432"/>
            <a:ext cx="11457432" cy="457200"/>
          </a:xfrm>
          <a:prstGeom prst="roundRect">
            <a:avLst>
              <a:gd name="adj" fmla="val 30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75488" y="12527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可衡量结果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170432"/>
            <a:ext cx="4526280" cy="45720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A2A5E"/>
                </a:solidFill>
              </a:rPr>
              <a:t>两条成果线：巴西战略业务突破；国际咨询队伍与多区域支撑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52728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实现策略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1170432"/>
            <a:ext cx="4480560" cy="45720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A2A5E"/>
                </a:solidFill>
              </a:rPr>
              <a:t>重大项目亲自攻坚，咨询组织同步建设，两线并行推进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755648"/>
            <a:ext cx="5596128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1755648"/>
            <a:ext cx="5596128" cy="475488"/>
          </a:xfrm>
          <a:prstGeom prst="roundRect">
            <a:avLst>
              <a:gd name="adj" fmla="val 18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029967"/>
            <a:ext cx="5596128" cy="201168"/>
          </a:xfrm>
          <a:prstGeom prst="rect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755648"/>
            <a:ext cx="5321808" cy="47548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</a:rPr>
              <a:t>成果一　牵引巴西战略业务取得重大阶段突破，持续推进商业落地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3774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公司所得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2322576"/>
            <a:ext cx="4315968" cy="103632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3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国家AI合作位置明确：总统公开宣布相关合作、三方MoU签署</a:t>
            </a:r>
          </a:p>
          <a:p>
            <a:pPr algn="l" marL="146304" indent="-146304">
              <a:lnSpc>
                <a:spcPct val="112000"/>
              </a:lnSpc>
              <a:spcAft>
                <a:spcPts val="3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主要技术路线获客户认可，核心内容进入采购需求（TR）</a:t>
            </a:r>
          </a:p>
          <a:p>
            <a:pPr algn="l" marL="146304" indent="-146304">
              <a:lnSpc>
                <a:spcPct val="112000"/>
              </a:lnSpc>
              <a:spcAft>
                <a:spcPts val="3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采购合同与本地承接条件持续推进；SERPRO招聘应用进入PoC开发与部署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331464"/>
            <a:ext cx="5321808" cy="9144"/>
          </a:xfrm>
          <a:prstGeom prst="rect">
            <a:avLst/>
          </a:prstGeom>
          <a:solidFill>
            <a:srgbClr val="D3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1376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本人作用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3358896"/>
            <a:ext cx="4315968" cy="103632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300"/>
              </a:spcAft>
              <a:buClr>
                <a:srgbClr val="0A2A5E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承担讯飞侧总体推进，补位客户与销售工作</a:t>
            </a:r>
          </a:p>
          <a:p>
            <a:pPr algn="l" marL="146304" indent="-146304">
              <a:lnSpc>
                <a:spcPct val="112000"/>
              </a:lnSpc>
              <a:spcAft>
                <a:spcPts val="300"/>
              </a:spcAft>
              <a:buClr>
                <a:srgbClr val="0A2A5E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亲自完成核心英语咨询与关键技术澄清</a:t>
            </a:r>
          </a:p>
          <a:p>
            <a:pPr algn="l" marL="146304" indent="-146304">
              <a:lnSpc>
                <a:spcPct val="112000"/>
              </a:lnSpc>
              <a:spcAft>
                <a:spcPts val="300"/>
              </a:spcAft>
              <a:buClr>
                <a:srgbClr val="0A2A5E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组织政府、华为、商法财、交付多方协同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67784"/>
            <a:ext cx="5321808" cy="9144"/>
          </a:xfrm>
          <a:prstGeom prst="rect">
            <a:avLst/>
          </a:prstGeom>
          <a:solidFill>
            <a:srgbClr val="D3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45008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7A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实现条件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36192" y="4395216"/>
            <a:ext cx="4315968" cy="103632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300"/>
              </a:spcAft>
              <a:buClr>
                <a:srgbClr val="7A8898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客户需求与交易模式持续变化</a:t>
            </a:r>
          </a:p>
          <a:p>
            <a:pPr algn="l" marL="146304" indent="-146304">
              <a:lnSpc>
                <a:spcPct val="112000"/>
              </a:lnSpc>
              <a:spcAft>
                <a:spcPts val="300"/>
              </a:spcAft>
              <a:buClr>
                <a:srgbClr val="7A8898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前期销售承接与本地组织尚不完善</a:t>
            </a:r>
          </a:p>
          <a:p>
            <a:pPr algn="l" marL="146304" indent="-146304">
              <a:lnSpc>
                <a:spcPct val="112000"/>
              </a:lnSpc>
              <a:spcAft>
                <a:spcPts val="300"/>
              </a:spcAft>
              <a:buClr>
                <a:srgbClr val="7A8898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关键外部主体不受本人直接管理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1755648"/>
            <a:ext cx="5596128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27064" y="1755648"/>
            <a:ext cx="5596128" cy="475488"/>
          </a:xfrm>
          <a:prstGeom prst="roundRect">
            <a:avLst>
              <a:gd name="adj" fmla="val 18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27064" y="2029967"/>
            <a:ext cx="5596128" cy="201168"/>
          </a:xfrm>
          <a:prstGeom prst="rect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1755648"/>
            <a:ext cx="5321808" cy="47548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</a:rPr>
              <a:t>成果二　从0到1建设国际咨询队伍，形成跨区域支撑能力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3774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公司所得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97496" y="2322576"/>
            <a:ext cx="4315968" cy="103632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3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重点区域形成主责咨询配置（Q1记录：6人、5个区域）</a:t>
            </a:r>
          </a:p>
          <a:p>
            <a:pPr algn="l" marL="146304" indent="-146304">
              <a:lnSpc>
                <a:spcPct val="112000"/>
              </a:lnSpc>
              <a:spcAft>
                <a:spcPts val="3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持续产出国别方案、HLD、SoC、RFI、可研、报价与合同范围</a:t>
            </a:r>
          </a:p>
          <a:p>
            <a:pPr algn="l" marL="146304" indent="-146304">
              <a:lnSpc>
                <a:spcPct val="112000"/>
              </a:lnSpc>
              <a:spcAft>
                <a:spcPts val="3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骨干已能承担重要项目主责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64224" y="3331464"/>
            <a:ext cx="5321808" cy="9144"/>
          </a:xfrm>
          <a:prstGeom prst="rect">
            <a:avLst/>
          </a:prstGeom>
          <a:solidFill>
            <a:srgbClr val="D3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64224" y="341376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本人作用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7496" y="3358896"/>
            <a:ext cx="4315968" cy="103632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300"/>
              </a:spcAft>
              <a:buClr>
                <a:srgbClr val="0A2A5E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完成选人、培养、部署与关键质量把关</a:t>
            </a:r>
          </a:p>
          <a:p>
            <a:pPr algn="l" marL="146304" indent="-146304">
              <a:lnSpc>
                <a:spcPct val="112000"/>
              </a:lnSpc>
              <a:spcAft>
                <a:spcPts val="300"/>
              </a:spcAft>
              <a:buClr>
                <a:srgbClr val="0A2A5E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参与跨区域竞争策略、范围、利润与交付风险判断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64224" y="4367784"/>
            <a:ext cx="5321808" cy="9144"/>
          </a:xfrm>
          <a:prstGeom prst="rect">
            <a:avLst/>
          </a:prstGeom>
          <a:solidFill>
            <a:srgbClr val="D3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64224" y="445008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7A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实现条件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7496" y="4395216"/>
            <a:ext cx="4315968" cy="103632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300"/>
              </a:spcAft>
              <a:buClr>
                <a:srgbClr val="7A8898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本人同期深度投入巴西</a:t>
            </a:r>
          </a:p>
          <a:p>
            <a:pPr algn="l" marL="146304" indent="-146304">
              <a:lnSpc>
                <a:spcPct val="112000"/>
              </a:lnSpc>
              <a:spcAft>
                <a:spcPts val="300"/>
              </a:spcAft>
              <a:buClr>
                <a:srgbClr val="7A8898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团队仍在成长；多国并发需现场支撑与轮换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5669280"/>
            <a:ext cx="11457432" cy="548640"/>
          </a:xfrm>
          <a:prstGeom prst="roundRect">
            <a:avLst>
              <a:gd name="adj" fmla="val 12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58064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A2A5E"/>
                </a:solidFill>
              </a:rPr>
              <a:t>总判断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5669280"/>
            <a:ext cx="10177272" cy="54864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</a:rPr>
              <a:t>不是在成熟组织里完成单一专业任务，而是在组织建设与业务推进并行的阶段，既亲自承担关键突破，也持续组织团队形成多区域产出。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管理角色澄清表：四类角色的目标、投入与自评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70432"/>
          <a:ext cx="11457432" cy="4480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2331720"/>
                <a:gridCol w="548640"/>
                <a:gridCol w="2468880"/>
                <a:gridCol w="2148840"/>
                <a:gridCol w="685800"/>
                <a:gridCol w="1810512"/>
              </a:tblGrid>
              <a:tr h="384048"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管理角色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目标（业绩结果）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权重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高回报活动（3项）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管理机制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时间投入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</a:rPr>
                        <a:t>完成情况自评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</a:tr>
              <a:tr h="1024128"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1">
                          <a:solidFill>
                            <a:srgbClr val="2F3E4F"/>
                          </a:solidFill>
                        </a:rPr>
                        <a:t>岗位特性类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00" b="0">
                          <a:solidFill>
                            <a:srgbClr val="6F7E8F"/>
                          </a:solidFill>
                        </a:rPr>
                        <a:t>关键客户咨询与复杂方案牵引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① 巴西主要技术路线获客户认可并进入采购需求（TR）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② 重点区域形成国别方案与技术建议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—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① 亲自承担RNP关键英语咨询与技术澄清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② 国别方案与技术路线判断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③ 重大效果、范围、权利边界把关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关键材料评审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问题书面化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面向团队的标准口径材料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—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1">
                          <a:solidFill>
                            <a:srgbClr val="1F8F5F"/>
                          </a:solidFill>
                        </a:rPr>
                        <a:t>达成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案例见 P8、P9、P20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1">
                          <a:solidFill>
                            <a:srgbClr val="2F3E4F"/>
                          </a:solidFill>
                        </a:rPr>
                        <a:t>目标管理类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00" b="0">
                          <a:solidFill>
                            <a:srgbClr val="6F7E8F"/>
                          </a:solidFill>
                        </a:rPr>
                        <a:t>巴西重点项目总体推进与全球咨询目标统筹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① RNP进入采购流程并具备签约条件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② SERPRO进入PoC验证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③ 各区域商机按成熟度分级推进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—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① 里程碑与卡点识别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② 政府、伙伴与内部决策输入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③ 商机取舍与优先级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项目周报与向上汇报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现场LTC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决策输入回传一线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—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1">
                          <a:solidFill>
                            <a:srgbClr val="C57B14"/>
                          </a:solidFill>
                        </a:rPr>
                        <a:t>阶段达成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商业闭环未完成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见 P7、P10、P13、P21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</a:tr>
              <a:tr h="1024128"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1">
                          <a:solidFill>
                            <a:srgbClr val="2F3E4F"/>
                          </a:solidFill>
                        </a:rPr>
                        <a:t>人与团队类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00" b="0">
                          <a:solidFill>
                            <a:srgbClr val="6F7E8F"/>
                          </a:solidFill>
                        </a:rPr>
                        <a:t>招募、培养、部署咨询骨干并支持销售承接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① 重点区域形成主责咨询配置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② 骨干能独立承接项目主责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—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① 实战带教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② 集中办公与现场轮换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③ 主责交接与销售导入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集中办公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实战复盘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主备安排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—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1">
                          <a:solidFill>
                            <a:srgbClr val="C57B14"/>
                          </a:solidFill>
                        </a:rPr>
                        <a:t>形成中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见 P15、P16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1">
                          <a:solidFill>
                            <a:srgbClr val="2F3E4F"/>
                          </a:solidFill>
                        </a:rPr>
                        <a:t>运营类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00" b="0">
                          <a:solidFill>
                            <a:srgbClr val="6F7E8F"/>
                          </a:solidFill>
                        </a:rPr>
                        <a:t>跨部门、跨伙伴协同与交付风险前置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① 售前、合同、交付之间不出现断层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② 本地承接条件明确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—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① SoC与合同范围评审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② 法财与交付前置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③ 协同机制建设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采购会议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书面求证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三层沟通通道；材料复核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—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t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1">
                          <a:solidFill>
                            <a:srgbClr val="1F8F5F"/>
                          </a:solidFill>
                        </a:rPr>
                        <a:t>达成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标准化不足</a:t>
                      </a:r>
                    </a:p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950" b="0">
                          <a:solidFill>
                            <a:srgbClr val="2F3E4F"/>
                          </a:solidFill>
                        </a:rPr>
                        <a:t>见 P11、P12、P17、P24</a:t>
                      </a:r>
                    </a:p>
                  </a:txBody>
                  <a:tcPr marL="64008" marR="64008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806440"/>
            <a:ext cx="11457432" cy="3291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0">
                <a:solidFill>
                  <a:srgbClr val="6F7E8F"/>
                </a:solidFill>
              </a:rPr>
              <a:t>权重与时间投入比例由本人确认后填写；完成情况自评的依据见对应页码。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双线并发：深度承担巴西的同时，持续组织全球咨询支撑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4744" y="54864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看时间精力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70432"/>
            <a:ext cx="1051560" cy="365760"/>
          </a:xfrm>
          <a:prstGeom prst="rect">
            <a:avLst/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051560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</a:rPr>
              <a:t>时段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7904" y="1170432"/>
            <a:ext cx="5102352" cy="365760"/>
          </a:xfrm>
          <a:prstGeom prst="rect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17904" y="1170432"/>
            <a:ext cx="5102352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</a:rPr>
              <a:t>巴西线（本人亲自牵引）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170432"/>
            <a:ext cx="5102352" cy="365760"/>
          </a:xfrm>
          <a:prstGeom prst="rect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1170432"/>
            <a:ext cx="5102352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</a:rPr>
              <a:t>全球咨询线（本人组织与把关）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09344"/>
            <a:ext cx="1051560" cy="987552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609344"/>
            <a:ext cx="1051560" cy="987552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A2A5E"/>
                </a:solidFill>
              </a:rPr>
              <a:t>4—5月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17904" y="1609344"/>
            <a:ext cx="5102352" cy="987552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9344" y="1655064"/>
            <a:ext cx="4919472" cy="896112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RNP方案与4批技术澄清</a:t>
            </a:r>
          </a:p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SERPRO医疗、教育、人事管理场景推进</a:t>
            </a:r>
          </a:p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新到现场销售的项目与客户关系导入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1609344"/>
            <a:ext cx="5102352" cy="987552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79" y="1655064"/>
            <a:ext cx="4919472" cy="896112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埃及客户交流与售前向交付交底</a:t>
            </a:r>
          </a:p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加纳、IGNITE、SDEC方案工作</a:t>
            </a:r>
          </a:p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处理咨询离职、双现场驻场与轮换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0048"/>
            <a:ext cx="1051560" cy="987552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670048"/>
            <a:ext cx="1051560" cy="987552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A2A5E"/>
                </a:solidFill>
              </a:rPr>
              <a:t>6月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17904" y="2670048"/>
            <a:ext cx="5102352" cy="987552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9344" y="2715768"/>
            <a:ext cx="4919472" cy="896112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总集、服务化、分签等交易模式讨论</a:t>
            </a:r>
          </a:p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报价刷新与付款里程碑设计</a:t>
            </a:r>
          </a:p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SGP招聘需求确认与PoC启动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2670048"/>
            <a:ext cx="5102352" cy="987552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79" y="2715768"/>
            <a:ext cx="4919472" cy="896112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埃及合同初版评审</a:t>
            </a:r>
          </a:p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非洲多国RFI、概算与可研</a:t>
            </a:r>
          </a:p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SDEC现场支撑；新咨询人员带教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730752"/>
            <a:ext cx="1051560" cy="987552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730752"/>
            <a:ext cx="1051560" cy="987552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A2A5E"/>
                </a:solidFill>
              </a:rPr>
              <a:t>8月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17904" y="3730752"/>
            <a:ext cx="5102352" cy="987552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9344" y="3776472"/>
            <a:ext cx="4919472" cy="896112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政府间文件、采购接口、联合SOW</a:t>
            </a:r>
          </a:p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本地实体、律师资源与LTC现场</a:t>
            </a:r>
          </a:p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SERPRO部署与验收条件沟通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3730752"/>
            <a:ext cx="5102352" cy="987552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79" y="3776472"/>
            <a:ext cx="4919472" cy="896112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KNG范围与交付风险评审</a:t>
            </a:r>
          </a:p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SDEC五个子项目SoC</a:t>
            </a:r>
          </a:p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哈萨克斯坦、泰国方案与客户交流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4864608"/>
            <a:ext cx="2727198" cy="749808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919472"/>
            <a:ext cx="2727198" cy="412394"/>
          </a:xfrm>
          <a:prstGeom prst="rect">
            <a:avLst/>
          </a:prstGeom>
          <a:noFill/>
        </p:spPr>
        <p:txBody>
          <a:bodyPr wrap="square" lIns="36576" tIns="0" rIns="36576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5次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284500"/>
            <a:ext cx="2727198" cy="314919"/>
          </a:xfrm>
          <a:prstGeom prst="rect">
            <a:avLst/>
          </a:prstGeom>
          <a:noFill/>
        </p:spPr>
        <p:txBody>
          <a:bodyPr wrap="square" lIns="54864" tIns="0" rIns="54864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6F7E8F"/>
                </a:solidFill>
              </a:rPr>
              <a:t>七个月内中巴往返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5838" y="4864608"/>
            <a:ext cx="2727198" cy="749808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75838" y="4919472"/>
            <a:ext cx="2727198" cy="412394"/>
          </a:xfrm>
          <a:prstGeom prst="rect">
            <a:avLst/>
          </a:prstGeom>
          <a:noFill/>
        </p:spPr>
        <p:txBody>
          <a:bodyPr wrap="square" lIns="36576" tIns="0" rIns="36576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11小时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75838" y="5284500"/>
            <a:ext cx="2727198" cy="314919"/>
          </a:xfrm>
          <a:prstGeom prst="rect">
            <a:avLst/>
          </a:prstGeom>
          <a:noFill/>
        </p:spPr>
        <p:txBody>
          <a:bodyPr wrap="square" lIns="54864" tIns="0" rIns="54864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6F7E8F"/>
                </a:solidFill>
              </a:rPr>
              <a:t>时差下的两地协同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5916" y="4864608"/>
            <a:ext cx="2727198" cy="749808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5916" y="4919472"/>
            <a:ext cx="2727198" cy="412394"/>
          </a:xfrm>
          <a:prstGeom prst="rect">
            <a:avLst/>
          </a:prstGeom>
          <a:noFill/>
        </p:spPr>
        <p:txBody>
          <a:bodyPr wrap="square" lIns="36576" tIns="0" rIns="36576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2地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5916" y="5284500"/>
            <a:ext cx="2727198" cy="314919"/>
          </a:xfrm>
          <a:prstGeom prst="rect">
            <a:avLst/>
          </a:prstGeom>
          <a:noFill/>
        </p:spPr>
        <p:txBody>
          <a:bodyPr wrap="square" lIns="54864" tIns="0" rIns="54864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6F7E8F"/>
                </a:solidFill>
              </a:rPr>
              <a:t>巴西、埃及同时需常驻与轮换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95994" y="4864608"/>
            <a:ext cx="2727198" cy="749808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5994" y="4919472"/>
            <a:ext cx="2727198" cy="412394"/>
          </a:xfrm>
          <a:prstGeom prst="rect">
            <a:avLst/>
          </a:prstGeom>
          <a:noFill/>
        </p:spPr>
        <p:txBody>
          <a:bodyPr wrap="square" lIns="36576" tIns="0" rIns="36576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本人接续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5994" y="5284500"/>
            <a:ext cx="2727198" cy="314919"/>
          </a:xfrm>
          <a:prstGeom prst="rect">
            <a:avLst/>
          </a:prstGeom>
          <a:noFill/>
        </p:spPr>
        <p:txBody>
          <a:bodyPr wrap="square" lIns="54864" tIns="0" rIns="54864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6F7E8F"/>
                </a:solidFill>
              </a:rPr>
              <a:t>现场人员变化时跨区支援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687568"/>
            <a:ext cx="11457432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A2A5E"/>
                </a:solidFill>
              </a:rPr>
              <a:t>难度不只是巴西项目复杂：在深度承担巴西的同时，需要同步作跨区域人员、方案与优先级安排。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巴西成果全景：从合作意向到国家级项目、应用验证与本地承接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39528" y="548640"/>
            <a:ext cx="188366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成果一 ｜ 看结果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70432"/>
            <a:ext cx="1828800" cy="365760"/>
          </a:xfrm>
          <a:prstGeom prst="rect">
            <a:avLst/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1828800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</a:rPr>
              <a:t>推进方向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2304288" y="1170432"/>
            <a:ext cx="4160520" cy="365760"/>
          </a:xfrm>
          <a:prstGeom prst="rect">
            <a:avLst/>
          </a:prstGeom>
          <a:solidFill>
            <a:srgbClr val="7A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04288" y="1170432"/>
            <a:ext cx="4160520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</a:rPr>
              <a:t>初始状态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93992" y="1170432"/>
            <a:ext cx="5029200" cy="365760"/>
          </a:xfrm>
          <a:prstGeom prst="rect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3992" y="1170432"/>
            <a:ext cx="5029200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</a:rPr>
              <a:t>已取得的阶段变化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09344"/>
            <a:ext cx="1828800" cy="73152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1609344"/>
            <a:ext cx="1682496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A2A5E"/>
                </a:solidFill>
              </a:rPr>
              <a:t>国家AI项目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04288" y="1609344"/>
            <a:ext cx="4160520" cy="73152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95728" y="1609344"/>
            <a:ext cx="3977639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F7E8F"/>
                </a:solidFill>
              </a:rPr>
              <a:t>联合路线需争取认可；实施主体、技术范围与交易模式待明确</a:t>
            </a:r>
          </a:p>
        </p:txBody>
      </p:sp>
      <p:sp>
        <p:nvSpPr>
          <p:cNvPr id="16" name="Chevron 15"/>
          <p:cNvSpPr/>
          <p:nvPr/>
        </p:nvSpPr>
        <p:spPr>
          <a:xfrm>
            <a:off x="6501384" y="1828800"/>
            <a:ext cx="146304" cy="292608"/>
          </a:xfrm>
          <a:prstGeom prst="chevron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93992" y="1609344"/>
            <a:ext cx="5029200" cy="7315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1609344"/>
            <a:ext cx="4846320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RNP承担项目推进；主要技术路线获认可；总统公开宣布相关合作；三方MoU签署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414016"/>
            <a:ext cx="1828800" cy="73152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2414016"/>
            <a:ext cx="1682496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A2A5E"/>
                </a:solidFill>
              </a:rPr>
              <a:t>技术与采购准备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04288" y="2414016"/>
            <a:ext cx="4160520" cy="73152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95728" y="2414016"/>
            <a:ext cx="3977639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F7E8F"/>
                </a:solidFill>
              </a:rPr>
              <a:t>高层意向尚需转成可执行方案</a:t>
            </a:r>
          </a:p>
        </p:txBody>
      </p:sp>
      <p:sp>
        <p:nvSpPr>
          <p:cNvPr id="23" name="Chevron 22"/>
          <p:cNvSpPr/>
          <p:nvPr/>
        </p:nvSpPr>
        <p:spPr>
          <a:xfrm>
            <a:off x="6501384" y="2633472"/>
            <a:ext cx="146304" cy="292608"/>
          </a:xfrm>
          <a:prstGeom prst="chevron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93992" y="2414016"/>
            <a:ext cx="5029200" cy="7315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85431" y="2414016"/>
            <a:ext cx="4846320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HLD、多批澄清、TR分析、SoC、报价与付款里程碑逐步形成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3218688"/>
            <a:ext cx="1828800" cy="73152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3218688"/>
            <a:ext cx="1682496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A2A5E"/>
                </a:solidFill>
              </a:rPr>
              <a:t>政府合作支持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04288" y="3218688"/>
            <a:ext cx="4160520" cy="73152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95728" y="3218688"/>
            <a:ext cx="3977639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F7E8F"/>
                </a:solidFill>
              </a:rPr>
              <a:t>政府间文件及签署授权等前置问题待解</a:t>
            </a:r>
          </a:p>
        </p:txBody>
      </p:sp>
      <p:sp>
        <p:nvSpPr>
          <p:cNvPr id="30" name="Chevron 29"/>
          <p:cNvSpPr/>
          <p:nvPr/>
        </p:nvSpPr>
        <p:spPr>
          <a:xfrm>
            <a:off x="6501384" y="3438144"/>
            <a:ext cx="146304" cy="292608"/>
          </a:xfrm>
          <a:prstGeom prst="chevron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793992" y="3218688"/>
            <a:ext cx="5029200" cy="7315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5431" y="3218688"/>
            <a:ext cx="4846320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专题汇报、紧急需求报告、政府间文本往返进入实质推进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4023360"/>
            <a:ext cx="1828800" cy="73152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4023360"/>
            <a:ext cx="1682496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A2A5E"/>
                </a:solidFill>
              </a:rPr>
              <a:t>SERPRO应用合作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04288" y="4023360"/>
            <a:ext cx="4160520" cy="73152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95728" y="4023360"/>
            <a:ext cx="3977639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F7E8F"/>
                </a:solidFill>
              </a:rPr>
              <a:t>高层合作意愿与多场景探索起步</a:t>
            </a:r>
          </a:p>
        </p:txBody>
      </p:sp>
      <p:sp>
        <p:nvSpPr>
          <p:cNvPr id="37" name="Chevron 36"/>
          <p:cNvSpPr/>
          <p:nvPr/>
        </p:nvSpPr>
        <p:spPr>
          <a:xfrm>
            <a:off x="6501384" y="4242816"/>
            <a:ext cx="146304" cy="292608"/>
          </a:xfrm>
          <a:prstGeom prst="chevron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793992" y="4023360"/>
            <a:ext cx="5029200" cy="7315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85431" y="4023360"/>
            <a:ext cx="4846320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医疗、教育方案交流；MGI-SGP招聘场景获选PoC并形成开发成果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828032"/>
            <a:ext cx="1828800" cy="73152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828032"/>
            <a:ext cx="1682496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A2A5E"/>
                </a:solidFill>
              </a:rPr>
              <a:t>本地承接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304288" y="4828032"/>
            <a:ext cx="4160520" cy="73152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95728" y="4828032"/>
            <a:ext cx="3977639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F7E8F"/>
                </a:solidFill>
              </a:rPr>
              <a:t>缺少成熟本地实体与专业支撑</a:t>
            </a:r>
          </a:p>
        </p:txBody>
      </p:sp>
      <p:sp>
        <p:nvSpPr>
          <p:cNvPr id="44" name="Chevron 43"/>
          <p:cNvSpPr/>
          <p:nvPr/>
        </p:nvSpPr>
        <p:spPr>
          <a:xfrm>
            <a:off x="6501384" y="5047488"/>
            <a:ext cx="146304" cy="292608"/>
          </a:xfrm>
          <a:prstGeom prst="chevron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793992" y="4828032"/>
            <a:ext cx="5029200" cy="7315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85431" y="4828032"/>
            <a:ext cx="4846320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注册与经营范围准备、律师资源、LTC团队及采购接口逐步建立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5687568"/>
            <a:ext cx="11457432" cy="45720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0">
                <a:solidFill>
                  <a:srgbClr val="6F7E8F"/>
                </a:solidFill>
              </a:rPr>
              <a:t>状态边界：正式商业合同、回款、最终验收为未完成事项，分别跟踪，不与上述阶段成果混同。数据按述职当天状态刷新。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关键案例①　政府合作攻坚：把签约障碍转化为可决策的具体事项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548640"/>
            <a:ext cx="246887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目标管理类 ｜ 跨层级推动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472184"/>
            <a:ext cx="2699765" cy="21031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3776" y="160020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7A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原来的障碍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84248"/>
            <a:ext cx="2516885" cy="1536191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7A8898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巴方提出直接采购需要政府间文件支持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7A8898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使馆签署又涉及国内部委会商与授权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7A8898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单靠供应商合同谈判无法解决</a:t>
            </a:r>
          </a:p>
        </p:txBody>
      </p:sp>
      <p:sp>
        <p:nvSpPr>
          <p:cNvPr id="9" name="Chevron 8"/>
          <p:cNvSpPr/>
          <p:nvPr/>
        </p:nvSpPr>
        <p:spPr>
          <a:xfrm>
            <a:off x="3102101" y="1618488"/>
            <a:ext cx="146304" cy="292608"/>
          </a:xfrm>
          <a:prstGeom prst="chevron">
            <a:avLst/>
          </a:prstGeom>
          <a:solidFill>
            <a:srgbClr val="7A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982" y="1472184"/>
            <a:ext cx="2699765" cy="21031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2998" y="160020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关键判断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6422" y="1984248"/>
            <a:ext cx="2516885" cy="1536191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3F7BD6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把前线障碍整理成高层可处理的决策事项，而非一般性介绍项目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3F7BD6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伙伴内部协调受限时，讯飞侧单独提交、继续推进</a:t>
            </a:r>
          </a:p>
        </p:txBody>
      </p:sp>
      <p:sp>
        <p:nvSpPr>
          <p:cNvPr id="13" name="Chevron 12"/>
          <p:cNvSpPr/>
          <p:nvPr/>
        </p:nvSpPr>
        <p:spPr>
          <a:xfrm>
            <a:off x="6021324" y="1618488"/>
            <a:ext cx="146304" cy="292608"/>
          </a:xfrm>
          <a:prstGeom prst="chevron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04204" y="1472184"/>
            <a:ext cx="2699765" cy="21031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32220" y="160020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本人行动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5644" y="1984248"/>
            <a:ext cx="2516885" cy="1536191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推动8月19日再次向大使专题汇报，聚焦政府间协议、合规程序与签约时间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当晚组织现场团队完成《当前进展和紧急需求的汇报》提交发改委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后续持续提供项目具体信息</a:t>
            </a:r>
          </a:p>
        </p:txBody>
      </p:sp>
      <p:sp>
        <p:nvSpPr>
          <p:cNvPr id="17" name="Chevron 16"/>
          <p:cNvSpPr/>
          <p:nvPr/>
        </p:nvSpPr>
        <p:spPr>
          <a:xfrm>
            <a:off x="8940546" y="1618488"/>
            <a:ext cx="146304" cy="292608"/>
          </a:xfrm>
          <a:prstGeom prst="chevron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23426" y="1472184"/>
            <a:ext cx="2699765" cy="21031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51442" y="160020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1F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可见变化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4866" y="1984248"/>
            <a:ext cx="2516885" cy="1536191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1F8F5F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8月20日反馈原则同意签署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1F8F5F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8月21日文本发送巴西科创部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1F8F5F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8月25日巴方反馈意见，进入文本确认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261104"/>
            <a:ext cx="10360152" cy="27432"/>
          </a:xfrm>
          <a:prstGeom prst="rect">
            <a:avLst/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384" y="4146804"/>
            <a:ext cx="256032" cy="256032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-91440" y="3822192"/>
            <a:ext cx="2011680" cy="2926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A2A5E"/>
                </a:solidFill>
              </a:rPr>
              <a:t>8.19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-91440" y="4462272"/>
            <a:ext cx="2011680" cy="329184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大使专题汇报</a:t>
            </a:r>
          </a:p>
        </p:txBody>
      </p:sp>
      <p:sp>
        <p:nvSpPr>
          <p:cNvPr id="25" name="Oval 24"/>
          <p:cNvSpPr/>
          <p:nvPr/>
        </p:nvSpPr>
        <p:spPr>
          <a:xfrm>
            <a:off x="3376422" y="4146804"/>
            <a:ext cx="256032" cy="256032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2498598" y="3822192"/>
            <a:ext cx="2011680" cy="2926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A2A5E"/>
                </a:solidFill>
              </a:rPr>
              <a:t>当晚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98598" y="4462272"/>
            <a:ext cx="2011680" cy="329184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紧急需求报告提交发改委</a:t>
            </a:r>
          </a:p>
        </p:txBody>
      </p:sp>
      <p:sp>
        <p:nvSpPr>
          <p:cNvPr id="28" name="Oval 27"/>
          <p:cNvSpPr/>
          <p:nvPr/>
        </p:nvSpPr>
        <p:spPr>
          <a:xfrm>
            <a:off x="5966460" y="4146804"/>
            <a:ext cx="256032" cy="256032"/>
          </a:xfrm>
          <a:prstGeom prst="ellipse">
            <a:avLst/>
          </a:prstGeom>
          <a:solidFill>
            <a:srgbClr val="1F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5088636" y="3822192"/>
            <a:ext cx="2011680" cy="2926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A2A5E"/>
                </a:solidFill>
              </a:rPr>
              <a:t>8.20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8636" y="4462272"/>
            <a:ext cx="2011680" cy="329184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原则同意签署</a:t>
            </a:r>
          </a:p>
        </p:txBody>
      </p:sp>
      <p:sp>
        <p:nvSpPr>
          <p:cNvPr id="31" name="Oval 30"/>
          <p:cNvSpPr/>
          <p:nvPr/>
        </p:nvSpPr>
        <p:spPr>
          <a:xfrm>
            <a:off x="8556498" y="4146804"/>
            <a:ext cx="256032" cy="256032"/>
          </a:xfrm>
          <a:prstGeom prst="ellipse">
            <a:avLst/>
          </a:prstGeom>
          <a:solidFill>
            <a:srgbClr val="1F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7678674" y="3822192"/>
            <a:ext cx="2011680" cy="2926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A2A5E"/>
                </a:solidFill>
              </a:rPr>
              <a:t>8.21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78674" y="4462272"/>
            <a:ext cx="2011680" cy="329184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文本发送科创部</a:t>
            </a:r>
          </a:p>
        </p:txBody>
      </p:sp>
      <p:sp>
        <p:nvSpPr>
          <p:cNvPr id="34" name="Oval 33"/>
          <p:cNvSpPr/>
          <p:nvPr/>
        </p:nvSpPr>
        <p:spPr>
          <a:xfrm>
            <a:off x="11146536" y="4146804"/>
            <a:ext cx="256032" cy="256032"/>
          </a:xfrm>
          <a:prstGeom prst="ellipse">
            <a:avLst/>
          </a:prstGeom>
          <a:solidFill>
            <a:srgbClr val="1F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10268712" y="3822192"/>
            <a:ext cx="2011680" cy="2926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A2A5E"/>
                </a:solidFill>
              </a:rPr>
              <a:t>8.25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68712" y="4462272"/>
            <a:ext cx="2011680" cy="329184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巴方反馈意见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4946904"/>
            <a:ext cx="11457432" cy="54864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93776" y="50749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同期对接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08760" y="4946904"/>
            <a:ext cx="10177272" cy="54864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7月大使沟通 · MGI高层交流 · 8月总统府、外交部、科创部对接，分别对应文件、节奏、注册与本地经营承诺等实际议题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5586984"/>
            <a:ext cx="11457432" cy="3291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0">
                <a:solidFill>
                  <a:srgbClr val="6F7E8F"/>
                </a:solidFill>
              </a:rPr>
              <a:t>口径：后续政府决定按各方归属表述；原则同意不等于协议已签署。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关键案例②　技术路线：从“自主从零训练”诉求到可交付的能力建设路径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0616" y="548640"/>
            <a:ext cx="2322575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岗位特性类 ｜ 专业判断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27632"/>
            <a:ext cx="2699765" cy="246888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3776" y="175564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7A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原来的障碍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39696"/>
            <a:ext cx="2516885" cy="1901952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7A8898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客户希望掌握自主训练能力，提出从小模型开始、从零训练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7A8898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项目转向RNP为实施主体，方案需与华为融合并首次正式面客</a:t>
            </a:r>
          </a:p>
        </p:txBody>
      </p:sp>
      <p:sp>
        <p:nvSpPr>
          <p:cNvPr id="9" name="Chevron 8"/>
          <p:cNvSpPr/>
          <p:nvPr/>
        </p:nvSpPr>
        <p:spPr>
          <a:xfrm>
            <a:off x="3102101" y="1773936"/>
            <a:ext cx="146304" cy="292608"/>
          </a:xfrm>
          <a:prstGeom prst="chevron">
            <a:avLst/>
          </a:prstGeom>
          <a:solidFill>
            <a:srgbClr val="7A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982" y="1627632"/>
            <a:ext cx="2699765" cy="246888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2998" y="175564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关键判断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6422" y="2139696"/>
            <a:ext cx="2516885" cy="1901952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3F7BD6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科研探索与需要稳定效果的公共服务交付，不是同一目标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3F7BD6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当前交付须同时考虑效果责任、投入与可执行性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3F7BD6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先在成熟底座上持续训练与知识转移，再逐步探索</a:t>
            </a:r>
          </a:p>
        </p:txBody>
      </p:sp>
      <p:sp>
        <p:nvSpPr>
          <p:cNvPr id="13" name="Chevron 12"/>
          <p:cNvSpPr/>
          <p:nvPr/>
        </p:nvSpPr>
        <p:spPr>
          <a:xfrm>
            <a:off x="6021324" y="1773936"/>
            <a:ext cx="146304" cy="292608"/>
          </a:xfrm>
          <a:prstGeom prst="chevron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04204" y="1627632"/>
            <a:ext cx="2699765" cy="246888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32220" y="175564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本人行动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5644" y="2139696"/>
            <a:ext cx="2516885" cy="1901952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亲自承担关键英语技术与业务沟通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联合团队围绕HLD应答4批30多个问题，持续更新书面材料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对新增DLM、开放基础权重要求继续评审，不无条件接受</a:t>
            </a:r>
          </a:p>
        </p:txBody>
      </p:sp>
      <p:sp>
        <p:nvSpPr>
          <p:cNvPr id="17" name="Chevron 16"/>
          <p:cNvSpPr/>
          <p:nvPr/>
        </p:nvSpPr>
        <p:spPr>
          <a:xfrm>
            <a:off x="8940546" y="1773936"/>
            <a:ext cx="146304" cy="292608"/>
          </a:xfrm>
          <a:prstGeom prst="chevron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23426" y="1627632"/>
            <a:ext cx="2699765" cy="246888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51442" y="175564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1F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可见变化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4866" y="2139696"/>
            <a:ext cx="2516885" cy="1901952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1F8F5F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5月5日会议，客户明确复述“可持续训练演进，从零训练是另一层难度”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1F8F5F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5月周报：客户总体接受方案与技术路线，本阶段技术澄清关闭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1F8F5F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5月15日TR草稿与HLD及澄清回复基本一致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297680"/>
            <a:ext cx="2727198" cy="749808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352544"/>
            <a:ext cx="2727198" cy="412394"/>
          </a:xfrm>
          <a:prstGeom prst="rect">
            <a:avLst/>
          </a:prstGeom>
          <a:noFill/>
        </p:spPr>
        <p:txBody>
          <a:bodyPr wrap="square" lIns="36576" tIns="0" rIns="36576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4批 / 30+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717572"/>
            <a:ext cx="2727198" cy="314919"/>
          </a:xfrm>
          <a:prstGeom prst="rect">
            <a:avLst/>
          </a:prstGeom>
          <a:noFill/>
        </p:spPr>
        <p:txBody>
          <a:bodyPr wrap="square" lIns="54864" tIns="0" rIns="54864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6F7E8F"/>
                </a:solidFill>
              </a:rPr>
              <a:t>客户问题联合书面应答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75838" y="4297680"/>
            <a:ext cx="2727198" cy="749808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75838" y="4352544"/>
            <a:ext cx="2727198" cy="412394"/>
          </a:xfrm>
          <a:prstGeom prst="rect">
            <a:avLst/>
          </a:prstGeom>
          <a:noFill/>
        </p:spPr>
        <p:txBody>
          <a:bodyPr wrap="square" lIns="36576" tIns="0" rIns="36576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5.5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75838" y="4717572"/>
            <a:ext cx="2727198" cy="314919"/>
          </a:xfrm>
          <a:prstGeom prst="rect">
            <a:avLst/>
          </a:prstGeom>
          <a:noFill/>
        </p:spPr>
        <p:txBody>
          <a:bodyPr wrap="square" lIns="54864" tIns="0" rIns="54864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6F7E8F"/>
                </a:solidFill>
              </a:rPr>
              <a:t>客户复述的理解变化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5916" y="4297680"/>
            <a:ext cx="2727198" cy="749808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85916" y="4352544"/>
            <a:ext cx="2727198" cy="412394"/>
          </a:xfrm>
          <a:prstGeom prst="rect">
            <a:avLst/>
          </a:prstGeom>
          <a:noFill/>
        </p:spPr>
        <p:txBody>
          <a:bodyPr wrap="square" lIns="36576" tIns="0" rIns="36576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5月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5916" y="4717572"/>
            <a:ext cx="2727198" cy="314919"/>
          </a:xfrm>
          <a:prstGeom prst="rect">
            <a:avLst/>
          </a:prstGeom>
          <a:noFill/>
        </p:spPr>
        <p:txBody>
          <a:bodyPr wrap="square" lIns="54864" tIns="0" rIns="54864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6F7E8F"/>
                </a:solidFill>
              </a:rPr>
              <a:t>总体接受方案与技术路线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5994" y="4297680"/>
            <a:ext cx="2727198" cy="749808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5994" y="4352544"/>
            <a:ext cx="2727198" cy="412394"/>
          </a:xfrm>
          <a:prstGeom prst="rect">
            <a:avLst/>
          </a:prstGeom>
          <a:noFill/>
        </p:spPr>
        <p:txBody>
          <a:bodyPr wrap="square" lIns="36576" tIns="0" rIns="36576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5.15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5994" y="4717572"/>
            <a:ext cx="2727198" cy="314919"/>
          </a:xfrm>
          <a:prstGeom prst="rect">
            <a:avLst/>
          </a:prstGeom>
          <a:noFill/>
        </p:spPr>
        <p:txBody>
          <a:bodyPr wrap="square" lIns="54864" tIns="0" rIns="54864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6F7E8F"/>
                </a:solidFill>
              </a:rPr>
              <a:t>TR草稿与HLD基本一致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5193792"/>
            <a:ext cx="11457432" cy="566928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93776" y="5330952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归因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5193792"/>
            <a:ext cx="10360152" cy="56692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阶段认可是多轮联合工作的共同结果，不归于单次发言；技术说明不写成未经测试的性能保证，新增内容继续管理。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关键咨询问答：五个核心问题的澄清及其对项目的意义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93224" y="548640"/>
            <a:ext cx="202996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岗位特性类 ｜ 备讲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70432"/>
          <a:ext cx="11457432" cy="4315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06040"/>
                <a:gridCol w="5257800"/>
                <a:gridCol w="3593592"/>
              </a:tblGrid>
              <a:tr h="384048"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客户核心问题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亲自完成的关键澄清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对项目的意义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</a:tr>
              <a:tr h="786384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0A2A5E"/>
                          </a:solidFill>
                        </a:rPr>
                        <a:t>巴西语料从哪里来，缺数据怎么办？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先调查本地机构已有资源，评估数量、类型、质量，再选择购买、清洗增强或新建；语料团队与训练团队并行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把“客户负责数据”细化为可启动的调查与建设安排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0A2A5E"/>
                          </a:solidFill>
                        </a:rPr>
                        <a:t>为何不是直接从零训练？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区分科研探索与需要稳定效果的公共服务交付；先基于成熟底座增训与知识转移，再逐步探索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回应自主能力目标，同时明确当前项目的结果责任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</a:tr>
              <a:tr h="786384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0A2A5E"/>
                          </a:solidFill>
                        </a:rPr>
                        <a:t>模型能否跨昇腾、英伟达生态运行？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说明迁移、算子与软件栈适配、性能优化工作；区分基础支持与额外服务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不用一句“兼容”掩盖工程投入与商业边界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0A2A5E"/>
                          </a:solidFill>
                        </a:rPr>
                        <a:t>怎样证明葡语与本土能力改善？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区分语言能力、本土知识与价值相关内容；提出评测基准初稿、客户讨论与量化验收口径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把主观效果诉求转成可共同确认的评测安排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</a:tr>
              <a:tr h="786384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0A2A5E"/>
                          </a:solidFill>
                        </a:rPr>
                        <a:t>自主使用与核心知识产权怎样兼顾？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区分使用、定制、再分发与核心代码等权利；说明持续训练与受控数据使用安排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把抽象“主权”要求拆成具体权利与责任讨论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623560"/>
            <a:ext cx="11457432" cy="45720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0">
                <a:solidFill>
                  <a:srgbClr val="6F7E8F"/>
                </a:solidFill>
              </a:rPr>
              <a:t>5月5日会议中有对应发言；5月8日语料规模、数据与源码问题为补充案例。口头讨论不写成合同条款，技术说明不写成性能保证。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商业模式与价值争取：从“方案可讲”推进到“交易如何成立”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4744" y="54864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目标管理类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453896"/>
            <a:ext cx="5618988" cy="178308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12064" y="1600200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63624"/>
            <a:ext cx="497890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交易模式持续调整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02536"/>
            <a:ext cx="5399531" cy="1179576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围绕联合体、讯飞总集、服务化采购、分签等路径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讨论签约主体、资产持有、资金安排、付款与风险分担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4204" y="1453896"/>
            <a:ext cx="5618988" cy="178308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50508" y="1600200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2844" y="1563624"/>
            <a:ext cx="497890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客户诉求回传决策，原则回传一线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3932" y="2002536"/>
            <a:ext cx="5399531" cy="1179576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6月周报：OPEX模式下讯飞担任总集，完成多轮内部讨论与汇报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高层确认的态度与原则反馈华为一线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419855"/>
            <a:ext cx="5618988" cy="178308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12064" y="3566160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529584"/>
            <a:ext cx="497890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明确讯飞在联合方案中的位置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968495"/>
            <a:ext cx="5399531" cy="1179576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参与华为云MA集成方案讨论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阶段性确认训练工具链采用讯飞；推理、容器等界面继续核定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4204" y="3419855"/>
            <a:ext cx="5618988" cy="178308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50508" y="3566160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52844" y="3529584"/>
            <a:ext cx="497890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组织具体商业材料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3932" y="3968495"/>
            <a:ext cx="5399531" cy="1179576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分期实施与一期份额、回款目标讨论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按范围刷新报价，形成付款里程碑并提交客户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6月22—28日周报记有“48M DDP”报价与付款设计（币种未明前不换算）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431536"/>
            <a:ext cx="11457432" cy="502920"/>
          </a:xfrm>
          <a:prstGeom prst="roundRect">
            <a:avLst>
              <a:gd name="adj" fmla="val 12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431536"/>
            <a:ext cx="11091672" cy="5029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</a:rPr>
              <a:t>把技术范围、联合分工、公司价值与回款节奏放在一起考虑，而不只围绕客户是否喜欢方案。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采购与合同攻坚：把未知条件逐项明确，形成书面推进依据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17352" y="54864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运营类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70432"/>
            <a:ext cx="2103120" cy="365760"/>
          </a:xfrm>
          <a:prstGeom prst="rect">
            <a:avLst/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70432"/>
            <a:ext cx="2103120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</a:rPr>
              <a:t>问题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2578608" y="1170432"/>
            <a:ext cx="6720840" cy="365760"/>
          </a:xfrm>
          <a:prstGeom prst="rect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78608" y="1170432"/>
            <a:ext cx="6720840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</a:rPr>
              <a:t>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09176" y="1170432"/>
            <a:ext cx="2414016" cy="365760"/>
          </a:xfrm>
          <a:prstGeom prst="rect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09176" y="1170432"/>
            <a:ext cx="2414016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</a:rPr>
              <a:t>结果状态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09344"/>
            <a:ext cx="2103120" cy="73152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1609344"/>
            <a:ext cx="1956815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A2A5E"/>
                </a:solidFill>
              </a:rPr>
              <a:t>缺少本地合同专业支撑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78608" y="1609344"/>
            <a:ext cx="6720840" cy="7315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0048" y="1609344"/>
            <a:ext cx="6537959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现场调研交流三家律所，选定与RNP沟通所需的葡语合同顾问律师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09176" y="1609344"/>
            <a:ext cx="2414016" cy="731520"/>
          </a:xfrm>
          <a:prstGeom prst="roundRect">
            <a:avLst>
              <a:gd name="adj" fmla="val 5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83496" y="1819656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1F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已完成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414016"/>
            <a:ext cx="2103120" cy="73152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2414016"/>
            <a:ext cx="1956815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A2A5E"/>
                </a:solidFill>
              </a:rPr>
              <a:t>采购前提与签约条件不明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78608" y="2414016"/>
            <a:ext cx="6720840" cy="7315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70048" y="2414016"/>
            <a:ext cx="6537959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8月4日首次与采购部门直接对接，拉通财法与律所参与，围绕本地实体资格、签约前提与下一步时间表讨论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09176" y="2414016"/>
            <a:ext cx="2414016" cy="731520"/>
          </a:xfrm>
          <a:prstGeom prst="roundRect">
            <a:avLst>
              <a:gd name="adj" fmla="val 5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83496" y="2624328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1F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前提清单形成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218688"/>
            <a:ext cx="2103120" cy="73152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218688"/>
            <a:ext cx="1956815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A2A5E"/>
                </a:solidFill>
              </a:rPr>
              <a:t>准备工作能否并行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78608" y="3218688"/>
            <a:ext cx="6720840" cy="7315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0048" y="3218688"/>
            <a:ext cx="6537959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纪要明确签约准备可先行，正式签约需激活CNPJ；草稿提案作为RNP理解范围、费用归类与编制TR的输入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09176" y="3218688"/>
            <a:ext cx="2414016" cy="731520"/>
          </a:xfrm>
          <a:prstGeom prst="roundRect">
            <a:avLst>
              <a:gd name="adj" fmla="val 5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83496" y="3429000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C57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并行推进中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4023360"/>
            <a:ext cx="2103120" cy="73152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4023360"/>
            <a:ext cx="1956815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A2A5E"/>
                </a:solidFill>
              </a:rPr>
              <a:t>风险事项停留在口头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78608" y="4023360"/>
            <a:ext cx="6720840" cy="7315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70048" y="4023360"/>
            <a:ext cx="6537959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会后正式邮件对分包报备、履约担保、用工逐项求证；建立项目负责人、采购组织、执行接口三层通道；追踪11项遗留问题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09176" y="4023360"/>
            <a:ext cx="2414016" cy="731520"/>
          </a:xfrm>
          <a:prstGeom prst="roundRect">
            <a:avLst>
              <a:gd name="adj" fmla="val 5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683496" y="4233672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C57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持续跟踪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4828032"/>
            <a:ext cx="2103120" cy="73152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4828032"/>
            <a:ext cx="1956815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A2A5E"/>
                </a:solidFill>
              </a:rPr>
              <a:t>伙伴正式方案未提交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78608" y="4828032"/>
            <a:ext cx="6720840" cy="7315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70048" y="4828032"/>
            <a:ext cx="6537959" cy="7315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两次与华为项目负责人深入沟通，推动联合SOW攻关，同步完成内部任务分解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09176" y="4828032"/>
            <a:ext cx="2414016" cy="731520"/>
          </a:xfrm>
          <a:prstGeom prst="roundRect">
            <a:avLst>
              <a:gd name="adj" fmla="val 5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683496" y="5038344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C57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推进中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715000"/>
            <a:ext cx="11457432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0">
                <a:solidFill>
                  <a:srgbClr val="6F7E8F"/>
                </a:solidFill>
              </a:rPr>
              <a:t>把模糊的“等待采购”转为具体前提、材料、接口、责任与待决问题；采购会议按8月4日计一次。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关键案例③　本地承接：主体经营范围与方案结构的矛盾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548640"/>
            <a:ext cx="217627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运营类 ｜ 跨专业落地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440179"/>
            <a:ext cx="2699765" cy="29718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3776" y="1568195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7A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原来的障碍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52243"/>
            <a:ext cx="2516885" cy="2404872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7A8898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2F3E4F"/>
                </a:solidFill>
              </a:rPr>
              <a:t>采购讨论中RNP提出服务代码问题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7A8898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2F3E4F"/>
                </a:solidFill>
              </a:rPr>
              <a:t>纯服务注册暂不含贸易与设备租赁，现有安全设备OPEX安排不能直接纳入当前签约结构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7A8898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2F3E4F"/>
                </a:solidFill>
              </a:rPr>
              <a:t>CNAE、NBS分类影响提案与后续付款</a:t>
            </a:r>
          </a:p>
        </p:txBody>
      </p:sp>
      <p:sp>
        <p:nvSpPr>
          <p:cNvPr id="9" name="Chevron 8"/>
          <p:cNvSpPr/>
          <p:nvPr/>
        </p:nvSpPr>
        <p:spPr>
          <a:xfrm>
            <a:off x="3102101" y="1586483"/>
            <a:ext cx="146304" cy="292608"/>
          </a:xfrm>
          <a:prstGeom prst="chevron">
            <a:avLst/>
          </a:prstGeom>
          <a:solidFill>
            <a:srgbClr val="7A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982" y="1440179"/>
            <a:ext cx="2699765" cy="29718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2998" y="1568195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关键判断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6422" y="1952243"/>
            <a:ext cx="2516885" cy="2404872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3F7BD6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2F3E4F"/>
                </a:solidFill>
              </a:rPr>
              <a:t>“方案可以做”与“主体能这样签、团队能这样交”是两回事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3F7BD6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2F3E4F"/>
                </a:solidFill>
              </a:rPr>
              <a:t>经营范围、设备安排与合同范围必须放在一起处理，不能只转给律师</a:t>
            </a:r>
          </a:p>
        </p:txBody>
      </p:sp>
      <p:sp>
        <p:nvSpPr>
          <p:cNvPr id="13" name="Chevron 12"/>
          <p:cNvSpPr/>
          <p:nvPr/>
        </p:nvSpPr>
        <p:spPr>
          <a:xfrm>
            <a:off x="6021324" y="1586483"/>
            <a:ext cx="146304" cy="292608"/>
          </a:xfrm>
          <a:prstGeom prst="chevron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04204" y="1440179"/>
            <a:ext cx="2699765" cy="29718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32220" y="1568195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本人行动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5644" y="1952243"/>
            <a:ext cx="2516885" cy="2404872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2F3E4F"/>
                </a:solidFill>
              </a:rPr>
              <a:t>现场牵头LTC团队，商法财到场集中处理公司设立与合同准备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2F3E4F"/>
                </a:solidFill>
              </a:rPr>
              <a:t>组织方案侧与财务、律师对齐服务内容与CNAE、NBS（最终核定由会计师承担）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2F3E4F"/>
                </a:solidFill>
              </a:rPr>
              <a:t>按纪要行动项，承担与华为沟通解决方案的责任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2F3E4F"/>
                </a:solidFill>
              </a:rPr>
              <a:t>推动范围、责任矩阵、验收、实施计划与付款安排一致</a:t>
            </a:r>
          </a:p>
        </p:txBody>
      </p:sp>
      <p:sp>
        <p:nvSpPr>
          <p:cNvPr id="17" name="Chevron 16"/>
          <p:cNvSpPr/>
          <p:nvPr/>
        </p:nvSpPr>
        <p:spPr>
          <a:xfrm>
            <a:off x="8940546" y="1586483"/>
            <a:ext cx="146304" cy="292608"/>
          </a:xfrm>
          <a:prstGeom prst="chevron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23426" y="1440179"/>
            <a:ext cx="2699765" cy="29718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51442" y="1568195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1F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可见变化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4866" y="1952243"/>
            <a:ext cx="2516885" cy="2404872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1F8F5F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2F3E4F"/>
                </a:solidFill>
              </a:rPr>
              <a:t>问题进入签约前提清单，责任人明确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1F8F5F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2F3E4F"/>
                </a:solidFill>
              </a:rPr>
              <a:t>本地支持层级、总部参与方式、培训对象、数据与先期算力等交付前提明确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1F8F5F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2F3E4F"/>
                </a:solidFill>
              </a:rPr>
              <a:t>各项外部条件分别跟踪（见下）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594859"/>
            <a:ext cx="2174443" cy="640080"/>
          </a:xfrm>
          <a:prstGeom prst="roundRect">
            <a:avLst>
              <a:gd name="adj" fmla="val 5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94859"/>
            <a:ext cx="1260043" cy="64008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A2A5E"/>
                </a:solidFill>
              </a:rPr>
              <a:t>本地注册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717243" y="4768595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C57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跟踪中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86507" y="4594859"/>
            <a:ext cx="2174443" cy="640080"/>
          </a:xfrm>
          <a:prstGeom prst="roundRect">
            <a:avLst>
              <a:gd name="adj" fmla="val 5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7947" y="4594859"/>
            <a:ext cx="1260043" cy="64008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A2A5E"/>
                </a:solidFill>
              </a:rPr>
              <a:t>客户资金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37990" y="4768595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C57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跟踪中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07254" y="4594859"/>
            <a:ext cx="2174443" cy="640080"/>
          </a:xfrm>
          <a:prstGeom prst="roundRect">
            <a:avLst>
              <a:gd name="adj" fmla="val 5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98694" y="4594859"/>
            <a:ext cx="1260043" cy="64008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A2A5E"/>
                </a:solidFill>
              </a:rPr>
              <a:t>伙伴材料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8737" y="4768595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C57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跟踪中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28001" y="4594859"/>
            <a:ext cx="2174443" cy="640080"/>
          </a:xfrm>
          <a:prstGeom prst="roundRect">
            <a:avLst>
              <a:gd name="adj" fmla="val 5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19441" y="4594859"/>
            <a:ext cx="1260043" cy="64008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A2A5E"/>
                </a:solidFill>
              </a:rPr>
              <a:t>数据中心建设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79484" y="4768595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C57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跟踪中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48748" y="4594859"/>
            <a:ext cx="2174443" cy="640080"/>
          </a:xfrm>
          <a:prstGeom prst="roundRect">
            <a:avLst>
              <a:gd name="adj" fmla="val 5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40188" y="4594859"/>
            <a:ext cx="1260043" cy="64008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A2A5E"/>
                </a:solidFill>
              </a:rPr>
              <a:t>客户配合条件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000232" y="4768595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C57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跟踪中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5381243"/>
            <a:ext cx="11457432" cy="566928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93776" y="5518403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归因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25880" y="5381243"/>
            <a:ext cx="10360152" cy="56692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问题由RNP在采购讨论中提出；本人承担的是跨专业协调与推进责任。未关闭事项不写“已化解”。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SERPRO成果：从高层合作意愿，推进到具体客户应用验证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4744" y="54864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目标管理类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68779"/>
            <a:ext cx="2699765" cy="22860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12064" y="1815083"/>
            <a:ext cx="329184" cy="329184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96795"/>
            <a:ext cx="2059685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A2A5E"/>
                </a:solidFill>
              </a:rPr>
              <a:t>合作入口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272283"/>
            <a:ext cx="2480309" cy="16002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高层来访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主权AI合作伙伴框架RFI阶段材料提交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与华为联合驻场开展场景规划</a:t>
            </a:r>
          </a:p>
        </p:txBody>
      </p:sp>
      <p:sp>
        <p:nvSpPr>
          <p:cNvPr id="10" name="Chevron 9"/>
          <p:cNvSpPr/>
          <p:nvPr/>
        </p:nvSpPr>
        <p:spPr>
          <a:xfrm>
            <a:off x="3102101" y="1833371"/>
            <a:ext cx="146304" cy="292608"/>
          </a:xfrm>
          <a:prstGeom prst="chevron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84982" y="1668779"/>
            <a:ext cx="2699765" cy="22860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1286" y="1815083"/>
            <a:ext cx="329184" cy="329184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3622" y="1796795"/>
            <a:ext cx="2059685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A2A5E"/>
                </a:solidFill>
              </a:rPr>
              <a:t>场景筛选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2272283"/>
            <a:ext cx="2480309" cy="16002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移动医疗车影像辅助诊断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教育快赢场景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政务人事管理；组织产线需求交流与方案匹配</a:t>
            </a:r>
          </a:p>
        </p:txBody>
      </p:sp>
      <p:sp>
        <p:nvSpPr>
          <p:cNvPr id="15" name="Chevron 14"/>
          <p:cNvSpPr/>
          <p:nvPr/>
        </p:nvSpPr>
        <p:spPr>
          <a:xfrm>
            <a:off x="6021324" y="1833371"/>
            <a:ext cx="146304" cy="292608"/>
          </a:xfrm>
          <a:prstGeom prst="chevron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04204" y="1668779"/>
            <a:ext cx="2699765" cy="22860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50508" y="1815083"/>
            <a:ext cx="329184" cy="329184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2844" y="1796795"/>
            <a:ext cx="2059685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A2A5E"/>
                </a:solidFill>
              </a:rPr>
              <a:t>需求收敛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3932" y="2272283"/>
            <a:ext cx="2480309" cy="16002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SERPRO导入MGI-SGP招聘、档案数字化需求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完成需求分析，组织Demo准备与演示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6月招聘场景获确认开展PoC</a:t>
            </a:r>
          </a:p>
        </p:txBody>
      </p:sp>
      <p:sp>
        <p:nvSpPr>
          <p:cNvPr id="20" name="Chevron 19"/>
          <p:cNvSpPr/>
          <p:nvPr/>
        </p:nvSpPr>
        <p:spPr>
          <a:xfrm>
            <a:off x="8940546" y="1833371"/>
            <a:ext cx="146304" cy="292608"/>
          </a:xfrm>
          <a:prstGeom prst="chevron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23426" y="1668779"/>
            <a:ext cx="2699765" cy="228600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9730" y="1815083"/>
            <a:ext cx="329184" cy="329184"/>
          </a:xfrm>
          <a:prstGeom prst="ellipse">
            <a:avLst/>
          </a:prstGeom>
          <a:solidFill>
            <a:srgbClr val="1F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2066" y="1796795"/>
            <a:ext cx="2059685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A2A5E"/>
                </a:solidFill>
              </a:rPr>
              <a:t>具体成果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3154" y="2272283"/>
            <a:ext cx="2480309" cy="16002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8月：招聘应用PoC完成开发并持续优化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过程演示反馈积极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进入云环境部署及验收条件沟通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155947"/>
            <a:ext cx="5618988" cy="11430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4265675"/>
            <a:ext cx="5381244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0A2A5E"/>
                </a:solidFill>
              </a:rPr>
              <a:t>本人贡献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4704587"/>
            <a:ext cx="5399531" cy="539496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需求、方案、客户、资源与节奏的持续牵引；开发属研发团队产出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4204" y="4155947"/>
            <a:ext cx="5618988" cy="11430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0508" y="4265675"/>
            <a:ext cx="5381244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0A2A5E"/>
                </a:solidFill>
              </a:rPr>
              <a:t>工作价值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3932" y="4704587"/>
            <a:ext cx="5399531" cy="539496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巴西合作不只停留在国家大模型建设，开始形成面向政府业务部门的应用验证基础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390387"/>
            <a:ext cx="11457432" cy="3291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0">
                <a:solidFill>
                  <a:srgbClr val="6F7E8F"/>
                </a:solidFill>
              </a:rPr>
              <a:t>状态：PoC验收、采购路径与合同尚未完成，见下页。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SERPRO落地难点：需求确认、开发验证、云资源与采购路径同步推进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93224" y="548640"/>
            <a:ext cx="202996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目标管理类 ｜ 备讲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70432"/>
          <a:ext cx="11457432" cy="40416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4937760"/>
                <a:gridCol w="4507992"/>
              </a:tblGrid>
              <a:tr h="384048"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推进链条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已开展工作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仍需收口的事项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</a:tr>
              <a:tr h="9144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1">
                          <a:solidFill>
                            <a:srgbClr val="0A2A5E"/>
                          </a:solidFill>
                        </a:rPr>
                        <a:t>需求与客户确认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Demo、调研清单、PoC方案及每周例会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SERPRO确认与最终业务客户SGP确认不能混同；局部需求变化需重新对齐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1">
                          <a:solidFill>
                            <a:srgbClr val="0A2A5E"/>
                          </a:solidFill>
                        </a:rPr>
                        <a:t>开发与验证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协调产线完成场景开发、过程演示与优化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依据最终确认条件完成测试与验收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</a:tr>
              <a:tr h="9144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1">
                          <a:solidFill>
                            <a:srgbClr val="0A2A5E"/>
                          </a:solidFill>
                        </a:rPr>
                        <a:t>云资源与部署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推动华为云资源申请、系统部署及后续资源问题协调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资源供给与交付节奏存在外部依赖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1">
                          <a:solidFill>
                            <a:srgbClr val="0A2A5E"/>
                          </a:solidFill>
                        </a:rPr>
                        <a:t>商业采购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讨论云市场上架与既有MGI—SERPRO—华为框架衔接；形成香港主体或巴西代理等方案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最终路径、上架、预算及合同尚需继续落实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5486400"/>
            <a:ext cx="11457432" cy="502920"/>
          </a:xfrm>
          <a:prstGeom prst="roundRect">
            <a:avLst>
              <a:gd name="adj" fmla="val 12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1091672" cy="5029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</a:rPr>
              <a:t>没有把Demo成功等同于项目成功：同步组织客户确认、产品验证、部署资源与采购安排。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团队从0到1：从招募人员到形成重点区域主责配置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548640"/>
            <a:ext cx="217627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成果二 ｜ 人与团队类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70432"/>
            <a:ext cx="3660647" cy="347472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A2A5E"/>
                </a:solidFill>
              </a:rPr>
              <a:t>人员配置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72768"/>
            <a:ext cx="3660647" cy="749808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1673352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7A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起点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572768"/>
            <a:ext cx="2837687" cy="7498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F7E8F"/>
                </a:solidFill>
              </a:rPr>
              <a:t>2025年底启动招募与首轮带教；人员分散，临时跨区支撑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049779" y="2377440"/>
            <a:ext cx="292608" cy="201168"/>
          </a:xfrm>
          <a:prstGeom prst="downArrow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2633472"/>
            <a:ext cx="3660647" cy="9144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277977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现在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33472"/>
            <a:ext cx="2837687" cy="91440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Q1记录共6人，拉美、中东中亚、东南亚、北部非洲、南部非洲均配置主责咨询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4152" y="1170432"/>
            <a:ext cx="3660647" cy="347472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A2A5E"/>
                </a:solidFill>
              </a:rPr>
              <a:t>责任分工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4152" y="1572768"/>
            <a:ext cx="3660647" cy="749808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73880" y="1673352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7A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起点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5672" y="1572768"/>
            <a:ext cx="2837687" cy="7498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F7E8F"/>
                </a:solidFill>
              </a:rPr>
              <a:t>本人直接处理更多方案细节与客户问题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948171" y="2377440"/>
            <a:ext cx="292608" cy="201168"/>
          </a:xfrm>
          <a:prstGeom prst="downArrow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64152" y="2633472"/>
            <a:ext cx="3660647" cy="9144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73880" y="277977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现在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5672" y="2633472"/>
            <a:ext cx="2837687" cy="91440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骨干承担主责方案与现场工作；本人保留关键判断、复核与总体推进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2543" y="1170432"/>
            <a:ext cx="3660647" cy="347472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A2A5E"/>
                </a:solidFill>
              </a:rPr>
              <a:t>工作方法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62543" y="1572768"/>
            <a:ext cx="3660647" cy="749808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72271" y="1673352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7A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起点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4064" y="1572768"/>
            <a:ext cx="2837687" cy="7498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F7E8F"/>
                </a:solidFill>
              </a:rPr>
              <a:t>按单次任务交付，经验留在个人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9846564" y="2377440"/>
            <a:ext cx="292608" cy="201168"/>
          </a:xfrm>
          <a:prstGeom prst="downArrow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62543" y="2633472"/>
            <a:ext cx="3660647" cy="9144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72271" y="277977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现在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4064" y="2633472"/>
            <a:ext cx="2837687" cy="91440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集中办公、实战复盘、关键材料评审、跨项目经验复用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3776472"/>
            <a:ext cx="2743200" cy="2926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A2A5E"/>
                </a:solidFill>
              </a:rPr>
              <a:t>区域主责与代表任务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4123944"/>
            <a:ext cx="2174443" cy="896112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160520"/>
            <a:ext cx="1991563" cy="310896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0C4BA1"/>
                </a:solidFill>
              </a:rPr>
              <a:t>拉美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471416"/>
            <a:ext cx="1991563" cy="530352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巴西RNP、SERPRO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86507" y="4123944"/>
            <a:ext cx="2174443" cy="896112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77947" y="4160520"/>
            <a:ext cx="1991563" cy="310896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0C4BA1"/>
                </a:solidFill>
              </a:rPr>
              <a:t>中东中亚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77947" y="4471416"/>
            <a:ext cx="1991563" cy="530352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KNG、IGNITE、MOI、哈萨克斯坦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07254" y="4123944"/>
            <a:ext cx="2174443" cy="896112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98694" y="4160520"/>
            <a:ext cx="1991563" cy="310896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0C4BA1"/>
                </a:solidFill>
              </a:rPr>
              <a:t>东南亚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98694" y="4471416"/>
            <a:ext cx="1991563" cy="530352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SDEC、泰国、斯里兰卡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28001" y="4123944"/>
            <a:ext cx="2174443" cy="896112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19441" y="4160520"/>
            <a:ext cx="1991563" cy="310896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0C4BA1"/>
                </a:solidFill>
              </a:rPr>
              <a:t>北部非洲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19441" y="4471416"/>
            <a:ext cx="1991563" cy="530352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埃及ISD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48748" y="4123944"/>
            <a:ext cx="2174443" cy="896112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40188" y="4160520"/>
            <a:ext cx="1991563" cy="310896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0C4BA1"/>
                </a:solidFill>
              </a:rPr>
              <a:t>南部非洲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40188" y="4471416"/>
            <a:ext cx="1991563" cy="530352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加纳、埃塞俄比亚、坦桑尼亚、肯尼亚、南非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760" y="5148072"/>
            <a:ext cx="11457432" cy="566928"/>
          </a:xfrm>
          <a:prstGeom prst="roundRect">
            <a:avLst>
              <a:gd name="adj" fmla="val 5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3776" y="5285232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C57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实际约束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5148072"/>
            <a:ext cx="10177272" cy="56692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人员离职、双现场常驻与轮换、小颗粒商机并发，调度压力持续；本人同步推动招聘、优先级取舍与任务交接。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5788152"/>
            <a:ext cx="11457432" cy="3291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0">
                <a:solidFill>
                  <a:srgbClr val="6F7E8F"/>
                </a:solidFill>
              </a:rPr>
              <a:t>口径：人数与区域按Q1阶段记录，不写成当前人数或整个任期累计；区域与国家对应关系按部门实际配置核对。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骨干培养：在重大项目实战中，把关键能力交给团队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4744" y="54864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人与团队类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70432"/>
            <a:ext cx="5120640" cy="3291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0A2A5E"/>
                </a:solidFill>
              </a:rPr>
              <a:t>徐唯：责任递进（由本人招募并持续带教）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91056"/>
            <a:ext cx="5120640" cy="749808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12064" y="1801368"/>
            <a:ext cx="329184" cy="329184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591056"/>
            <a:ext cx="4389120" cy="7498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2F3E4F"/>
                </a:solidFill>
              </a:rPr>
              <a:t>参与材料准备与客户交流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816351" y="2359152"/>
            <a:ext cx="219456" cy="109728"/>
          </a:xfrm>
          <a:prstGeom prst="downArrow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2487168"/>
            <a:ext cx="5120640" cy="749808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12064" y="2697479"/>
            <a:ext cx="329184" cy="329184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487168"/>
            <a:ext cx="4389120" cy="7498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2F3E4F"/>
                </a:solidFill>
              </a:rPr>
              <a:t>承担巴西主要方案与客户问题应答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816351" y="3255263"/>
            <a:ext cx="219456" cy="109728"/>
          </a:xfrm>
          <a:prstGeom prst="downArrow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" y="3383280"/>
            <a:ext cx="5120640" cy="749808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2064" y="3593592"/>
            <a:ext cx="329184" cy="329184"/>
          </a:xfrm>
          <a:prstGeom prst="ellipse">
            <a:avLst/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3383280"/>
            <a:ext cx="4389120" cy="7498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2F3E4F"/>
                </a:solidFill>
              </a:rPr>
              <a:t>现场主责咨询；本人转向关键判断、复核与总体推进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760720" y="1170432"/>
          <a:ext cx="606247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31236"/>
                <a:gridCol w="3031236"/>
              </a:tblGrid>
              <a:tr h="384048"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现在能独立承担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仍由本人把关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</a:tr>
              <a:tr h="566928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一般方案材料与客户问题书面应答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重大效果承诺与技术路线选择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现场主责咨询与日常客户沟通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工作范围、权利边界与对外正式承诺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</a:tr>
              <a:tr h="566928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联合准备、面客与会后复盘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交易模式、报价与付款设计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主责交接与新人带教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跨部门资源协调与升级事项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760720" y="3858768"/>
            <a:ext cx="6062472" cy="2743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清单以本人确认为准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370832"/>
            <a:ext cx="3660647" cy="123444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" y="4462272"/>
            <a:ext cx="3404615" cy="310896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0A2A5E"/>
                </a:solidFill>
              </a:rPr>
              <a:t>授权边界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" y="4773168"/>
            <a:ext cx="3404615" cy="8229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3E4F"/>
                </a:solidFill>
              </a:rPr>
              <a:t>一般方案交给骨干；重大效果、范围、权利、对外承诺继续把关，避免“完全放手”与“全部自己做”两个极端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64152" y="4370832"/>
            <a:ext cx="3660647" cy="123444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2167" y="4462272"/>
            <a:ext cx="3404615" cy="310896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0A2A5E"/>
                </a:solidFill>
              </a:rPr>
              <a:t>连续性管理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2167" y="4773168"/>
            <a:ext cx="3404615" cy="8229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3E4F"/>
                </a:solidFill>
              </a:rPr>
              <a:t>人员阶段性离场时，本人接续关键工作并跨区调配；随后恢复分工，不以个人无限补位替代组织承接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2543" y="4370832"/>
            <a:ext cx="3660647" cy="123444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0560" y="4462272"/>
            <a:ext cx="3404615" cy="310896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0A2A5E"/>
                </a:solidFill>
              </a:rPr>
              <a:t>带教延伸到销售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0560" y="4773168"/>
            <a:ext cx="3404615" cy="8229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3E4F"/>
                </a:solidFill>
              </a:rPr>
              <a:t>4月：对新到现场销售导入项目背景、政府与客户关系，明确现场目标；8月持续导入项目信息与伙伴资源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724144"/>
            <a:ext cx="11457432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A2A5E"/>
                </a:solidFill>
              </a:rPr>
              <a:t>组织承接能力已在形成；对本人的依赖尚未消除，是下一阶段的管理重点。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埃及ISD：持续连接客户咨询、PoC、合同与交付准备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85832" y="54864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运营类 ｜ 备讲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70432"/>
            <a:ext cx="11457432" cy="13716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3776" y="16916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本人判断与组织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243584"/>
            <a:ext cx="4722876" cy="12435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向铁三角与交付侧交底前期方案、背景与约束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识别原HLD部分内容未完全响应RFP，提示客户可能挑战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3156" y="1243584"/>
            <a:ext cx="4722876" cy="12435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与法务合规讨论范围风险；审阅合同初版并提出修改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提出主合同不足影响与集成商合同的背靠背衔接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670048"/>
            <a:ext cx="11457432" cy="13716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3776" y="319125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团队与专业产出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743200"/>
            <a:ext cx="4722876" cy="12435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AI Lab负责人与技术团队交流，开展RAG现状调查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现场技术方案与演示准备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3156" y="2743200"/>
            <a:ext cx="4722876" cy="12435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PoC测试与演示跟进，参与复盘并提出下一步建议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安全许可、本地测试效果等约束下的现场协调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169664"/>
            <a:ext cx="11457432" cy="109728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3776" y="4553712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F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已发生的阶段变化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4242816"/>
            <a:ext cx="9628632" cy="96926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形成基于HLD的交付安排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合同修改意见提交主责咨询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售前方案、客户需求、合同责任与交付执行之间未出现断层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468112"/>
            <a:ext cx="11457432" cy="502920"/>
          </a:xfrm>
          <a:prstGeom prst="roundRect">
            <a:avLst>
              <a:gd name="adj" fmla="val 12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468112"/>
            <a:ext cx="11091672" cy="5029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</a:rPr>
              <a:t>咨询工作没有止步于客户展示，而是持续防止售前方案、客户需求、合同责任与交付执行之间出现断层。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中东中亚：围绕竞争、范围与交付条件开展咨询支撑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93224" y="548640"/>
            <a:ext cx="202996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岗位特性类 ｜ 备讲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453896"/>
            <a:ext cx="3660647" cy="260604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545336"/>
            <a:ext cx="3404615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IGNITE（巴基斯坦）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" y="1984248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276856"/>
            <a:ext cx="3441191" cy="12801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新版招标文件存在无法满足项；伙伴方案与外部竞争影响参与方式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讨论平台、语料、训练指导等最小可参与范围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" y="323697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1F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产出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3529584"/>
            <a:ext cx="3441191" cy="50292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1F8F5F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组织内部研判，向一线反馈策略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4152" y="1453896"/>
            <a:ext cx="3660647" cy="260604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2167" y="1545336"/>
            <a:ext cx="3404615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KNG（科威特）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2167" y="1984248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3880" y="2276856"/>
            <a:ext cx="3441191" cy="12801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客户仍按初版SoC理解范围，尚未最终接受新HLD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推动客户、华为与总集继续确认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2167" y="323697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1F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产出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3880" y="3529584"/>
            <a:ext cx="3441191" cy="50292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1F8F5F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SoC评审；联合产线评估交付风险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62543" y="1453896"/>
            <a:ext cx="3660647" cy="260604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0560" y="1545336"/>
            <a:ext cx="3404615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沙特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90560" y="1984248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判断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2271" y="2276856"/>
            <a:ext cx="3441191" cy="12801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MOI硬件与接口问题需其他团队协同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SDAIA智能体及平台机会持续跟进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90560" y="323697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1F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产出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2271" y="3529584"/>
            <a:ext cx="3441191" cy="50292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1F8F5F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协同组织；PoC受阻事项如实列为风险与处理工作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242816"/>
            <a:ext cx="11457432" cy="10515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4315968"/>
            <a:ext cx="1828800" cy="2926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A2A5E"/>
                </a:solidFill>
              </a:rPr>
              <a:t>其他产出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4626864"/>
            <a:ext cx="2690622" cy="2743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C4BA1"/>
                </a:solidFill>
              </a:rPr>
              <a:t>哈萨克斯坦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4882896"/>
            <a:ext cx="2690622" cy="3657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MaaS与Agent平台客户汇报、华为赋能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0702" y="4626864"/>
            <a:ext cx="2690622" cy="2743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C4BA1"/>
                </a:solidFill>
              </a:rPr>
              <a:t>科威特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0702" y="4882896"/>
            <a:ext cx="2690622" cy="3657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政务、知识库及配置材料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7628" y="4626864"/>
            <a:ext cx="2690622" cy="2743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C4BA1"/>
                </a:solidFill>
              </a:rPr>
              <a:t>阿曼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67628" y="4882896"/>
            <a:ext cx="2690622" cy="3657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油气方案交流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4554" y="4626864"/>
            <a:ext cx="2690622" cy="2743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C4BA1"/>
                </a:solidFill>
              </a:rPr>
              <a:t>白俄罗斯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4554" y="4882896"/>
            <a:ext cx="2690622" cy="3657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客户接待与技术沟通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5431536"/>
            <a:ext cx="11457432" cy="502920"/>
          </a:xfrm>
          <a:prstGeom prst="roundRect">
            <a:avLst>
              <a:gd name="adj" fmla="val 12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431536"/>
            <a:ext cx="11091672" cy="5029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</a:rPr>
              <a:t>不是机械响应销售需求，而是基于竞争、能力与交付条件，给出可以继续推进的方案与边界。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东南亚：从应用方案支撑，走向总集边界、预算与采购材料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4744" y="54864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目标管理类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30452"/>
            <a:ext cx="8001000" cy="3291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SDEC（东马）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732788"/>
            <a:ext cx="8001000" cy="1572768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3776" y="235458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本人判断与组织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805940"/>
            <a:ext cx="6126480" cy="1444752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华为提出讯飞作为总集并集成其他伙伴产品：识别伙伴交付、商务安排与利润达标风险，组织内部策略讨论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识别员工助手方案匹配卡点，协调一网通牵头方案整合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安排咨询赴现场推进确认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15283"/>
            <a:ext cx="8001000" cy="9144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3776" y="3707891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团队与专业产出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488435"/>
            <a:ext cx="6126480" cy="7863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农业数字人、员工助手等第二轮客户方案输出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HLD编写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4439412"/>
            <a:ext cx="8001000" cy="9144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93776" y="47320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1F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已发生的阶段变化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512564"/>
            <a:ext cx="6126480" cy="7863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8月完成范围与SoC细节对齐，拆为5个子项目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相应SoC发送客户，等待商务与客户流程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22792" y="1330452"/>
            <a:ext cx="3200400" cy="178308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9096" y="1440180"/>
            <a:ext cx="2962656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0A2A5E"/>
                </a:solidFill>
              </a:rPr>
              <a:t>泰国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19" y="1879092"/>
            <a:ext cx="2980944" cy="1179576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预算约束下，调整平台与知识转移方案及报价，使客户期望与可投入资源匹配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22792" y="3250692"/>
            <a:ext cx="3200400" cy="150876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9096" y="3360420"/>
            <a:ext cx="2962656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0A2A5E"/>
                </a:solidFill>
              </a:rPr>
              <a:t>斯里兰卡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19" y="3799332"/>
            <a:ext cx="2980944" cy="905255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二期援助方案初版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554979"/>
            <a:ext cx="11457432" cy="502920"/>
          </a:xfrm>
          <a:prstGeom prst="roundRect">
            <a:avLst>
              <a:gd name="adj" fmla="val 12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554979"/>
            <a:ext cx="11091672" cy="5029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</a:rPr>
              <a:t>从“做应用方案”延伸到总集范围、内部产品匹配、利润风险与采购文件，判断项目的可执行性。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非洲多国：形成国别方案、语料与运营设计等实际产出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93224" y="548640"/>
            <a:ext cx="202996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岗位特性类 ｜ 备讲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70432"/>
          <a:ext cx="11457432" cy="4315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4480560"/>
                <a:gridCol w="2971800"/>
                <a:gridCol w="2587752"/>
              </a:tblGrid>
              <a:tr h="384048"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国家 / 机会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具体工作产出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阶段价值与边界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本人作用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</a:tr>
              <a:tr h="786384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0A2A5E"/>
                          </a:solidFill>
                        </a:rPr>
                        <a:t>加纳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语料调研策略、运营方案、HLD、配置报价更新；后续技术建议书、语料本地化及应用差异化说明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从通用介绍进入本地资源、运营与实施方案；预算与推进待跟踪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制定调研策略；复用巴西经验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0A2A5E"/>
                          </a:solidFill>
                        </a:rPr>
                        <a:t>埃塞俄比亚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伙伴选择RFI初版、方案与概算评审、预算范围沟通；8月与华为就基础方案达成一致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形成客户与伙伴讨论的具体输入，不等同正式合同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把关材料；统一伙伴口径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</a:tr>
              <a:tr h="786384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0A2A5E"/>
                          </a:solidFill>
                        </a:rPr>
                        <a:t>坦桑尼亚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概算输出及HLD持续更新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阶段性建设与投入讨论材料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评审与经验复用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0A2A5E"/>
                          </a:solidFill>
                        </a:rPr>
                        <a:t>肯尼亚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可研材料持续修改与内部评审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支撑项目可行性讨论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内部评审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</a:tr>
              <a:tr h="786384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0A2A5E"/>
                          </a:solidFill>
                        </a:rPr>
                        <a:t>南非、加蓬等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高阶训战、招采场景PoC初步沟通、智算中心项目沟通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新机会输入，按前期阶段列示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协调人员与伙伴口径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623560"/>
            <a:ext cx="11457432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0">
                <a:solidFill>
                  <a:srgbClr val="6F7E8F"/>
                </a:solidFill>
              </a:rPr>
              <a:t>材料由主责咨询与团队完成；本人作用为策略制定、关键把关与经验复用，不写成个人主笔。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资源经营：不只增加商机覆盖，也判断哪些值得投入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24744" y="54864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目标管理类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70432"/>
            <a:ext cx="5618988" cy="196596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12064" y="1316736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80160"/>
            <a:ext cx="4978907" cy="38404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识别低成熟度机会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" y="1828800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判断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1773936"/>
            <a:ext cx="4704588" cy="54864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无当年预算、无明确需求的线索不应同等投入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" y="2432304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2377440"/>
            <a:ext cx="4704588" cy="64008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4月周报提出减少低价值消耗，优先聚焦可落地项目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4204" y="1170432"/>
            <a:ext cx="5618988" cy="196596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0508" y="1316736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2844" y="1280160"/>
            <a:ext cx="4978907" cy="38404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调整进入路径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0508" y="1828800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2300" y="1773936"/>
            <a:ext cx="4704588" cy="54864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沙特STC当年模型训练机会不足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0508" y="2432304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动作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2300" y="2377440"/>
            <a:ext cx="4704588" cy="64008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提出优先小型应用或人才培训，不按原大项目方向持续投入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319272"/>
            <a:ext cx="5618988" cy="196596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2064" y="3465576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429000"/>
            <a:ext cx="4978907" cy="38404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控制方案规模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" y="3977639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3922776"/>
            <a:ext cx="4704588" cy="54864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客户期望需与可投入资源匹配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" y="4581144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动作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4526280"/>
            <a:ext cx="4704588" cy="64008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IGNITE讨论最小化工作范围；泰国按预算调整方案与报价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4204" y="3319272"/>
            <a:ext cx="5618988" cy="196596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50508" y="3465576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52844" y="3429000"/>
            <a:ext cx="4978907" cy="38404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优先处理高风险接口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0508" y="3977639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72300" y="3922776"/>
            <a:ext cx="4704588" cy="54864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总集、未确认范围、合同输入不完整最容易失控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0508" y="4581144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</a:rPr>
              <a:t>动作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2300" y="4526280"/>
            <a:ext cx="4704588" cy="64008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提前组织评审，不以“材料交出去了”作为工作结束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5486400"/>
            <a:ext cx="11457432" cy="502920"/>
          </a:xfrm>
          <a:prstGeom prst="roundRect">
            <a:avLst>
              <a:gd name="adj" fmla="val 12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486400"/>
            <a:ext cx="11091672" cy="5029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</a:rPr>
              <a:t>咨询人力有限时，提出更有针对性的投入策略；没有数据支撑，不宣称成本或转化率变化。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方案资产与产品反馈：把单个项目经验用于其他国家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85832" y="54864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运营类 ｜ 备讲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70432"/>
            <a:ext cx="2727198" cy="13716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261872"/>
            <a:ext cx="2471165" cy="310896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0A2A5E"/>
                </a:solidFill>
              </a:rPr>
              <a:t>国别方案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1591056"/>
            <a:ext cx="2471165" cy="9144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3E4F"/>
                </a:solidFill>
              </a:rPr>
              <a:t>巴西、埃塞俄比亚、巴基斯坦、加纳；按数据、预算、能力建设与场景持续更新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5838" y="1170432"/>
            <a:ext cx="2727198" cy="13716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3854" y="1261872"/>
            <a:ext cx="2471165" cy="310896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0A2A5E"/>
                </a:solidFill>
              </a:rPr>
              <a:t>跨国复用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3854" y="1591056"/>
            <a:ext cx="2471165" cy="9144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3E4F"/>
                </a:solidFill>
              </a:rPr>
              <a:t>巴西、加纳经验用于IGNITE方案讨论；加纳与巴西方案基线拉通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5916" y="1170432"/>
            <a:ext cx="2727198" cy="13716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3932" y="1261872"/>
            <a:ext cx="2471165" cy="310896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0A2A5E"/>
                </a:solidFill>
              </a:rPr>
              <a:t>统一口径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3932" y="1591056"/>
            <a:ext cx="2471165" cy="9144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3E4F"/>
                </a:solidFill>
              </a:rPr>
              <a:t>开闭源模型选择等问题，整理现场反馈形成团队标准表达材料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5994" y="1170432"/>
            <a:ext cx="2727198" cy="13716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4010" y="1261872"/>
            <a:ext cx="2471165" cy="310896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0A2A5E"/>
                </a:solidFill>
              </a:rPr>
              <a:t>产品反馈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4010" y="1591056"/>
            <a:ext cx="2471165" cy="9144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3E4F"/>
                </a:solidFill>
              </a:rPr>
              <a:t>参与开源大模型方案研发开工、三大中心国际版研发讨论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65760" y="2743200"/>
          <a:ext cx="11457432" cy="29443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3120"/>
                <a:gridCol w="2743200"/>
                <a:gridCol w="3840480"/>
                <a:gridCol w="2770632"/>
              </a:tblGrid>
              <a:tr h="384048"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材料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本人作用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使用项目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复用情况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</a:tr>
              <a:tr h="512064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0A2A5E"/>
                          </a:solidFill>
                        </a:rPr>
                        <a:t>国别方案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组织框架、把关判断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巴西、埃塞俄比亚、巴基斯坦、加纳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跨国复用基线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0A2A5E"/>
                          </a:solidFill>
                        </a:rPr>
                        <a:t>HLD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评审与关键技术判断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巴西RNP、加纳、埃及、SDEC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结构复用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</a:tr>
              <a:tr h="512064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0A2A5E"/>
                          </a:solidFill>
                        </a:rPr>
                        <a:t>SoC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范围与交付风险评审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科威特KNG、SDEC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方法复用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0A2A5E"/>
                          </a:solidFill>
                        </a:rPr>
                        <a:t>技术问题答复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亲自完成关键澄清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巴西RNP（4批30多个问题）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口径沉淀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</a:tr>
              <a:tr h="512064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0A2A5E"/>
                          </a:solidFill>
                        </a:rPr>
                        <a:t>演示与汇报材料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组织与复核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SERPRO Demo、哈萨克斯坦汇报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2F3E4F"/>
                          </a:solidFill>
                        </a:rPr>
                        <a:t>场景复用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65760" y="5779008"/>
            <a:ext cx="11457432" cy="3291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0">
                <a:solidFill>
                  <a:srgbClr val="6F7E8F"/>
                </a:solidFill>
              </a:rPr>
              <a:t>主笔与采用情况以确认记录为准；未完成标准化的部分列入改进计划。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伙伴赋能与高层交流：让公司能力进入客户与伙伴的决策讨论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93224" y="548640"/>
            <a:ext cx="202996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岗位特性类 ｜ 备讲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467611"/>
            <a:ext cx="5618988" cy="178308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12064" y="1613915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77339"/>
            <a:ext cx="497890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华为伙伴赋能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16251"/>
            <a:ext cx="5399531" cy="1179576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覆盖拉美、南部非洲、中亚及相关代表处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主权AI、平台与场景方案交流，面向伙伴销售与方案人员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4204" y="1467611"/>
            <a:ext cx="5618988" cy="178308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50508" y="1613915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2844" y="1577339"/>
            <a:ext cx="497890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重大活动分享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3932" y="2016251"/>
            <a:ext cx="5399531" cy="1179576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MWC圆桌、北非智算周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分别标注本人分享、团队准备或本人统筹，不统一写“参加”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433570"/>
            <a:ext cx="5618988" cy="178308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12064" y="3579875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543299"/>
            <a:ext cx="497890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高层客户交流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982210"/>
            <a:ext cx="5399531" cy="1179576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SERPRO高层、哥伦比亚相关代表团及其他政企客户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围绕客户需求输出方案，形成后续事项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4204" y="3433570"/>
            <a:ext cx="5618988" cy="178308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50508" y="3579875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52844" y="3543299"/>
            <a:ext cx="497890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集团能力拉通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3932" y="3982210"/>
            <a:ext cx="5399531" cy="1179576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金光集团接待中统筹大模型板块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拉通工业智能、企业数字化、金融等产线准备材料、演示与汇报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417819"/>
            <a:ext cx="11457432" cy="502920"/>
          </a:xfrm>
          <a:prstGeom prst="roundRect">
            <a:avLst>
              <a:gd name="adj" fmla="val 12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417819"/>
            <a:ext cx="11091672" cy="5029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</a:rPr>
              <a:t>把分散的产品能力组织成面向客户的整体价值表达；活动次数不直接等同商机收入。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工作机制与提效：已开展实践，下一步提升稳定性与复用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85832" y="54864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运营类 ｜ 备讲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70432"/>
            <a:ext cx="5618988" cy="196596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12064" y="1316736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80160"/>
            <a:ext cx="4978907" cy="38404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集中办公与带教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" y="1773936"/>
            <a:ext cx="160020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828800"/>
            <a:ext cx="1600200" cy="402336"/>
          </a:xfrm>
          <a:prstGeom prst="rect">
            <a:avLst/>
          </a:prstGeom>
          <a:noFill/>
        </p:spPr>
        <p:txBody>
          <a:bodyPr wrap="square" lIns="36576" tIns="0" rIns="36576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3次 · 18天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2183587"/>
            <a:ext cx="1600200" cy="307238"/>
          </a:xfrm>
          <a:prstGeom prst="rect">
            <a:avLst/>
          </a:prstGeom>
          <a:noFill/>
        </p:spPr>
        <p:txBody>
          <a:bodyPr wrap="square" lIns="54864" tIns="0" rIns="54864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6F7E8F"/>
                </a:solidFill>
              </a:rPr>
              <a:t>合肥集中办公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40279" y="1773936"/>
            <a:ext cx="160020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1828800"/>
            <a:ext cx="1600200" cy="402336"/>
          </a:xfrm>
          <a:prstGeom prst="rect">
            <a:avLst/>
          </a:prstGeom>
          <a:noFill/>
        </p:spPr>
        <p:txBody>
          <a:bodyPr wrap="square" lIns="36576" tIns="0" rIns="36576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4天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183587"/>
            <a:ext cx="1600200" cy="307238"/>
          </a:xfrm>
          <a:prstGeom prst="rect">
            <a:avLst/>
          </a:prstGeom>
          <a:noFill/>
        </p:spPr>
        <p:txBody>
          <a:bodyPr wrap="square" lIns="54864" tIns="0" rIns="54864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6F7E8F"/>
                </a:solidFill>
              </a:rPr>
              <a:t>广州骨干集中办公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587752"/>
            <a:ext cx="5326379" cy="50292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常态化辅导；5月北京集中办公与现场评审安排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4204" y="1170432"/>
            <a:ext cx="5618988" cy="196596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50508" y="1316736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2844" y="1280160"/>
            <a:ext cx="497890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协同接口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3932" y="1719072"/>
            <a:ext cx="5399531" cy="1362455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处理销售与咨询协同、跨过咨询直接对接后端等问题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参与LTC协同梳理与作战地图宣贯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319272"/>
            <a:ext cx="5618988" cy="196596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2064" y="3465576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429000"/>
            <a:ext cx="497890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关键材料复核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3867911"/>
            <a:ext cx="5399531" cy="1362455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国别方案、标书、SoC、报价与合同范围评审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发现问题后组织对应专业人员，不留到签约前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3319272"/>
            <a:ext cx="5618988" cy="196596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50508" y="3465576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2844" y="3429000"/>
            <a:ext cx="497890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AI辅助Demo探索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3932" y="3867911"/>
            <a:ext cx="5399531" cy="1362455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5月底探索快速构建项目Demo，6月开展试点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已有AI Connection Demo等产出；不虚构提效比例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486400"/>
            <a:ext cx="11457432" cy="502920"/>
          </a:xfrm>
          <a:prstGeom prst="roundRect">
            <a:avLst>
              <a:gd name="adj" fmla="val 12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486400"/>
            <a:ext cx="11091672" cy="50292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</a:rPr>
              <a:t>咨询组织不只靠临时派人与个人经验运行，已开始建设共同的协作与工作方法；成熟度仍需提升。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各项展开述职：四类角色的完成情况与可完善之处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1-管理角色澄清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71048" y="548640"/>
            <a:ext cx="115214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C4B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0C4BA1"/>
                </a:solidFill>
              </a:rPr>
              <a:t>承上启下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1"/>
          <a:ext cx="11457432" cy="36758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91640"/>
                <a:gridCol w="5212080"/>
                <a:gridCol w="2971800"/>
                <a:gridCol w="1581912"/>
              </a:tblGrid>
              <a:tr h="384048"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管理角色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完成较好之处与关键举措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可完善之处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自评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</a:tr>
              <a:tr h="82296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1">
                          <a:solidFill>
                            <a:srgbClr val="0A2A5E"/>
                          </a:solidFill>
                        </a:rPr>
                        <a:t>岗位特性类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关键咨询亲自上场；技术路线获认可并进入TR；多国国别方案形成（P8、P9、P20）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标准口径材料覆盖不全，部分判断仍依赖本人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1">
                          <a:solidFill>
                            <a:srgbClr val="1F8F5F"/>
                          </a:solidFill>
                        </a:rPr>
                        <a:t>达成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1">
                          <a:solidFill>
                            <a:srgbClr val="0A2A5E"/>
                          </a:solidFill>
                        </a:rPr>
                        <a:t>目标管理类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政府间文件推进、交易准备、SERPRO PoC、商机取舍（P7、P10、P13、P21）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商业闭环未完成；前置事项可更早明确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1">
                          <a:solidFill>
                            <a:srgbClr val="C57B14"/>
                          </a:solidFill>
                        </a:rPr>
                        <a:t>阶段达成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</a:tr>
              <a:tr h="82296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1">
                          <a:solidFill>
                            <a:srgbClr val="0A2A5E"/>
                          </a:solidFill>
                        </a:rPr>
                        <a:t>人与团队类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主责配置、骨干承接、销售导入（P15、P16）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单点依赖仍在；主备机制待完善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1">
                          <a:solidFill>
                            <a:srgbClr val="C57B14"/>
                          </a:solidFill>
                        </a:rPr>
                        <a:t>形成中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1">
                          <a:solidFill>
                            <a:srgbClr val="0A2A5E"/>
                          </a:solidFill>
                        </a:rPr>
                        <a:t>运营类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采购与合同书面化、本地承接矛盾处理、SoC与合同评审、机制建设（P11、P12、P17、P24）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标准化与资产管理不足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1">
                          <a:solidFill>
                            <a:srgbClr val="1F8F5F"/>
                          </a:solidFill>
                        </a:rPr>
                        <a:t>达成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5303519"/>
            <a:ext cx="2727198" cy="73152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5349238"/>
            <a:ext cx="2507741" cy="2926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C4BA1"/>
                </a:solidFill>
              </a:rPr>
              <a:t>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641847"/>
            <a:ext cx="2507741" cy="3657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是否准确 → P3 总判断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5838" y="5303519"/>
            <a:ext cx="2727198" cy="73152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5566" y="5349238"/>
            <a:ext cx="2507741" cy="2926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C4BA1"/>
                </a:solidFill>
              </a:rPr>
              <a:t>看结果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5566" y="5641847"/>
            <a:ext cx="2507741" cy="3657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是否达到预期 → P6 阶段成果与边界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303519"/>
            <a:ext cx="2727198" cy="73152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5644" y="5349238"/>
            <a:ext cx="2507741" cy="2926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C4BA1"/>
                </a:solidFill>
              </a:rPr>
              <a:t>看过程动作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5644" y="5641847"/>
            <a:ext cx="2507741" cy="3657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是否扎实到位 → P7、P8、P12 案例四层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5994" y="5303519"/>
            <a:ext cx="2727198" cy="73152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5722" y="5349238"/>
            <a:ext cx="2507741" cy="29260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0C4BA1"/>
                </a:solidFill>
              </a:rPr>
              <a:t>看时间精力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5722" y="5641847"/>
            <a:ext cx="2507741" cy="3657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2F3E4F"/>
                </a:solidFill>
              </a:rPr>
              <a:t>是否充分保障 → P5 双线并发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不足分析与改进：商业闭环、组织韧性与成果管理仍需加强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2-不足分析与改进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70432"/>
            <a:ext cx="11457432" cy="160020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12064" y="1316736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5486400" cy="38404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商业闭环仍未完成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" y="1737360"/>
            <a:ext cx="3599687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828800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7A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经营状态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130552"/>
            <a:ext cx="3380231" cy="50292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正式合同、回款、最终验收尚待推进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4631" y="1737360"/>
            <a:ext cx="3599687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04359" y="1828800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本人可改进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4359" y="2130552"/>
            <a:ext cx="3380231" cy="50292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前置事项更早明确、资源更早配置、专业评审前移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7199" y="1737360"/>
            <a:ext cx="3599687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86927" y="1828800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C57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外部依赖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6927" y="2130552"/>
            <a:ext cx="3380231" cy="50292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2F3E4F"/>
                </a:solidFill>
              </a:rPr>
              <a:t>客户审批、资金、伙伴与政府程序：需要管理，但不能单方面保证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953512"/>
            <a:ext cx="11457432" cy="932688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12064" y="3099816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063240"/>
            <a:ext cx="3017520" cy="38404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0A2A5E"/>
                </a:solidFill>
              </a:rPr>
              <a:t>关键知识仍集中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0" y="3118104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A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当前表现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3410712"/>
            <a:ext cx="3566160" cy="4572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3E4F"/>
                </a:solidFill>
              </a:rPr>
              <a:t>部分客户背景、重大判断依赖本人与少数骨干</a:t>
            </a:r>
          </a:p>
        </p:txBody>
      </p:sp>
      <p:sp>
        <p:nvSpPr>
          <p:cNvPr id="22" name="Chevron 21"/>
          <p:cNvSpPr/>
          <p:nvPr/>
        </p:nvSpPr>
        <p:spPr>
          <a:xfrm>
            <a:off x="7726680" y="3273552"/>
            <a:ext cx="146304" cy="292608"/>
          </a:xfrm>
          <a:prstGeom prst="chevron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01000" y="3118104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改进方向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3410712"/>
            <a:ext cx="3657600" cy="4572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3E4F"/>
                </a:solidFill>
              </a:rPr>
              <a:t>完善主备、背景交接、问题台账与升级机制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014216"/>
            <a:ext cx="11457432" cy="932688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12064" y="4160520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123944"/>
            <a:ext cx="3017520" cy="38404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0A2A5E"/>
                </a:solidFill>
              </a:rPr>
              <a:t>成果状态与投入口径待统一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17880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A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当前表现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4471416"/>
            <a:ext cx="3566160" cy="4572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3E4F"/>
                </a:solidFill>
              </a:rPr>
              <a:t>各区域成果状态、投入与客户反馈的口径不一，影响资源配置与效果评估</a:t>
            </a:r>
          </a:p>
        </p:txBody>
      </p:sp>
      <p:sp>
        <p:nvSpPr>
          <p:cNvPr id="30" name="Chevron 29"/>
          <p:cNvSpPr/>
          <p:nvPr/>
        </p:nvSpPr>
        <p:spPr>
          <a:xfrm>
            <a:off x="7726680" y="4334256"/>
            <a:ext cx="146304" cy="292608"/>
          </a:xfrm>
          <a:prstGeom prst="chevron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01000" y="417880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改进方向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4471416"/>
            <a:ext cx="3657600" cy="4572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3E4F"/>
                </a:solidFill>
              </a:rPr>
              <a:t>建立项目级成果台账：日期、产出、客户反馈、当前状态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5074920"/>
            <a:ext cx="11457432" cy="932688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12064" y="5221224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184648"/>
            <a:ext cx="3017520" cy="38404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0A2A5E"/>
                </a:solidFill>
              </a:rPr>
              <a:t>复用与标准化仍不充分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23360" y="5239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7A8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当前表现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5532120"/>
            <a:ext cx="3566160" cy="4572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3E4F"/>
                </a:solidFill>
              </a:rPr>
              <a:t>已有跨项目复用，但部分材料与方法仍依赖个人组织</a:t>
            </a:r>
          </a:p>
        </p:txBody>
      </p:sp>
      <p:sp>
        <p:nvSpPr>
          <p:cNvPr id="38" name="Chevron 37"/>
          <p:cNvSpPr/>
          <p:nvPr/>
        </p:nvSpPr>
        <p:spPr>
          <a:xfrm>
            <a:off x="7726680" y="5394960"/>
            <a:ext cx="146304" cy="292608"/>
          </a:xfrm>
          <a:prstGeom prst="chevron">
            <a:avLst/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01000" y="5239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改进方向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5532120"/>
            <a:ext cx="3657600" cy="4572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2F3E4F"/>
                </a:solidFill>
              </a:rPr>
              <a:t>形成版本责任、适用条件、复用反馈与更新机制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巴西下一阶段：将战略成果转化为合同、交付与持续经营基础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3-工作规划与路径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83663"/>
            <a:ext cx="2727198" cy="21031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12064" y="2029967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93391"/>
            <a:ext cx="2087117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RNP签约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2432303"/>
            <a:ext cx="2507741" cy="1499615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以范围、验收、责任、付款、签约主体与客户采购条件为主线，收口待决事项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政府间文件与预算事项持续协同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5838" y="1883663"/>
            <a:ext cx="2727198" cy="21031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22142" y="2029967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4478" y="1993391"/>
            <a:ext cx="2087117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交付衔接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5566" y="2432303"/>
            <a:ext cx="2507741" cy="1499615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把合同承诺转成交付计划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明确数据、算力、专家、培训对象、客户配合与变更机制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883663"/>
            <a:ext cx="2727198" cy="21031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2220" y="2029967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4556" y="1993391"/>
            <a:ext cx="208711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SERPRO应用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5644" y="2432303"/>
            <a:ext cx="2507741" cy="1499615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完成最终业务客户确认、部署与PoC验收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推进确定的采购路径、预算及合同讨论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5994" y="1883663"/>
            <a:ext cx="2727198" cy="21031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42298" y="2029967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4634" y="1993391"/>
            <a:ext cx="208711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本地承接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5722" y="2432303"/>
            <a:ext cx="2507741" cy="1499615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落实实体、专业服务、本地协调、开票与支持安排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逐步形成项目后续履约基础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169663"/>
            <a:ext cx="11457432" cy="91440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93776" y="4306822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所需资源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169663"/>
            <a:ext cx="10177272" cy="91440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关键节点的法财、算法、产品及服务支持</a:t>
            </a:r>
          </a:p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现场主备安排，以及明确的跨部门决策接口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175503"/>
            <a:ext cx="11457432" cy="3291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0">
                <a:solidFill>
                  <a:srgbClr val="6F7E8F"/>
                </a:solidFill>
              </a:rPr>
              <a:t>以上为拟推进计划，不混入已完成成果；不预设已获得完整巴西经营授权。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国际咨询下一阶段：提高骨干独立性与重点商机转化效率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3-工作规划与路径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93975"/>
            <a:ext cx="2727198" cy="21031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12064" y="2240279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03703"/>
            <a:ext cx="2087117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人员与分工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2642615"/>
            <a:ext cx="2507741" cy="1499615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按重点项目成熟度配置主责与备份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减少长期单点依赖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5838" y="2093975"/>
            <a:ext cx="2727198" cy="21031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22142" y="2240279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4478" y="2203703"/>
            <a:ext cx="2087117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重点商机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5566" y="2642615"/>
            <a:ext cx="2507741" cy="1499615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按客户预算、决策阶段、方案差异与实施条件分级投入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定期复核继续、调整或停止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2093975"/>
            <a:ext cx="2727198" cy="21031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32220" y="2240279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4556" y="2203703"/>
            <a:ext cx="208711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方案资产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5644" y="2642615"/>
            <a:ext cx="2507741" cy="1499615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国别方案、核心技术问题、SoC、验收与合同风险案例统一管理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明确责任人与版本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5994" y="2093975"/>
            <a:ext cx="2727198" cy="210312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42298" y="2240279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4634" y="2203703"/>
            <a:ext cx="208711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A2A5E"/>
                </a:solidFill>
              </a:rPr>
              <a:t>交付前置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5722" y="2642615"/>
            <a:ext cx="2507741" cy="1499615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总集、私有化部署、非标准功能、模型训练等高风险内容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2F3E4F"/>
                </a:solidFill>
              </a:rPr>
              <a:t>让专业部门更早介入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379975"/>
            <a:ext cx="11457432" cy="914400"/>
          </a:xfrm>
          <a:prstGeom prst="roundRect">
            <a:avLst>
              <a:gd name="adj" fmla="val 5000"/>
            </a:avLst>
          </a:prstGeom>
          <a:solidFill>
            <a:srgbClr val="DC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93776" y="451713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0A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管理检验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379975"/>
            <a:ext cx="10177272" cy="91440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跟踪材料被采用、客户确认、阶段推进、骨干独立承接与跨项目复用情况</a:t>
            </a:r>
          </a:p>
          <a:p>
            <a:pPr algn="l" marL="146304" indent="-146304">
              <a:lnSpc>
                <a:spcPct val="112000"/>
              </a:lnSpc>
              <a:spcAft>
                <a:spcPts val="2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2F3E4F"/>
                </a:solidFill>
              </a:rPr>
              <a:t>不只统计会议与文件数量；具体目标值由本人与组织确定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自我发展：从高强度亲自攻坚，走向更稳定地组织结果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4-自我发展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43684"/>
            <a:ext cx="3660647" cy="283464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12064" y="2189988"/>
            <a:ext cx="329184" cy="329184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171700"/>
            <a:ext cx="2983991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A2A5E"/>
                </a:solidFill>
              </a:rPr>
              <a:t>经营判断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" y="275691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发展目标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3067812"/>
            <a:ext cx="3368040" cy="54864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2F3E4F"/>
                </a:solidFill>
              </a:rPr>
              <a:t>把方案、范围、成本、付款与风险放进同一判断框架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3689604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实践方式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4000500"/>
            <a:ext cx="3368040" cy="8229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2F3E4F"/>
                </a:solidFill>
              </a:rPr>
              <a:t>深入参与重点项目报价、合同与交付复盘，与财务、商务共同检验假设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4152" y="2043684"/>
            <a:ext cx="3660647" cy="283464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10456" y="2189988"/>
            <a:ext cx="329184" cy="329184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31080" y="2171700"/>
            <a:ext cx="2983991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A2A5E"/>
                </a:solidFill>
              </a:rPr>
              <a:t>授权与育人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0456" y="275691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发展目标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0456" y="3067812"/>
            <a:ext cx="3368040" cy="54864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2F3E4F"/>
                </a:solidFill>
              </a:rPr>
              <a:t>提高骨干独立决策与承接能力，保留关键事项把关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10456" y="3689604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实践方式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0456" y="4000500"/>
            <a:ext cx="3368040" cy="8229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2F3E4F"/>
                </a:solidFill>
              </a:rPr>
              <a:t>明确授权边界、复核节点与主备安排，以真实项目进行带教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2543" y="2043684"/>
            <a:ext cx="3660647" cy="283464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08847" y="2189988"/>
            <a:ext cx="329184" cy="329184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9471" y="2171700"/>
            <a:ext cx="2983991" cy="36576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A2A5E"/>
                </a:solidFill>
              </a:rPr>
              <a:t>跨组织协同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08847" y="275691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F7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发展目标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847" y="3067812"/>
            <a:ext cx="3368040" cy="54864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2F3E4F"/>
                </a:solidFill>
              </a:rPr>
              <a:t>从靠个人持续催办，转向清晰的责任与决策机制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08847" y="3689604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</a:rPr>
              <a:t>实践方式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8847" y="4000500"/>
            <a:ext cx="3368040" cy="822960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2F3E4F"/>
                </a:solidFill>
              </a:rPr>
              <a:t>把重复出现的问题形成责任接口、书面记录与升级安排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015484"/>
            <a:ext cx="11457432" cy="3291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0">
                <a:solidFill>
                  <a:srgbClr val="6F7E8F"/>
                </a:solidFill>
              </a:rPr>
              <a:t>对应下一阶段工作的实际要求，不泛泛写“加强沟通、提升领导力”。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课程学习自检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5-课程学习自检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30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737360" y="2240279"/>
          <a:ext cx="8714232" cy="25786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114800"/>
                <a:gridCol w="1828800"/>
                <a:gridCol w="2770632"/>
              </a:tblGrid>
              <a:tr h="384048"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课程名称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课程类型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  <a:tc>
                  <a:txBody>
                    <a:bodyPr wrap="square" lIns="64008" tIns="18288" rIns="64008" bIns="18288" anchor="ctr">
                      <a:noAutofit/>
                    </a:bodyPr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</a:rPr>
                        <a:t>学习 / 考试结果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C4BA1"/>
                    </a:solidFill>
                  </a:tcPr>
                </a:tc>
              </a:tr>
              <a:tr h="54864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讯飞干部应知应会课程（名称按学习平台记录填写）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必修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以学习平台记录为准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干部管理课程（名称按学习平台记录填写）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必修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以学习平台记录为准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</a:tr>
              <a:tr h="54864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选修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2F3E4F"/>
                          </a:solidFill>
                        </a:rPr>
                        <a:t>选修</a:t>
                      </a: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200"/>
                        </a:spcAft>
                      </a:pPr>
                    </a:p>
                  </a:txBody>
                  <a:tcPr marL="64008" marR="64008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D3DCE8"/>
                      </a:solidFill>
                      <a:prstDash val="solid"/>
                    </a:lnB>
                    <a:solidFill>
                      <a:srgbClr val="F6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001767"/>
            <a:ext cx="11457432" cy="3291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0">
                <a:solidFill>
                  <a:srgbClr val="6F7E8F"/>
                </a:solidFill>
              </a:rPr>
              <a:t>说明：课程与考试明细以学习平台记录为准；参加干部培训不等同于相应课程全部通过。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0C4BA1"/>
                </a:solidFill>
              </a:rPr>
              <a:t>对公司和部门的建议：把重大项目实践转化为组织能力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 wrap="square" tIns="0" rIns="4572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6-其他建议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19088"/>
            <a:ext cx="868680" cy="274320"/>
          </a:xfrm>
          <a:prstGeom prst="rect">
            <a:avLst/>
          </a:prstGeom>
          <a:noFill/>
        </p:spPr>
        <p:txBody>
          <a:bodyPr wrap="square" lIns="0" tIns="0" rIns="45720" bIns="0" anchor="ctr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F7E8F"/>
                </a:solidFill>
              </a:rPr>
              <a:t>31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272284"/>
            <a:ext cx="3660647" cy="237744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12064" y="2418588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82012"/>
            <a:ext cx="3020567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A2A5E"/>
                </a:solidFill>
              </a:rPr>
              <a:t>战略项目责任机制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2820924"/>
            <a:ext cx="3441191" cy="1773936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2F3E4F"/>
                </a:solidFill>
              </a:rPr>
              <a:t>明确总体负责人、客户接口、专业责任人与重大承诺决策链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2F3E4F"/>
                </a:solidFill>
              </a:rPr>
              <a:t>使总体责任与必要的协调权限匹配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4152" y="2272284"/>
            <a:ext cx="3660647" cy="237744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10456" y="2418588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791" y="2382012"/>
            <a:ext cx="302056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A2A5E"/>
                </a:solidFill>
              </a:rPr>
              <a:t>出海专业支撑前置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80" y="2820924"/>
            <a:ext cx="3441191" cy="1773936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2F3E4F"/>
                </a:solidFill>
              </a:rPr>
              <a:t>本地签约主体、税务开票、用工、软件权利、伙伴合同等共性问题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2F3E4F"/>
                </a:solidFill>
              </a:rPr>
              <a:t>建立可复用的专业支撑与升级安排，避免每个项目临近签约时重新探索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2543" y="2272284"/>
            <a:ext cx="3660647" cy="2377440"/>
          </a:xfrm>
          <a:prstGeom prst="roundRect">
            <a:avLst>
              <a:gd name="adj" fmla="val 5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8847" y="2418588"/>
            <a:ext cx="310896" cy="310896"/>
          </a:xfrm>
          <a:prstGeom prst="ellipse">
            <a:avLst/>
          </a:prstGeom>
          <a:solidFill>
            <a:srgbClr val="0C4B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11183" y="2382012"/>
            <a:ext cx="3020568" cy="384048"/>
          </a:xfrm>
          <a:prstGeom prst="rect">
            <a:avLst/>
          </a:prstGeom>
          <a:noFill/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A2A5E"/>
                </a:solidFill>
              </a:rPr>
              <a:t>咨询投入与激励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1" y="2820924"/>
            <a:ext cx="3441191" cy="1773936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2F3E4F"/>
                </a:solidFill>
              </a:rPr>
              <a:t>资源配置与商机成熟度、战略价值、交付可行性匹配</a:t>
            </a:r>
          </a:p>
          <a:p>
            <a:pPr algn="l" marL="146304" indent="-146304">
              <a:lnSpc>
                <a:spcPct val="112000"/>
              </a:lnSpc>
              <a:spcAft>
                <a:spcPts val="400"/>
              </a:spcAft>
              <a:buClr>
                <a:srgbClr val="0C4BA1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2F3E4F"/>
                </a:solidFill>
              </a:rPr>
              <a:t>关注长期驻外、轮换与跨时区工作的保障，提升队伍连续承接能力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86884"/>
            <a:ext cx="11457432" cy="329184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50" b="0">
                <a:solidFill>
                  <a:srgbClr val="6F7E8F"/>
                </a:solidFill>
              </a:rPr>
              <a:t>基于实战提出的组织建议，不表述为已经获批的新制度或权限。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TllM2IyZDNlOWQwZGIwZDE4YTE0YTI0YzgzOWRmMTgifQ=="/>
</p:tagLst>
</file>

<file path=ppt/theme/theme1.xml><?xml version="1.0" encoding="utf-8"?>
<a:theme xmlns:a="http://schemas.openxmlformats.org/drawingml/2006/main" name="iFlytek_蓝色2016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4"/>
        </a:solidFill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</a:spPr>
      <a:bodyPr lIns="95500" tIns="47750" rIns="95500" bIns="47750" rtlCol="0" anchor="ctr"/>
      <a:lstStyle>
        <a:defPPr marL="0" indent="1270" algn="ctr">
          <a:lnSpc>
            <a:spcPct val="150000"/>
          </a:lnSpc>
          <a:defRPr kumimoji="1" sz="2200" dirty="0">
            <a:solidFill>
              <a:srgbClr val="FFFFFF"/>
            </a:solidFill>
            <a:latin typeface="+mn-ea"/>
          </a:defRPr>
        </a:defPPr>
      </a:lstStyle>
      <a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a: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556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9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宋体" panose="02010600030101010101" pitchFamily="2" charset="-122"/>
          </a:defRPr>
        </a:defPPr>
      </a:lstStyle>
    </a:lnDef>
    <a:txDef>
      <a:spPr bwMode="auto">
        <a:noFill/>
        <a:ln>
          <a:noFill/>
        </a:ln>
      </a:spPr>
      <a:bodyPr vert="horz" wrap="none" lIns="61529" tIns="0" rIns="0" bIns="0" numCol="1" anchor="ctr" anchorCtr="0" compatLnSpc="1">
        <a:noAutofit/>
      </a:bodyPr>
      <a:lstStyle>
        <a:defPPr>
          <a:defRPr sz="2000" dirty="0" smtClean="0">
            <a:latin typeface="黑体" panose="02010609060101010101" charset="-122"/>
            <a:ea typeface="黑体" panose="02010609060101010101" charset="-122"/>
            <a:cs typeface="黑体" panose="02010609060101010101" charset="-122"/>
          </a:defRPr>
        </a:defPPr>
      </a:lstStyle>
    </a:txDef>
  </a:objectDefaults>
  <a:extraClrSchemeLst>
    <a:extraClrScheme>
      <a:clrScheme name="讯飞ppt3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讯飞ppt3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讯飞ppt3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讯飞ppt3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讯飞ppt3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讯飞ppt3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讯飞ppt3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</TotalTime>
  <Words>467</Words>
  <Application>Microsoft Office PowerPoint</Application>
  <PresentationFormat>宽屏</PresentationFormat>
  <Paragraphs>113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0" baseType="lpstr">
      <vt:lpstr>Microsoft YaHei Light</vt:lpstr>
      <vt:lpstr>DengXian</vt:lpstr>
      <vt:lpstr>方正大黑简体</vt:lpstr>
      <vt:lpstr>黑体</vt:lpstr>
      <vt:lpstr>楷体</vt:lpstr>
      <vt:lpstr>宋体</vt:lpstr>
      <vt:lpstr>微软雅黑</vt:lpstr>
      <vt:lpstr>Arial</vt:lpstr>
      <vt:lpstr>Times New Roman</vt:lpstr>
      <vt:lpstr>iFlytek_蓝色2016</vt:lpstr>
      <vt:lpstr>PowerPoint 演示文稿</vt:lpstr>
      <vt:lpstr>目录</vt:lpstr>
      <vt:lpstr>管理角色回顾与自评</vt:lpstr>
      <vt:lpstr>各项展开述职</vt:lpstr>
      <vt:lpstr>不足分析与改进</vt:lpstr>
      <vt:lpstr>工作规划与路径</vt:lpstr>
      <vt:lpstr>自我发展</vt:lpstr>
      <vt:lpstr>课程学习自检</vt:lpstr>
      <vt:lpstr>对公司和部门的建议</vt:lpstr>
      <vt:lpstr>PowerPoint 演示文稿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宋瑞锋</dc:creator>
  <cp:lastModifiedBy>孙征宇</cp:lastModifiedBy>
  <cp:revision>6035</cp:revision>
  <dcterms:created xsi:type="dcterms:W3CDTF">2016-04-22T01:40:00Z</dcterms:created>
  <dcterms:modified xsi:type="dcterms:W3CDTF">2023-06-12T09:46:19Z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BDBD654E2826431ABE1507CD8D171DF7</vt:lpwstr>
  </property>
  <property fmtid="{D5CDD505-2E9C-101B-9397-08002B2CF9AE}" pid="3" name="KSOProductBuildVer">
    <vt:lpwstr>2052-11.1.0.12302</vt:lpwstr>
  </property>
  <property fmtid="{D5CDD505-2E9C-101B-9397-08002B2CF9AE}" pid="4" name="CWM9ed9e410fd6811ee8000017900000179">
    <vt:lpwstr>CWMgK4Q7bIIxmv656NnoCYFoXwLTBoN+4XNgMI1K0rBRs/FQB3psQ2nNVBBAg0IDQhe7PTP/jo7si9Du5o8H6s0yw==</vt:lpwstr>
  </property>
</Properties>
</file>