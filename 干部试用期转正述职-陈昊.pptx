
<file path=[Content_Types].xml><?xml version="1.0" encoding="utf-8"?>
<Types xmlns="http://schemas.openxmlformats.org/package/2006/content-types">
  <Default Extension="jpeg" ContentType="image/jpe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2"/>
  </p:notesMasterIdLst>
  <p:handoutMasterIdLst>
    <p:handoutMasterId r:id="rId13"/>
  </p:handoutMasterIdLst>
  <p:sldIdLst>
    <p:sldId id="811" r:id="rId2"/>
    <p:sldId id="842" r:id="rId20"/>
    <p:sldId id="812" r:id="rId3"/>
    <p:sldId id="843" r:id="rId21"/>
    <p:sldId id="844" r:id="rId22"/>
    <p:sldId id="845" r:id="rId23"/>
    <p:sldId id="846" r:id="rId24"/>
    <p:sldId id="847" r:id="rId25"/>
    <p:sldId id="848" r:id="rId26"/>
    <p:sldId id="849" r:id="rId27"/>
    <p:sldId id="850" r:id="rId28"/>
    <p:sldId id="851" r:id="rId29"/>
    <p:sldId id="852" r:id="rId30"/>
    <p:sldId id="853" r:id="rId31"/>
    <p:sldId id="854" r:id="rId32"/>
    <p:sldId id="855" r:id="rId33"/>
    <p:sldId id="856" r:id="rId34"/>
    <p:sldId id="857" r:id="rId35"/>
    <p:sldId id="858" r:id="rId36"/>
    <p:sldId id="859" r:id="rId37"/>
    <p:sldId id="860" r:id="rId38"/>
    <p:sldId id="861" r:id="rId39"/>
    <p:sldId id="862" r:id="rId40"/>
    <p:sldId id="863" r:id="rId41"/>
    <p:sldId id="864" r:id="rId42"/>
    <p:sldId id="865" r:id="rId43"/>
    <p:sldId id="866" r:id="rId44"/>
    <p:sldId id="867" r:id="rId45"/>
    <p:sldId id="868" r:id="rId46"/>
    <p:sldId id="869" r:id="rId47"/>
    <p:sldId id="870" r:id="rId48"/>
    <p:sldId id="871" r:id="rId49"/>
    <p:sldId id="821" r:id="rId11"/>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69">
          <p15:clr>
            <a:srgbClr val="A4A3A4"/>
          </p15:clr>
        </p15:guide>
        <p15:guide id="2" pos="7502">
          <p15:clr>
            <a:srgbClr val="A4A3A4"/>
          </p15:clr>
        </p15:guide>
        <p15:guide id="3" orient="horz" pos="2387">
          <p15:clr>
            <a:srgbClr val="A4A3A4"/>
          </p15:clr>
        </p15:guide>
        <p15:guide id="4" pos="191">
          <p15:clr>
            <a:srgbClr val="A4A3A4"/>
          </p15:clr>
        </p15:guide>
        <p15:guide id="5" orient="horz" pos="746">
          <p15:clr>
            <a:srgbClr val="A4A3A4"/>
          </p15:clr>
        </p15:guide>
        <p15:guide id="6" orient="horz" pos="4201">
          <p15:clr>
            <a:srgbClr val="A4A3A4"/>
          </p15:clr>
        </p15:guide>
        <p15:guide id="7" pos="1413">
          <p15:clr>
            <a:srgbClr val="A4A3A4"/>
          </p15:clr>
        </p15:guide>
        <p15:guide id="8" pos="37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4BA1"/>
    <a:srgbClr val="1CADE4"/>
    <a:srgbClr val="505864"/>
    <a:srgbClr val="F0E20B"/>
    <a:srgbClr val="D1E7F6"/>
    <a:srgbClr val="F2F2F2"/>
    <a:srgbClr val="7F7F7F"/>
    <a:srgbClr val="000000"/>
    <a:srgbClr val="D41D00"/>
    <a:srgbClr val="CCE3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71" autoAdjust="0"/>
    <p:restoredTop sz="95383" autoAdjust="0"/>
  </p:normalViewPr>
  <p:slideViewPr>
    <p:cSldViewPr snapToGrid="0" snapToObjects="1" showGuides="1">
      <p:cViewPr varScale="1">
        <p:scale>
          <a:sx n="67" d="100"/>
          <a:sy n="67" d="100"/>
        </p:scale>
        <p:origin x="708" y="72"/>
      </p:cViewPr>
      <p:guideLst>
        <p:guide pos="3869"/>
        <p:guide pos="7502"/>
        <p:guide orient="horz" pos="2387"/>
        <p:guide pos="191"/>
        <p:guide orient="horz" pos="746"/>
        <p:guide orient="horz" pos="4201"/>
        <p:guide pos="1413"/>
        <p:guide pos="370"/>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0" d="100"/>
          <a:sy n="70" d="100"/>
        </p:scale>
        <p:origin x="3624" y="1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tags" Target="tags/tag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s>
</file>

<file path=ppt/_rels/viewProps.xml.rels><?xml version='1.0' encoding='UTF-8' standalone='yes'?>
<Relationships xmlns="http://schemas.openxmlformats.org/package/2006/relationships"><Relationship Id="rId1"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207D9A-C977-B049-B3AB-308D5FC0C364}" type="datetimeFigureOut">
              <a:rPr kumimoji="1" lang="zh-CN" altLang="en-US" smtClean="0"/>
              <a:t>2023/6/12</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308F29-32F0-2946-ABB1-5042AD023C49}" type="slidenum">
              <a:rPr kumimoji="1" lang="zh-CN" altLang="en-US" smtClean="0"/>
              <a:t>‹#›</a:t>
            </a:fld>
            <a:endParaRPr kumimoji="1" lang="zh-CN" altLang="en-US"/>
          </a:p>
        </p:txBody>
      </p:sp>
    </p:spTree>
    <p:extLst>
      <p:ext uri="{BB962C8B-B14F-4D97-AF65-F5344CB8AC3E}">
        <p14:creationId xmlns:p14="http://schemas.microsoft.com/office/powerpoint/2010/main" val="8074901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2AF180-8060-D647-83C2-14CFB6B8A0B4}" type="datetimeFigureOut">
              <a:rPr kumimoji="1" lang="zh-CN" altLang="en-US" smtClean="0"/>
              <a:t>2023/6/12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90A175-438D-8F46-9D15-39916454810A}" type="slidenum">
              <a:rPr kumimoji="1" lang="zh-CN" altLang="en-US" smtClean="0"/>
              <a:t>‹#›</a:t>
            </a:fld>
            <a:endParaRPr kumimoji="1" lang="zh-CN" altLang="en-US"/>
          </a:p>
        </p:txBody>
      </p:sp>
    </p:spTree>
    <p:extLst>
      <p:ext uri="{BB962C8B-B14F-4D97-AF65-F5344CB8AC3E}">
        <p14:creationId xmlns:p14="http://schemas.microsoft.com/office/powerpoint/2010/main" val="20433374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【讲述稿】</a:t>
            </a:r>
          </a:p>
          <a:p>
            <a:r>
              <a:t>各位领导，下面汇报我担任市场咨询总监以来的主要工作。这个阶段，我的工作集中在两条线：一条是在巴西承担讯飞侧重点项目总体推进，亲自参与关键客户咨询，并组织采购合同和本地承接准备；另一条是在同一时期建设国际咨询队伍，持续支撑其他区域的重点商机。</a:t>
            </a:r>
          </a:p>
          <a:p/>
          <a:p>
            <a:r>
              <a:t>本次不按工作动作简单罗列，而是先汇报已经取得的结果，再说明其中的关键判断、本人作用和团队贡献，最后汇报尚未完成的经营任务、组织改进和下一阶段安排。</a:t>
            </a:r>
          </a:p>
          <a:p/>
          <a:p>
            <a:r>
              <a:t>【衔接】“先用一页汇总，这段时间公司已经获得了哪些成果，以及我在其中承担的主要责任。”</a:t>
            </a:r>
          </a:p>
          <a:p/>
          <a:p>
            <a:r>
              <a:t>【依据与归因（不上屏）】</a:t>
            </a:r>
          </a:p>
          <a:p>
            <a:r>
              <a:t>来源：S01、S02。任命文件明确2月4日任命及六个月试用期；不据此限定实际工作范围，也不自行认定试用考核截止日。fileciteturn58file3L19-L25</a:t>
            </a:r>
          </a:p>
          <a:p/>
          <a:p>
            <a:r>
              <a:t>---</a:t>
            </a:r>
          </a:p>
        </p:txBody>
      </p:sp>
      <p:sp>
        <p:nvSpPr>
          <p:cNvPr id="4" name="幻灯片编号占位符 3"/>
          <p:cNvSpPr>
            <a:spLocks noGrp="1"/>
          </p:cNvSpPr>
          <p:nvPr>
            <p:ph type="sldNum" sz="quarter" idx="10"/>
          </p:nvPr>
        </p:nvSpPr>
        <p:spPr/>
        <p:txBody>
          <a:bodyPr/>
          <a:lstStyle/>
          <a:p>
            <a:fld id="{7390A175-438D-8F46-9D15-39916454810A}" type="slidenum">
              <a:rPr kumimoji="1" lang="zh-CN" altLang="en-US" smtClean="0"/>
              <a:t>1</a:t>
            </a:fld>
            <a:endParaRPr kumimoji="1" lang="zh-CN" altLang="en-US"/>
          </a:p>
        </p:txBody>
      </p:sp>
    </p:spTree>
    <p:extLst>
      <p:ext uri="{BB962C8B-B14F-4D97-AF65-F5344CB8AC3E}">
        <p14:creationId xmlns:p14="http://schemas.microsoft.com/office/powerpoint/2010/main" val="1729861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【讲述稿】</a:t>
            </a:r>
          </a:p>
          <a:p>
            <a:r>
              <a:t>本次保留模板要求的所有独立栏目。成果部分先说明实际承担的责任和同期工作条件，再分别展开巴西和国际咨询两条线。后半部分重点讲当前仍需完成的结果、可以改进的组织方式以及下一阶段安排。</a:t>
            </a:r>
          </a:p>
          <a:p/>
          <a:p>
            <a:r>
              <a:t>【衔接】“在展开案例之前，先说明这些工作是在怎样的责任和资源条件下并行推进的。”</a:t>
            </a:r>
          </a:p>
          <a:p/>
          <a:p>
            <a:r>
              <a:t>【依据与归因（不上屏）】</a:t>
            </a:r>
          </a:p>
          <a:p>
            <a:r>
              <a:t>来源：S01。此页只做结构导航。模板规定的管理角色表、各项展开述职、不足、规划、自我发展、课程和建议均有对应内容，不以附录替代。fileciteturn58file2L26-L48 fileciteturn58file2L63-L105</a:t>
            </a:r>
          </a:p>
          <a:p/>
          <a:p>
            <a:r>
              <a:t>---</a:t>
            </a:r>
          </a:p>
        </p:txBody>
      </p:sp>
      <p:sp>
        <p:nvSpPr>
          <p:cNvPr id="4" name="灯片编号占位符 3"/>
          <p:cNvSpPr>
            <a:spLocks noGrp="1"/>
          </p:cNvSpPr>
          <p:nvPr>
            <p:ph type="sldNum" sz="quarter" idx="10"/>
          </p:nvPr>
        </p:nvSpPr>
        <p:spPr/>
        <p:txBody>
          <a:bodyPr/>
          <a:lstStyle/>
          <a:p>
            <a:fld id="{7390A175-438D-8F46-9D15-39916454810A}" type="slidenum">
              <a:rPr kumimoji="1" lang="zh-CN" altLang="en-US" smtClean="0"/>
              <a:t>2</a:t>
            </a:fld>
            <a:endParaRPr kumimoji="1" lang="zh-CN" altLang="en-US"/>
          </a:p>
        </p:txBody>
      </p:sp>
    </p:spTree>
    <p:extLst>
      <p:ext uri="{BB962C8B-B14F-4D97-AF65-F5344CB8AC3E}">
        <p14:creationId xmlns:p14="http://schemas.microsoft.com/office/powerpoint/2010/main" val="2005746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eaLnBrk="0" hangingPunct="0">
              <a:defRPr sz="19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19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19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19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19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9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9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9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900" b="1">
                <a:solidFill>
                  <a:schemeClr val="tx1"/>
                </a:solidFill>
                <a:latin typeface="Times New Roman" panose="02020603050405020304" pitchFamily="18" charset="0"/>
                <a:ea typeface="宋体" panose="02010600030101010101" pitchFamily="2" charset="-122"/>
              </a:defRPr>
            </a:lvl9pPr>
          </a:lstStyle>
          <a:p>
            <a:pPr eaLnBrk="1" hangingPunct="1"/>
            <a:fld id="{0611ECFE-4471-4ABC-B9B9-A548CC5F23AD}" type="slidenum">
              <a:rPr lang="en-US" altLang="zh-CN" sz="1200" b="0" smtClean="0"/>
              <a:t>10</a:t>
            </a:fld>
            <a:endParaRPr lang="en-US" altLang="zh-CN" sz="1200" b="0"/>
          </a:p>
        </p:txBody>
      </p:sp>
      <p:sp>
        <p:nvSpPr>
          <p:cNvPr id="76803" name="Rectangle 2"/>
          <p:cNvSpPr>
            <a:spLocks noGrp="1" noRot="1" noChangeAspect="1" noChangeArrowheads="1" noTextEdit="1"/>
          </p:cNvSpPr>
          <p:nvPr>
            <p:ph type="sldImg"/>
          </p:nvPr>
        </p:nvSpPr>
        <p:spPr>
          <a:xfrm>
            <a:off x="685800" y="1143000"/>
            <a:ext cx="5486400" cy="3086100"/>
          </a:xfrm>
        </p:spPr>
      </p:sp>
      <p:sp>
        <p:nvSpPr>
          <p:cNvPr id="76804" name="Rectangle 3"/>
          <p:cNvSpPr>
            <a:spLocks noGrp="1" noChangeArrowheads="1"/>
          </p:cNvSpPr>
          <p:nvPr>
            <p:ph type="body" idx="1"/>
          </p:nvPr>
        </p:nvSpPr>
        <p:spPr>
          <a:noFill/>
        </p:spPr>
        <p:txBody>
          <a:bodyPr/>
          <a:lstStyle/>
          <a:p>
            <a:r>
              <a:t>【讲述稿】</a:t>
            </a:r>
          </a:p>
          <a:p>
            <a:r>
              <a:t>最后总结，这段时间我的主要工作不是单一项目或单一专业支持，而是在巴西持续承担总体推进，关键客户问题能够亲自完成专业交流，同时把国际咨询队伍组织起来，持续支撑其他区域。</a:t>
            </a:r>
          </a:p>
          <a:p/>
          <a:p>
            <a:r>
              <a:t>阶段成果已经形成，但正式合同、回款和最终验收仍需完成，团队主备和独立承接也要继续加强。下一阶段，我会继续把巴西做实，把咨询队伍带强，在保持个人攻坚能力的同时，提高组织持续产出结果的稳定性。请各位领导指导。</a:t>
            </a:r>
          </a:p>
          <a:p/>
          <a:p>
            <a:r>
              <a:t>【衔接】“以上是我的汇报，请各位领导就成果评价、下一阶段重点及组织协同安排提出意见。”</a:t>
            </a:r>
          </a:p>
          <a:p/>
          <a:p>
            <a:r>
              <a:t>【依据与归因（不上屏）】</a:t>
            </a:r>
          </a:p>
          <a:p>
            <a:r>
              <a:t>本页为第5—23页事实的综合归纳，不新增业绩数字或能力认证。集团、华为、主责咨询、研发及专业部门的共同贡献保持一致；未完成经营事项继续作为后续责任，而不掩盖或归因于他人。</a:t>
            </a:r>
          </a:p>
          <a:p/>
          <a:p>
            <a:r>
              <a:t>---</a:t>
            </a:r>
          </a:p>
          <a:p/>
          <a:p>
            <a:r>
              <a:t>【管理层追问准备】</a:t>
            </a:r>
          </a:p>
          <a:p>
            <a:r>
              <a:t>（讲述备稿，不增加PPT页数）</a:t>
            </a:r>
          </a:p>
          <a:p/>
          <a:p>
            <a:r>
              <a:t>## 问题1：项目还没有正式签约，为什么说取得了重大成果？</a:t>
            </a:r>
          </a:p>
          <a:p/>
          <a:p>
            <a:r>
              <a:t>建议回答：</a:t>
            </a:r>
          </a:p>
          <a:p/>
          <a:p>
            <a:r>
              <a:t>我区分阶段成果与最终经营结果。当前可以确认的是：讯飞进入国家AI公开合作安排，主要技术路线经过多轮交流获得客户认可，核心方案体现在TR中，报价、付款、采购及本地承接准备持续推进，应用线也形成了PoC开发成果。这些都是从早期意向向商业落地推进的实际变化，但不是收入或回款。</a:t>
            </a:r>
          </a:p>
          <a:p/>
          <a:p>
            <a:r>
              <a:t>正式合同、回款和最终交付仍需完成，也是下一阶段我继续承担的任务。我不会用阶段成果替代经营结果，也不认为只有合同签署当天才产生全部工作价值。</a:t>
            </a:r>
          </a:p>
          <a:p/>
          <a:p>
            <a:r>
              <a:t>对应页面：02、05、07、09—13、24—25。</a:t>
            </a:r>
          </a:p>
          <a:p/>
          <a:p>
            <a:r>
              <a:t>## 问题2：这些是集团、华为和政府共同推动的，个人贡献怎样区分？</a:t>
            </a:r>
          </a:p>
          <a:p/>
          <a:p>
            <a:r>
              <a:t>建议回答：</a:t>
            </a:r>
          </a:p>
          <a:p/>
          <a:p>
            <a:r>
              <a:t>这些成果确实由多方共同形成。集团提供平台和关键支持，华为提供伙伴能力和联合工作，政府与客户自行完成决策，研发和专业团队完成具体技术与法税工作。我的贡献主要是讯飞侧持续总体推进、关键客户咨询亲自承担，以及将不同专业工作组织到同一目标上。</a:t>
            </a:r>
          </a:p>
          <a:p/>
          <a:p>
            <a:r>
              <a:t>具体来说，可以看8月紧急报告、5月自主训练等客户问题的直接交流、采购会后的书面求证与问题跟踪、现场LTC和主责咨询培养等证据。我会按本人亲自完成、本人组织和团队完成分别列示，不把全部联合成果个人化。</a:t>
            </a:r>
          </a:p>
          <a:p/>
          <a:p>
            <a:r>
              <a:t>对应页面：06—11、14—15及证据索引。</a:t>
            </a:r>
          </a:p>
          <a:p/>
          <a:p>
            <a:r>
              <a:t>## 问题3：是否只是以咨询身份做了大量销售的工作？</a:t>
            </a:r>
          </a:p>
          <a:p/>
          <a:p>
            <a:r>
              <a:t>建议回答：</a:t>
            </a:r>
          </a:p>
          <a:p/>
          <a:p>
            <a:r>
              <a:t>前期销售衔接不足时，我确实承担了部分客户推进和销售执行，这在项目复盘和周报中都有记录。但我的实际作用不限于销售补位：关键模型路线、客户自主能力诉求、验收与权利边界需要我亲自作专业解释；采购、实体和履约条件需要组织跨专业处理；同时还要建设全球咨询队伍。</a:t>
            </a:r>
          </a:p>
          <a:p/>
          <a:p>
            <a:r>
              <a:t>因此，我希望评价的是这些责任对项目和组织结果的实际作用，而不是把岗位名称相加。后续仍应通过清晰分工，让销售、咨询和专业团队各自承担明确责任。</a:t>
            </a:r>
          </a:p>
          <a:p/>
          <a:p>
            <a:r>
              <a:t>对应页面：04、08—11、15。</a:t>
            </a:r>
          </a:p>
          <a:p/>
          <a:p>
            <a:r>
              <a:t>## 问题4：技术路线获得认可，是否等同于客户完全接受星火和所有交付内容？</a:t>
            </a:r>
          </a:p>
          <a:p/>
          <a:p>
            <a:r>
              <a:t>建议回答：</a:t>
            </a:r>
          </a:p>
          <a:p/>
          <a:p>
            <a:r>
              <a:t>不等同。5月记录支持客户总体接受主要方案与路线，后续TR也体现了相关输入；但TR新增了DLM和权重要求，后面还有效果、费用和合同边界讨论。所以我把成果限定为当时主要技术路线和方案阶段的认可，没有写成全部合同内容最终接受。</a:t>
            </a:r>
          </a:p>
          <a:p/>
          <a:p>
            <a:r>
              <a:t>持续的咨询工作就是在这个基础上处理新增要求，明确哪些属于当前范围、哪些需要进一步评估和谈判。</a:t>
            </a:r>
          </a:p>
          <a:p/>
          <a:p>
            <a:r>
              <a:t>对应页面：07—09。</a:t>
            </a:r>
          </a:p>
          <a:p/>
          <a:p>
            <a:r>
              <a:t>## 问题5：你在全球咨询中的作用，除了招人和派人还有什么？</a:t>
            </a:r>
          </a:p>
          <a:p/>
          <a:p>
            <a:r>
              <a:t>建议回答：</a:t>
            </a:r>
          </a:p>
          <a:p/>
          <a:p>
            <a:r>
              <a:t>招人与部署只是基础。我的重点还包括关键策略和材料质量：IGNITE要分析标书与竞争条件、讨论可参与范围；SDEC要处理总集、伙伴集成和利润风险；KNG要识别客户旧范围认知与新HLD之间的差异；埃及要连接售前、合同和交付。</a:t>
            </a:r>
          </a:p>
          <a:p/>
          <a:p>
            <a:r>
              <a:t>这些并不是每个项目都由我亲自完成全部材料，而是我对重要判断和资源安排负责，主责咨询及专业团队落实产出。再通过带教和复盘，让骨干逐步能独立承担更多事项。</a:t>
            </a:r>
          </a:p>
          <a:p/>
          <a:p>
            <a:r>
              <a:t>对应页面：16—23。</a:t>
            </a:r>
          </a:p>
          <a:p/>
          <a:p>
            <a:r>
              <a:t>## 问题6：团队到底成熟到什么程度？你离开后能否独立运行？</a:t>
            </a:r>
          </a:p>
          <a:p/>
          <a:p>
            <a:r>
              <a:t>建议回答：</a:t>
            </a:r>
          </a:p>
          <a:p/>
          <a:p>
            <a:r>
              <a:t>现在已经形成区域主责和部分骨干承接，徐唯等人员能够承担主要方案和现场任务。但我不认为团队已经完全成熟，部分重大背景、策略和对外承诺仍然需要本人及其他专业负责人把关。</a:t>
            </a:r>
          </a:p>
          <a:p/>
          <a:p>
            <a:r>
              <a:t>下一阶段要把主备、交接和授权进一步做清楚，逐步减少单点依赖。当前的组织成果是承接能力已经形成并在扩大，不是所有任务已经可以脱离本人独立运行。</a:t>
            </a:r>
          </a:p>
          <a:p/>
          <a:p>
            <a:r>
              <a:t>对应页面：14—15、23—27。</a:t>
            </a:r>
          </a:p>
          <a:p/>
          <a:p>
            <a:r>
              <a:t>## 问题7：有没有可以量化的商业价值或利润贡献？</a:t>
            </a:r>
          </a:p>
          <a:p/>
          <a:p>
            <a:r>
              <a:t>建议回答：</a:t>
            </a:r>
          </a:p>
          <a:p/>
          <a:p>
            <a:r>
              <a:t>目前可以列示经确认的阶段报价、付款设计和材料产出，但不能把报价当成已实现合同额或利润。RNP的阶段报价需要按币种和范围核准后使用；SDEC等项目的利润风险也只是已经被识别和纳入讨论，不能推算避免了多少损失。</a:t>
            </a:r>
          </a:p>
          <a:p/>
          <a:p>
            <a:r>
              <a:t>我的商业贡献现阶段主要体现在交易结构、范围、付款和责任更加清楚，为后续成交和交付创造条件。最终商业价值要以合同、实际收入、成本和回款验证。</a:t>
            </a:r>
          </a:p>
          <a:p/>
          <a:p>
            <a:r>
              <a:t>对应页面：09、19—20、24—25。</a:t>
            </a:r>
          </a:p>
          <a:p/>
          <a:p>
            <a:r>
              <a:t>## 问题8：为什么要同时承担巴西与全球咨询，会不会影响部门工作？</a:t>
            </a:r>
          </a:p>
          <a:p/>
          <a:p>
            <a:r>
              <a:t>建议回答：</a:t>
            </a:r>
          </a:p>
          <a:p/>
          <a:p>
            <a:r>
              <a:t>双线并发确实带来资源和精力压力，因此我通过区域主责、骨干培养、现场轮换、关键评审和跨区支援来保障工作。周报可以看到，在巴西关键阶段，其他区域仍有持续的具体产出。</a:t>
            </a:r>
          </a:p>
          <a:p/>
          <a:p>
            <a:r>
              <a:t>但这不意味着现有方式可以无限延续。随着项目进入签约和交付，我需要与组织进一步明确重点任务、主备和分工，减少靠个人持续补位维持结果，让全球咨询和巴西现场都有更稳定的承接。</a:t>
            </a:r>
          </a:p>
          <a:p/>
          <a:p>
            <a:r>
              <a:t>对应页面：04、14—20、25—29。</a:t>
            </a:r>
          </a:p>
          <a:p/>
          <a:p>
            <a:r>
              <a:t>## 问题9：风险很多，你是否在用外部因素解释结果未完成？</a:t>
            </a:r>
          </a:p>
          <a:p/>
          <a:p>
            <a:r>
              <a:t>建议回答：</a:t>
            </a:r>
          </a:p>
          <a:p/>
          <a:p>
            <a:r>
              <a:t>风险说明的目的，是区分哪些可以由我方直接完成、哪些必须由客户或外部部门决定。对可控事项，我需要把材料、责任和资源准备做实；对外部依赖，也需要持续沟通、及时升级、保持状态透明，而不是因为不受直接管理就停止推进。</a:t>
            </a:r>
          </a:p>
          <a:p/>
          <a:p>
            <a:r>
              <a:t>我会同时复盘自己是否可以更早提出问题、更早引入专业资源，以及哪些任务可以更好地交给骨干。这样既不忽略客观依赖，也不取消自身管理责任。</a:t>
            </a:r>
          </a:p>
          <a:p/>
          <a:p>
            <a:r>
              <a:t>对应页面：10—13、24—26。</a:t>
            </a:r>
          </a:p>
          <a:p/>
          <a:p>
            <a:r>
              <a:t>## 问题10：转正以后，你希望组织给予什么支持？</a:t>
            </a:r>
          </a:p>
          <a:p/>
          <a:p>
            <a:r>
              <a:t>建议回答：</a:t>
            </a:r>
          </a:p>
          <a:p/>
          <a:p>
            <a:r>
              <a:t>我希望围绕结果明确责任和资源，而不是先争论头衔。重大项目需要持续总体负责人，也需要各专业部门在关键节点有明确接口和决策机制；全球咨询需要主备、人员保障和与机会成熟度匹配的投入安排。</a:t>
            </a:r>
          </a:p>
          <a:p/>
          <a:p>
            <a:r>
              <a:t>具体支持包括关键节点商法财、方案与服务的集中介入，本地专业支撑，以及人员轮换和跨区支援。通过这些安排，让已形成的项目和组织基础更稳定地转化为商业结果。</a:t>
            </a:r>
          </a:p>
          <a:p/>
          <a:p>
            <a:r>
              <a:t>对应页面：25—29。</a:t>
            </a:r>
          </a:p>
          <a:p/>
          <a:p>
            <a:r>
              <a:t>---</a:t>
            </a:r>
          </a:p>
        </p:txBody>
      </p:sp>
    </p:spTree>
    <p:extLst>
      <p:ext uri="{BB962C8B-B14F-4D97-AF65-F5344CB8AC3E}">
        <p14:creationId xmlns:p14="http://schemas.microsoft.com/office/powerpoint/2010/main" val="1104879964"/>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这一阶段的结果可以概括为两条主线。巴西方面，国家AI项目已经取得公开合作和技术路线层面的重大阶段进展，核心方案不只停留在我方汇报材料里，也进入了客户的技术需求文件。与此同时，我们在推进政府间支持文件、采购合同、本地实体以及履约前提，让合作继续向商业落地转化。SERPRO方面，合作已经从场景讨论走到具体招聘应用的PoC开发与部署准备。</a:t>
            </a:r>
          </a:p>
          <a:p/>
          <a:p>
            <a:r>
              <a:t>第二条线是组织建设。我们已经形成重点区域的主责咨询配置，持续支撑多个国家的方案、投标、合同范围和风险处理，部分关键工作开始由培养起来的骨干承担。</a:t>
            </a:r>
          </a:p>
          <a:p/>
          <a:p>
            <a:r>
              <a:t>这些结果不是我个人独立完成的。集团、华为、专业部门、主责咨询和研发团队都有直接贡献。我的作用主要在于：持续承担总体推进、在关键面客问题上亲自作专业判断，并把不同团队的工作组织到共同结果上。同时，我也明确区分阶段成果与经营闭环：合同、回款和最终验收没有完成的部分，仍是接下来需要兑现的任务。</a:t>
            </a:r>
          </a:p>
          <a:p/>
          <a:p>
            <a:r>
              <a:t>【衔接】“后续按照模板规定的六个部分展开，其中成果回顾以这两条线为主。”</a:t>
            </a:r>
          </a:p>
          <a:p/>
          <a:p>
            <a:r>
              <a:t>【依据与归因（不上屏）】</a:t>
            </a:r>
          </a:p>
          <a:p>
            <a:r>
              <a:t>来源：S03、S07、S12—S14、S19、U01—U02。6人和5区域来自Q1记录，不自动作为当前人数；30多个问题是联合应答数量，不等于全部由陈昊单独回答。fileciteturn60file0L24-L43 fileciteturn59file1L64-L74</a:t>
            </a:r>
          </a:p>
          <a:p/>
          <a:p>
            <a:r>
              <a:t>总统官宣、三方文件及8月后续PoC开发状态依据本人补充进展U01，不作为独立媒体核查结论。正式制作时在来源页保留该区分。</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本页与下一页共用脚本第4页讲述稿。</a:t>
            </a:r>
          </a:p>
          <a:p/>
          <a:p>
            <a:r>
              <a:t>【讲述稿】</a:t>
            </a:r>
          </a:p>
          <a:p>
            <a:r>
              <a:t>实际承担的责任可以分成四类：客户和方案层面的专业判断、巴西项目总体推进、咨询队伍建设，以及跨专业协同。这里我想特别说明的是同期投入：在巴西进行多轮客户技术交流的时候，埃及还需要售前交底和现场支撑，加纳、巴基斯坦和东马也在推进方案；到八月，我在巴西推进采购和本地实体条件，其他区域仍在持续输出SoC和客户方案。</a:t>
            </a:r>
          </a:p>
          <a:p/>
          <a:p>
            <a:r>
              <a:t>因此，这段时间的管理要求不只是把一项任务做好，还包括判断哪些事项必须由我亲自承担、哪些交给主责咨询、哪些需要法财或交付专业团队介入。在人员轮换和资源紧张条件下，我既补位当前任务，也持续培养能接住后续工作的人。阶段结果已经形成，但组织仍有单点依赖，这是后面需要继续改善的部分。</a:t>
            </a:r>
          </a:p>
          <a:p/>
          <a:p>
            <a:r>
              <a:t>【衔接】“先展开第一条线：巴西项目在合作位置、技术需求、交易准备和应用验证上，具体发生了哪些变化。”</a:t>
            </a:r>
          </a:p>
          <a:p/>
          <a:p>
            <a:r>
              <a:t>【依据与归因（不上屏）】</a:t>
            </a:r>
          </a:p>
          <a:p>
            <a:r>
              <a:t>来源：S05、S07、S11—S14、S19、U02。同期安排有周报依据；差旅次数和时差为本人回顾口径，需以本人最终确认为准。fileciteturn59file0L12-L38 fileciteturn60file4L195-L214 fileciteturn59file3L143-L187</a:t>
            </a:r>
          </a:p>
          <a:p/>
          <a:p>
            <a:r>
              <a:t>此页管理自评是对事实的归纳，不构成公司正式考评结论。不能从多线工作直接推断全年P&amp;L授权。</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本页承接脚本第4页的同期工作负荷与资源背景；三期划分为对周报事实的回顾归纳，讲述时说明。</a:t>
            </a:r>
          </a:p>
          <a:p/>
          <a:p>
            <a:r>
              <a:t>【讲述稿】</a:t>
            </a:r>
          </a:p>
          <a:p>
            <a:r>
              <a:t>实际承担的责任可以分成四类：客户和方案层面的专业判断、巴西项目总体推进、咨询队伍建设，以及跨专业协同。这里我想特别说明的是同期投入：在巴西进行多轮客户技术交流的时候，埃及还需要售前交底和现场支撑，加纳、巴基斯坦和东马也在推进方案；到八月，我在巴西推进采购和本地实体条件，其他区域仍在持续输出SoC和客户方案。</a:t>
            </a:r>
          </a:p>
          <a:p/>
          <a:p>
            <a:r>
              <a:t>因此，这段时间的管理要求不只是把一项任务做好，还包括判断哪些事项必须由我亲自承担、哪些交给主责咨询、哪些需要法财或交付专业团队介入。在人员轮换和资源紧张条件下，我既补位当前任务，也持续培养能接住后续工作的人。阶段结果已经形成，但组织仍有单点依赖，这是后面需要继续改善的部分。</a:t>
            </a:r>
          </a:p>
          <a:p/>
          <a:p>
            <a:r>
              <a:t>【衔接】“先展开第一条线：巴西项目在合作位置、技术需求、交易准备和应用验证上，具体发生了哪些变化。”</a:t>
            </a:r>
          </a:p>
          <a:p/>
          <a:p>
            <a:r>
              <a:t>【依据与归因（不上屏）】</a:t>
            </a:r>
          </a:p>
          <a:p>
            <a:r>
              <a:t>来源：S05、S07、S11—S14、S19、U02。同期安排有周报依据；差旅次数和时差为本人回顾口径，需以本人最终确认为准。fileciteturn59file0L12-L38 fileciteturn60file4L195-L214 fileciteturn59file3L143-L187</a:t>
            </a:r>
          </a:p>
          <a:p/>
          <a:p>
            <a:r>
              <a:t>此页管理自评是对事实的归纳，不构成公司正式考评结论。不能从多线工作直接推断全年P&amp;L授权。</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巴西这条线，我希望各位看到的不是只有总统官宣一个事件，而是五个维度同时在向前。第一是合作位置，讯飞已经进入国家AI合作的公开安排；第二是技术需求，主要路线经过客户多轮挑战和澄清后获得认可，并进入后续TR；第三是交易准备，我们已经在处理报价、付款、采购材料和主体条件；第四是应用验证，SERPRO不再只有合作兴趣，而是有了具体的招聘应用PoC；第五是本地承接，实体和专业支撑正在建立。</a:t>
            </a:r>
          </a:p>
          <a:p/>
          <a:p>
            <a:r>
              <a:t>这些变化之间相互依赖：技术方案要能被采购理解，交易结构要能被本地实体承接，客户又需要看到持续履约能力。我的作用是在不同阶段持续连接这些工作，而不只负责某一次汇报。下一阶段仍然要把这些基础转化为正式合同和可执行的交付安排。</a:t>
            </a:r>
          </a:p>
          <a:p/>
          <a:p>
            <a:r>
              <a:t>【衔接】“其中，政府间支持文件是一个典型案例：它不在普通技术方案范围内，却会影响项目能否继续向采购和签约推进。”</a:t>
            </a:r>
          </a:p>
          <a:p/>
          <a:p>
            <a:r>
              <a:t>【依据与归因（不上屏）】</a:t>
            </a:r>
          </a:p>
          <a:p>
            <a:r>
              <a:t>来源：S04、S07、S12—S14、S19、U01。4月合作文件按U01明确为合作意向性质；三方MoU按“8月”列示，精确日期以最终电子签署记录核对。fileciteturn61file2L431-L437 fileciteturn59file1L64-L66 fileciteturn59file2L100-L105</a:t>
            </a:r>
          </a:p>
          <a:p/>
          <a:p>
            <a:r>
              <a:t>本页的公司价值属于对已提供事实的业务归纳，不等于已实现营业收入或法定经营授权。</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这一案例体现的是总体推进责任。到了签约准备阶段，我们发现，有些问题不是继续修改技术方案或报价就能解决。巴方希望有政府间文件支持，使馆签署又需要国内的会商与授权。我的处理方式是，先把项目背景、当前卡点、实施主体和时间要求整理清楚，再推动专题汇报，并在会后立即形成书面材料。</a:t>
            </a:r>
          </a:p>
          <a:p/>
          <a:p>
            <a:r>
              <a:t>8月19日沟通后，我们当晚组织完成紧急需求报告。在华为内部协调存在约束的情况下，由讯飞侧继续提交和提供信息，之后持续跟进双方文本往返。这里不能把政府部门的决定归因于个人，但可以明确：我和现场团队承担了把前线情况组织成正式输入、推动进入相应对接渠道并继续跟踪的工作。</a:t>
            </a:r>
          </a:p>
          <a:p/>
          <a:p>
            <a:r>
              <a:t>这类事情往往不属于单个专业部门能够独立完成的任务，却会影响整个项目的采购与签约。因此我需要保持全局视角，识别问题应该在哪个层面处理，并组织相应资源。</a:t>
            </a:r>
          </a:p>
          <a:p/>
          <a:p>
            <a:r>
              <a:t>【衔接】“政府合作解决的是推进依据和协调条件；客户愿意采用我们的路线，还需要技术方案经得住具体质疑。下一页汇报方案在客户侧形成的实际结果。”</a:t>
            </a:r>
          </a:p>
          <a:p/>
          <a:p>
            <a:r>
              <a:t>【依据与归因（不上屏）】</a:t>
            </a:r>
          </a:p>
          <a:p>
            <a:r>
              <a:t>来源：U01中“高层对接”1—8月进展，S14、S19作背景交叉印证。8月19—25日细节采用本人提供的内部进展记录，不宣称已独立读取发改委批复或政府间正式签署件。</a:t>
            </a:r>
          </a:p>
          <a:p/>
          <a:p>
            <a:r>
              <a:t>正式文字使用“牵头组织报告、专题汇报与跟进”，不使用“个人促成政府批准”。不在此页对巴西采购法律作一般性结论，不添加来源未给出的“三层法定文件足以免招标”等判断。</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技术方案这部分，最重要的结果不是我们开了多少次会，而是客户需求发生了什么变化。RNP接手后，我们需要重新理解它的建设和采购关注点，并把原有方案与华为整体架构重新融合。客户随后提出了4批30多个问题，涉及数据是否足够、模型怎样持续演进、自主能力如何形成以及结果如何检验。</a:t>
            </a:r>
          </a:p>
          <a:p/>
          <a:p>
            <a:r>
              <a:t>在这个过程中，我亲自承担关键英语咨询，主责咨询和相关团队共同准备材料、跟进问题。到5月，周报记录客户总体接受了主要方案和技术路线；随后收到的TR草稿，与此前HLD和澄清回复基本一致。这是咨询工作进入客户采购需求的一个具体结果。</a:t>
            </a:r>
          </a:p>
          <a:p/>
          <a:p>
            <a:r>
              <a:t>同时，TR又新增了行业模型和基础权重等要求。因此我们并没有把“技术路线认可”当作工作结束，而是继续评审新增范围、费用和责任。这个过程体现的是持续引导与边界管理，而不是一次性做完方案。</a:t>
            </a:r>
          </a:p>
          <a:p/>
          <a:p>
            <a:r>
              <a:t>【衔接】“下面用客户真实追问说明，我在这些技术交流中具体作了哪些判断，以及如何把技术问题转化为客户可以决策的路径。”</a:t>
            </a:r>
          </a:p>
          <a:p/>
          <a:p>
            <a:r>
              <a:t>【依据与归因（不上屏）】</a:t>
            </a:r>
          </a:p>
          <a:p>
            <a:r>
              <a:t>来源：S05—S08、S14—S16。5月11—17日周报是本页最直接的阶段成果依据。fileciteturn59file1L64-L74 fileciteturn60file1L77-L85</a:t>
            </a:r>
          </a:p>
          <a:p/>
          <a:p>
            <a:r>
              <a:t>会次数量存在“4次澄清”和“5轮交流”口径差异，本稿统一用“多轮交流、4批30多个问题”。“技术澄清关闭”仅限当时主要方案阶段，不表示后续DLM、知识产权或合同要求均已解决。</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本页与下一页共用脚本第8页讲述稿。</a:t>
            </a:r>
          </a:p>
          <a:p/>
          <a:p>
            <a:r>
              <a:t>【讲述稿】</a:t>
            </a:r>
          </a:p>
          <a:p>
            <a:r>
              <a:t>这里选择一个最能体现专业判断的例子。客户希望真正掌握自主能力，因此提出先从较小模型开始从零训练。我的回应不是简单否定，也不是仅强调我们已有模型更好，而是先区分两个目标：一类是大学和科研团队的技术探索，另一类是当前需要交付稳定效果、面向公共服务的国家模型项目。</a:t>
            </a:r>
          </a:p>
          <a:p/>
          <a:p>
            <a:r>
              <a:t>对于当前交付，我建议先利用成熟底座完成本地增训、语料建设和知识转移，让客户的团队先掌握持续演进能力；在数据、人员和算力条件逐步具备后，再探索从零训练。客户随后复述了这一阶段划分，说明讨论已经从抽象争论转向具体路径。</a:t>
            </a:r>
          </a:p>
          <a:p/>
          <a:p>
            <a:r>
              <a:t>同样，在数据、跨硬件生态、评测和知识产权问题上，我都尽量把技术可行性、工程成本和责任边界一起讲清楚。例如迁移不能只回答“支持”，还要说明需要什么适配和优化；验收不能只说效果提升，还要形成双方可讨论的量化基准。这些工作与后续技术路线认可和合同范围讨论直接相关。</a:t>
            </a:r>
          </a:p>
          <a:p/>
          <a:p>
            <a:r>
              <a:t>【衔接】“技术路径得到理解以后，还要进一步回答交易怎样成立、讯飞承担什么、费用和付款怎样安排。下一页展开这部分工作。”</a:t>
            </a:r>
          </a:p>
          <a:p/>
          <a:p>
            <a:r>
              <a:t>【依据与归因（不上屏）】</a:t>
            </a:r>
          </a:p>
          <a:p>
            <a:r>
              <a:t>来源：S15、S16、U02。5月5日说话人5按本人此前确认映射为陈昊。主案例与客户复述有对应记录。fileciteturn58file1L1024-L1043</a:t>
            </a:r>
          </a:p>
          <a:p/>
          <a:p>
            <a:r>
              <a:t>语料资源调查、跨生态部署、量化评测和分发边界分别见会议相关段落。fileciteturn58file1L259-L275 fileciteturn58file1L478-L548 fileciteturn58file1L565-L602 fileciteturn58file1L649-L656</a:t>
            </a:r>
          </a:p>
          <a:p/>
          <a:p>
            <a:r>
              <a:t>5月8日部分语料比较内容是“本人回忆补录”，只概括沟通要点，不伪装为全部录音逐字证据。任何会议中的周期、性能、所有权或服务年限说明，都不直接转成最终技术保证或合同条款。其他说话人的硬件回答不列为本人完成。</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配套五问页，追问技术细节时使用。</a:t>
            </a:r>
          </a:p>
          <a:p/>
          <a:p>
            <a:r>
              <a:t>【讲述稿】</a:t>
            </a:r>
          </a:p>
          <a:p>
            <a:r>
              <a:t>这里选择一个最能体现专业判断的例子。客户希望真正掌握自主能力，因此提出先从较小模型开始从零训练。我的回应不是简单否定，也不是仅强调我们已有模型更好，而是先区分两个目标：一类是大学和科研团队的技术探索，另一类是当前需要交付稳定效果、面向公共服务的国家模型项目。</a:t>
            </a:r>
          </a:p>
          <a:p/>
          <a:p>
            <a:r>
              <a:t>对于当前交付，我建议先利用成熟底座完成本地增训、语料建设和知识转移，让客户的团队先掌握持续演进能力；在数据、人员和算力条件逐步具备后，再探索从零训练。客户随后复述了这一阶段划分，说明讨论已经从抽象争论转向具体路径。</a:t>
            </a:r>
          </a:p>
          <a:p/>
          <a:p>
            <a:r>
              <a:t>同样，在数据、跨硬件生态、评测和知识产权问题上，我都尽量把技术可行性、工程成本和责任边界一起讲清楚。例如迁移不能只回答“支持”，还要说明需要什么适配和优化；验收不能只说效果提升，还要形成双方可讨论的量化基准。这些工作与后续技术路线认可和合同范围讨论直接相关。</a:t>
            </a:r>
          </a:p>
          <a:p/>
          <a:p>
            <a:r>
              <a:t>【衔接】“技术路径得到理解以后，还要进一步回答交易怎样成立、讯飞承担什么、费用和付款怎样安排。下一页展开这部分工作。”</a:t>
            </a:r>
          </a:p>
          <a:p/>
          <a:p>
            <a:r>
              <a:t>【依据与归因（不上屏）】</a:t>
            </a:r>
          </a:p>
          <a:p>
            <a:r>
              <a:t>来源：S15、S16、U02。5月5日说话人5按本人此前确认映射为陈昊。主案例与客户复述有对应记录。fileciteturn58file1L1024-L1043</a:t>
            </a:r>
          </a:p>
          <a:p/>
          <a:p>
            <a:r>
              <a:t>语料资源调查、跨生态部署、量化评测和分发边界分别见会议相关段落。fileciteturn58file1L259-L275 fileciteturn58file1L478-L548 fileciteturn58file1L565-L602 fileciteturn58file1L649-L656</a:t>
            </a:r>
          </a:p>
          <a:p/>
          <a:p>
            <a:r>
              <a:t>5月8日部分语料比较内容是“本人回忆补录”，只概括沟通要点，不伪装为全部录音逐字证据。任何会议中的周期、性能、所有权或服务年限说明，都不直接转成最终技术保证或合同条款。其他说话人的硬件回答不列为本人完成。</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RNP的商业结构不是从一开始就固定。客户希望整体承接，随后又提出服务化采购，涉及谁持有物理资产、讯飞是否担任总集、各方如何分担责任。我的工作不只是把这些变化转给总部，而是组织现场研判、内部汇报，把集团明确的态度和条件再传回一线，并据此调整方案和材料。</a:t>
            </a:r>
          </a:p>
          <a:p/>
          <a:p>
            <a:r>
              <a:t>这个过程也要求我关注讯飞自身的业务位置。训练工具链、平台界面、实施分期和付款安排，都与我们最终承担的工作和获得的对价有关。6月的周报已经记录了按新范围刷新报价、形成付款里程碑并提交客户的具体产出。</a:t>
            </a:r>
          </a:p>
          <a:p/>
          <a:p>
            <a:r>
              <a:t>目前这些属于交易准备成果，并不代表最终合同金额或利润已经实现。但它表明我的工作已经从“客户是否认可方案”进入“这笔业务按什么结构成立、责任和回款怎样衔接”的层面。</a:t>
            </a:r>
          </a:p>
          <a:p/>
          <a:p>
            <a:r>
              <a:t>【衔接】“交易结构逐步清楚以后，还需要穿透RNP实际采购流程，明确哪些材料、资质和条件可以先做，哪些必须等客户内部程序。”</a:t>
            </a:r>
          </a:p>
          <a:p/>
          <a:p>
            <a:r>
              <a:t>【依据与归因（不上屏）】</a:t>
            </a:r>
          </a:p>
          <a:p>
            <a:r>
              <a:t>来源：S07—S12、U01。总集内部研判、反馈原则、训练工具链和付款设计均有记录。fileciteturn60file4L195-L199 fileciteturn60file1L77-L83 fileciteturn59file2L100-L105</a:t>
            </a:r>
          </a:p>
          <a:p/>
          <a:p>
            <a:r>
              <a:t>48M DDP未给出币种，不转换为4800万美元；7月整体2.28亿美元报价来自U01，为整体项目阶段报价，不是讯飞收入。S12与7月6—12日周报内容重复，不重复计数。不得以这些记录推算已实现毛利或个人签单。</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进入采购阶段后，我重点解决的是信息和条件不清的问题。首先需要有能够直接用葡语处理合同问题的本地专业支持，因此现场调研了三家律所并选定顾问。随后我们组织与RNP采购部门直接沟通，把新设公司的资格、前期准备是否能并行、正式签约需要什么条件等问题逐项讨论。</a:t>
            </a:r>
          </a:p>
          <a:p/>
          <a:p>
            <a:r>
              <a:t>对我来说，开完会不是结束。会后还要把共识书面化，对分包、担保、用工等尚未明确的事项正式求证，并区分项目负责人、采购组织和执行接口。与此同时，客户采购又依赖华为和讯飞的正式方案，所以我也继续推动伙伴侧SOW攻关和内部任务分解。</a:t>
            </a:r>
          </a:p>
          <a:p/>
          <a:p>
            <a:r>
              <a:t>这一阶段能够确认的是：签约准备所需的路径、材料和问题更加清楚，已形成直接沟通和书面跟踪方式。没有回复或审批完成的事项仍然保留为未决，不以开会次数代替问题关闭。</a:t>
            </a:r>
          </a:p>
          <a:p/>
          <a:p>
            <a:r>
              <a:t>【衔接】“这些采购要求最终还要落实到本地公司和履约安排。下面用一个具体结构矛盾，说明我如何连接方案、主体和专业部门。”</a:t>
            </a:r>
          </a:p>
          <a:p/>
          <a:p>
            <a:r>
              <a:t>【依据与归因（不上屏）】</a:t>
            </a:r>
          </a:p>
          <a:p>
            <a:r>
              <a:t>来源：S13、S17、S18。律所、三层通道、两次华为交流及11项待答在周报中明确记录。fileciteturn59file3L143-L159</a:t>
            </a:r>
          </a:p>
          <a:p/>
          <a:p>
            <a:r>
              <a:t>采购会议正文日期为8月4日，文件名虽含20260806，不另计一次会议。该会由外聘律师主持，不能写成陈昊全程主持葡语法律谈判。陈昊的组织与商务技术推进责任、财务及法务专业分工分别保留。fileciteturn58file0L8-L21 fileciteturn58file0L132-L160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本地实体不是与项目无关的行政事项。采购讨论中一个很具体的问题是：公司为了加快设立，先按服务范围注册，但原方案还有安全设备的OPEX安排。这个矛盾由采购讨论明确后，如果不继续处理，技术方案和实际签约主体之间就会出现错位。</a:t>
            </a:r>
          </a:p>
          <a:p/>
          <a:p>
            <a:r>
              <a:t>纪要把与华为协调该事项列为我的行动责任。我的作用不是代替会计师判断代码，也不是代替律师判断交易合法性，而是把技术交付内容与主体范围之间的依赖组织起来，推动相关专业团队给出可用于合同的安排。</a:t>
            </a:r>
          </a:p>
          <a:p/>
          <a:p>
            <a:r>
              <a:t>类似的情况还包括本地支持、总部人员参与、费用归类和付款条件。现场LTC的意义，就是让这些原来分散在不同部门的事项围绕同一签约目标推进。当前有的已经明确，有的仍在确认；我会持续保持状态透明，避免把未决问题带入无条件承诺。</a:t>
            </a:r>
          </a:p>
          <a:p/>
          <a:p>
            <a:r>
              <a:t>【衔接】“除RNP国家AI项目外，巴西还有另一条应用合作线。SERPRO的进展体现了我们如何把较宽泛的合作意愿，推进到具体业务场景验证。”</a:t>
            </a:r>
          </a:p>
          <a:p/>
          <a:p>
            <a:r>
              <a:t>【依据与归因（不上屏）】</a:t>
            </a:r>
          </a:p>
          <a:p>
            <a:r>
              <a:t>来源：S13、S18、S19、U01。经营范围问题由RNP主动提出，不能改写为本人首先发现；陈昊承担后续业务协调，财务、会计师、法务的责任分别明确。fileciteturn58file0L42-L57 fileciteturn58file0L132-L160</a:t>
            </a:r>
          </a:p>
          <a:p/>
          <a:p>
            <a:r>
              <a:t>注册资本等少数口径在采购纪要不同版本间有差异，本页不作确定结论。注册提交具体日期按回执核对，采用“8月下旬推进注册申请”。重大承诺内部一致的要求见9月复盘。fileciteturn61file1L396-L403</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SERPRO这条线不是简单接待一次客户或提交一次方案。前期我们围绕主权AI以及教育、医疗等方向形成合作入口，随后联合华为驻场，逐步寻找适合优先验证的场景。医疗需要拉通专业公司，教育需要对接具体部门，每类场景都要判断需求、产品能力和落地方式是否匹配。</a:t>
            </a:r>
          </a:p>
          <a:p/>
          <a:p>
            <a:r>
              <a:t>后来SERPRO导入了MGI-SGP的招聘和档案数字化需求。我组织咨询与产线完成需求分析、Demo和PoC准备，招聘场景得到客户确认，继续进入开发和部署阶段。这一成果不应写成“我完成开发”，开发属于产品研发团队；我的贡献是持续把业务需求、客户反馈、专业资源和伙伴工作组织在一起。</a:t>
            </a:r>
          </a:p>
          <a:p/>
          <a:p>
            <a:r>
              <a:t>目前开发成果已经形成，最终业务确认、验收和采购还需要继续推进。它为巴西业务提供了一个具体应用验证基础，但仍然需要通过后续商业结果来进一步兑现价值。</a:t>
            </a:r>
          </a:p>
          <a:p/>
          <a:p>
            <a:r>
              <a:t>【衔接】“PoC完成开发并不意味着项目自然成交。下一页说明我们同时推进的客户确认、云资源和商业采购条件。”</a:t>
            </a:r>
          </a:p>
          <a:p/>
          <a:p>
            <a:r>
              <a:t>【依据与归因（不上屏）】</a:t>
            </a:r>
          </a:p>
          <a:p>
            <a:r>
              <a:t>来源：S03、S04、S09、S10、S12—S14、U01。初期框架材料在不同资料中称RFI、投标或合作伙伴框架标，本稿保守使用“RFI阶段材料提交”，不另计多个投标成果。fileciteturn60file2L121-L129 fileciteturn60file3L157-L165 fileciteturn59file4L212-L220</a:t>
            </a:r>
          </a:p>
          <a:p/>
          <a:p>
            <a:r>
              <a:t>6月周报不同时间对档案数字化状态表述有所演进，主成果聚焦证据更清楚的招聘PoC，不把档案项目写成已验收。8月“开发完成”采用本人后续更新U01；周报此前为“基本完成”。</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SERPRO的一个关键特点是多方条件需要同时成立。SERPRO技术团队认可，不代表SGP业务部门的确认函已经到位；开发团队完成系统，也不代表云资源已经满足部署；即使效果得到认可，还要明确后续通过哪个主体和合同路径采购。</a:t>
            </a:r>
          </a:p>
          <a:p/>
          <a:p>
            <a:r>
              <a:t>因此我一方面组织需求和PoC推进，另一方面持续协调华为云资源、客户确认以及销售背景导入。采购路径方面，我们讨论了利用云市场和既有框架合作的方式，并保留不同上架主体选项。这里的成果是路径和待办更加明确，而不是提前宣称订单已经取得。</a:t>
            </a:r>
          </a:p>
          <a:p/>
          <a:p>
            <a:r>
              <a:t>这一页体现的工作量，主要不是会开得多，而是需要持续管理几条互相依赖的链条，避免其中一项停滞使前面的技术投入无法转化为业务结果。</a:t>
            </a:r>
          </a:p>
          <a:p/>
          <a:p>
            <a:r>
              <a:t>【衔接】“以上是巴西这条线。与此同时，我还需要把国际咨询队伍建立起来，并持续保障其他区域的重点任务。”</a:t>
            </a:r>
          </a:p>
          <a:p/>
          <a:p>
            <a:r>
              <a:t>【依据与归因（不上屏）】</a:t>
            </a:r>
          </a:p>
          <a:p>
            <a:r>
              <a:t>来源：S12—S14、U01。SERPRO与SGP确认差异、资源等待和销售导入有同期周报依据。fileciteturn59file3L160-L172 fileciteturn59file4L212-L220</a:t>
            </a:r>
          </a:p>
          <a:p/>
          <a:p>
            <a:r>
              <a:t>MarketPlace和既有框架路径来自本人提供的多方讨论进展，不是本稿对合同法律效力作独立确认。不得写“可直接免招标下单”“已获得框架订单”或“商业模式已经验证成功”。</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咨询团队建设不是在业务空档期进行的，而是在项目不断进入、重点国家需要现场支持的同时推进。Q1已经形成六人的阶段配置，五个区域有了主责咨询，但之后存在人员离职、补充和跨区支援，并不是一直有一支稳定满编的成熟队伍。</a:t>
            </a:r>
          </a:p>
          <a:p/>
          <a:p>
            <a:r>
              <a:t>我的工作既包括选人，也包括判断谁适合承担哪个项目、哪些问题需要我复核、哪些需要引入方案和交付专业力量。人员到岗只解决了第一步，真正的组织成果要看他们是否进入真实客户任务、是否形成可用材料和阶段结果。</a:t>
            </a:r>
          </a:p>
          <a:p/>
          <a:p>
            <a:r>
              <a:t>因此这一页不把“招聘完成”作为终点，而是展示区域承接已经形成。它为我深度投入巴西的同时保持其他区域业务支撑提供了基础，但当前仍有关键任务依赖本人和少数骨干，后续要继续强化主备和独立承接。</a:t>
            </a:r>
          </a:p>
          <a:p/>
          <a:p>
            <a:r>
              <a:t>【衔接】“区域配置解决的是有人承担任务，骨干培养解决的是能否承担得住。下一页以徐唯和现场连续性为例，说明我的带教与授权方式。”</a:t>
            </a:r>
          </a:p>
          <a:p/>
          <a:p>
            <a:r>
              <a:t>【依据与归因（不上屏）】</a:t>
            </a:r>
          </a:p>
          <a:p>
            <a:r>
              <a:t>来源：S03、S05、S07、S11、S13、S19—S21、U02。共6人及五区域来自阶段记录；不能写成当前六名下属，也不擅自认定是否包含本人。fileciteturn60file0L24-L32 fileciteturn59file0L23-L31</a:t>
            </a:r>
          </a:p>
          <a:p/>
          <a:p>
            <a:r>
              <a:t>跨国部署是按任务和周报列举，不固定化为组织任命。2025年底招募作为前期基础；这一页的任职成果重点是配置、培养、部署和持续运行。</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徐唯是这段时间较有代表性的培养案例。我的带教重点不是让他熟悉一套PPT，而是理解为什么要与某类客户交流、材料要解决什么问题，以及前场承诺如何与后端能力衔接。从联合准备和面客开始，逐步让他承担具体方案与现场任务，我保留关键问题复核，并把更多精力用于总体推进和跨专业事项。</a:t>
            </a:r>
          </a:p>
          <a:p/>
          <a:p>
            <a:r>
              <a:t>从他4月述职和9月现场分工中，可以看到这种能力与责任变化：他已经能够按客户层级和伙伴组织区分表达，也逐步承担巴西主要方案工作。这是员工自身努力、公司专业支持和持续实战培养共同形成的结果。</a:t>
            </a:r>
          </a:p>
          <a:p/>
          <a:p>
            <a:r>
              <a:t>同时，我也做了销售背景导入和现场人员变化时的接续。它们不是长期替代正式岗位，而是避免关键项目在衔接阶段断线。下一步应继续提高骨干独立性与主备能力，使组织不需要长期依赖个人高强度补位。</a:t>
            </a:r>
          </a:p>
          <a:p/>
          <a:p>
            <a:r>
              <a:t>【衔接】“队伍是否真正发挥作用，还要看具体项目产出。下面从埃及开始，展示团队在不同区域已经承担的关键工作。”</a:t>
            </a:r>
          </a:p>
          <a:p/>
          <a:p>
            <a:r>
              <a:t>【依据与归因（不上屏）】</a:t>
            </a:r>
          </a:p>
          <a:p>
            <a:r>
              <a:t>来源：S05、S07、S14、S19、S20、U02。徐唯4月述职明确提到带教、分层客户交流及材料目的，也直接提到陈昊承担较多销售性质工作。fileciteturn61file0L25-L30 fileciteturn61file0L64-L121 fileciteturn61file0L152-L164</a:t>
            </a:r>
          </a:p>
          <a:p/>
          <a:p>
            <a:r>
              <a:t>9月复盘明确主要方案工作交由徐唯、本人复核并转向总体与法财事项。fileciteturn61file1L360-L370</a:t>
            </a:r>
          </a:p>
          <a:p/>
          <a:p>
            <a:r>
              <a:t>不使用员工私事解释离场原因，不点名贬低其他销售，不把骨干的全部项目成绩记为本人独立完成。</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埃及ISD说明，咨询责任并不应在前期汇报或PoC演示后结束。我持续参与客户现状理解、现场信息导入和后续策略讨论，同时组织售前向交付的背景交接，让交付团队知道原来为什么这样设计、哪些内容客户曾经提出过、哪些仍存在差异。</a:t>
            </a:r>
          </a:p>
          <a:p/>
          <a:p>
            <a:r>
              <a:t>其中两个问题比较关键：一是原HLD并没有完全响应全部RFP内容，后续交付可能面临客户挑战；二是主合同签订形式和内容不充分明确，会影响讯飞与集成商合同的范围安排。我把这些问题在内部提前暴露，并参与合同初稿审核和专业团队讨论。</a:t>
            </a:r>
          </a:p>
          <a:p/>
          <a:p>
            <a:r>
              <a:t>这些工作不能直接量化为节省了多少损失，但可以明确证明，我们没有把材料交接当作责任终点，而是在持续帮助项目识别可能影响交付和合同的差异。这也是国际咨询支持经营结果的一个具体方式。</a:t>
            </a:r>
          </a:p>
          <a:p/>
          <a:p>
            <a:r>
              <a:t>【衔接】“除埃及这一较深的项目外，非洲其他国家的支撑已经形成语料、国别方案、RFI、概算和可研等不同类型产出。”</a:t>
            </a:r>
          </a:p>
          <a:p/>
          <a:p>
            <a:r>
              <a:t>【依据与归因（不上屏）】</a:t>
            </a:r>
          </a:p>
          <a:p>
            <a:r>
              <a:t>来源：S04、S07、S09—S12。客户调研与现场约束、售前交底及HLD差异、合同初稿审核和背靠背问题有明确周报记录。fileciteturn61file2L438-L442 fileciteturn59file1L75-L81 fileciteturn60file2L130-L132 fileciteturn60file4L202-L206</a:t>
            </a:r>
          </a:p>
          <a:p/>
          <a:p>
            <a:r>
              <a:t>本稿不将讨论过的出口或合规事项解释为最终法律结论，也不添加规避措施。没有正式合同、付款或验收记录支持的结果不计为已完成经营业绩。</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非洲多国的支撑，不能统一理解为把同一份方案发到不同国家。加纳需要先摸清本地语料和机构资源，埃塞需要围绕预算和范围与华为对齐，坦桑和肯尼亚当时更多处于概算、HLD与可研阶段。不同成熟度决定了咨询的工作重点也不同。</a:t>
            </a:r>
          </a:p>
          <a:p/>
          <a:p>
            <a:r>
              <a:t>我的主要作用是讨论调研和进入策略、把关关键材料、协调人员，并将巴西和其他项目已经形成的经验用于这些国家。例如加纳与巴西方案的基线拉通，是已有记录的实际复用，而不是未来才准备做的事情。</a:t>
            </a:r>
          </a:p>
          <a:p/>
          <a:p>
            <a:r>
              <a:t>这里不把每个机会都写成商业突破。已经形成的材料和阶段共识是实际产出；预算、客户决策和采购仍在推进的事项继续保持相应状态。这样既能展示全球支撑的工作量，也能体现投入深度和判断差异。</a:t>
            </a:r>
          </a:p>
          <a:p/>
          <a:p>
            <a:r>
              <a:t>【衔接】“在中东中亚，主要难点进一步集中到竞争策略、客户范围理解和交付条件，咨询需要参与哪些可以做、以什么范围做的判断。”</a:t>
            </a:r>
          </a:p>
          <a:p/>
          <a:p>
            <a:r>
              <a:t>【依据与归因（不上屏）】</a:t>
            </a:r>
          </a:p>
          <a:p>
            <a:r>
              <a:t>来源：S05、S06、S08、S11—S14。fileciteturn59file0L32-L38 fileciteturn61file3L482-L484 fileciteturn60file4L208-L214 fileciteturn59file4L221-L228</a:t>
            </a:r>
          </a:p>
          <a:p/>
          <a:p>
            <a:r>
              <a:t>不将“下一周准备LLD、计划去现场”转成已完成；SITA记录为付费PoC初步沟通，不能据此写已获得付款。对SCU等简称未在材料中完整明确的，不补写机构全称和隶属关系。</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中东中亚这部分，咨询价值比较集中地体现在判断和边界管理。IGNITE不是把客户标书逐项复制成我方承诺，而是分析哪些项无法满足、竞争态势如何、我们应以什么范围参与。KNG则有一个不同问题：我方HLD已经更新，但客户对范围的理解仍停留在旧版SoC，如果这个差异带入合同和交付，就可能产生争议。</a:t>
            </a:r>
          </a:p>
          <a:p/>
          <a:p>
            <a:r>
              <a:t>因此我除了安排咨询和审核材料，也需要与主责人员、产线和销售一起作策略及范围判断。对于沙特MOI这类受环境条件影响的PoC，我会如实呈现阻塞并组织处理，不把有工作投入当成已经验证成功。</a:t>
            </a:r>
          </a:p>
          <a:p/>
          <a:p>
            <a:r>
              <a:t>这些项目处于不同阶段，但共同反映了咨询的一个作用：在需求进入公司承诺之前，尽量把竞争、能力与交付条件讲清楚。</a:t>
            </a:r>
          </a:p>
          <a:p/>
          <a:p>
            <a:r>
              <a:t>【衔接】“东南亚的SDEC进一步体现了另一个问题：当讯飞被要求承担总集和多伙伴集成时，咨询必须同时关注方案匹配、责任和利润。”</a:t>
            </a:r>
          </a:p>
          <a:p/>
          <a:p>
            <a:r>
              <a:t>【依据与归因（不上屏）】</a:t>
            </a:r>
          </a:p>
          <a:p>
            <a:r>
              <a:t>来源：S05、S08、S10—S14。fileciteturn60file3L173-L179 fileciteturn59file2L110-L112 fileciteturn59file3L164-L187 fileciteturn59file4L230-L234</a:t>
            </a:r>
          </a:p>
          <a:p/>
          <a:p>
            <a:r>
              <a:t>不使用尚未核准的具体芯片代际、卡数和模型版本作“已交付能力”证明；材料中的数值仅作当时机会背景。客户最终确认、PoC恢复和技术适配完成均需另有证据。</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SDEC不是简单的一套应用方案。客户需求在变化，合作模式又要求讯飞考虑总集和其他伙伴集成，因此要同时处理产品匹配、交付责任和利润风险。我的工作包括与主责咨询讨论整体策略、组织内部对齐、推动员工助手等方案卡点处理，并协调伙伴承担整合工作。</a:t>
            </a:r>
          </a:p>
          <a:p/>
          <a:p>
            <a:r>
              <a:t>随后HLD完成，咨询赴现场沟通，范围进一步拆分。到八月，五个子项目的SoC已经提交客户，这是可以检查的具体产出。但客户商务和内部流程尚未结束，因此不把它写成已经签约。</a:t>
            </a:r>
          </a:p>
          <a:p/>
          <a:p>
            <a:r>
              <a:t>这个案例证明，咨询支撑不仅在于把功能写全，也在于判断公司以什么角色、什么范围参与，哪些责任和投入需要在正式承诺前明确。泰国和斯里兰卡等机会也按各自阶段处理，不简单复制同一个方案。</a:t>
            </a:r>
          </a:p>
          <a:p/>
          <a:p>
            <a:r>
              <a:t>【衔接】“这些区域案例的共同管理问题，是咨询资源有限，不能对所有线索同等投入。下一页说明我怎样参与投入取舍。”</a:t>
            </a:r>
          </a:p>
          <a:p/>
          <a:p>
            <a:r>
              <a:t>【依据与归因（不上屏）】</a:t>
            </a:r>
          </a:p>
          <a:p>
            <a:r>
              <a:t>来源：S07—S14。fileciteturn59file1L84-L86 fileciteturn60file2L133-L139 fileciteturn60file3L175-L179 fileciteturn59file4L217-L220 fileciteturn59file4L236-L239</a:t>
            </a:r>
          </a:p>
          <a:p/>
          <a:p>
            <a:r>
              <a:t>SDEC的利润风险“已识别”不等于“利润已经达标”。周报中“客户无意见”是某次方案沟通反馈，不扩展为最终采购或合同接受。</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队伍建设以后，另一个重要工作是控制资源投向。咨询不是响应越多越好，也不是把所有线索都推进到最详细的方案阶段。已有周报里，我明确提出减少对无预算、需求不清线索的低价值消耗，也与主责咨询讨论关闭或调整部分机会。</a:t>
            </a:r>
          </a:p>
          <a:p/>
          <a:p>
            <a:r>
              <a:t>对于条件不足的大项目，可以讨论更小的应用或培训切入；对于总集或非标准交付，则需要先审范围、成本和专业条件。这些判断的共同目的是，让团队当前的投入与机会成熟度匹配。</a:t>
            </a:r>
          </a:p>
          <a:p/>
          <a:p>
            <a:r>
              <a:t>我不把这些实践夸大为已经建立了完整分级体系，也没有用未经统计的数字说明节省了多少成本。但它能够证明，我在承担资源取舍责任，而不是只把需求分发给团队。</a:t>
            </a:r>
          </a:p>
          <a:p/>
          <a:p>
            <a:r>
              <a:t>【衔接】“除了决定资源投向，还要让已经投入的工作留下可复用成果。下一页汇报方案经验如何在国家和团队之间流动。”</a:t>
            </a:r>
          </a:p>
          <a:p/>
          <a:p>
            <a:r>
              <a:t>【依据与归因（不上屏）】</a:t>
            </a:r>
          </a:p>
          <a:p>
            <a:r>
              <a:t>来源：S05、S06、S08、S10、S12—S14。fileciteturn59file0L45-L50 fileciteturn61file3L485-L490 fileciteturn60file1L93-L101</a:t>
            </a:r>
          </a:p>
          <a:p/>
          <a:p>
            <a:r>
              <a:t>马来SAINS四月被列为需求不足，八月有报价对齐记录；这是不同时间状态，不据此说四月判断错误，也不把四月建议写成永久关闭。管理原则为对已有实践的归纳，不声称已正式制度化。</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国际咨询不能每到一个国家都完全重新组织一套材料。这段时间，我们已经有一些实际复用：加纳与巴西方案进行基线对齐，巴西和加纳的经验用于IGNITE讨论；埃及客户关于开闭源模型选择的问题，也被整理成团队使用的表达口径。</a:t>
            </a:r>
          </a:p>
          <a:p/>
          <a:p>
            <a:r>
              <a:t>同时，各项目的HLD、SoC、RFI和合同范围材料，正在形成可以相互参照的样例。我还参与了开源方案、三大中心国际版等内部讨论，把客户侧需求和实施约束带回研发与方案团队。</a:t>
            </a:r>
          </a:p>
          <a:p/>
          <a:p>
            <a:r>
              <a:t>这里的表述保持两个层次：已有复用和产品反馈是事实，不能全部放到未来计划里；但完整的版本管理和统一知识库尚未成熟，也不能把若干材料直接命名为已经建成的平台。后续需要让这些经验更可查、可复用、可更新。</a:t>
            </a:r>
          </a:p>
          <a:p/>
          <a:p>
            <a:r>
              <a:t>【衔接】“这些能力除了内部复用，也要通过伙伴和高层交流进入更多客户的认知。下一页汇报相关赋能与对外表达工作。”</a:t>
            </a:r>
          </a:p>
          <a:p/>
          <a:p>
            <a:r>
              <a:t>【依据与归因（不上屏）】</a:t>
            </a:r>
          </a:p>
          <a:p>
            <a:r>
              <a:t>来源：S03、S05、S08—S11、S14、S21。fileciteturn60file0L37-L43 fileciteturn59file0L23-L38 fileciteturn60file1L103-L107 fileciteturn60file3L180-L182</a:t>
            </a:r>
          </a:p>
          <a:p/>
          <a:p>
            <a:r>
              <a:t>2025年方案货架仅作为背景。已检索到但未逐份明确作者责任和客户使用的方案文件，不自动写为本人主笔。AI辅助Demo探索与AI Connection Demo并列呈现，不直接推定后者必然由前者生成，也不量化节约工时。</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这部分工作的价值，不在于参加了多少场活动或见了多少位客户，而在于能否针对对象组织合适的表达。面向政府高层，需要说明国家能力和业务价值；面向华为销售和方案团队，需要让他们理解讯飞能够提供什么、如何与算力和场景结合；面向企业客户，则需要把多条产品线组织成具体方案和演示。</a:t>
            </a:r>
          </a:p>
          <a:p/>
          <a:p>
            <a:r>
              <a:t>这段时间，我参与和组织了相关圆桌分享、区域赋能和高层接待，也承担了金光集团大模型板块的跨产线协调。不同活动中，有的是我亲自汇报，有的是主责咨询或产线承担，我负责目标、内容和资源衔接。</a:t>
            </a:r>
          </a:p>
          <a:p/>
          <a:p>
            <a:r>
              <a:t>这些工作形成了客户与伙伴认知和后续沟通输入，但不把活动数量直接等同于签单成果。重要的是让每次外部投入服务明确的业务事项。</a:t>
            </a:r>
          </a:p>
          <a:p/>
          <a:p>
            <a:r>
              <a:t>【衔接】“要让这些工作不长期依赖临时组织，内部还需要共同的协同和复盘方式。下面说明已经开展的实践及其当前成熟度。”</a:t>
            </a:r>
          </a:p>
          <a:p/>
          <a:p>
            <a:r>
              <a:t>【依据与归因（不上屏）】</a:t>
            </a:r>
          </a:p>
          <a:p>
            <a:r>
              <a:t>来源：S03、S05—S08、S13—S14。fileciteturn60file0L46-L55 fileciteturn61file3L466-L481 fileciteturn59file3L179-L187 fileciteturn59file4L221-L224</a:t>
            </a:r>
          </a:p>
          <a:p/>
          <a:p>
            <a:r>
              <a:t>MGI来访资料中职级表述不一致，正文统一“MGI高层”，不用未经确认的部长／副部长称谓。活动与项目台账存在同一事件交叉引用，不重复累计为独立业绩。11月部长拟访华、华为拉美高层拟赴合肥为后续安排，不列为已完成活动。</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组织建设除了人，还包括共同工作方法。我们已经开展过集中办公、常态辅导和具体项目当面评审，也处理过销售、咨询和后端资源之间的信息与接口问题。LTC协同和作战地图梳理中，我从咨询侧提出了实际诉求，并参与了宣贯。</a:t>
            </a:r>
          </a:p>
          <a:p/>
          <a:p>
            <a:r>
              <a:t>这些动作的意义是把日常协作问题逐步转为可以复盘和共同执行的方式，而不是每次都临时找人、重新解释。对于AI辅助Demo，我推动了探索和试点，希望咨询能更直接地把场景呈现出来；但目前还没有统一数据支持提效幅度，所以不会写具体效率提升数字。</a:t>
            </a:r>
          </a:p>
          <a:p/>
          <a:p>
            <a:r>
              <a:t>整体上，已有实践是事实，不能全部放成未来计划；但这些实践仍需要更稳定的执行、记录和复用，这是下一阶段要继续做的。</a:t>
            </a:r>
          </a:p>
          <a:p/>
          <a:p>
            <a:r>
              <a:t>【衔接】“前面两条线已经形成阶段成果，也暴露出一些经营和组织上的问题。下面分别说明当前状态、我能改进的工作和外部依赖。”</a:t>
            </a:r>
          </a:p>
          <a:p/>
          <a:p>
            <a:r>
              <a:t>【依据与归因（不上屏）】</a:t>
            </a:r>
          </a:p>
          <a:p>
            <a:r>
              <a:t>来源：S03、S07—S10。fileciteturn60file0L59-L64 fileciteturn59file1L87-L87 fileciteturn60file1L108-L108 fileciteturn60file2L142-L144 fileciteturn60file3L180-L182</a:t>
            </a:r>
          </a:p>
          <a:p/>
          <a:p>
            <a:r>
              <a:t>资料中LTC、LTO、L2C有不同写法，正文可统一使用中文“商机至合同／交付协同工作”，不推定它们是三套已正式生效制度。每月两次辅导为阶段记录，不自动扩展为任期所有月份全部达成。</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主讲1分钟。把两条线的案例收回四类角色，回应模板“各项展开述职”的要求：完成较好的原因与关键举措在中列，可完善之处在右列；没有良好完成的原因与改进见下一页。</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目前需要正视两类问题。第一是经营闭环仍未完成。RNP和SERPRO已经有阶段成果，但合同、回款、最终验收不能用过程工作替代。部分事项确实受客户、政府和伙伴影响，但我的责任是尽量把我方前提更早做实，把外部依赖及时暴露和升级，而不是因为不可控就停止管理。</a:t>
            </a:r>
          </a:p>
          <a:p/>
          <a:p>
            <a:r>
              <a:t>第二是组织承接仍有不足。虽然骨干在成长，部分关键背景和判断依然集中于少数人。如果长期靠个人高强度补位，会影响稳定性，也会挤占方法沉淀和育人时间。下一阶段需要把主备、材料版本、成果状态和授权边界做得更清楚。</a:t>
            </a:r>
          </a:p>
          <a:p/>
          <a:p>
            <a:r>
              <a:t>这些改进不是否定已有成果，而是从当前实践中识别下一阶段的约束，让结果能够更稳定地持续产生。</a:t>
            </a:r>
          </a:p>
          <a:p/>
          <a:p>
            <a:r>
              <a:t>【衔接】“下一阶段计划沿两条主线展开，先说明巴西项目如何从阶段突破继续走向正式合同和应用验收。”</a:t>
            </a:r>
          </a:p>
          <a:p/>
          <a:p>
            <a:r>
              <a:t>【依据与归因（不上屏）】</a:t>
            </a:r>
          </a:p>
          <a:p>
            <a:r>
              <a:t>来源：前述项目与团队记录；具体改进举措属于建议性计划和管理归纳。S13—S14明确客户确认、云资源、范围与采购等依赖。fileciteturn59file3L151-L172 fileciteturn59file4L212-L220</a:t>
            </a:r>
          </a:p>
          <a:p/>
          <a:p>
            <a:r>
              <a:t>不将周报文件重复作为管理缺陷证据，不根据资料不齐认定用户没有实施某机制。“成果跟踪需要更统一”是下一阶段建议，不声称已查证公司完全没有现行台账。</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巴西下一阶段的重点是把已经形成的合作和技术成果继续落实到合同、应用验收和履约条件。我会持续统筹我方材料与待决事项，让方案、报价、责任和付款安排保持一致；同时跟进政府支持文件、资金和客户程序，但不对不受我方控制的日期作无条件承诺。</a:t>
            </a:r>
          </a:p>
          <a:p/>
          <a:p>
            <a:r>
              <a:t>本地实体要与实际合同范围衔接，不能只追求注册完成。交付也需要在签约前尽量明确客户数据、算力、人员和培训条件。SERPRO则继续围绕最终业务确认、部署测试、验收与采购同步推进。</a:t>
            </a:r>
          </a:p>
          <a:p/>
          <a:p>
            <a:r>
              <a:t>我需要的主要是关键节点的专业资源与明确接口，让本人能够对整体节奏持续负责，各专业部门对自己的判断和交付负责，避免关键问题反复在部门之间传递。</a:t>
            </a:r>
          </a:p>
          <a:p/>
          <a:p>
            <a:r>
              <a:t>【衔接】“巴西继续做实的同时，国际咨询侧需要提升骨干独立承接与重点机会推进效率，避免所有问题持续集中到少数人身上。”</a:t>
            </a:r>
          </a:p>
          <a:p/>
          <a:p>
            <a:r>
              <a:t>【依据与归因（不上屏）】</a:t>
            </a:r>
          </a:p>
          <a:p>
            <a:r>
              <a:t>来源：S13—S19、U01；本页为下一阶段建议计划。所列交付物是拟推进结果，不代表均已形成或已获客户确认。政府支持文件不代替正式采购；已讨论的本地注册和开票要求须按专业团队最终核定执行。</a:t>
            </a:r>
          </a:p>
          <a:p/>
          <a:p>
            <a:r>
              <a:t>若保留“9月签约”表述，应写“共同冲刺目标，具体取决于客户审批和前置条件”，不能将其写成承诺日期。所有角色分工、人员预算与新授权均待组织确认。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国际咨询下一阶段，重点不是单纯增加人数或覆盖更多国家，而是让重点机会得到稳定支撑。首先要把主责和备份做清楚，让骨干能独立承担更多任务；其次要按客户预算、决策阶段和我方能力配置投入，不对所有线索同等深入。</a:t>
            </a:r>
          </a:p>
          <a:p/>
          <a:p>
            <a:r>
              <a:t>对于非标准或高风险承诺，需要让相关专业部门更早介入。材料和案例方面，也要从已有复用实践进一步形成可维护的版本和责任，而不只是建一个文件夹。</a:t>
            </a:r>
          </a:p>
          <a:p/>
          <a:p>
            <a:r>
              <a:t>效果评价上，我建议更多看客户确认、材料采用、问题关闭和阶段变化。文件数量和活动次数仍可记录，但不能替代业务结果。具体目标会结合部门任务确认，避免在没有基线的情况下承诺不合理的转化率或效率提升。</a:t>
            </a:r>
          </a:p>
          <a:p/>
          <a:p>
            <a:r>
              <a:t>【衔接】“要推动这些计划，我个人也需要继续提升经营判断、授权和跨组织协同方式。”</a:t>
            </a:r>
          </a:p>
          <a:p/>
          <a:p>
            <a:r>
              <a:t>【依据与归因（不上屏）】</a:t>
            </a:r>
          </a:p>
          <a:p>
            <a:r>
              <a:t>本页为基于S03—S14及S19—S20形成的组织建议，不宣称上述机制均已建立或已获批准。建议检验项不是现有公司强制KPI，也不保证单凭咨询工作即可完成销售转化。</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个人发展方面，我重点放在三个方向。第一是经营判断，不只看方案能否实现，还要更系统地判断范围、成本、付款和风险。第二是授权与育人，继续让骨干承担真实责任，同时保留必要的关键把关。第三是跨组织协同，把反复出现的问题转为更清楚的材料、接口和决策安排。</a:t>
            </a:r>
          </a:p>
          <a:p/>
          <a:p>
            <a:r>
              <a:t>我希望保留关键客户问题能够亲自上场的能力，但不能长期只靠这种方式维持全部结果。下一阶段更需要让组织稳定承接，让我的投入集中在最有价值的判断和协调上。</a:t>
            </a:r>
          </a:p>
          <a:p/>
          <a:p>
            <a:r>
              <a:t>【衔接】“课程学习按模板单独自检，正式汇报前以学习平台记录补齐。”</a:t>
            </a:r>
          </a:p>
          <a:p/>
          <a:p>
            <a:r>
              <a:t>【依据与归因（不上屏）】</a:t>
            </a:r>
          </a:p>
          <a:p>
            <a:r>
              <a:t>本页为个人发展建议，非既有完成成果。模板要求发展目标与关键举措不超过三项。fileciteturn58file2L80-L84</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这一页按照干部学习平台逐项自检，已完成和仍需补齐的课程分别列示，考试结果以平台记录为准。正式汇报时，我会根据实际情况说明完成状态和后续安排，不以参加过一次培训替代全部课程完成。</a:t>
            </a:r>
          </a:p>
          <a:p/>
          <a:p>
            <a:r>
              <a:t>【衔接】“最后，结合这段时间的项目和队伍实践，对组织机制提出三点建议。”</a:t>
            </a:r>
          </a:p>
          <a:p/>
          <a:p>
            <a:r>
              <a:t>【依据与归因（不上屏）】</a:t>
            </a:r>
          </a:p>
          <a:p>
            <a:r>
              <a:t>来源：S01、S08。模板明确要求课程及考试结果；周报只支持参与干部培训，不支持具体课程通过。fileciteturn58file2L88-L96 fileciteturn60file1L108-L108</a:t>
            </a:r>
          </a:p>
          <a:p/>
          <a:p>
            <a:r>
              <a:t>本页为本文件少数必要待填页之一。没有事实来源的内容必须保留待填，不为了“完整”自行生成。</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【讲述稿】</a:t>
            </a:r>
          </a:p>
          <a:p>
            <a:r>
              <a:t>结合这段时间的实践，我有三点建议。第一，重大项目需要有持续总体负责人，也需要明确专业责任和决策接口。总体负责不能变成所有事情都由一个人做，专业分工也不能造成问题无人承接。</a:t>
            </a:r>
          </a:p>
          <a:p/>
          <a:p>
            <a:r>
              <a:t>第二，出海的法财、本地实体、用工和伙伴合同问题，应在项目达到一定成熟度时前置处理。巴西已经形成的经验可以作为后续项目的输入，但不能简单把一个国家的结论直接复制到另一个国家。</a:t>
            </a:r>
          </a:p>
          <a:p/>
          <a:p>
            <a:r>
              <a:t>第三，咨询资源需要与机会成熟度匹配，同时保障重点现场的主备和轮换。建议先在重点项目中把这些安排跑通，再按复盘结果逐步推广，让流程真正服务业务，而不是增加形式负担。</a:t>
            </a:r>
          </a:p>
          <a:p/>
          <a:p>
            <a:r>
              <a:t>【衔接】“最后用一页回到本次述职的核心：实际成果、本人作用以及下一阶段仍需承担的责任。”</a:t>
            </a:r>
          </a:p>
          <a:p/>
          <a:p>
            <a:r>
              <a:t>【依据与归因（不上屏）】</a:t>
            </a:r>
          </a:p>
          <a:p>
            <a:r>
              <a:t>本页为组织建议，不是已批准制度或本人新增授权。问题来源于S05、S07—S14、S18—S19；驻外保障诉求在4月周报有记录。fileciteturn59file0L16-L31</a:t>
            </a:r>
          </a:p>
          <a:p/>
          <a:p>
            <a:r>
              <a:t>相关建议强调总体责任、专业分工和组织效率，不评价其他干部个人能力，也不将长期组织设计作为此次转正必然结果。</a:t>
            </a:r>
          </a:p>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6" name="矩形 5"/>
          <p:cNvSpPr/>
          <p:nvPr userDrawn="1"/>
        </p:nvSpPr>
        <p:spPr>
          <a:xfrm>
            <a:off x="0" y="0"/>
            <a:ext cx="12192000" cy="6858000"/>
          </a:xfrm>
          <a:prstGeom prst="rect">
            <a:avLst/>
          </a:prstGeom>
          <a:solidFill>
            <a:schemeClr val="bg1"/>
          </a:solidFill>
          <a:ln w="203200">
            <a:solidFill>
              <a:srgbClr val="0C4BA1"/>
            </a:solidFill>
            <a:miter lim="800000"/>
          </a:ln>
        </p:spPr>
        <p:style>
          <a:lnRef idx="2">
            <a:schemeClr val="dk1"/>
          </a:lnRef>
          <a:fillRef idx="1">
            <a:schemeClr val="lt1"/>
          </a:fillRef>
          <a:effectRef idx="0">
            <a:schemeClr val="dk1"/>
          </a:effectRef>
          <a:fontRef idx="minor">
            <a:schemeClr val="dk1"/>
          </a:fontRef>
        </p:style>
        <p:txBody>
          <a:bodyPr lIns="91436" tIns="45718" rIns="91436" bIns="45718" rtlCol="0" anchor="ctr"/>
          <a:lstStyle/>
          <a:p>
            <a:pPr marL="0" indent="1270" algn="ctr">
              <a:lnSpc>
                <a:spcPct val="150000"/>
              </a:lnSpc>
            </a:pPr>
            <a:endParaRPr lang="zh-CN" altLang="en-US" sz="2105" dirty="0">
              <a:solidFill>
                <a:srgbClr val="FFFFFF"/>
              </a:solidFill>
              <a:latin typeface="+mn-ea"/>
            </a:endParaRPr>
          </a:p>
        </p:txBody>
      </p:sp>
      <p:pic>
        <p:nvPicPr>
          <p:cNvPr id="4" name="图片 3"/>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40000"/>
                    </a14:imgEffect>
                    <a14:imgEffect>
                      <a14:colorTemperature colorTemp="5300"/>
                    </a14:imgEffect>
                    <a14:imgEffect>
                      <a14:saturation sat="400000"/>
                    </a14:imgEffect>
                  </a14:imgLayer>
                </a14:imgProps>
              </a:ext>
            </a:extLst>
          </a:blip>
          <a:stretch>
            <a:fillRect/>
          </a:stretch>
        </p:blipFill>
        <p:spPr>
          <a:xfrm>
            <a:off x="9280281" y="6035042"/>
            <a:ext cx="2484707" cy="569742"/>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4" name="内容占位符 2"/>
          <p:cNvSpPr>
            <a:spLocks noGrp="1"/>
          </p:cNvSpPr>
          <p:nvPr>
            <p:ph sz="quarter" idx="11"/>
          </p:nvPr>
        </p:nvSpPr>
        <p:spPr>
          <a:xfrm>
            <a:off x="363175" y="1252026"/>
            <a:ext cx="11547472" cy="5189718"/>
          </a:xfrm>
          <a:prstGeom prst="rect">
            <a:avLst/>
          </a:prstGeom>
        </p:spPr>
        <p:txBody>
          <a:bodyPr/>
          <a:lstStyle>
            <a:lvl1pPr marL="0" indent="0">
              <a:lnSpc>
                <a:spcPct val="150000"/>
              </a:lnSpc>
              <a:buNone/>
              <a:defRPr sz="1600">
                <a:latin typeface="+mn-ea"/>
                <a:ea typeface="+mn-ea"/>
              </a:defRPr>
            </a:lvl1pPr>
            <a:lvl2pPr marL="408305" indent="0">
              <a:lnSpc>
                <a:spcPct val="150000"/>
              </a:lnSpc>
              <a:buNone/>
              <a:defRPr sz="1050">
                <a:latin typeface="+mn-ea"/>
                <a:ea typeface="+mn-ea"/>
              </a:defRPr>
            </a:lvl2pPr>
            <a:lvl3pPr marL="816610" indent="0">
              <a:lnSpc>
                <a:spcPct val="150000"/>
              </a:lnSpc>
              <a:buNone/>
              <a:defRPr sz="1050">
                <a:latin typeface="+mn-ea"/>
                <a:ea typeface="+mn-ea"/>
              </a:defRPr>
            </a:lvl3pPr>
            <a:lvl4pPr marL="1224280" indent="0">
              <a:lnSpc>
                <a:spcPct val="150000"/>
              </a:lnSpc>
              <a:buNone/>
              <a:defRPr sz="1050">
                <a:latin typeface="+mn-ea"/>
                <a:ea typeface="+mn-ea"/>
              </a:defRPr>
            </a:lvl4pPr>
            <a:lvl5pPr marL="1632585" indent="0">
              <a:lnSpc>
                <a:spcPct val="150000"/>
              </a:lnSpc>
              <a:buNone/>
              <a:defRPr sz="1050">
                <a:latin typeface="+mn-ea"/>
                <a:ea typeface="+mn-ea"/>
              </a:defRPr>
            </a:lvl5pPr>
          </a:lstStyle>
          <a:p>
            <a:pPr lvl="0"/>
            <a:r>
              <a:rPr kumimoji="1" lang="zh-CN" altLang="en-US" dirty="0"/>
              <a:t>单击此处编辑母版文本样式</a:t>
            </a:r>
          </a:p>
        </p:txBody>
      </p:sp>
      <p:cxnSp>
        <p:nvCxnSpPr>
          <p:cNvPr id="5" name="直线连接符 4"/>
          <p:cNvCxnSpPr/>
          <p:nvPr userDrawn="1"/>
        </p:nvCxnSpPr>
        <p:spPr bwMode="auto">
          <a:xfrm>
            <a:off x="372143" y="409961"/>
            <a:ext cx="0" cy="601147"/>
          </a:xfrm>
          <a:prstGeom prst="line">
            <a:avLst/>
          </a:prstGeom>
          <a:noFill/>
          <a:ln w="57150" cap="flat" cmpd="sng" algn="ctr">
            <a:solidFill>
              <a:srgbClr val="0C4BA1"/>
            </a:solidFill>
            <a:prstDash val="solid"/>
            <a:round/>
            <a:headEnd type="none" w="med" len="med"/>
            <a:tailEnd type="none" w="med" len="med"/>
          </a:ln>
          <a:effectLst/>
        </p:spPr>
      </p:cxnSp>
      <p:sp>
        <p:nvSpPr>
          <p:cNvPr id="6" name="标题 5"/>
          <p:cNvSpPr>
            <a:spLocks noGrp="1"/>
          </p:cNvSpPr>
          <p:nvPr>
            <p:ph type="title"/>
          </p:nvPr>
        </p:nvSpPr>
        <p:spPr>
          <a:xfrm>
            <a:off x="475719" y="409961"/>
            <a:ext cx="11434928" cy="601147"/>
          </a:xfrm>
          <a:prstGeom prst="rect">
            <a:avLst/>
          </a:prstGeom>
          <a:noFill/>
          <a:ln>
            <a:noFill/>
          </a:ln>
        </p:spPr>
        <p:txBody>
          <a:bodyPr anchor="ctr" anchorCtr="0"/>
          <a:lstStyle>
            <a:lvl1pPr>
              <a:defRPr sz="2800">
                <a:solidFill>
                  <a:srgbClr val="0C4BA1"/>
                </a:solidFill>
              </a:defRPr>
            </a:lvl1pPr>
          </a:lstStyle>
          <a:p>
            <a:r>
              <a:rPr kumimoji="1" lang="zh-CN" altLang="en-US" dirty="0"/>
              <a:t>单击此处编辑母版标题样式</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cxnSp>
        <p:nvCxnSpPr>
          <p:cNvPr id="9" name="直线连接符 8"/>
          <p:cNvCxnSpPr/>
          <p:nvPr userDrawn="1"/>
        </p:nvCxnSpPr>
        <p:spPr bwMode="auto">
          <a:xfrm>
            <a:off x="303271" y="214967"/>
            <a:ext cx="0" cy="749306"/>
          </a:xfrm>
          <a:prstGeom prst="line">
            <a:avLst/>
          </a:prstGeom>
          <a:noFill/>
          <a:ln w="12700" cap="flat" cmpd="sng" algn="ctr">
            <a:solidFill>
              <a:srgbClr val="0C4BA1"/>
            </a:solidFill>
            <a:prstDash val="solid"/>
            <a:round/>
            <a:headEnd type="none" w="med" len="med"/>
            <a:tailEnd type="none" w="med" len="med"/>
          </a:ln>
          <a:effectLst/>
        </p:spPr>
      </p:cxnSp>
      <p:sp>
        <p:nvSpPr>
          <p:cNvPr id="10" name="标题 5"/>
          <p:cNvSpPr>
            <a:spLocks noGrp="1"/>
          </p:cNvSpPr>
          <p:nvPr>
            <p:ph type="title"/>
          </p:nvPr>
        </p:nvSpPr>
        <p:spPr>
          <a:xfrm>
            <a:off x="303271" y="487968"/>
            <a:ext cx="10515600" cy="476305"/>
          </a:xfrm>
          <a:prstGeom prst="rect">
            <a:avLst/>
          </a:prstGeom>
          <a:noFill/>
          <a:ln>
            <a:noFill/>
          </a:ln>
        </p:spPr>
        <p:txBody>
          <a:bodyPr anchor="ctr" anchorCtr="0">
            <a:normAutofit/>
          </a:bodyPr>
          <a:lstStyle>
            <a:lvl1pPr>
              <a:defRPr sz="2000" b="1">
                <a:solidFill>
                  <a:srgbClr val="0C4BA1"/>
                </a:solidFill>
                <a:latin typeface="微软雅黑" panose="020B0503020204020204" charset="-122"/>
                <a:ea typeface="微软雅黑" panose="020B0503020204020204" charset="-122"/>
              </a:defRPr>
            </a:lvl1pPr>
          </a:lstStyle>
          <a:p>
            <a:r>
              <a:rPr kumimoji="1" lang="zh-CN" altLang="en-US" dirty="0" smtClean="0"/>
              <a:t>单击此处编辑母版标题样式</a:t>
            </a:r>
            <a:endParaRPr kumimoji="1" lang="zh-CN" altLang="en-US" dirty="0"/>
          </a:p>
        </p:txBody>
      </p:sp>
      <p:sp>
        <p:nvSpPr>
          <p:cNvPr id="11" name="文本占位符 17"/>
          <p:cNvSpPr>
            <a:spLocks noGrp="1"/>
          </p:cNvSpPr>
          <p:nvPr>
            <p:ph type="body" sz="quarter" idx="10"/>
          </p:nvPr>
        </p:nvSpPr>
        <p:spPr>
          <a:xfrm>
            <a:off x="286645" y="160902"/>
            <a:ext cx="4659428" cy="335378"/>
          </a:xfrm>
          <a:prstGeom prst="rect">
            <a:avLst/>
          </a:prstGeom>
          <a:solidFill>
            <a:srgbClr val="0C4BA1"/>
          </a:solidFill>
          <a:ln>
            <a:noFill/>
          </a:ln>
        </p:spPr>
        <p:txBody>
          <a:bodyPr vert="horz" wrap="square" anchor="ctr" anchorCtr="0">
            <a:noAutofit/>
          </a:bodyPr>
          <a:lstStyle>
            <a:lvl1pPr marL="0" indent="0">
              <a:buNone/>
              <a:defRPr sz="1400" b="1">
                <a:solidFill>
                  <a:schemeClr val="bg1"/>
                </a:solidFill>
                <a:latin typeface="微软雅黑" panose="020B0503020204020204" charset="-122"/>
                <a:ea typeface="微软雅黑" panose="020B0503020204020204" charset="-122"/>
              </a:defRPr>
            </a:lvl1pPr>
          </a:lstStyle>
          <a:p>
            <a:pPr marL="228600" marR="0" lvl="0" indent="-228600" algn="l" defTabSz="610870" rtl="0" eaLnBrk="0" fontAlgn="base" latinLnBrk="0" hangingPunct="0">
              <a:lnSpc>
                <a:spcPct val="100000"/>
              </a:lnSpc>
              <a:spcBef>
                <a:spcPct val="20000"/>
              </a:spcBef>
              <a:spcAft>
                <a:spcPct val="0"/>
              </a:spcAft>
              <a:buClrTx/>
              <a:buSzTx/>
              <a:defRPr/>
            </a:pPr>
            <a:endParaRPr kumimoji="1" lang="zh-CN" altLang="en-US" dirty="0"/>
          </a:p>
        </p:txBody>
      </p:sp>
      <p:sp>
        <p:nvSpPr>
          <p:cNvPr id="12" name="内容占位符 2"/>
          <p:cNvSpPr>
            <a:spLocks noGrp="1"/>
          </p:cNvSpPr>
          <p:nvPr>
            <p:ph sz="quarter" idx="11"/>
          </p:nvPr>
        </p:nvSpPr>
        <p:spPr>
          <a:xfrm>
            <a:off x="303271" y="1097431"/>
            <a:ext cx="11607378" cy="5490726"/>
          </a:xfrm>
          <a:prstGeom prst="rect">
            <a:avLst/>
          </a:prstGeom>
        </p:spPr>
        <p:txBody>
          <a:bodyPr>
            <a:normAutofit/>
          </a:bodyPr>
          <a:lstStyle>
            <a:lvl1pPr marL="0" indent="0">
              <a:lnSpc>
                <a:spcPct val="150000"/>
              </a:lnSpc>
              <a:buNone/>
              <a:defRPr sz="2000">
                <a:latin typeface="微软雅黑" panose="020B0503020204020204" charset="-122"/>
                <a:ea typeface="微软雅黑" panose="020B0503020204020204" charset="-122"/>
              </a:defRPr>
            </a:lvl1pPr>
            <a:lvl2pPr marL="306070" indent="0">
              <a:lnSpc>
                <a:spcPct val="150000"/>
              </a:lnSpc>
              <a:buNone/>
              <a:defRPr sz="790">
                <a:latin typeface="+mn-ea"/>
                <a:ea typeface="+mn-ea"/>
              </a:defRPr>
            </a:lvl2pPr>
            <a:lvl3pPr marL="612775" indent="0">
              <a:lnSpc>
                <a:spcPct val="150000"/>
              </a:lnSpc>
              <a:buNone/>
              <a:defRPr sz="790">
                <a:latin typeface="+mn-ea"/>
                <a:ea typeface="+mn-ea"/>
              </a:defRPr>
            </a:lvl3pPr>
            <a:lvl4pPr marL="918210" indent="0">
              <a:lnSpc>
                <a:spcPct val="150000"/>
              </a:lnSpc>
              <a:buNone/>
              <a:defRPr sz="790">
                <a:latin typeface="+mn-ea"/>
                <a:ea typeface="+mn-ea"/>
              </a:defRPr>
            </a:lvl4pPr>
            <a:lvl5pPr marL="1224280" indent="0">
              <a:lnSpc>
                <a:spcPct val="150000"/>
              </a:lnSpc>
              <a:buNone/>
              <a:defRPr sz="790">
                <a:latin typeface="+mn-ea"/>
                <a:ea typeface="+mn-ea"/>
              </a:defRPr>
            </a:lvl5pPr>
          </a:lstStyle>
          <a:p>
            <a:pPr lvl="0"/>
            <a:r>
              <a:rPr kumimoji="1" lang="zh-CN" altLang="en-US" dirty="0" smtClean="0"/>
              <a:t>单击此处编辑母版文本样式</a:t>
            </a:r>
          </a:p>
        </p:txBody>
      </p:sp>
      <p:sp>
        <p:nvSpPr>
          <p:cNvPr id="2" name="灯片编号占位符 1"/>
          <p:cNvSpPr>
            <a:spLocks noGrp="1"/>
          </p:cNvSpPr>
          <p:nvPr>
            <p:ph type="sldNum" sz="quarter" idx="12"/>
          </p:nvPr>
        </p:nvSpPr>
        <p:spPr>
          <a:xfrm>
            <a:off x="9228909" y="6473916"/>
            <a:ext cx="2743200" cy="365125"/>
          </a:xfrm>
        </p:spPr>
        <p:txBody>
          <a:bodyPr/>
          <a:lstStyle/>
          <a:p>
            <a:fld id="{0F28217F-644D-4A0A-AEE9-46C265F22BEC}" type="slidenum">
              <a:rPr lang="zh-CN" altLang="en-US" smtClean="0"/>
              <a:t>‹#›</a:t>
            </a:fld>
            <a:endParaRPr lang="zh-CN" altLang="en-US"/>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cxnSp>
        <p:nvCxnSpPr>
          <p:cNvPr id="9" name="直线连接符 8"/>
          <p:cNvCxnSpPr/>
          <p:nvPr userDrawn="1"/>
        </p:nvCxnSpPr>
        <p:spPr bwMode="auto">
          <a:xfrm>
            <a:off x="296671" y="260219"/>
            <a:ext cx="2584" cy="626836"/>
          </a:xfrm>
          <a:prstGeom prst="line">
            <a:avLst/>
          </a:prstGeom>
          <a:noFill/>
          <a:ln w="76200" cap="flat" cmpd="sng" algn="ctr">
            <a:solidFill>
              <a:srgbClr val="0C4BA1"/>
            </a:solidFill>
            <a:prstDash val="solid"/>
            <a:round/>
            <a:headEnd type="none" w="med" len="med"/>
            <a:tailEnd type="none" w="med" len="med"/>
          </a:ln>
          <a:effectLst/>
        </p:spPr>
      </p:cxnSp>
      <p:sp>
        <p:nvSpPr>
          <p:cNvPr id="10" name="标题 5"/>
          <p:cNvSpPr>
            <a:spLocks noGrp="1"/>
          </p:cNvSpPr>
          <p:nvPr>
            <p:ph type="title"/>
          </p:nvPr>
        </p:nvSpPr>
        <p:spPr>
          <a:xfrm>
            <a:off x="479548" y="273064"/>
            <a:ext cx="11357995" cy="601147"/>
          </a:xfrm>
          <a:prstGeom prst="rect">
            <a:avLst/>
          </a:prstGeom>
          <a:noFill/>
          <a:ln>
            <a:noFill/>
          </a:ln>
        </p:spPr>
        <p:txBody>
          <a:bodyPr anchor="ctr" anchorCtr="0">
            <a:normAutofit/>
          </a:bodyPr>
          <a:lstStyle>
            <a:lvl1pPr>
              <a:defRPr sz="2400" b="1">
                <a:solidFill>
                  <a:srgbClr val="0C4BA1"/>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12" name="内容占位符 2"/>
          <p:cNvSpPr>
            <a:spLocks noGrp="1"/>
          </p:cNvSpPr>
          <p:nvPr>
            <p:ph sz="quarter" idx="11"/>
          </p:nvPr>
        </p:nvSpPr>
        <p:spPr>
          <a:xfrm>
            <a:off x="285772" y="1091306"/>
            <a:ext cx="11557497" cy="5683566"/>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000">
                <a:latin typeface="微软雅黑" panose="020B0503020204020204" pitchFamily="34" charset="-122"/>
                <a:ea typeface="微软雅黑" panose="020B0503020204020204" pitchFamily="34" charset="-122"/>
              </a:defRPr>
            </a:lvl1pPr>
            <a:lvl2pPr marL="306288"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atin typeface="微软雅黑" panose="020B0503020204020204" pitchFamily="34" charset="-122"/>
                <a:ea typeface="微软雅黑" panose="020B0503020204020204" pitchFamily="34" charset="-122"/>
              </a:defRPr>
            </a:lvl2pPr>
            <a:lvl3pPr marL="612577" indent="0">
              <a:lnSpc>
                <a:spcPct val="150000"/>
              </a:lnSpc>
              <a:buNone/>
              <a:defRPr sz="1200">
                <a:latin typeface="微软雅黑" panose="020B0503020204020204" pitchFamily="34" charset="-122"/>
                <a:ea typeface="微软雅黑" panose="020B0503020204020204" pitchFamily="34" charset="-122"/>
              </a:defRPr>
            </a:lvl3pPr>
            <a:lvl4pPr marL="917972" indent="0">
              <a:lnSpc>
                <a:spcPct val="150000"/>
              </a:lnSpc>
              <a:buNone/>
              <a:defRPr sz="788">
                <a:latin typeface="+mn-ea"/>
                <a:ea typeface="+mn-ea"/>
              </a:defRPr>
            </a:lvl4pPr>
            <a:lvl5pPr marL="1224260" indent="0">
              <a:lnSpc>
                <a:spcPct val="150000"/>
              </a:lnSpc>
              <a:buNone/>
              <a:defRPr sz="788">
                <a:latin typeface="+mn-ea"/>
                <a:ea typeface="+mn-ea"/>
              </a:defRPr>
            </a:lvl5pPr>
          </a:lstStyle>
          <a:p>
            <a:pPr lvl="0"/>
            <a:r>
              <a:rPr kumimoji="1" lang="zh-CN" altLang="en-US" dirty="0"/>
              <a:t>单击此处编辑母版文本样式</a:t>
            </a:r>
            <a:endParaRPr kumimoji="1" lang="en-US" altLang="zh-CN" dirty="0"/>
          </a:p>
          <a:p>
            <a:pPr marL="306288" marR="0" lvl="1"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dirty="0"/>
              <a:t>单击此处编辑母版文本样式</a:t>
            </a:r>
            <a:endParaRPr kumimoji="1" lang="en-US" altLang="zh-CN" dirty="0"/>
          </a:p>
          <a:p>
            <a:pPr marL="612577" marR="0" lvl="2"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1" lang="zh-CN" altLang="en-US" dirty="0"/>
              <a:t>单击此处编辑母版文本样式</a:t>
            </a:r>
            <a:endParaRPr kumimoji="1" lang="en-US" altLang="zh-CN" dirty="0"/>
          </a:p>
          <a:p>
            <a:pPr marL="306288" marR="0" lvl="1"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1" lang="en-US" altLang="zh-CN" dirty="0"/>
          </a:p>
          <a:p>
            <a:pPr lvl="0"/>
            <a:endParaRPr kumimoji="1" lang="zh-CN" altLang="en-US" dirty="0"/>
          </a:p>
        </p:txBody>
      </p:sp>
      <p:cxnSp>
        <p:nvCxnSpPr>
          <p:cNvPr id="7" name="直线连接符 8"/>
          <p:cNvCxnSpPr/>
          <p:nvPr userDrawn="1"/>
        </p:nvCxnSpPr>
        <p:spPr bwMode="auto">
          <a:xfrm>
            <a:off x="388110" y="260219"/>
            <a:ext cx="2584" cy="626836"/>
          </a:xfrm>
          <a:prstGeom prst="line">
            <a:avLst/>
          </a:prstGeom>
          <a:noFill/>
          <a:ln w="38100" cap="flat" cmpd="sng" algn="ctr">
            <a:solidFill>
              <a:srgbClr val="0C4BA1"/>
            </a:solidFill>
            <a:prstDash val="solid"/>
            <a:round/>
            <a:headEnd type="none" w="med" len="med"/>
            <a:tailEnd type="none" w="med" len="med"/>
          </a:ln>
          <a:effectLst/>
        </p:spPr>
      </p:cxnSp>
      <p:cxnSp>
        <p:nvCxnSpPr>
          <p:cNvPr id="8" name="直线连接符 8"/>
          <p:cNvCxnSpPr/>
          <p:nvPr userDrawn="1"/>
        </p:nvCxnSpPr>
        <p:spPr bwMode="auto">
          <a:xfrm>
            <a:off x="466068" y="260219"/>
            <a:ext cx="2584" cy="626836"/>
          </a:xfrm>
          <a:prstGeom prst="line">
            <a:avLst/>
          </a:prstGeom>
          <a:noFill/>
          <a:ln w="19050" cap="flat" cmpd="sng" algn="ctr">
            <a:solidFill>
              <a:srgbClr val="0C4BA1"/>
            </a:solidFill>
            <a:prstDash val="solid"/>
            <a:round/>
            <a:headEnd type="none" w="med" len="med"/>
            <a:tailEnd type="none" w="med" len="med"/>
          </a:ln>
          <a:effectLst/>
        </p:spPr>
      </p:cxnSp>
    </p:spTree>
    <p:extLst>
      <p:ext uri="{BB962C8B-B14F-4D97-AF65-F5344CB8AC3E}">
        <p14:creationId xmlns:p14="http://schemas.microsoft.com/office/powerpoint/2010/main" val="8622245"/>
      </p:ext>
    </p:extLst>
  </p:cSld>
  <p:clrMapOvr>
    <a:masterClrMapping/>
  </p:clrMapOvr>
  <p:transition/>
  <p:extLst mod="1">
    <p:ext uri="{DCECCB84-F9BA-43D5-87BE-67443E8EF086}">
      <p15:sldGuideLst xmlns:p15="http://schemas.microsoft.com/office/powerpoint/2012/main">
        <p15:guide id="1" orient="horz" pos="164">
          <p15:clr>
            <a:srgbClr val="FBAE40"/>
          </p15:clr>
        </p15:guide>
        <p15:guide id="2" pos="16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slow" advClick="0"/>
  <p:hf hdr="0" dt="0"/>
  <p:txStyles>
    <p:titleStyle>
      <a:lvl1pPr algn="l" defTabSz="814705" rtl="0" eaLnBrk="0" fontAlgn="base" hangingPunct="0">
        <a:spcBef>
          <a:spcPct val="0"/>
        </a:spcBef>
        <a:spcAft>
          <a:spcPct val="0"/>
        </a:spcAft>
        <a:defRPr kumimoji="1" lang="zh-CN" altLang="en-US" sz="2700" b="1" kern="1200">
          <a:solidFill>
            <a:schemeClr val="bg1"/>
          </a:solidFill>
          <a:latin typeface="+mj-ea"/>
          <a:ea typeface="+mj-ea"/>
          <a:cs typeface="微软雅黑" panose="020B0503020204020204" charset="-122"/>
        </a:defRPr>
      </a:lvl1pPr>
      <a:lvl2pPr algn="l" defTabSz="814705" rtl="0" eaLnBrk="0" fontAlgn="base" hangingPunct="0">
        <a:spcBef>
          <a:spcPct val="0"/>
        </a:spcBef>
        <a:spcAft>
          <a:spcPct val="0"/>
        </a:spcAft>
        <a:defRPr kumimoji="1" sz="3375" b="1">
          <a:solidFill>
            <a:schemeClr val="tx1"/>
          </a:solidFill>
          <a:latin typeface="微软雅黑" panose="020B0503020204020204" charset="-122"/>
          <a:ea typeface="微软雅黑" panose="020B0503020204020204" charset="-122"/>
          <a:cs typeface="微软雅黑" panose="020B0503020204020204" charset="-122"/>
        </a:defRPr>
      </a:lvl2pPr>
      <a:lvl3pPr algn="l" defTabSz="814705" rtl="0" eaLnBrk="0" fontAlgn="base" hangingPunct="0">
        <a:spcBef>
          <a:spcPct val="0"/>
        </a:spcBef>
        <a:spcAft>
          <a:spcPct val="0"/>
        </a:spcAft>
        <a:defRPr kumimoji="1" sz="3375" b="1">
          <a:solidFill>
            <a:schemeClr val="tx1"/>
          </a:solidFill>
          <a:latin typeface="微软雅黑" panose="020B0503020204020204" charset="-122"/>
          <a:ea typeface="微软雅黑" panose="020B0503020204020204" charset="-122"/>
          <a:cs typeface="微软雅黑" panose="020B0503020204020204" charset="-122"/>
        </a:defRPr>
      </a:lvl3pPr>
      <a:lvl4pPr algn="l" defTabSz="814705" rtl="0" eaLnBrk="0" fontAlgn="base" hangingPunct="0">
        <a:spcBef>
          <a:spcPct val="0"/>
        </a:spcBef>
        <a:spcAft>
          <a:spcPct val="0"/>
        </a:spcAft>
        <a:defRPr kumimoji="1" sz="3375" b="1">
          <a:solidFill>
            <a:schemeClr val="tx1"/>
          </a:solidFill>
          <a:latin typeface="微软雅黑" panose="020B0503020204020204" charset="-122"/>
          <a:ea typeface="微软雅黑" panose="020B0503020204020204" charset="-122"/>
          <a:cs typeface="微软雅黑" panose="020B0503020204020204" charset="-122"/>
        </a:defRPr>
      </a:lvl4pPr>
      <a:lvl5pPr algn="l" defTabSz="814705" rtl="0" eaLnBrk="0" fontAlgn="base" hangingPunct="0">
        <a:spcBef>
          <a:spcPct val="0"/>
        </a:spcBef>
        <a:spcAft>
          <a:spcPct val="0"/>
        </a:spcAft>
        <a:defRPr kumimoji="1" sz="3375" b="1">
          <a:solidFill>
            <a:schemeClr val="tx1"/>
          </a:solidFill>
          <a:latin typeface="微软雅黑" panose="020B0503020204020204" charset="-122"/>
          <a:ea typeface="微软雅黑" panose="020B0503020204020204" charset="-122"/>
          <a:cs typeface="微软雅黑" panose="020B0503020204020204" charset="-122"/>
        </a:defRPr>
      </a:lvl5pPr>
      <a:lvl6pPr marL="390525" algn="ctr" defTabSz="816610" rtl="0" eaLnBrk="1" fontAlgn="base" hangingPunct="1">
        <a:spcBef>
          <a:spcPct val="0"/>
        </a:spcBef>
        <a:spcAft>
          <a:spcPct val="0"/>
        </a:spcAft>
        <a:defRPr kumimoji="1" sz="3600">
          <a:solidFill>
            <a:schemeClr val="bg1"/>
          </a:solidFill>
          <a:latin typeface="Times New Roman" panose="02020603050405020304" pitchFamily="18" charset="0"/>
          <a:ea typeface="方正大黑简体" pitchFamily="2" charset="-122"/>
        </a:defRPr>
      </a:lvl6pPr>
      <a:lvl7pPr marL="781685" algn="ctr" defTabSz="816610" rtl="0" eaLnBrk="1" fontAlgn="base" hangingPunct="1">
        <a:spcBef>
          <a:spcPct val="0"/>
        </a:spcBef>
        <a:spcAft>
          <a:spcPct val="0"/>
        </a:spcAft>
        <a:defRPr kumimoji="1" sz="3600">
          <a:solidFill>
            <a:schemeClr val="bg1"/>
          </a:solidFill>
          <a:latin typeface="Times New Roman" panose="02020603050405020304" pitchFamily="18" charset="0"/>
          <a:ea typeface="方正大黑简体" pitchFamily="2" charset="-122"/>
        </a:defRPr>
      </a:lvl7pPr>
      <a:lvl8pPr marL="1172210" algn="ctr" defTabSz="816610" rtl="0" eaLnBrk="1" fontAlgn="base" hangingPunct="1">
        <a:spcBef>
          <a:spcPct val="0"/>
        </a:spcBef>
        <a:spcAft>
          <a:spcPct val="0"/>
        </a:spcAft>
        <a:defRPr kumimoji="1" sz="3600">
          <a:solidFill>
            <a:schemeClr val="bg1"/>
          </a:solidFill>
          <a:latin typeface="Times New Roman" panose="02020603050405020304" pitchFamily="18" charset="0"/>
          <a:ea typeface="方正大黑简体" pitchFamily="2" charset="-122"/>
        </a:defRPr>
      </a:lvl8pPr>
      <a:lvl9pPr marL="1562735" algn="ctr" defTabSz="816610" rtl="0" eaLnBrk="1" fontAlgn="base" hangingPunct="1">
        <a:spcBef>
          <a:spcPct val="0"/>
        </a:spcBef>
        <a:spcAft>
          <a:spcPct val="0"/>
        </a:spcAft>
        <a:defRPr kumimoji="1" sz="3600">
          <a:solidFill>
            <a:schemeClr val="bg1"/>
          </a:solidFill>
          <a:latin typeface="Times New Roman" panose="02020603050405020304" pitchFamily="18" charset="0"/>
          <a:ea typeface="方正大黑简体" pitchFamily="2" charset="-122"/>
        </a:defRPr>
      </a:lvl9pPr>
    </p:titleStyle>
    <p:bodyStyle>
      <a:lvl1pPr marL="304800" indent="-304800" algn="l" defTabSz="814705" rtl="0" eaLnBrk="0" fontAlgn="base" hangingPunct="0">
        <a:spcBef>
          <a:spcPct val="20000"/>
        </a:spcBef>
        <a:spcAft>
          <a:spcPct val="0"/>
        </a:spcAft>
        <a:buChar char="•"/>
        <a:defRPr kumimoji="1" sz="2400">
          <a:solidFill>
            <a:schemeClr val="tx1"/>
          </a:solidFill>
          <a:latin typeface="+mn-lt"/>
          <a:ea typeface="+mn-ea"/>
          <a:cs typeface="微软雅黑" panose="020B0503020204020204" charset="-122"/>
        </a:defRPr>
      </a:lvl1pPr>
      <a:lvl2pPr marL="662305" indent="-253365" algn="l" defTabSz="814705" rtl="0" eaLnBrk="0" fontAlgn="base" hangingPunct="0">
        <a:spcBef>
          <a:spcPct val="20000"/>
        </a:spcBef>
        <a:spcAft>
          <a:spcPct val="0"/>
        </a:spcAft>
        <a:buChar char="–"/>
        <a:defRPr kumimoji="1" sz="2175">
          <a:solidFill>
            <a:schemeClr val="tx1"/>
          </a:solidFill>
          <a:latin typeface="+mn-lt"/>
          <a:ea typeface="+mn-ea"/>
          <a:cs typeface="微软雅黑" panose="020B0503020204020204" charset="-122"/>
        </a:defRPr>
      </a:lvl2pPr>
      <a:lvl3pPr marL="1017905" indent="-201295" algn="l" defTabSz="814705" rtl="0" eaLnBrk="0" fontAlgn="base" hangingPunct="0">
        <a:spcBef>
          <a:spcPct val="20000"/>
        </a:spcBef>
        <a:spcAft>
          <a:spcPct val="0"/>
        </a:spcAft>
        <a:buChar char="•"/>
        <a:defRPr kumimoji="1" sz="2100">
          <a:solidFill>
            <a:schemeClr val="tx1"/>
          </a:solidFill>
          <a:latin typeface="+mn-lt"/>
          <a:ea typeface="+mn-ea"/>
          <a:cs typeface="微软雅黑" panose="020B0503020204020204" charset="-122"/>
        </a:defRPr>
      </a:lvl3pPr>
      <a:lvl4pPr marL="1426210" indent="-202565" algn="l" defTabSz="814705" rtl="0" eaLnBrk="0" fontAlgn="base" hangingPunct="0">
        <a:spcBef>
          <a:spcPct val="20000"/>
        </a:spcBef>
        <a:spcAft>
          <a:spcPct val="0"/>
        </a:spcAft>
        <a:buChar char="–"/>
        <a:defRPr kumimoji="1" sz="1800">
          <a:solidFill>
            <a:schemeClr val="tx1"/>
          </a:solidFill>
          <a:latin typeface="+mn-lt"/>
          <a:ea typeface="+mn-ea"/>
          <a:cs typeface="微软雅黑" panose="020B0503020204020204" charset="-122"/>
        </a:defRPr>
      </a:lvl4pPr>
      <a:lvl5pPr marL="1834515" indent="-202565" algn="l" defTabSz="814705" rtl="0" eaLnBrk="0" fontAlgn="base" hangingPunct="0">
        <a:spcBef>
          <a:spcPct val="20000"/>
        </a:spcBef>
        <a:spcAft>
          <a:spcPct val="0"/>
        </a:spcAft>
        <a:buChar char="»"/>
        <a:defRPr kumimoji="1" sz="1800">
          <a:solidFill>
            <a:schemeClr val="tx1"/>
          </a:solidFill>
          <a:latin typeface="+mn-lt"/>
          <a:ea typeface="+mn-ea"/>
          <a:cs typeface="微软雅黑" panose="020B0503020204020204" charset="-122"/>
        </a:defRPr>
      </a:lvl5pPr>
      <a:lvl6pPr marL="2227580" indent="-205105" algn="l" defTabSz="816610" rtl="0" eaLnBrk="1" fontAlgn="base" hangingPunct="1">
        <a:spcBef>
          <a:spcPct val="20000"/>
        </a:spcBef>
        <a:spcAft>
          <a:spcPct val="0"/>
        </a:spcAft>
        <a:buChar char="»"/>
        <a:defRPr kumimoji="1" sz="1800">
          <a:solidFill>
            <a:schemeClr val="tx1"/>
          </a:solidFill>
          <a:latin typeface="+mn-lt"/>
          <a:ea typeface="+mn-ea"/>
        </a:defRPr>
      </a:lvl6pPr>
      <a:lvl7pPr marL="2618105" indent="-205105" algn="l" defTabSz="816610" rtl="0" eaLnBrk="1" fontAlgn="base" hangingPunct="1">
        <a:spcBef>
          <a:spcPct val="20000"/>
        </a:spcBef>
        <a:spcAft>
          <a:spcPct val="0"/>
        </a:spcAft>
        <a:buChar char="»"/>
        <a:defRPr kumimoji="1" sz="1800">
          <a:solidFill>
            <a:schemeClr val="tx1"/>
          </a:solidFill>
          <a:latin typeface="+mn-lt"/>
          <a:ea typeface="+mn-ea"/>
        </a:defRPr>
      </a:lvl7pPr>
      <a:lvl8pPr marL="3008630" indent="-205105" algn="l" defTabSz="816610" rtl="0" eaLnBrk="1" fontAlgn="base" hangingPunct="1">
        <a:spcBef>
          <a:spcPct val="20000"/>
        </a:spcBef>
        <a:spcAft>
          <a:spcPct val="0"/>
        </a:spcAft>
        <a:buChar char="»"/>
        <a:defRPr kumimoji="1" sz="1800">
          <a:solidFill>
            <a:schemeClr val="tx1"/>
          </a:solidFill>
          <a:latin typeface="+mn-lt"/>
          <a:ea typeface="+mn-ea"/>
        </a:defRPr>
      </a:lvl8pPr>
      <a:lvl9pPr marL="3399790" indent="-205105" algn="l" defTabSz="816610" rtl="0" eaLnBrk="1" fontAlgn="base" hangingPunct="1">
        <a:spcBef>
          <a:spcPct val="20000"/>
        </a:spcBef>
        <a:spcAft>
          <a:spcPct val="0"/>
        </a:spcAft>
        <a:buChar char="»"/>
        <a:defRPr kumimoji="1" sz="1800">
          <a:solidFill>
            <a:schemeClr val="tx1"/>
          </a:solidFill>
          <a:latin typeface="+mn-lt"/>
          <a:ea typeface="+mn-ea"/>
        </a:defRPr>
      </a:lvl9pPr>
    </p:bodyStyle>
    <p:otherStyle>
      <a:defPPr>
        <a:defRPr lang="zh-CN"/>
      </a:defPPr>
      <a:lvl1pPr marL="0" algn="l" defTabSz="781685" rtl="0" eaLnBrk="1" latinLnBrk="0" hangingPunct="1">
        <a:defRPr sz="1500" kern="1200">
          <a:solidFill>
            <a:schemeClr val="tx1"/>
          </a:solidFill>
          <a:latin typeface="+mn-lt"/>
          <a:ea typeface="+mn-ea"/>
          <a:cs typeface="+mn-cs"/>
        </a:defRPr>
      </a:lvl1pPr>
      <a:lvl2pPr marL="390525" algn="l" defTabSz="781685" rtl="0" eaLnBrk="1" latinLnBrk="0" hangingPunct="1">
        <a:defRPr sz="1500" kern="1200">
          <a:solidFill>
            <a:schemeClr val="tx1"/>
          </a:solidFill>
          <a:latin typeface="+mn-lt"/>
          <a:ea typeface="+mn-ea"/>
          <a:cs typeface="+mn-cs"/>
        </a:defRPr>
      </a:lvl2pPr>
      <a:lvl3pPr marL="781685" algn="l" defTabSz="781685" rtl="0" eaLnBrk="1" latinLnBrk="0" hangingPunct="1">
        <a:defRPr sz="1500" kern="1200">
          <a:solidFill>
            <a:schemeClr val="tx1"/>
          </a:solidFill>
          <a:latin typeface="+mn-lt"/>
          <a:ea typeface="+mn-ea"/>
          <a:cs typeface="+mn-cs"/>
        </a:defRPr>
      </a:lvl3pPr>
      <a:lvl4pPr marL="1172210" algn="l" defTabSz="781685" rtl="0" eaLnBrk="1" latinLnBrk="0" hangingPunct="1">
        <a:defRPr sz="1500" kern="1200">
          <a:solidFill>
            <a:schemeClr val="tx1"/>
          </a:solidFill>
          <a:latin typeface="+mn-lt"/>
          <a:ea typeface="+mn-ea"/>
          <a:cs typeface="+mn-cs"/>
        </a:defRPr>
      </a:lvl4pPr>
      <a:lvl5pPr marL="1562735" algn="l" defTabSz="781685" rtl="0" eaLnBrk="1" latinLnBrk="0" hangingPunct="1">
        <a:defRPr sz="1500" kern="1200">
          <a:solidFill>
            <a:schemeClr val="tx1"/>
          </a:solidFill>
          <a:latin typeface="+mn-lt"/>
          <a:ea typeface="+mn-ea"/>
          <a:cs typeface="+mn-cs"/>
        </a:defRPr>
      </a:lvl5pPr>
      <a:lvl6pPr marL="1953260" algn="l" defTabSz="781685" rtl="0" eaLnBrk="1" latinLnBrk="0" hangingPunct="1">
        <a:defRPr sz="1500" kern="1200">
          <a:solidFill>
            <a:schemeClr val="tx1"/>
          </a:solidFill>
          <a:latin typeface="+mn-lt"/>
          <a:ea typeface="+mn-ea"/>
          <a:cs typeface="+mn-cs"/>
        </a:defRPr>
      </a:lvl6pPr>
      <a:lvl7pPr marL="2344420" algn="l" defTabSz="781685" rtl="0" eaLnBrk="1" latinLnBrk="0" hangingPunct="1">
        <a:defRPr sz="1500" kern="1200">
          <a:solidFill>
            <a:schemeClr val="tx1"/>
          </a:solidFill>
          <a:latin typeface="+mn-lt"/>
          <a:ea typeface="+mn-ea"/>
          <a:cs typeface="+mn-cs"/>
        </a:defRPr>
      </a:lvl7pPr>
      <a:lvl8pPr marL="2734945" algn="l" defTabSz="781685" rtl="0" eaLnBrk="1" latinLnBrk="0" hangingPunct="1">
        <a:defRPr sz="1500" kern="1200">
          <a:solidFill>
            <a:schemeClr val="tx1"/>
          </a:solidFill>
          <a:latin typeface="+mn-lt"/>
          <a:ea typeface="+mn-ea"/>
          <a:cs typeface="+mn-cs"/>
        </a:defRPr>
      </a:lvl8pPr>
      <a:lvl9pPr marL="3125470" algn="l" defTabSz="78168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ChangeArrowheads="1"/>
          </p:cNvSpPr>
          <p:nvPr/>
        </p:nvSpPr>
        <p:spPr bwMode="auto">
          <a:xfrm>
            <a:off x="1774825" y="1848717"/>
            <a:ext cx="8642350" cy="1088390"/>
          </a:xfrm>
          <a:prstGeom prst="rect">
            <a:avLst/>
          </a:prstGeom>
          <a:noFill/>
          <a:ln w="9525">
            <a:noFill/>
            <a:miter lim="800000"/>
          </a:ln>
        </p:spPr>
        <p:txBody>
          <a:bodyPr wrap="square">
            <a:spAutoFit/>
          </a:bodyPr>
          <a:lstStyle/>
          <a:p>
            <a:pPr algn="ctr" defTabSz="915035" fontAlgn="base">
              <a:lnSpc>
                <a:spcPct val="120000"/>
              </a:lnSpc>
              <a:spcBef>
                <a:spcPct val="0"/>
              </a:spcBef>
              <a:spcAft>
                <a:spcPct val="0"/>
              </a:spcAft>
            </a:pPr>
            <a:r>
              <a:rPr lang="zh-CN" altLang="en-US" sz="5400" b="1" dirty="0">
                <a:solidFill>
                  <a:srgbClr val="0C4BA1"/>
                </a:solidFill>
                <a:latin typeface="+mn-ea"/>
              </a:rPr>
              <a:t>干部试用期转正述职</a:t>
            </a:r>
          </a:p>
        </p:txBody>
      </p:sp>
      <p:sp>
        <p:nvSpPr>
          <p:cNvPr id="7" name="Text Box 5"/>
          <p:cNvSpPr txBox="1">
            <a:spLocks noChangeArrowheads="1"/>
          </p:cNvSpPr>
          <p:nvPr/>
        </p:nvSpPr>
        <p:spPr bwMode="auto">
          <a:xfrm>
            <a:off x="2441448" y="4343400"/>
            <a:ext cx="7315200" cy="1051560"/>
          </a:xfrm>
          <a:prstGeom prst="rect">
            <a:avLst/>
          </a:prstGeom>
          <a:noFill/>
          <a:ln w="9525">
            <a:noFill/>
            <a:miter lim="800000"/>
          </a:ln>
        </p:spPr>
        <p:txBody>
          <a:bodyPr wrap="none">
            <a:spAutoFit/>
          </a:bodyPr>
          <a:lstStyle/>
          <a:p>
            <a:pPr algn="ctr" defTabSz="915035" fontAlgn="base">
              <a:lnSpc>
                <a:spcPct val="150000"/>
              </a:lnSpc>
              <a:spcBef>
                <a:spcPct val="0"/>
              </a:spcBef>
              <a:spcAft>
                <a:spcPct val="0"/>
              </a:spcAft>
            </a:pPr>
            <a:r>
              <a:rPr lang="zh-CN" altLang="en-US" sz="1600" b="1" dirty="0">
                <a:solidFill>
                  <a:srgbClr val="0C4BA1"/>
                </a:solidFill>
                <a:latin typeface="微软雅黑" panose="020B0503020204020204" charset="-122"/>
                <a:ea typeface="微软雅黑" panose="020B0503020204020204" charset="-122"/>
              </a:rPr>
              <a:t>汇报人：陈昊　｜　星火国际系统部　｜　市场咨询总监</a:t>
            </a:r>
          </a:p>
          <a:p>
            <a:pPr algn="ctr" defTabSz="915035" fontAlgn="base">
              <a:lnSpc>
                <a:spcPct val="150000"/>
              </a:lnSpc>
              <a:spcBef>
                <a:spcPct val="0"/>
              </a:spcBef>
              <a:spcAft>
                <a:spcPct val="0"/>
              </a:spcAft>
            </a:pPr>
            <a:r>
              <a:rPr lang="zh-CN" altLang="en-US" sz="1600" b="1" dirty="0">
                <a:solidFill>
                  <a:srgbClr val="0C4BA1"/>
                </a:solidFill>
                <a:latin typeface="微软雅黑" panose="020B0503020204020204" charset="-122"/>
                <a:ea typeface="微软雅黑" panose="020B0503020204020204" charset="-122"/>
              </a:rPr>
              <a:t>任职起点：2026年2月4日　　述职日期：　　年　　月　　日</a:t>
            </a:r>
          </a:p>
        </p:txBody>
      </p:sp>
      <p:sp>
        <p:nvSpPr>
          <p:cNvPr id="8" name="TextBox 7"/>
          <p:cNvSpPr txBox="1"/>
          <p:nvPr/>
        </p:nvSpPr>
        <p:spPr>
          <a:xfrm>
            <a:off x="1773936" y="2999232"/>
            <a:ext cx="8641080" cy="548640"/>
          </a:xfrm>
          <a:prstGeom prst="rect">
            <a:avLst/>
          </a:prstGeom>
          <a:noFill/>
        </p:spPr>
        <p:txBody>
          <a:bodyPr wrap="square" lIns="54864" tIns="36576" rIns="54864" bIns="36576" anchor="ctr">
            <a:noAutofit/>
          </a:bodyPr>
          <a:lstStyle/>
          <a:p>
            <a:pPr algn="ctr">
              <a:lnSpc>
                <a:spcPct val="112000"/>
              </a:lnSpc>
              <a:spcAft>
                <a:spcPts val="0"/>
              </a:spcAft>
            </a:pPr>
            <a:r>
              <a:rPr sz="2200" b="0">
                <a:solidFill>
                  <a:srgbClr val="0A2A5E"/>
                </a:solidFill>
              </a:rPr>
              <a:t>国家级战略业务突破与国际咨询能力建设</a:t>
            </a:r>
          </a:p>
        </p:txBody>
      </p:sp>
      <p:sp>
        <p:nvSpPr>
          <p:cNvPr id="9" name="TextBox 8"/>
          <p:cNvSpPr txBox="1"/>
          <p:nvPr/>
        </p:nvSpPr>
        <p:spPr>
          <a:xfrm>
            <a:off x="1773936" y="5486400"/>
            <a:ext cx="8641080" cy="384048"/>
          </a:xfrm>
          <a:prstGeom prst="rect">
            <a:avLst/>
          </a:prstGeom>
          <a:noFill/>
        </p:spPr>
        <p:txBody>
          <a:bodyPr wrap="square" lIns="54864" tIns="36576" rIns="54864" bIns="36576" anchor="ctr">
            <a:noAutofit/>
          </a:bodyPr>
          <a:lstStyle/>
          <a:p>
            <a:pPr algn="ctr">
              <a:lnSpc>
                <a:spcPct val="112000"/>
              </a:lnSpc>
              <a:spcAft>
                <a:spcPts val="0"/>
              </a:spcAft>
            </a:pPr>
            <a:r>
              <a:rPr sz="1300" b="1">
                <a:solidFill>
                  <a:srgbClr val="0C4BA1"/>
                </a:solidFill>
              </a:rPr>
              <a:t>重大业务持续牵引　｜　关键咨询亲自攻坚　｜　国际咨询队伍建设</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目录</a:t>
            </a:r>
            <a:endParaRPr lang="zh-CN" altLang="en-US" dirty="0"/>
          </a:p>
        </p:txBody>
      </p:sp>
      <p:sp>
        <p:nvSpPr>
          <p:cNvPr id="27" name="矩形 26"/>
          <p:cNvSpPr/>
          <p:nvPr/>
        </p:nvSpPr>
        <p:spPr>
          <a:xfrm>
            <a:off x="1880789" y="6350691"/>
            <a:ext cx="8576196" cy="368300"/>
          </a:xfrm>
          <a:prstGeom prst="rect">
            <a:avLst/>
          </a:prstGeom>
        </p:spPr>
        <p:txBody>
          <a:bodyPr wrap="square">
            <a:spAutoFit/>
          </a:bodyPr>
          <a:lstStyle/>
          <a:p>
            <a:pPr>
              <a:lnSpc>
                <a:spcPct val="100000"/>
              </a:lnSpc>
            </a:pPr>
            <a:r>
              <a:rPr lang="zh-CN" altLang="en-US" b="1" dirty="0">
                <a:solidFill>
                  <a:schemeClr val="bg1">
                    <a:lumMod val="75000"/>
                  </a:schemeClr>
                </a:solidFill>
                <a:latin typeface="楷体" panose="02010609060101010101" pitchFamily="49" charset="-122"/>
                <a:ea typeface="楷体" panose="02010609060101010101" pitchFamily="49" charset="-122"/>
                <a:cs typeface="黑体" panose="02010609060101010101" charset="-122"/>
              </a:rPr>
              <a:t>注：转正述职</a:t>
            </a:r>
            <a:r>
              <a:rPr lang="zh-CN" altLang="en-US" b="1" dirty="0" smtClean="0">
                <a:solidFill>
                  <a:schemeClr val="bg1">
                    <a:lumMod val="75000"/>
                  </a:schemeClr>
                </a:solidFill>
                <a:latin typeface="楷体" panose="02010609060101010101" pitchFamily="49" charset="-122"/>
                <a:ea typeface="楷体" panose="02010609060101010101" pitchFamily="49" charset="-122"/>
                <a:cs typeface="黑体" panose="02010609060101010101" charset="-122"/>
              </a:rPr>
              <a:t>共</a:t>
            </a:r>
            <a:r>
              <a:rPr lang="en-US" altLang="zh-CN" b="1" dirty="0" smtClean="0">
                <a:solidFill>
                  <a:schemeClr val="bg1">
                    <a:lumMod val="75000"/>
                  </a:schemeClr>
                </a:solidFill>
                <a:latin typeface="楷体" panose="02010609060101010101" pitchFamily="49" charset="-122"/>
                <a:ea typeface="楷体" panose="02010609060101010101" pitchFamily="49" charset="-122"/>
                <a:cs typeface="黑体" panose="02010609060101010101" charset="-122"/>
              </a:rPr>
              <a:t>40</a:t>
            </a:r>
            <a:r>
              <a:rPr lang="zh-CN" altLang="en-US" b="1" dirty="0" smtClean="0">
                <a:solidFill>
                  <a:schemeClr val="bg1">
                    <a:lumMod val="75000"/>
                  </a:schemeClr>
                </a:solidFill>
                <a:latin typeface="楷体" panose="02010609060101010101" pitchFamily="49" charset="-122"/>
                <a:ea typeface="楷体" panose="02010609060101010101" pitchFamily="49" charset="-122"/>
                <a:cs typeface="黑体" panose="02010609060101010101" charset="-122"/>
              </a:rPr>
              <a:t>分钟</a:t>
            </a:r>
            <a:r>
              <a:rPr lang="zh-CN" altLang="en-US" b="1" dirty="0">
                <a:solidFill>
                  <a:schemeClr val="bg1">
                    <a:lumMod val="75000"/>
                  </a:schemeClr>
                </a:solidFill>
                <a:latin typeface="楷体" panose="02010609060101010101" pitchFamily="49" charset="-122"/>
                <a:ea typeface="楷体" panose="02010609060101010101" pitchFamily="49" charset="-122"/>
                <a:cs typeface="黑体" panose="02010609060101010101" charset="-122"/>
              </a:rPr>
              <a:t>。其中</a:t>
            </a:r>
            <a:r>
              <a:rPr lang="en-US" altLang="zh-CN" b="1" dirty="0">
                <a:solidFill>
                  <a:schemeClr val="bg1">
                    <a:lumMod val="75000"/>
                  </a:schemeClr>
                </a:solidFill>
                <a:latin typeface="楷体" panose="02010609060101010101" pitchFamily="49" charset="-122"/>
                <a:ea typeface="楷体" panose="02010609060101010101" pitchFamily="49" charset="-122"/>
                <a:cs typeface="黑体" panose="02010609060101010101" charset="-122"/>
              </a:rPr>
              <a:t>,</a:t>
            </a:r>
            <a:r>
              <a:rPr lang="zh-CN" altLang="en-US" b="1" dirty="0">
                <a:solidFill>
                  <a:schemeClr val="bg1">
                    <a:lumMod val="75000"/>
                  </a:schemeClr>
                </a:solidFill>
                <a:latin typeface="楷体" panose="02010609060101010101" pitchFamily="49" charset="-122"/>
                <a:ea typeface="楷体" panose="02010609060101010101" pitchFamily="49" charset="-122"/>
                <a:cs typeface="黑体" panose="02010609060101010101" charset="-122"/>
              </a:rPr>
              <a:t>汇报</a:t>
            </a:r>
            <a:r>
              <a:rPr lang="en-US" altLang="zh-CN" b="1" dirty="0" smtClean="0">
                <a:solidFill>
                  <a:schemeClr val="bg1">
                    <a:lumMod val="75000"/>
                  </a:schemeClr>
                </a:solidFill>
                <a:latin typeface="楷体" panose="02010609060101010101" pitchFamily="49" charset="-122"/>
                <a:ea typeface="楷体" panose="02010609060101010101" pitchFamily="49" charset="-122"/>
                <a:cs typeface="黑体" panose="02010609060101010101" charset="-122"/>
              </a:rPr>
              <a:t>20</a:t>
            </a:r>
            <a:r>
              <a:rPr lang="zh-CN" altLang="en-US" b="1" dirty="0" smtClean="0">
                <a:solidFill>
                  <a:schemeClr val="bg1">
                    <a:lumMod val="75000"/>
                  </a:schemeClr>
                </a:solidFill>
                <a:latin typeface="楷体" panose="02010609060101010101" pitchFamily="49" charset="-122"/>
                <a:ea typeface="楷体" panose="02010609060101010101" pitchFamily="49" charset="-122"/>
                <a:cs typeface="黑体" panose="02010609060101010101" charset="-122"/>
              </a:rPr>
              <a:t>分钟</a:t>
            </a:r>
            <a:r>
              <a:rPr lang="zh-CN" altLang="en-US" b="1" dirty="0">
                <a:solidFill>
                  <a:schemeClr val="bg1">
                    <a:lumMod val="75000"/>
                  </a:schemeClr>
                </a:solidFill>
                <a:latin typeface="楷体" panose="02010609060101010101" pitchFamily="49" charset="-122"/>
                <a:ea typeface="楷体" panose="02010609060101010101" pitchFamily="49" charset="-122"/>
                <a:cs typeface="黑体" panose="02010609060101010101" charset="-122"/>
              </a:rPr>
              <a:t>，领导点评及沟通交流</a:t>
            </a:r>
            <a:r>
              <a:rPr lang="en-US" altLang="zh-CN" b="1" dirty="0" smtClean="0">
                <a:solidFill>
                  <a:schemeClr val="bg1">
                    <a:lumMod val="75000"/>
                  </a:schemeClr>
                </a:solidFill>
                <a:latin typeface="楷体" panose="02010609060101010101" pitchFamily="49" charset="-122"/>
                <a:ea typeface="楷体" panose="02010609060101010101" pitchFamily="49" charset="-122"/>
                <a:cs typeface="黑体" panose="02010609060101010101" charset="-122"/>
              </a:rPr>
              <a:t>20</a:t>
            </a:r>
            <a:r>
              <a:rPr lang="zh-CN" altLang="en-US" b="1" dirty="0" smtClean="0">
                <a:solidFill>
                  <a:schemeClr val="bg1">
                    <a:lumMod val="75000"/>
                  </a:schemeClr>
                </a:solidFill>
                <a:latin typeface="楷体" panose="02010609060101010101" pitchFamily="49" charset="-122"/>
                <a:ea typeface="楷体" panose="02010609060101010101" pitchFamily="49" charset="-122"/>
                <a:cs typeface="黑体" panose="02010609060101010101" charset="-122"/>
              </a:rPr>
              <a:t>分钟</a:t>
            </a:r>
            <a:endParaRPr lang="en-US" altLang="zh-CN" b="1" dirty="0">
              <a:solidFill>
                <a:schemeClr val="bg1">
                  <a:lumMod val="75000"/>
                </a:schemeClr>
              </a:solidFill>
              <a:latin typeface="楷体" panose="02010609060101010101" pitchFamily="49" charset="-122"/>
              <a:ea typeface="楷体" panose="02010609060101010101" pitchFamily="49" charset="-122"/>
              <a:cs typeface="黑体" panose="02010609060101010101" charset="-122"/>
            </a:endParaRPr>
          </a:p>
        </p:txBody>
      </p:sp>
      <p:grpSp>
        <p:nvGrpSpPr>
          <p:cNvPr id="30" name="组合 29"/>
          <p:cNvGrpSpPr/>
          <p:nvPr/>
        </p:nvGrpSpPr>
        <p:grpSpPr>
          <a:xfrm>
            <a:off x="4100090" y="1239266"/>
            <a:ext cx="7143750" cy="405765"/>
            <a:chOff x="3758" y="1855"/>
            <a:chExt cx="11250" cy="639"/>
          </a:xfrm>
        </p:grpSpPr>
        <p:sp>
          <p:nvSpPr>
            <p:cNvPr id="32" name="矩形 31"/>
            <p:cNvSpPr/>
            <p:nvPr/>
          </p:nvSpPr>
          <p:spPr>
            <a:xfrm>
              <a:off x="5794" y="1855"/>
              <a:ext cx="131" cy="635"/>
            </a:xfrm>
            <a:prstGeom prst="rect">
              <a:avLst/>
            </a:prstGeom>
            <a:solidFill>
              <a:srgbClr val="0C4BA1"/>
            </a:solidFill>
            <a:ln>
              <a:noFill/>
            </a:ln>
            <a:effectLst/>
            <a:scene3d>
              <a:camera prst="orthographicFront">
                <a:rot lat="0" lon="0" rev="0"/>
              </a:camera>
              <a:lightRig rig="threePt" dir="t">
                <a:rot lat="0" lon="0" rev="1200000"/>
              </a:lightRig>
            </a:scene3d>
            <a:sp3d/>
          </p:spPr>
          <p:txBody>
            <a:bodyPr lIns="74808" tIns="37405" rIns="74808" bIns="37405" rtlCol="0" anchor="ctr"/>
            <a:lstStyle/>
            <a:p>
              <a:pPr indent="1270" algn="ctr">
                <a:lnSpc>
                  <a:spcPct val="150000"/>
                </a:lnSpc>
                <a:defRPr/>
              </a:pPr>
              <a:endParaRPr kumimoji="1" lang="zh-CN" altLang="en-US" sz="1670" kern="0" dirty="0">
                <a:solidFill>
                  <a:srgbClr val="FFFFFF"/>
                </a:solidFill>
              </a:endParaRPr>
            </a:p>
          </p:txBody>
        </p:sp>
        <p:sp>
          <p:nvSpPr>
            <p:cNvPr id="34" name="矩形 33"/>
            <p:cNvSpPr/>
            <p:nvPr/>
          </p:nvSpPr>
          <p:spPr>
            <a:xfrm>
              <a:off x="6098" y="1855"/>
              <a:ext cx="8910" cy="630"/>
            </a:xfrm>
            <a:prstGeom prst="rect">
              <a:avLst/>
            </a:prstGeom>
          </p:spPr>
          <p:txBody>
            <a:bodyPr wrap="square">
              <a:spAutoFit/>
            </a:bodyPr>
            <a:lstStyle/>
            <a:p>
              <a:r>
                <a:rPr kumimoji="1" lang="zh-CN" altLang="en-US" sz="2000" b="1" kern="0" dirty="0" smtClean="0">
                  <a:solidFill>
                    <a:srgbClr val="0C4BA1"/>
                  </a:solidFill>
                  <a:cs typeface="黑体" panose="02010609060101010101" charset="-122"/>
                </a:rPr>
                <a:t>管理角色澄清与成果回顾</a:t>
              </a:r>
            </a:p>
          </p:txBody>
        </p:sp>
        <p:sp>
          <p:nvSpPr>
            <p:cNvPr id="35" name="矩形 34"/>
            <p:cNvSpPr/>
            <p:nvPr/>
          </p:nvSpPr>
          <p:spPr>
            <a:xfrm>
              <a:off x="3758" y="1864"/>
              <a:ext cx="1898" cy="630"/>
            </a:xfrm>
            <a:prstGeom prst="rect">
              <a:avLst/>
            </a:prstGeom>
            <a:solidFill>
              <a:srgbClr val="0C4BA1"/>
            </a:solidFill>
          </p:spPr>
          <p:txBody>
            <a:bodyPr wrap="square" anchor="ctr" anchorCtr="0">
              <a:spAutoFit/>
            </a:bodyPr>
            <a:lstStyle/>
            <a:p>
              <a:pPr algn="ctr">
                <a:defRPr/>
              </a:pPr>
              <a:r>
                <a:rPr kumimoji="1" lang="en-US" altLang="zh-CN" sz="2000" b="1" kern="0" dirty="0">
                  <a:solidFill>
                    <a:prstClr val="white"/>
                  </a:solidFill>
                  <a:cs typeface="黑体" panose="02010609060101010101" charset="-122"/>
                </a:rPr>
                <a:t>Part</a:t>
              </a:r>
              <a:r>
                <a:rPr kumimoji="1" lang="zh-CN" altLang="en-US" sz="2000" b="1" kern="0" dirty="0">
                  <a:solidFill>
                    <a:prstClr val="white"/>
                  </a:solidFill>
                  <a:cs typeface="黑体" panose="02010609060101010101" charset="-122"/>
                </a:rPr>
                <a:t> </a:t>
              </a:r>
              <a:r>
                <a:rPr kumimoji="1" lang="en-US" altLang="zh-CN" sz="2000" b="1" kern="0" dirty="0">
                  <a:solidFill>
                    <a:prstClr val="white"/>
                  </a:solidFill>
                  <a:cs typeface="黑体" panose="02010609060101010101" charset="-122"/>
                </a:rPr>
                <a:t>1</a:t>
              </a:r>
              <a:endParaRPr kumimoji="1" lang="zh-CN" altLang="en-US" sz="2000" b="1" kern="0" dirty="0">
                <a:solidFill>
                  <a:prstClr val="white"/>
                </a:solidFill>
                <a:cs typeface="黑体" panose="02010609060101010101" charset="-122"/>
              </a:endParaRPr>
            </a:p>
          </p:txBody>
        </p:sp>
      </p:grpSp>
      <p:grpSp>
        <p:nvGrpSpPr>
          <p:cNvPr id="36" name="组合 35"/>
          <p:cNvGrpSpPr/>
          <p:nvPr/>
        </p:nvGrpSpPr>
        <p:grpSpPr>
          <a:xfrm>
            <a:off x="4100090" y="2073084"/>
            <a:ext cx="7143750" cy="405765"/>
            <a:chOff x="3758" y="1855"/>
            <a:chExt cx="11250" cy="639"/>
          </a:xfrm>
        </p:grpSpPr>
        <p:sp>
          <p:nvSpPr>
            <p:cNvPr id="37" name="矩形 36"/>
            <p:cNvSpPr/>
            <p:nvPr/>
          </p:nvSpPr>
          <p:spPr>
            <a:xfrm>
              <a:off x="5794" y="1855"/>
              <a:ext cx="131" cy="635"/>
            </a:xfrm>
            <a:prstGeom prst="rect">
              <a:avLst/>
            </a:prstGeom>
            <a:solidFill>
              <a:srgbClr val="0C4BA1"/>
            </a:solidFill>
            <a:ln>
              <a:noFill/>
            </a:ln>
            <a:effectLst/>
            <a:scene3d>
              <a:camera prst="orthographicFront">
                <a:rot lat="0" lon="0" rev="0"/>
              </a:camera>
              <a:lightRig rig="threePt" dir="t">
                <a:rot lat="0" lon="0" rev="1200000"/>
              </a:lightRig>
            </a:scene3d>
            <a:sp3d/>
          </p:spPr>
          <p:txBody>
            <a:bodyPr lIns="74808" tIns="37405" rIns="74808" bIns="37405" rtlCol="0" anchor="ctr"/>
            <a:lstStyle/>
            <a:p>
              <a:pPr indent="1270" algn="ctr">
                <a:lnSpc>
                  <a:spcPct val="150000"/>
                </a:lnSpc>
                <a:defRPr/>
              </a:pPr>
              <a:endParaRPr kumimoji="1" lang="zh-CN" altLang="en-US" sz="1670" kern="0" dirty="0">
                <a:solidFill>
                  <a:srgbClr val="FFFFFF"/>
                </a:solidFill>
              </a:endParaRPr>
            </a:p>
          </p:txBody>
        </p:sp>
        <p:sp>
          <p:nvSpPr>
            <p:cNvPr id="38" name="矩形 37"/>
            <p:cNvSpPr/>
            <p:nvPr/>
          </p:nvSpPr>
          <p:spPr>
            <a:xfrm>
              <a:off x="6098" y="1855"/>
              <a:ext cx="8910" cy="630"/>
            </a:xfrm>
            <a:prstGeom prst="rect">
              <a:avLst/>
            </a:prstGeom>
          </p:spPr>
          <p:txBody>
            <a:bodyPr wrap="square">
              <a:spAutoFit/>
            </a:bodyPr>
            <a:lstStyle/>
            <a:p>
              <a:r>
                <a:rPr kumimoji="1" lang="zh-CN" altLang="en-US" sz="2000" b="1" kern="0" dirty="0" smtClean="0">
                  <a:solidFill>
                    <a:srgbClr val="0C4BA1"/>
                  </a:solidFill>
                  <a:cs typeface="黑体" panose="02010609060101010101" charset="-122"/>
                </a:rPr>
                <a:t>不足分析与改进</a:t>
              </a:r>
              <a:endParaRPr kumimoji="1" lang="zh-CN" altLang="en-US" sz="2000" b="1" kern="0" dirty="0">
                <a:solidFill>
                  <a:srgbClr val="0C4BA1"/>
                </a:solidFill>
                <a:cs typeface="黑体" panose="02010609060101010101" charset="-122"/>
              </a:endParaRPr>
            </a:p>
          </p:txBody>
        </p:sp>
        <p:sp>
          <p:nvSpPr>
            <p:cNvPr id="39" name="矩形 38"/>
            <p:cNvSpPr/>
            <p:nvPr/>
          </p:nvSpPr>
          <p:spPr>
            <a:xfrm>
              <a:off x="3758" y="1864"/>
              <a:ext cx="1898" cy="630"/>
            </a:xfrm>
            <a:prstGeom prst="rect">
              <a:avLst/>
            </a:prstGeom>
            <a:solidFill>
              <a:srgbClr val="0C4BA1"/>
            </a:solidFill>
          </p:spPr>
          <p:txBody>
            <a:bodyPr wrap="square" anchor="ctr" anchorCtr="0">
              <a:spAutoFit/>
            </a:bodyPr>
            <a:lstStyle/>
            <a:p>
              <a:pPr algn="ctr">
                <a:defRPr/>
              </a:pPr>
              <a:r>
                <a:rPr kumimoji="1" lang="en-US" altLang="zh-CN" sz="2000" b="1" kern="0" dirty="0">
                  <a:solidFill>
                    <a:prstClr val="white"/>
                  </a:solidFill>
                  <a:cs typeface="黑体" panose="02010609060101010101" charset="-122"/>
                </a:rPr>
                <a:t>Part</a:t>
              </a:r>
              <a:r>
                <a:rPr kumimoji="1" lang="zh-CN" altLang="en-US" sz="2000" b="1" kern="0" dirty="0">
                  <a:solidFill>
                    <a:prstClr val="white"/>
                  </a:solidFill>
                  <a:cs typeface="黑体" panose="02010609060101010101" charset="-122"/>
                </a:rPr>
                <a:t> </a:t>
              </a:r>
              <a:r>
                <a:rPr kumimoji="1" lang="en-US" altLang="zh-CN" sz="2000" b="1" kern="0" dirty="0" smtClean="0">
                  <a:solidFill>
                    <a:prstClr val="white"/>
                  </a:solidFill>
                  <a:cs typeface="黑体" panose="02010609060101010101" charset="-122"/>
                </a:rPr>
                <a:t>2</a:t>
              </a:r>
              <a:endParaRPr kumimoji="1" lang="zh-CN" altLang="en-US" sz="2000" b="1" kern="0" dirty="0">
                <a:solidFill>
                  <a:prstClr val="white"/>
                </a:solidFill>
                <a:cs typeface="黑体" panose="02010609060101010101" charset="-122"/>
              </a:endParaRPr>
            </a:p>
          </p:txBody>
        </p:sp>
      </p:grpSp>
      <p:grpSp>
        <p:nvGrpSpPr>
          <p:cNvPr id="40" name="组合 39"/>
          <p:cNvGrpSpPr/>
          <p:nvPr/>
        </p:nvGrpSpPr>
        <p:grpSpPr>
          <a:xfrm>
            <a:off x="4100090" y="2893450"/>
            <a:ext cx="7143750" cy="405765"/>
            <a:chOff x="3758" y="1855"/>
            <a:chExt cx="11250" cy="639"/>
          </a:xfrm>
        </p:grpSpPr>
        <p:sp>
          <p:nvSpPr>
            <p:cNvPr id="41" name="矩形 40"/>
            <p:cNvSpPr/>
            <p:nvPr/>
          </p:nvSpPr>
          <p:spPr>
            <a:xfrm>
              <a:off x="5794" y="1855"/>
              <a:ext cx="131" cy="635"/>
            </a:xfrm>
            <a:prstGeom prst="rect">
              <a:avLst/>
            </a:prstGeom>
            <a:solidFill>
              <a:srgbClr val="0C4BA1"/>
            </a:solidFill>
            <a:ln>
              <a:noFill/>
            </a:ln>
            <a:effectLst/>
            <a:scene3d>
              <a:camera prst="orthographicFront">
                <a:rot lat="0" lon="0" rev="0"/>
              </a:camera>
              <a:lightRig rig="threePt" dir="t">
                <a:rot lat="0" lon="0" rev="1200000"/>
              </a:lightRig>
            </a:scene3d>
            <a:sp3d/>
          </p:spPr>
          <p:txBody>
            <a:bodyPr lIns="74808" tIns="37405" rIns="74808" bIns="37405" rtlCol="0" anchor="ctr"/>
            <a:lstStyle/>
            <a:p>
              <a:pPr indent="1270" algn="ctr">
                <a:lnSpc>
                  <a:spcPct val="150000"/>
                </a:lnSpc>
                <a:defRPr/>
              </a:pPr>
              <a:endParaRPr kumimoji="1" lang="zh-CN" altLang="en-US" sz="1670" kern="0" dirty="0">
                <a:solidFill>
                  <a:srgbClr val="FFFFFF"/>
                </a:solidFill>
              </a:endParaRPr>
            </a:p>
          </p:txBody>
        </p:sp>
        <p:sp>
          <p:nvSpPr>
            <p:cNvPr id="42" name="矩形 41"/>
            <p:cNvSpPr/>
            <p:nvPr/>
          </p:nvSpPr>
          <p:spPr>
            <a:xfrm>
              <a:off x="6098" y="1855"/>
              <a:ext cx="8910" cy="630"/>
            </a:xfrm>
            <a:prstGeom prst="rect">
              <a:avLst/>
            </a:prstGeom>
          </p:spPr>
          <p:txBody>
            <a:bodyPr wrap="square">
              <a:spAutoFit/>
            </a:bodyPr>
            <a:lstStyle/>
            <a:p>
              <a:r>
                <a:rPr kumimoji="1" lang="zh-CN" altLang="en-US" sz="2000" b="1" kern="0" dirty="0" smtClean="0">
                  <a:solidFill>
                    <a:srgbClr val="0C4BA1"/>
                  </a:solidFill>
                  <a:cs typeface="黑体" panose="02010609060101010101" charset="-122"/>
                </a:rPr>
                <a:t>工作规划与路径</a:t>
              </a:r>
              <a:endParaRPr kumimoji="1" lang="zh-CN" altLang="en-US" sz="2000" b="1" kern="0" dirty="0">
                <a:solidFill>
                  <a:srgbClr val="0C4BA1"/>
                </a:solidFill>
                <a:cs typeface="黑体" panose="02010609060101010101" charset="-122"/>
              </a:endParaRPr>
            </a:p>
          </p:txBody>
        </p:sp>
        <p:sp>
          <p:nvSpPr>
            <p:cNvPr id="43" name="矩形 42"/>
            <p:cNvSpPr/>
            <p:nvPr/>
          </p:nvSpPr>
          <p:spPr>
            <a:xfrm>
              <a:off x="3758" y="1864"/>
              <a:ext cx="1898" cy="630"/>
            </a:xfrm>
            <a:prstGeom prst="rect">
              <a:avLst/>
            </a:prstGeom>
            <a:solidFill>
              <a:srgbClr val="0C4BA1"/>
            </a:solidFill>
          </p:spPr>
          <p:txBody>
            <a:bodyPr wrap="square" anchor="ctr" anchorCtr="0">
              <a:spAutoFit/>
            </a:bodyPr>
            <a:lstStyle/>
            <a:p>
              <a:pPr algn="ctr">
                <a:defRPr/>
              </a:pPr>
              <a:r>
                <a:rPr kumimoji="1" lang="en-US" altLang="zh-CN" sz="2000" b="1" kern="0" dirty="0">
                  <a:solidFill>
                    <a:prstClr val="white"/>
                  </a:solidFill>
                  <a:cs typeface="黑体" panose="02010609060101010101" charset="-122"/>
                </a:rPr>
                <a:t>Part</a:t>
              </a:r>
              <a:r>
                <a:rPr kumimoji="1" lang="zh-CN" altLang="en-US" sz="2000" b="1" kern="0" dirty="0">
                  <a:solidFill>
                    <a:prstClr val="white"/>
                  </a:solidFill>
                  <a:cs typeface="黑体" panose="02010609060101010101" charset="-122"/>
                </a:rPr>
                <a:t> </a:t>
              </a:r>
              <a:r>
                <a:rPr kumimoji="1" lang="en-US" altLang="zh-CN" sz="2000" b="1" kern="0" dirty="0" smtClean="0">
                  <a:solidFill>
                    <a:prstClr val="white"/>
                  </a:solidFill>
                  <a:cs typeface="黑体" panose="02010609060101010101" charset="-122"/>
                </a:rPr>
                <a:t>3</a:t>
              </a:r>
              <a:endParaRPr kumimoji="1" lang="zh-CN" altLang="en-US" sz="2000" b="1" kern="0" dirty="0">
                <a:solidFill>
                  <a:prstClr val="white"/>
                </a:solidFill>
                <a:cs typeface="黑体" panose="02010609060101010101" charset="-122"/>
              </a:endParaRPr>
            </a:p>
          </p:txBody>
        </p:sp>
      </p:grpSp>
      <p:grpSp>
        <p:nvGrpSpPr>
          <p:cNvPr id="44" name="组合 43"/>
          <p:cNvGrpSpPr/>
          <p:nvPr/>
        </p:nvGrpSpPr>
        <p:grpSpPr>
          <a:xfrm>
            <a:off x="4100090" y="3698218"/>
            <a:ext cx="7143750" cy="405765"/>
            <a:chOff x="3758" y="1855"/>
            <a:chExt cx="11250" cy="639"/>
          </a:xfrm>
        </p:grpSpPr>
        <p:sp>
          <p:nvSpPr>
            <p:cNvPr id="45" name="矩形 44"/>
            <p:cNvSpPr/>
            <p:nvPr/>
          </p:nvSpPr>
          <p:spPr>
            <a:xfrm>
              <a:off x="5794" y="1855"/>
              <a:ext cx="131" cy="635"/>
            </a:xfrm>
            <a:prstGeom prst="rect">
              <a:avLst/>
            </a:prstGeom>
            <a:solidFill>
              <a:srgbClr val="0C4BA1"/>
            </a:solidFill>
            <a:ln>
              <a:noFill/>
            </a:ln>
            <a:effectLst/>
            <a:scene3d>
              <a:camera prst="orthographicFront">
                <a:rot lat="0" lon="0" rev="0"/>
              </a:camera>
              <a:lightRig rig="threePt" dir="t">
                <a:rot lat="0" lon="0" rev="1200000"/>
              </a:lightRig>
            </a:scene3d>
            <a:sp3d/>
          </p:spPr>
          <p:txBody>
            <a:bodyPr lIns="74808" tIns="37405" rIns="74808" bIns="37405" rtlCol="0" anchor="ctr"/>
            <a:lstStyle/>
            <a:p>
              <a:pPr indent="1270" algn="ctr">
                <a:lnSpc>
                  <a:spcPct val="150000"/>
                </a:lnSpc>
                <a:defRPr/>
              </a:pPr>
              <a:endParaRPr kumimoji="1" lang="zh-CN" altLang="en-US" sz="1670" kern="0" dirty="0">
                <a:solidFill>
                  <a:srgbClr val="FFFFFF"/>
                </a:solidFill>
              </a:endParaRPr>
            </a:p>
          </p:txBody>
        </p:sp>
        <p:sp>
          <p:nvSpPr>
            <p:cNvPr id="46" name="矩形 45"/>
            <p:cNvSpPr/>
            <p:nvPr/>
          </p:nvSpPr>
          <p:spPr>
            <a:xfrm>
              <a:off x="6098" y="1855"/>
              <a:ext cx="8910" cy="630"/>
            </a:xfrm>
            <a:prstGeom prst="rect">
              <a:avLst/>
            </a:prstGeom>
          </p:spPr>
          <p:txBody>
            <a:bodyPr wrap="square">
              <a:spAutoFit/>
            </a:bodyPr>
            <a:lstStyle/>
            <a:p>
              <a:r>
                <a:rPr kumimoji="1" lang="zh-CN" altLang="en-US" sz="2000" b="1" kern="0" dirty="0" smtClean="0">
                  <a:solidFill>
                    <a:srgbClr val="0C4BA1"/>
                  </a:solidFill>
                  <a:cs typeface="黑体" panose="02010609060101010101" charset="-122"/>
                </a:rPr>
                <a:t>自我发展</a:t>
              </a:r>
              <a:endParaRPr kumimoji="1" lang="zh-CN" altLang="en-US" sz="2000" b="1" kern="0" dirty="0">
                <a:solidFill>
                  <a:srgbClr val="0C4BA1"/>
                </a:solidFill>
                <a:cs typeface="黑体" panose="02010609060101010101" charset="-122"/>
              </a:endParaRPr>
            </a:p>
          </p:txBody>
        </p:sp>
        <p:sp>
          <p:nvSpPr>
            <p:cNvPr id="47" name="矩形 46"/>
            <p:cNvSpPr/>
            <p:nvPr/>
          </p:nvSpPr>
          <p:spPr>
            <a:xfrm>
              <a:off x="3758" y="1864"/>
              <a:ext cx="1898" cy="630"/>
            </a:xfrm>
            <a:prstGeom prst="rect">
              <a:avLst/>
            </a:prstGeom>
            <a:solidFill>
              <a:srgbClr val="0C4BA1"/>
            </a:solidFill>
          </p:spPr>
          <p:txBody>
            <a:bodyPr wrap="square" anchor="ctr" anchorCtr="0">
              <a:spAutoFit/>
            </a:bodyPr>
            <a:lstStyle/>
            <a:p>
              <a:pPr algn="ctr">
                <a:defRPr/>
              </a:pPr>
              <a:r>
                <a:rPr kumimoji="1" lang="en-US" altLang="zh-CN" sz="2000" b="1" kern="0" dirty="0">
                  <a:solidFill>
                    <a:prstClr val="white"/>
                  </a:solidFill>
                  <a:cs typeface="黑体" panose="02010609060101010101" charset="-122"/>
                </a:rPr>
                <a:t>Part</a:t>
              </a:r>
              <a:r>
                <a:rPr kumimoji="1" lang="zh-CN" altLang="en-US" sz="2000" b="1" kern="0" dirty="0">
                  <a:solidFill>
                    <a:prstClr val="white"/>
                  </a:solidFill>
                  <a:cs typeface="黑体" panose="02010609060101010101" charset="-122"/>
                </a:rPr>
                <a:t> </a:t>
              </a:r>
              <a:r>
                <a:rPr kumimoji="1" lang="en-US" altLang="zh-CN" sz="2000" b="1" kern="0" dirty="0" smtClean="0">
                  <a:solidFill>
                    <a:prstClr val="white"/>
                  </a:solidFill>
                  <a:cs typeface="黑体" panose="02010609060101010101" charset="-122"/>
                </a:rPr>
                <a:t>4</a:t>
              </a:r>
              <a:endParaRPr kumimoji="1" lang="zh-CN" altLang="en-US" sz="2000" b="1" kern="0" dirty="0">
                <a:solidFill>
                  <a:prstClr val="white"/>
                </a:solidFill>
                <a:cs typeface="黑体" panose="02010609060101010101" charset="-122"/>
              </a:endParaRPr>
            </a:p>
          </p:txBody>
        </p:sp>
      </p:grpSp>
      <p:grpSp>
        <p:nvGrpSpPr>
          <p:cNvPr id="48" name="组合 47"/>
          <p:cNvGrpSpPr/>
          <p:nvPr/>
        </p:nvGrpSpPr>
        <p:grpSpPr>
          <a:xfrm>
            <a:off x="4100090" y="5277600"/>
            <a:ext cx="7143750" cy="405765"/>
            <a:chOff x="3758" y="1855"/>
            <a:chExt cx="11250" cy="639"/>
          </a:xfrm>
        </p:grpSpPr>
        <p:sp>
          <p:nvSpPr>
            <p:cNvPr id="49" name="矩形 48"/>
            <p:cNvSpPr/>
            <p:nvPr/>
          </p:nvSpPr>
          <p:spPr>
            <a:xfrm>
              <a:off x="5794" y="1855"/>
              <a:ext cx="131" cy="635"/>
            </a:xfrm>
            <a:prstGeom prst="rect">
              <a:avLst/>
            </a:prstGeom>
            <a:solidFill>
              <a:srgbClr val="0C4BA1"/>
            </a:solidFill>
            <a:ln>
              <a:noFill/>
            </a:ln>
            <a:effectLst/>
            <a:scene3d>
              <a:camera prst="orthographicFront">
                <a:rot lat="0" lon="0" rev="0"/>
              </a:camera>
              <a:lightRig rig="threePt" dir="t">
                <a:rot lat="0" lon="0" rev="1200000"/>
              </a:lightRig>
            </a:scene3d>
            <a:sp3d/>
          </p:spPr>
          <p:txBody>
            <a:bodyPr lIns="74808" tIns="37405" rIns="74808" bIns="37405" rtlCol="0" anchor="ctr"/>
            <a:lstStyle/>
            <a:p>
              <a:pPr indent="1270" algn="ctr">
                <a:lnSpc>
                  <a:spcPct val="150000"/>
                </a:lnSpc>
                <a:defRPr/>
              </a:pPr>
              <a:endParaRPr kumimoji="1" lang="zh-CN" altLang="en-US" sz="1670" kern="0" dirty="0">
                <a:solidFill>
                  <a:srgbClr val="FFFFFF"/>
                </a:solidFill>
              </a:endParaRPr>
            </a:p>
          </p:txBody>
        </p:sp>
        <p:sp>
          <p:nvSpPr>
            <p:cNvPr id="51" name="矩形 50"/>
            <p:cNvSpPr/>
            <p:nvPr/>
          </p:nvSpPr>
          <p:spPr>
            <a:xfrm>
              <a:off x="6098" y="1855"/>
              <a:ext cx="8910" cy="630"/>
            </a:xfrm>
            <a:prstGeom prst="rect">
              <a:avLst/>
            </a:prstGeom>
          </p:spPr>
          <p:txBody>
            <a:bodyPr wrap="square">
              <a:spAutoFit/>
            </a:bodyPr>
            <a:lstStyle/>
            <a:p>
              <a:r>
                <a:rPr kumimoji="1" lang="zh-CN" altLang="en-US" sz="2000" b="1" kern="0" dirty="0" smtClean="0">
                  <a:solidFill>
                    <a:srgbClr val="0C4BA1"/>
                  </a:solidFill>
                  <a:cs typeface="黑体" panose="02010609060101010101" charset="-122"/>
                </a:rPr>
                <a:t>其他建议</a:t>
              </a:r>
              <a:endParaRPr kumimoji="1" lang="zh-CN" altLang="en-US" sz="2000" b="1" kern="0" dirty="0">
                <a:solidFill>
                  <a:srgbClr val="0C4BA1"/>
                </a:solidFill>
                <a:cs typeface="黑体" panose="02010609060101010101" charset="-122"/>
              </a:endParaRPr>
            </a:p>
          </p:txBody>
        </p:sp>
        <p:sp>
          <p:nvSpPr>
            <p:cNvPr id="52" name="矩形 51"/>
            <p:cNvSpPr/>
            <p:nvPr/>
          </p:nvSpPr>
          <p:spPr>
            <a:xfrm>
              <a:off x="3758" y="1864"/>
              <a:ext cx="1898" cy="630"/>
            </a:xfrm>
            <a:prstGeom prst="rect">
              <a:avLst/>
            </a:prstGeom>
            <a:solidFill>
              <a:srgbClr val="0C4BA1"/>
            </a:solidFill>
          </p:spPr>
          <p:txBody>
            <a:bodyPr wrap="square" anchor="ctr" anchorCtr="0">
              <a:spAutoFit/>
            </a:bodyPr>
            <a:lstStyle/>
            <a:p>
              <a:pPr algn="ctr">
                <a:defRPr/>
              </a:pPr>
              <a:r>
                <a:rPr kumimoji="1" lang="en-US" altLang="zh-CN" sz="2000" b="1" kern="0" dirty="0" smtClean="0">
                  <a:solidFill>
                    <a:prstClr val="white"/>
                  </a:solidFill>
                  <a:cs typeface="黑体" panose="02010609060101010101" charset="-122"/>
                </a:rPr>
                <a:t>Part 6</a:t>
              </a:r>
            </a:p>
          </p:txBody>
        </p:sp>
      </p:grpSp>
      <p:grpSp>
        <p:nvGrpSpPr>
          <p:cNvPr id="24" name="组合 23"/>
          <p:cNvGrpSpPr/>
          <p:nvPr/>
        </p:nvGrpSpPr>
        <p:grpSpPr>
          <a:xfrm>
            <a:off x="4100090" y="4525214"/>
            <a:ext cx="7143750" cy="405765"/>
            <a:chOff x="3758" y="1855"/>
            <a:chExt cx="11250" cy="639"/>
          </a:xfrm>
        </p:grpSpPr>
        <p:sp>
          <p:nvSpPr>
            <p:cNvPr id="25" name="矩形 24"/>
            <p:cNvSpPr/>
            <p:nvPr/>
          </p:nvSpPr>
          <p:spPr>
            <a:xfrm>
              <a:off x="5794" y="1855"/>
              <a:ext cx="131" cy="635"/>
            </a:xfrm>
            <a:prstGeom prst="rect">
              <a:avLst/>
            </a:prstGeom>
            <a:solidFill>
              <a:srgbClr val="0C4BA1"/>
            </a:solidFill>
            <a:ln>
              <a:noFill/>
            </a:ln>
            <a:effectLst/>
            <a:scene3d>
              <a:camera prst="orthographicFront">
                <a:rot lat="0" lon="0" rev="0"/>
              </a:camera>
              <a:lightRig rig="threePt" dir="t">
                <a:rot lat="0" lon="0" rev="1200000"/>
              </a:lightRig>
            </a:scene3d>
            <a:sp3d/>
          </p:spPr>
          <p:txBody>
            <a:bodyPr lIns="74808" tIns="37405" rIns="74808" bIns="37405" rtlCol="0" anchor="ctr"/>
            <a:lstStyle/>
            <a:p>
              <a:pPr indent="1270" algn="ctr">
                <a:lnSpc>
                  <a:spcPct val="150000"/>
                </a:lnSpc>
                <a:defRPr/>
              </a:pPr>
              <a:endParaRPr kumimoji="1" lang="zh-CN" altLang="en-US" sz="1670" kern="0" dirty="0">
                <a:solidFill>
                  <a:srgbClr val="FFFFFF"/>
                </a:solidFill>
              </a:endParaRPr>
            </a:p>
          </p:txBody>
        </p:sp>
        <p:sp>
          <p:nvSpPr>
            <p:cNvPr id="26" name="矩形 25"/>
            <p:cNvSpPr/>
            <p:nvPr/>
          </p:nvSpPr>
          <p:spPr>
            <a:xfrm>
              <a:off x="6098" y="1855"/>
              <a:ext cx="8910" cy="630"/>
            </a:xfrm>
            <a:prstGeom prst="rect">
              <a:avLst/>
            </a:prstGeom>
          </p:spPr>
          <p:txBody>
            <a:bodyPr wrap="square">
              <a:spAutoFit/>
            </a:bodyPr>
            <a:lstStyle/>
            <a:p>
              <a:r>
                <a:rPr kumimoji="1" lang="zh-CN" altLang="en-US" sz="2000" b="1" kern="0" dirty="0" smtClean="0">
                  <a:solidFill>
                    <a:srgbClr val="0C4BA1"/>
                  </a:solidFill>
                  <a:cs typeface="黑体" panose="02010609060101010101" charset="-122"/>
                </a:rPr>
                <a:t>课程学习自检</a:t>
              </a:r>
              <a:endParaRPr kumimoji="1" lang="zh-CN" altLang="en-US" sz="2000" b="1" kern="0" dirty="0">
                <a:solidFill>
                  <a:srgbClr val="0C4BA1"/>
                </a:solidFill>
                <a:cs typeface="黑体" panose="02010609060101010101" charset="-122"/>
              </a:endParaRPr>
            </a:p>
          </p:txBody>
        </p:sp>
        <p:sp>
          <p:nvSpPr>
            <p:cNvPr id="28" name="矩形 27"/>
            <p:cNvSpPr/>
            <p:nvPr/>
          </p:nvSpPr>
          <p:spPr>
            <a:xfrm>
              <a:off x="3758" y="1864"/>
              <a:ext cx="1898" cy="630"/>
            </a:xfrm>
            <a:prstGeom prst="rect">
              <a:avLst/>
            </a:prstGeom>
            <a:solidFill>
              <a:srgbClr val="0C4BA1"/>
            </a:solidFill>
          </p:spPr>
          <p:txBody>
            <a:bodyPr wrap="square" anchor="ctr" anchorCtr="0">
              <a:spAutoFit/>
            </a:bodyPr>
            <a:lstStyle/>
            <a:p>
              <a:pPr algn="ctr">
                <a:defRPr/>
              </a:pPr>
              <a:r>
                <a:rPr kumimoji="1" lang="en-US" altLang="zh-CN" sz="2000" b="1" kern="0" dirty="0" smtClean="0">
                  <a:solidFill>
                    <a:prstClr val="white"/>
                  </a:solidFill>
                  <a:cs typeface="黑体" panose="02010609060101010101" charset="-122"/>
                </a:rPr>
                <a:t>Part 5</a:t>
              </a:r>
            </a:p>
          </p:txBody>
        </p:sp>
      </p:grpSp>
      <p:sp>
        <p:nvSpPr>
          <p:cNvPr id="53" name="TextBox 52"/>
          <p:cNvSpPr txBox="1"/>
          <p:nvPr/>
        </p:nvSpPr>
        <p:spPr>
          <a:xfrm>
            <a:off x="5669280" y="1682496"/>
            <a:ext cx="5943600" cy="384048"/>
          </a:xfrm>
          <a:prstGeom prst="rect">
            <a:avLst/>
          </a:prstGeom>
          <a:noFill/>
        </p:spPr>
        <p:txBody>
          <a:bodyPr wrap="square" lIns="54864" tIns="36576" rIns="54864" bIns="36576" anchor="t">
            <a:noAutofit/>
          </a:bodyPr>
          <a:lstStyle/>
          <a:p>
            <a:pPr algn="l">
              <a:lnSpc>
                <a:spcPct val="112000"/>
              </a:lnSpc>
              <a:spcAft>
                <a:spcPts val="0"/>
              </a:spcAft>
            </a:pPr>
            <a:r>
              <a:rPr sz="1000" b="0">
                <a:solidFill>
                  <a:srgbClr val="6F7E8F"/>
                </a:solidFill>
              </a:rPr>
              <a:t>管理角色澄清表 · 同期投入与管理方式 · 战略专项：巴西 · 岗位本职：国际咨询 · 各项展开述职（角色自评）</a:t>
            </a:r>
          </a:p>
        </p:txBody>
      </p:sp>
      <p:sp>
        <p:nvSpPr>
          <p:cNvPr id="54" name="TextBox 53"/>
          <p:cNvSpPr txBox="1"/>
          <p:nvPr/>
        </p:nvSpPr>
        <p:spPr>
          <a:xfrm>
            <a:off x="9966960" y="1243584"/>
            <a:ext cx="1280160" cy="402336"/>
          </a:xfrm>
          <a:prstGeom prst="rect">
            <a:avLst/>
          </a:prstGeom>
          <a:noFill/>
        </p:spPr>
        <p:txBody>
          <a:bodyPr wrap="square" lIns="54864" tIns="36576" rIns="54864" bIns="36576" anchor="ctr">
            <a:noAutofit/>
          </a:bodyPr>
          <a:lstStyle/>
          <a:p>
            <a:pPr algn="r">
              <a:lnSpc>
                <a:spcPct val="112000"/>
              </a:lnSpc>
              <a:spcAft>
                <a:spcPts val="0"/>
              </a:spcAft>
            </a:pPr>
            <a:r>
              <a:rPr sz="1050" b="0">
                <a:solidFill>
                  <a:srgbClr val="6F7E8F"/>
                </a:solidFill>
              </a:rPr>
              <a:t>P04—26</a:t>
            </a:r>
          </a:p>
        </p:txBody>
      </p:sp>
      <p:sp>
        <p:nvSpPr>
          <p:cNvPr id="55" name="TextBox 54"/>
          <p:cNvSpPr txBox="1"/>
          <p:nvPr/>
        </p:nvSpPr>
        <p:spPr>
          <a:xfrm>
            <a:off x="9966960" y="2075688"/>
            <a:ext cx="1280160" cy="402336"/>
          </a:xfrm>
          <a:prstGeom prst="rect">
            <a:avLst/>
          </a:prstGeom>
          <a:noFill/>
        </p:spPr>
        <p:txBody>
          <a:bodyPr wrap="square" lIns="54864" tIns="36576" rIns="54864" bIns="36576" anchor="ctr">
            <a:noAutofit/>
          </a:bodyPr>
          <a:lstStyle/>
          <a:p>
            <a:pPr algn="r">
              <a:lnSpc>
                <a:spcPct val="112000"/>
              </a:lnSpc>
              <a:spcAft>
                <a:spcPts val="0"/>
              </a:spcAft>
            </a:pPr>
            <a:r>
              <a:rPr sz="1050" b="0">
                <a:solidFill>
                  <a:srgbClr val="6F7E8F"/>
                </a:solidFill>
              </a:rPr>
              <a:t>P27</a:t>
            </a:r>
          </a:p>
        </p:txBody>
      </p:sp>
      <p:sp>
        <p:nvSpPr>
          <p:cNvPr id="56" name="TextBox 55"/>
          <p:cNvSpPr txBox="1"/>
          <p:nvPr/>
        </p:nvSpPr>
        <p:spPr>
          <a:xfrm>
            <a:off x="9966960" y="2889504"/>
            <a:ext cx="1280160" cy="402336"/>
          </a:xfrm>
          <a:prstGeom prst="rect">
            <a:avLst/>
          </a:prstGeom>
          <a:noFill/>
        </p:spPr>
        <p:txBody>
          <a:bodyPr wrap="square" lIns="54864" tIns="36576" rIns="54864" bIns="36576" anchor="ctr">
            <a:noAutofit/>
          </a:bodyPr>
          <a:lstStyle/>
          <a:p>
            <a:pPr algn="r">
              <a:lnSpc>
                <a:spcPct val="112000"/>
              </a:lnSpc>
              <a:spcAft>
                <a:spcPts val="0"/>
              </a:spcAft>
            </a:pPr>
            <a:r>
              <a:rPr sz="1050" b="0">
                <a:solidFill>
                  <a:srgbClr val="6F7E8F"/>
                </a:solidFill>
              </a:rPr>
              <a:t>P28—29</a:t>
            </a:r>
          </a:p>
        </p:txBody>
      </p:sp>
      <p:sp>
        <p:nvSpPr>
          <p:cNvPr id="57" name="TextBox 56"/>
          <p:cNvSpPr txBox="1"/>
          <p:nvPr/>
        </p:nvSpPr>
        <p:spPr>
          <a:xfrm>
            <a:off x="9966960" y="3694176"/>
            <a:ext cx="1280160" cy="402336"/>
          </a:xfrm>
          <a:prstGeom prst="rect">
            <a:avLst/>
          </a:prstGeom>
          <a:noFill/>
        </p:spPr>
        <p:txBody>
          <a:bodyPr wrap="square" lIns="54864" tIns="36576" rIns="54864" bIns="36576" anchor="ctr">
            <a:noAutofit/>
          </a:bodyPr>
          <a:lstStyle/>
          <a:p>
            <a:pPr algn="r">
              <a:lnSpc>
                <a:spcPct val="112000"/>
              </a:lnSpc>
              <a:spcAft>
                <a:spcPts val="0"/>
              </a:spcAft>
            </a:pPr>
            <a:r>
              <a:rPr sz="1050" b="0">
                <a:solidFill>
                  <a:srgbClr val="6F7E8F"/>
                </a:solidFill>
              </a:rPr>
              <a:t>P30</a:t>
            </a:r>
          </a:p>
        </p:txBody>
      </p:sp>
      <p:sp>
        <p:nvSpPr>
          <p:cNvPr id="58" name="TextBox 57"/>
          <p:cNvSpPr txBox="1"/>
          <p:nvPr/>
        </p:nvSpPr>
        <p:spPr>
          <a:xfrm>
            <a:off x="9966960" y="4526280"/>
            <a:ext cx="1280160" cy="402336"/>
          </a:xfrm>
          <a:prstGeom prst="rect">
            <a:avLst/>
          </a:prstGeom>
          <a:noFill/>
        </p:spPr>
        <p:txBody>
          <a:bodyPr wrap="square" lIns="54864" tIns="36576" rIns="54864" bIns="36576" anchor="ctr">
            <a:noAutofit/>
          </a:bodyPr>
          <a:lstStyle/>
          <a:p>
            <a:pPr algn="r">
              <a:lnSpc>
                <a:spcPct val="112000"/>
              </a:lnSpc>
              <a:spcAft>
                <a:spcPts val="0"/>
              </a:spcAft>
            </a:pPr>
            <a:r>
              <a:rPr sz="1050" b="0">
                <a:solidFill>
                  <a:srgbClr val="6F7E8F"/>
                </a:solidFill>
              </a:rPr>
              <a:t>P31</a:t>
            </a:r>
          </a:p>
        </p:txBody>
      </p:sp>
      <p:sp>
        <p:nvSpPr>
          <p:cNvPr id="59" name="TextBox 58"/>
          <p:cNvSpPr txBox="1"/>
          <p:nvPr/>
        </p:nvSpPr>
        <p:spPr>
          <a:xfrm>
            <a:off x="9966960" y="5276088"/>
            <a:ext cx="1280160" cy="402336"/>
          </a:xfrm>
          <a:prstGeom prst="rect">
            <a:avLst/>
          </a:prstGeom>
          <a:noFill/>
        </p:spPr>
        <p:txBody>
          <a:bodyPr wrap="square" lIns="54864" tIns="36576" rIns="54864" bIns="36576" anchor="ctr">
            <a:noAutofit/>
          </a:bodyPr>
          <a:lstStyle/>
          <a:p>
            <a:pPr algn="r">
              <a:lnSpc>
                <a:spcPct val="112000"/>
              </a:lnSpc>
              <a:spcAft>
                <a:spcPts val="0"/>
              </a:spcAft>
            </a:pPr>
            <a:r>
              <a:rPr sz="1050" b="0">
                <a:solidFill>
                  <a:srgbClr val="6F7E8F"/>
                </a:solidFill>
              </a:rPr>
              <a:t>P32</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2624328" y="868680"/>
            <a:ext cx="6940296" cy="868680"/>
          </a:xfrm>
          <a:prstGeom prst="rect">
            <a:avLst/>
          </a:prstGeom>
          <a:noFill/>
          <a:ln w="9525">
            <a:noFill/>
            <a:miter lim="800000"/>
          </a:ln>
        </p:spPr>
        <p:txBody>
          <a:bodyPr wrap="square">
            <a:spAutoFit/>
          </a:bodyPr>
          <a:lstStyle/>
          <a:p>
            <a:pPr algn="ctr" defTabSz="915035" fontAlgn="base">
              <a:lnSpc>
                <a:spcPct val="150000"/>
              </a:lnSpc>
              <a:spcBef>
                <a:spcPct val="0"/>
              </a:spcBef>
              <a:spcAft>
                <a:spcPct val="0"/>
              </a:spcAft>
            </a:pPr>
            <a:r>
              <a:rPr lang="zh-CN" altLang="en-US" sz="4000" b="1" dirty="0">
                <a:solidFill>
                  <a:srgbClr val="0C4BA1"/>
                </a:solidFill>
              </a:rPr>
              <a:t>总结与交流</a:t>
            </a:r>
          </a:p>
        </p:txBody>
      </p:sp>
      <p:sp>
        <p:nvSpPr>
          <p:cNvPr id="4" name="TextBox 3"/>
          <p:cNvSpPr txBox="1"/>
          <p:nvPr/>
        </p:nvSpPr>
        <p:spPr>
          <a:xfrm>
            <a:off x="1188720" y="1783080"/>
            <a:ext cx="9811512" cy="457200"/>
          </a:xfrm>
          <a:prstGeom prst="rect">
            <a:avLst/>
          </a:prstGeom>
          <a:noFill/>
        </p:spPr>
        <p:txBody>
          <a:bodyPr wrap="square" lIns="54864" tIns="36576" rIns="54864" bIns="36576" anchor="ctr">
            <a:noAutofit/>
          </a:bodyPr>
          <a:lstStyle/>
          <a:p>
            <a:pPr algn="ctr">
              <a:lnSpc>
                <a:spcPct val="112000"/>
              </a:lnSpc>
              <a:spcAft>
                <a:spcPts val="0"/>
              </a:spcAft>
            </a:pPr>
            <a:r>
              <a:rPr sz="1300" b="1">
                <a:solidFill>
                  <a:srgbClr val="0A2A5E"/>
                </a:solidFill>
              </a:rPr>
              <a:t>战略专项·巴西取得重大阶段突破　｜　岗位本职·国际咨询形成重点区域实际支撑</a:t>
            </a:r>
          </a:p>
        </p:txBody>
      </p:sp>
      <p:sp>
        <p:nvSpPr>
          <p:cNvPr id="5" name="Rounded Rectangle 4"/>
          <p:cNvSpPr/>
          <p:nvPr/>
        </p:nvSpPr>
        <p:spPr>
          <a:xfrm>
            <a:off x="1188720" y="2377440"/>
            <a:ext cx="3124200" cy="1371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16736" y="2505456"/>
            <a:ext cx="292608" cy="292608"/>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1</a:t>
            </a:r>
          </a:p>
        </p:txBody>
      </p:sp>
      <p:sp>
        <p:nvSpPr>
          <p:cNvPr id="7" name="TextBox 6"/>
          <p:cNvSpPr txBox="1"/>
          <p:nvPr/>
        </p:nvSpPr>
        <p:spPr>
          <a:xfrm>
            <a:off x="1691640" y="2468880"/>
            <a:ext cx="2529840" cy="365760"/>
          </a:xfrm>
          <a:prstGeom prst="rect">
            <a:avLst/>
          </a:prstGeom>
          <a:noFill/>
        </p:spPr>
        <p:txBody>
          <a:bodyPr wrap="square" lIns="54864" tIns="36576" rIns="54864" bIns="36576" anchor="ctr">
            <a:noAutofit/>
          </a:bodyPr>
          <a:lstStyle/>
          <a:p>
            <a:pPr algn="l">
              <a:lnSpc>
                <a:spcPct val="112000"/>
              </a:lnSpc>
              <a:spcAft>
                <a:spcPts val="0"/>
              </a:spcAft>
            </a:pPr>
            <a:r>
              <a:rPr sz="1150" b="1">
                <a:solidFill>
                  <a:srgbClr val="0A2A5E"/>
                </a:solidFill>
              </a:rPr>
              <a:t>持续承担总体责任</a:t>
            </a:r>
          </a:p>
        </p:txBody>
      </p:sp>
      <p:sp>
        <p:nvSpPr>
          <p:cNvPr id="8" name="TextBox 7"/>
          <p:cNvSpPr txBox="1"/>
          <p:nvPr/>
        </p:nvSpPr>
        <p:spPr>
          <a:xfrm>
            <a:off x="1316736" y="2834640"/>
            <a:ext cx="2868168" cy="86868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在巴西客户、政府合作、华为伙伴和内部专业团队之间持续推进关键问题，将合作意向、技术方案和交易前提连接起来</a:t>
            </a:r>
          </a:p>
        </p:txBody>
      </p:sp>
      <p:sp>
        <p:nvSpPr>
          <p:cNvPr id="9" name="Rounded Rectangle 8"/>
          <p:cNvSpPr/>
          <p:nvPr/>
        </p:nvSpPr>
        <p:spPr>
          <a:xfrm>
            <a:off x="4532375" y="2377440"/>
            <a:ext cx="3124200" cy="1371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60391" y="2505456"/>
            <a:ext cx="292608" cy="292608"/>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2</a:t>
            </a:r>
          </a:p>
        </p:txBody>
      </p:sp>
      <p:sp>
        <p:nvSpPr>
          <p:cNvPr id="11" name="TextBox 10"/>
          <p:cNvSpPr txBox="1"/>
          <p:nvPr/>
        </p:nvSpPr>
        <p:spPr>
          <a:xfrm>
            <a:off x="5035295" y="2468880"/>
            <a:ext cx="2529840" cy="365760"/>
          </a:xfrm>
          <a:prstGeom prst="rect">
            <a:avLst/>
          </a:prstGeom>
          <a:noFill/>
        </p:spPr>
        <p:txBody>
          <a:bodyPr wrap="square" lIns="54864" tIns="36576" rIns="54864" bIns="36576" anchor="ctr">
            <a:noAutofit/>
          </a:bodyPr>
          <a:lstStyle/>
          <a:p>
            <a:pPr algn="l">
              <a:lnSpc>
                <a:spcPct val="112000"/>
              </a:lnSpc>
              <a:spcAft>
                <a:spcPts val="0"/>
              </a:spcAft>
            </a:pPr>
            <a:r>
              <a:rPr sz="1150" b="1">
                <a:solidFill>
                  <a:srgbClr val="0A2A5E"/>
                </a:solidFill>
              </a:rPr>
              <a:t>关键专业问题亲自攻坚</a:t>
            </a:r>
          </a:p>
        </p:txBody>
      </p:sp>
      <p:sp>
        <p:nvSpPr>
          <p:cNvPr id="12" name="TextBox 11"/>
          <p:cNvSpPr txBox="1"/>
          <p:nvPr/>
        </p:nvSpPr>
        <p:spPr>
          <a:xfrm>
            <a:off x="4660391" y="2834640"/>
            <a:ext cx="2868168" cy="86868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直接用英语处理自主训练、语料、跨生态、效果验收和权利边界等问题，帮助客户理解可实施路径，并参与主要技术需求形成</a:t>
            </a:r>
          </a:p>
        </p:txBody>
      </p:sp>
      <p:sp>
        <p:nvSpPr>
          <p:cNvPr id="13" name="Rounded Rectangle 12"/>
          <p:cNvSpPr/>
          <p:nvPr/>
        </p:nvSpPr>
        <p:spPr>
          <a:xfrm>
            <a:off x="7876032" y="2377440"/>
            <a:ext cx="3124200" cy="1371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04048" y="2505456"/>
            <a:ext cx="292608" cy="292608"/>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3</a:t>
            </a:r>
          </a:p>
        </p:txBody>
      </p:sp>
      <p:sp>
        <p:nvSpPr>
          <p:cNvPr id="15" name="TextBox 14"/>
          <p:cNvSpPr txBox="1"/>
          <p:nvPr/>
        </p:nvSpPr>
        <p:spPr>
          <a:xfrm>
            <a:off x="8378952" y="2468880"/>
            <a:ext cx="2529840" cy="365760"/>
          </a:xfrm>
          <a:prstGeom prst="rect">
            <a:avLst/>
          </a:prstGeom>
          <a:noFill/>
        </p:spPr>
        <p:txBody>
          <a:bodyPr wrap="square" lIns="54864" tIns="36576" rIns="54864" bIns="36576" anchor="ctr">
            <a:noAutofit/>
          </a:bodyPr>
          <a:lstStyle/>
          <a:p>
            <a:pPr algn="l">
              <a:lnSpc>
                <a:spcPct val="112000"/>
              </a:lnSpc>
              <a:spcAft>
                <a:spcPts val="0"/>
              </a:spcAft>
            </a:pPr>
            <a:r>
              <a:rPr sz="1150" b="1">
                <a:solidFill>
                  <a:srgbClr val="0A2A5E"/>
                </a:solidFill>
              </a:rPr>
              <a:t>建设团队并组织跨区域产出</a:t>
            </a:r>
          </a:p>
        </p:txBody>
      </p:sp>
      <p:sp>
        <p:nvSpPr>
          <p:cNvPr id="16" name="TextBox 15"/>
          <p:cNvSpPr txBox="1"/>
          <p:nvPr/>
        </p:nvSpPr>
        <p:spPr>
          <a:xfrm>
            <a:off x="8004048" y="2834640"/>
            <a:ext cx="2868168" cy="86868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招募培养骨干，安排现场与跨区支撑，持续评审重点机会和风险，将部分个人经验转为团队承接与复用</a:t>
            </a:r>
          </a:p>
        </p:txBody>
      </p:sp>
      <p:sp>
        <p:nvSpPr>
          <p:cNvPr id="17" name="Rounded Rectangle 16"/>
          <p:cNvSpPr/>
          <p:nvPr/>
        </p:nvSpPr>
        <p:spPr>
          <a:xfrm>
            <a:off x="1188720" y="3886200"/>
            <a:ext cx="4796028" cy="1463040"/>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5880" y="3931920"/>
            <a:ext cx="4521708" cy="29260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C4BA1"/>
                </a:solidFill>
              </a:rPr>
              <a:t>下一阶段：三项我方可控的承诺</a:t>
            </a:r>
          </a:p>
        </p:txBody>
      </p:sp>
      <p:sp>
        <p:nvSpPr>
          <p:cNvPr id="19" name="TextBox 18"/>
          <p:cNvSpPr txBox="1"/>
          <p:nvPr/>
        </p:nvSpPr>
        <p:spPr>
          <a:xfrm>
            <a:off x="1325880" y="4224528"/>
            <a:ext cx="4521708" cy="1097280"/>
          </a:xfrm>
          <a:prstGeom prst="rect">
            <a:avLst/>
          </a:prstGeom>
          <a:noFill/>
        </p:spPr>
        <p:txBody>
          <a:bodyPr wrap="square" lIns="54864" tIns="36576" rIns="54864" bIns="36576" anchor="t">
            <a:noAutofit/>
          </a:bodyPr>
          <a:lstStyle/>
          <a:p>
            <a:pPr algn="l" marL="146304" indent="-146304">
              <a:lnSpc>
                <a:spcPct val="112000"/>
              </a:lnSpc>
              <a:spcAft>
                <a:spcPts val="200"/>
              </a:spcAft>
              <a:buClr>
                <a:srgbClr val="0C4BA1"/>
              </a:buClr>
              <a:buSzPct val="100000"/>
              <a:buFont typeface="Arial"/>
              <a:buChar char="•"/>
            </a:pPr>
            <a:r>
              <a:rPr sz="950" b="0">
                <a:solidFill>
                  <a:srgbClr val="2F3E4F"/>
                </a:solidFill>
              </a:rPr>
              <a:t>RNP签约条件我方侧全部具备：材料、主体、专业确认</a:t>
            </a:r>
          </a:p>
          <a:p>
            <a:pPr algn="l" marL="146304" indent="-146304">
              <a:lnSpc>
                <a:spcPct val="112000"/>
              </a:lnSpc>
              <a:spcAft>
                <a:spcPts val="200"/>
              </a:spcAft>
              <a:buClr>
                <a:srgbClr val="0C4BA1"/>
              </a:buClr>
              <a:buSzPct val="100000"/>
              <a:buFont typeface="Arial"/>
              <a:buChar char="•"/>
            </a:pPr>
            <a:r>
              <a:rPr sz="950" b="0">
                <a:solidFill>
                  <a:srgbClr val="2F3E4F"/>
                </a:solidFill>
              </a:rPr>
              <a:t>SERPRO完成最终业务确认与PoC验收，并明确采购路径</a:t>
            </a:r>
          </a:p>
          <a:p>
            <a:pPr algn="l" marL="146304" indent="-146304">
              <a:lnSpc>
                <a:spcPct val="112000"/>
              </a:lnSpc>
              <a:spcAft>
                <a:spcPts val="200"/>
              </a:spcAft>
              <a:buClr>
                <a:srgbClr val="0C4BA1"/>
              </a:buClr>
              <a:buSzPct val="100000"/>
              <a:buFont typeface="Arial"/>
              <a:buChar char="•"/>
            </a:pPr>
            <a:r>
              <a:rPr sz="950" b="0">
                <a:solidFill>
                  <a:srgbClr val="2F3E4F"/>
                </a:solidFill>
              </a:rPr>
              <a:t>重点项目主备名单与授权边界清单落地，减少单点依赖</a:t>
            </a:r>
          </a:p>
        </p:txBody>
      </p:sp>
      <p:sp>
        <p:nvSpPr>
          <p:cNvPr id="20" name="Rounded Rectangle 19"/>
          <p:cNvSpPr/>
          <p:nvPr/>
        </p:nvSpPr>
        <p:spPr>
          <a:xfrm>
            <a:off x="6204204" y="3886200"/>
            <a:ext cx="4796028" cy="1463040"/>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1364" y="3931920"/>
            <a:ext cx="4521708" cy="29260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1F8F5F"/>
                </a:solidFill>
              </a:rPr>
              <a:t>需要组织的支持</a:t>
            </a:r>
          </a:p>
        </p:txBody>
      </p:sp>
      <p:sp>
        <p:nvSpPr>
          <p:cNvPr id="22" name="TextBox 21"/>
          <p:cNvSpPr txBox="1"/>
          <p:nvPr/>
        </p:nvSpPr>
        <p:spPr>
          <a:xfrm>
            <a:off x="6341364" y="4224528"/>
            <a:ext cx="4521708" cy="1097280"/>
          </a:xfrm>
          <a:prstGeom prst="rect">
            <a:avLst/>
          </a:prstGeom>
          <a:noFill/>
        </p:spPr>
        <p:txBody>
          <a:bodyPr wrap="square" lIns="54864" tIns="36576" rIns="54864" bIns="36576" anchor="t">
            <a:noAutofit/>
          </a:bodyPr>
          <a:lstStyle/>
          <a:p>
            <a:pPr algn="l" marL="146304" indent="-146304">
              <a:lnSpc>
                <a:spcPct val="112000"/>
              </a:lnSpc>
              <a:spcAft>
                <a:spcPts val="200"/>
              </a:spcAft>
              <a:buClr>
                <a:srgbClr val="1F8F5F"/>
              </a:buClr>
              <a:buSzPct val="100000"/>
              <a:buFont typeface="Arial"/>
              <a:buChar char="•"/>
            </a:pPr>
            <a:r>
              <a:rPr sz="950" b="0">
                <a:solidFill>
                  <a:srgbClr val="2F3E4F"/>
                </a:solidFill>
              </a:rPr>
              <a:t>关键节点集中投入的商法财、方案与服务资源</a:t>
            </a:r>
          </a:p>
          <a:p>
            <a:pPr algn="l" marL="146304" indent="-146304">
              <a:lnSpc>
                <a:spcPct val="112000"/>
              </a:lnSpc>
              <a:spcAft>
                <a:spcPts val="200"/>
              </a:spcAft>
              <a:buClr>
                <a:srgbClr val="1F8F5F"/>
              </a:buClr>
              <a:buSzPct val="100000"/>
              <a:buFont typeface="Arial"/>
              <a:buChar char="•"/>
            </a:pPr>
            <a:r>
              <a:rPr sz="950" b="0">
                <a:solidFill>
                  <a:srgbClr val="2F3E4F"/>
                </a:solidFill>
              </a:rPr>
              <a:t>重大项目的总体责任人与各专业决策接口</a:t>
            </a:r>
          </a:p>
          <a:p>
            <a:pPr algn="l" marL="146304" indent="-146304">
              <a:lnSpc>
                <a:spcPct val="112000"/>
              </a:lnSpc>
              <a:spcAft>
                <a:spcPts val="200"/>
              </a:spcAft>
              <a:buClr>
                <a:srgbClr val="1F8F5F"/>
              </a:buClr>
              <a:buSzPct val="100000"/>
              <a:buFont typeface="Arial"/>
              <a:buChar char="•"/>
            </a:pPr>
            <a:r>
              <a:rPr sz="950" b="0">
                <a:solidFill>
                  <a:srgbClr val="2F3E4F"/>
                </a:solidFill>
              </a:rPr>
              <a:t>现场主备、轮换与跨区支援的人员保障</a:t>
            </a:r>
          </a:p>
        </p:txBody>
      </p:sp>
      <p:sp>
        <p:nvSpPr>
          <p:cNvPr id="23" name="TextBox 22"/>
          <p:cNvSpPr txBox="1"/>
          <p:nvPr/>
        </p:nvSpPr>
        <p:spPr>
          <a:xfrm>
            <a:off x="1188720" y="5486400"/>
            <a:ext cx="9811512" cy="365760"/>
          </a:xfrm>
          <a:prstGeom prst="rect">
            <a:avLst/>
          </a:prstGeom>
          <a:noFill/>
        </p:spPr>
        <p:txBody>
          <a:bodyPr wrap="square" lIns="54864" tIns="36576" rIns="54864" bIns="36576" anchor="ctr">
            <a:noAutofit/>
          </a:bodyPr>
          <a:lstStyle/>
          <a:p>
            <a:pPr algn="ctr">
              <a:lnSpc>
                <a:spcPct val="112000"/>
              </a:lnSpc>
              <a:spcAft>
                <a:spcPts val="0"/>
              </a:spcAft>
            </a:pPr>
            <a:r>
              <a:rPr sz="1100" b="1">
                <a:solidFill>
                  <a:srgbClr val="0A2A5E"/>
                </a:solidFill>
              </a:rPr>
              <a:t>阶段成果已形成；正式商业闭环与组织稳定承接是下一阶段的责任。请各位领导指导。</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双线成果总览：岗位本职与战略专项同步推进</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10927080" y="548640"/>
            <a:ext cx="896112"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看结果</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a:t>
            </a:r>
          </a:p>
        </p:txBody>
      </p:sp>
      <p:sp>
        <p:nvSpPr>
          <p:cNvPr id="6" name="Rounded Rectangle 5"/>
          <p:cNvSpPr/>
          <p:nvPr/>
        </p:nvSpPr>
        <p:spPr>
          <a:xfrm>
            <a:off x="365760" y="1170432"/>
            <a:ext cx="11457432" cy="457200"/>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252728"/>
            <a:ext cx="914400" cy="292608"/>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FFFFFF"/>
                </a:solidFill>
              </a:rPr>
              <a:t>核心结论</a:t>
            </a:r>
          </a:p>
        </p:txBody>
      </p:sp>
      <p:sp>
        <p:nvSpPr>
          <p:cNvPr id="8" name="TextBox 7"/>
          <p:cNvSpPr txBox="1"/>
          <p:nvPr/>
        </p:nvSpPr>
        <p:spPr>
          <a:xfrm>
            <a:off x="1481328" y="1170432"/>
            <a:ext cx="10222992" cy="45720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在国际业务与本地组织仍处建设阶段的条件下，同步推进巴西重大项目突破和多区域咨询能力建设。</a:t>
            </a:r>
          </a:p>
        </p:txBody>
      </p:sp>
      <p:graphicFrame>
        <p:nvGraphicFramePr>
          <p:cNvPr id="9" name="Table 8"/>
          <p:cNvGraphicFramePr>
            <a:graphicFrameLocks noGrp="1"/>
          </p:cNvGraphicFramePr>
          <p:nvPr/>
        </p:nvGraphicFramePr>
        <p:xfrm>
          <a:off x="365760" y="1737360"/>
          <a:ext cx="11457432" cy="3968496"/>
        </p:xfrm>
        <a:graphic>
          <a:graphicData uri="http://schemas.openxmlformats.org/drawingml/2006/table">
            <a:tbl>
              <a:tblPr firstRow="0" bandRow="0">
                <a:tableStyleId>{2D5ABB26-0587-4C30-8999-92F81FD0307C}</a:tableStyleId>
              </a:tblPr>
              <a:tblGrid>
                <a:gridCol w="1600200"/>
                <a:gridCol w="4343400"/>
                <a:gridCol w="2697480"/>
                <a:gridCol w="2816352"/>
              </a:tblGrid>
              <a:tr h="384048">
                <a:tc>
                  <a:txBody>
                    <a:bodyPr wrap="square" lIns="64008" tIns="18288" rIns="64008" bIns="18288" anchor="ctr">
                      <a:noAutofit/>
                    </a:bodyPr>
                    <a:lstStyle/>
                    <a:p>
                      <a:pPr algn="l">
                        <a:lnSpc>
                          <a:spcPct val="112000"/>
                        </a:lnSpc>
                        <a:spcAft>
                          <a:spcPts val="0"/>
                        </a:spcAft>
                      </a:pPr>
                      <a:r>
                        <a:rPr sz="1050" b="1">
                          <a:solidFill>
                            <a:srgbClr val="FFFFFF"/>
                          </a:solidFill>
                        </a:rPr>
                        <a:t>成果主线</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已形成的结果与产出</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公司获得的价值</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本人承担的关键责任</a:t>
                      </a:r>
                    </a:p>
                  </a:txBody>
                  <a:tcPr anchor="ctr">
                    <a:lnL w="0">
                      <a:noFill/>
                    </a:lnL>
                    <a:lnR w="0">
                      <a:noFill/>
                    </a:lnR>
                    <a:lnT w="0">
                      <a:noFill/>
                    </a:lnT>
                    <a:lnB w="0">
                      <a:noFill/>
                    </a:lnB>
                    <a:solidFill>
                      <a:srgbClr val="0C4BA1"/>
                    </a:solidFill>
                  </a:tcPr>
                </a:tc>
              </a:tr>
              <a:tr h="896112">
                <a:tc>
                  <a:txBody>
                    <a:bodyPr wrap="square" lIns="64008" tIns="27432" rIns="64008" bIns="27432" anchor="ctr">
                      <a:noAutofit/>
                    </a:bodyPr>
                    <a:lstStyle/>
                    <a:p>
                      <a:pPr algn="l">
                        <a:lnSpc>
                          <a:spcPct val="108000"/>
                        </a:lnSpc>
                        <a:spcAft>
                          <a:spcPts val="200"/>
                        </a:spcAft>
                      </a:pPr>
                      <a:r>
                        <a:rPr sz="900" b="1">
                          <a:solidFill>
                            <a:srgbClr val="0C4BA1"/>
                          </a:solidFill>
                        </a:rPr>
                        <a:t>战略专项 · 巴西</a:t>
                      </a:r>
                    </a:p>
                    <a:p>
                      <a:pPr algn="l">
                        <a:lnSpc>
                          <a:spcPct val="108000"/>
                        </a:lnSpc>
                        <a:spcAft>
                          <a:spcPts val="200"/>
                        </a:spcAft>
                      </a:pPr>
                      <a:r>
                        <a:rPr sz="1050" b="1">
                          <a:solidFill>
                            <a:srgbClr val="0A2A5E"/>
                          </a:solidFill>
                        </a:rPr>
                        <a:t>国家AI项目</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总统公开宣布相关合作、三方合作文件签署；多轮交流及4批30多个问题应答后，主要技术路线获客户认可，方案内容体现到RNP技术需求书；采购合同、本地实体及交付前提持续推进</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在巴西国家级AI合作中形成明确合作位置，为后续签约与长期承接建立项目基础</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持续承担讯飞侧总体推进，补位客户与销售工作，亲自完成关键英语咨询，组织政府合作、华为及内部专业团队协同</a:t>
                      </a:r>
                    </a:p>
                  </a:txBody>
                  <a:tcPr anchor="ctr">
                    <a:lnL w="0">
                      <a:noFill/>
                    </a:lnL>
                    <a:lnR w="0">
                      <a:noFill/>
                    </a:lnR>
                    <a:lnT w="0">
                      <a:noFill/>
                    </a:lnT>
                    <a:lnB w="9525" cap="flat" cmpd="sng" algn="ctr">
                      <a:solidFill>
                        <a:srgbClr val="D3DCE8"/>
                      </a:solidFill>
                      <a:prstDash val="solid"/>
                    </a:lnB>
                    <a:solidFill>
                      <a:srgbClr val="FFFFFF"/>
                    </a:solidFill>
                  </a:tcPr>
                </a:tc>
              </a:tr>
              <a:tr h="896112">
                <a:tc>
                  <a:txBody>
                    <a:bodyPr wrap="square" lIns="64008" tIns="27432" rIns="64008" bIns="27432" anchor="ctr">
                      <a:noAutofit/>
                    </a:bodyPr>
                    <a:lstStyle/>
                    <a:p>
                      <a:pPr algn="l">
                        <a:lnSpc>
                          <a:spcPct val="108000"/>
                        </a:lnSpc>
                        <a:spcAft>
                          <a:spcPts val="200"/>
                        </a:spcAft>
                      </a:pPr>
                      <a:r>
                        <a:rPr sz="900" b="1">
                          <a:solidFill>
                            <a:srgbClr val="0C4BA1"/>
                          </a:solidFill>
                        </a:rPr>
                        <a:t>战略专项 · 巴西</a:t>
                      </a:r>
                    </a:p>
                    <a:p>
                      <a:pPr algn="l">
                        <a:lnSpc>
                          <a:spcPct val="108000"/>
                        </a:lnSpc>
                        <a:spcAft>
                          <a:spcPts val="200"/>
                        </a:spcAft>
                      </a:pPr>
                      <a:r>
                        <a:rPr sz="1050" b="1">
                          <a:solidFill>
                            <a:srgbClr val="0A2A5E"/>
                          </a:solidFill>
                        </a:rPr>
                        <a:t>SERPRO应用合作</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从多场景规划进入MGI-SGP招聘应用PoC；按8月更新已完成开发，继续推进部署、最终客户确认、验收及采购路径</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在国家级项目之外形成具体政务应用验证基础，为商业转化提供现实切入点</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牵引需求与方案、产品资源、伙伴协调及客户沟通；开发由研发团队完成</a:t>
                      </a:r>
                    </a:p>
                  </a:txBody>
                  <a:tcPr anchor="ctr">
                    <a:lnL w="0">
                      <a:noFill/>
                    </a:lnL>
                    <a:lnR w="0">
                      <a:noFill/>
                    </a:lnR>
                    <a:lnT w="0">
                      <a:noFill/>
                    </a:lnT>
                    <a:lnB w="9525" cap="flat" cmpd="sng" algn="ctr">
                      <a:solidFill>
                        <a:srgbClr val="D3DCE8"/>
                      </a:solidFill>
                      <a:prstDash val="solid"/>
                    </a:lnB>
                    <a:solidFill>
                      <a:srgbClr val="F6F8FC"/>
                    </a:solidFill>
                  </a:tcPr>
                </a:tc>
              </a:tr>
              <a:tr h="896112">
                <a:tc>
                  <a:txBody>
                    <a:bodyPr wrap="square" lIns="64008" tIns="27432" rIns="64008" bIns="27432" anchor="ctr">
                      <a:noAutofit/>
                    </a:bodyPr>
                    <a:lstStyle/>
                    <a:p>
                      <a:pPr algn="l">
                        <a:lnSpc>
                          <a:spcPct val="108000"/>
                        </a:lnSpc>
                        <a:spcAft>
                          <a:spcPts val="200"/>
                        </a:spcAft>
                      </a:pPr>
                      <a:r>
                        <a:rPr sz="900" b="1">
                          <a:solidFill>
                            <a:srgbClr val="1F8F5F"/>
                          </a:solidFill>
                        </a:rPr>
                        <a:t>岗位本职 · 国际咨询</a:t>
                      </a:r>
                    </a:p>
                    <a:p>
                      <a:pPr algn="l">
                        <a:lnSpc>
                          <a:spcPct val="108000"/>
                        </a:lnSpc>
                        <a:spcAft>
                          <a:spcPts val="200"/>
                        </a:spcAft>
                      </a:pPr>
                      <a:r>
                        <a:rPr sz="1050" b="1">
                          <a:solidFill>
                            <a:srgbClr val="0A2A5E"/>
                          </a:solidFill>
                        </a:rPr>
                        <a:t>咨询组织建设</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Q1形成共6人的团队配置，5个重点区域有主责咨询；持续培养骨干并跨国部署，徐唯逐步承担巴西主要方案及现场咨询</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将部分原来依赖个人的工作转为区域主责与骨干承接</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招募与识别、实战带教、任务分配、主备与现场衔接、关键质量把关</a:t>
                      </a:r>
                    </a:p>
                  </a:txBody>
                  <a:tcPr anchor="ctr">
                    <a:lnL w="0">
                      <a:noFill/>
                    </a:lnL>
                    <a:lnR w="0">
                      <a:noFill/>
                    </a:lnR>
                    <a:lnT w="0">
                      <a:noFill/>
                    </a:lnT>
                    <a:lnB w="9525" cap="flat" cmpd="sng" algn="ctr">
                      <a:solidFill>
                        <a:srgbClr val="D3DCE8"/>
                      </a:solidFill>
                      <a:prstDash val="solid"/>
                    </a:lnB>
                    <a:solidFill>
                      <a:srgbClr val="FFFFFF"/>
                    </a:solidFill>
                  </a:tcPr>
                </a:tc>
              </a:tr>
              <a:tr h="896112">
                <a:tc>
                  <a:txBody>
                    <a:bodyPr wrap="square" lIns="64008" tIns="27432" rIns="64008" bIns="27432" anchor="ctr">
                      <a:noAutofit/>
                    </a:bodyPr>
                    <a:lstStyle/>
                    <a:p>
                      <a:pPr algn="l">
                        <a:lnSpc>
                          <a:spcPct val="108000"/>
                        </a:lnSpc>
                        <a:spcAft>
                          <a:spcPts val="200"/>
                        </a:spcAft>
                      </a:pPr>
                      <a:r>
                        <a:rPr sz="900" b="1">
                          <a:solidFill>
                            <a:srgbClr val="1F8F5F"/>
                          </a:solidFill>
                        </a:rPr>
                        <a:t>岗位本职 · 国际咨询</a:t>
                      </a:r>
                    </a:p>
                    <a:p>
                      <a:pPr algn="l">
                        <a:lnSpc>
                          <a:spcPct val="108000"/>
                        </a:lnSpc>
                        <a:spcAft>
                          <a:spcPts val="200"/>
                        </a:spcAft>
                      </a:pPr>
                      <a:r>
                        <a:rPr sz="1050" b="1">
                          <a:solidFill>
                            <a:srgbClr val="0A2A5E"/>
                          </a:solidFill>
                        </a:rPr>
                        <a:t>多区域业务支撑</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持续形成国别方案、HLD、SoC、RFI、可研、演示、报价及合同范围材料；在埃及、SDEC、KNG、IGNITE等项目处理范围、竞争与交付风险</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提高重点机会的专业支撑与交易准备程度，积累可复用经验</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组织资源、参与策略判断、评审关键材料；主责咨询与专业团队落实具体产出</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10" name="Rounded Rectangle 9"/>
          <p:cNvSpPr/>
          <p:nvPr/>
        </p:nvSpPr>
        <p:spPr>
          <a:xfrm>
            <a:off x="365760" y="5833872"/>
            <a:ext cx="11457432" cy="658368"/>
          </a:xfrm>
          <a:prstGeom prst="roundRect">
            <a:avLst>
              <a:gd name="adj" fmla="val 12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833872"/>
            <a:ext cx="11091672" cy="658368"/>
          </a:xfrm>
          <a:prstGeom prst="rect">
            <a:avLst/>
          </a:prstGeom>
          <a:noFill/>
        </p:spPr>
        <p:txBody>
          <a:bodyPr wrap="square" lIns="54864" tIns="36576" rIns="54864" bIns="36576" anchor="ctr">
            <a:noAutofit/>
          </a:bodyPr>
          <a:lstStyle/>
          <a:p>
            <a:pPr algn="l">
              <a:lnSpc>
                <a:spcPct val="112000"/>
              </a:lnSpc>
              <a:spcAft>
                <a:spcPts val="200"/>
              </a:spcAft>
            </a:pPr>
            <a:r>
              <a:rPr sz="1050" b="1">
                <a:solidFill>
                  <a:srgbClr val="FFFFFF"/>
                </a:solidFill>
              </a:rPr>
              <a:t>共同特征</a:t>
            </a:r>
            <a:r>
              <a:rPr sz="1050" b="0">
                <a:solidFill>
                  <a:srgbClr val="FFFFFF"/>
                </a:solidFill>
              </a:rPr>
              <a:t>　既亲自承担最关键的项目与专业问题，又持续组织团队形成跨区域产出。</a:t>
            </a:r>
          </a:p>
          <a:p>
            <a:pPr algn="l">
              <a:lnSpc>
                <a:spcPct val="112000"/>
              </a:lnSpc>
              <a:spcAft>
                <a:spcPts val="200"/>
              </a:spcAft>
            </a:pPr>
            <a:r>
              <a:rPr sz="1050" b="1">
                <a:solidFill>
                  <a:srgbClr val="FFFFFF"/>
                </a:solidFill>
              </a:rPr>
              <a:t>当前经营状态</a:t>
            </a:r>
            <a:r>
              <a:rPr sz="1050" b="0">
                <a:solidFill>
                  <a:srgbClr val="FFFFFF"/>
                </a:solidFill>
              </a:rPr>
              <a:t>　重大阶段成果已形成；RNP正式商业合同、SERPRO最终验收及相关回款尚需继续完成。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管理角色澄清表：四类角色的目标、投入与自评</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10927080" y="548640"/>
            <a:ext cx="896112"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看定位</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4</a:t>
            </a:r>
          </a:p>
        </p:txBody>
      </p:sp>
      <p:sp>
        <p:nvSpPr>
          <p:cNvPr id="6" name="Rounded Rectangle 5"/>
          <p:cNvSpPr/>
          <p:nvPr/>
        </p:nvSpPr>
        <p:spPr>
          <a:xfrm>
            <a:off x="365760" y="1170432"/>
            <a:ext cx="11457432" cy="566928"/>
          </a:xfrm>
          <a:prstGeom prst="roundRect">
            <a:avLst>
              <a:gd name="adj" fmla="val 2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307592"/>
            <a:ext cx="960120" cy="292608"/>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FFFFFF"/>
                </a:solidFill>
              </a:rPr>
              <a:t>可衡量结果</a:t>
            </a:r>
          </a:p>
        </p:txBody>
      </p:sp>
      <p:sp>
        <p:nvSpPr>
          <p:cNvPr id="8" name="TextBox 7"/>
          <p:cNvSpPr txBox="1"/>
          <p:nvPr/>
        </p:nvSpPr>
        <p:spPr>
          <a:xfrm>
            <a:off x="1508760" y="1170432"/>
            <a:ext cx="6400800" cy="566928"/>
          </a:xfrm>
          <a:prstGeom prst="rect">
            <a:avLst/>
          </a:prstGeom>
          <a:noFill/>
        </p:spPr>
        <p:txBody>
          <a:bodyPr wrap="square" lIns="54864" tIns="36576" rIns="54864" bIns="36576" anchor="ctr">
            <a:noAutofit/>
          </a:bodyPr>
          <a:lstStyle/>
          <a:p>
            <a:pPr algn="l">
              <a:lnSpc>
                <a:spcPct val="112000"/>
              </a:lnSpc>
              <a:spcAft>
                <a:spcPts val="100"/>
              </a:spcAft>
            </a:pPr>
            <a:r>
              <a:rPr sz="1000" b="0">
                <a:solidFill>
                  <a:srgbClr val="0A2A5E"/>
                </a:solidFill>
              </a:rPr>
              <a:t>本职：重点区域主责配置、多类咨询产出、骨干承接</a:t>
            </a:r>
          </a:p>
          <a:p>
            <a:pPr algn="l">
              <a:lnSpc>
                <a:spcPct val="112000"/>
              </a:lnSpc>
              <a:spcAft>
                <a:spcPts val="100"/>
              </a:spcAft>
            </a:pPr>
            <a:r>
              <a:rPr sz="1000" b="0">
                <a:solidFill>
                  <a:srgbClr val="0A2A5E"/>
                </a:solidFill>
              </a:rPr>
              <a:t>专项：巴西合作位置、技术路线认可、采购与本地承接推进、SERPRO PoC</a:t>
            </a:r>
          </a:p>
        </p:txBody>
      </p:sp>
      <p:sp>
        <p:nvSpPr>
          <p:cNvPr id="9" name="Rounded Rectangle 8"/>
          <p:cNvSpPr/>
          <p:nvPr/>
        </p:nvSpPr>
        <p:spPr>
          <a:xfrm>
            <a:off x="8046720" y="1307592"/>
            <a:ext cx="822960" cy="292608"/>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FFFFFF"/>
                </a:solidFill>
              </a:rPr>
              <a:t>策略</a:t>
            </a:r>
          </a:p>
        </p:txBody>
      </p:sp>
      <p:sp>
        <p:nvSpPr>
          <p:cNvPr id="10" name="TextBox 9"/>
          <p:cNvSpPr txBox="1"/>
          <p:nvPr/>
        </p:nvSpPr>
        <p:spPr>
          <a:xfrm>
            <a:off x="8961120" y="1170432"/>
            <a:ext cx="2834640" cy="566928"/>
          </a:xfrm>
          <a:prstGeom prst="rect">
            <a:avLst/>
          </a:prstGeom>
          <a:noFill/>
        </p:spPr>
        <p:txBody>
          <a:bodyPr wrap="square" lIns="54864" tIns="36576" rIns="54864" bIns="36576" anchor="ctr">
            <a:noAutofit/>
          </a:bodyPr>
          <a:lstStyle/>
          <a:p>
            <a:pPr algn="l">
              <a:lnSpc>
                <a:spcPct val="112000"/>
              </a:lnSpc>
              <a:spcAft>
                <a:spcPts val="0"/>
              </a:spcAft>
            </a:pPr>
            <a:r>
              <a:rPr sz="1000" b="0">
                <a:solidFill>
                  <a:srgbClr val="0A2A5E"/>
                </a:solidFill>
              </a:rPr>
              <a:t>重大项目亲自攻坚，咨询组织同步建设，两线并行推进</a:t>
            </a:r>
          </a:p>
        </p:txBody>
      </p:sp>
      <p:graphicFrame>
        <p:nvGraphicFramePr>
          <p:cNvPr id="11" name="Table 10"/>
          <p:cNvGraphicFramePr>
            <a:graphicFrameLocks noGrp="1"/>
          </p:cNvGraphicFramePr>
          <p:nvPr/>
        </p:nvGraphicFramePr>
        <p:xfrm>
          <a:off x="365760" y="1847088"/>
          <a:ext cx="11457431" cy="4407408"/>
        </p:xfrm>
        <a:graphic>
          <a:graphicData uri="http://schemas.openxmlformats.org/drawingml/2006/table">
            <a:tbl>
              <a:tblPr firstRow="0" bandRow="0">
                <a:tableStyleId>{2D5ABB26-0587-4C30-8999-92F81FD0307C}</a:tableStyleId>
              </a:tblPr>
              <a:tblGrid>
                <a:gridCol w="1371600"/>
                <a:gridCol w="2103120"/>
                <a:gridCol w="502920"/>
                <a:gridCol w="2468880"/>
                <a:gridCol w="1874519"/>
                <a:gridCol w="777240"/>
                <a:gridCol w="2359152"/>
              </a:tblGrid>
              <a:tr h="384048">
                <a:tc>
                  <a:txBody>
                    <a:bodyPr wrap="square" lIns="64008" tIns="18288" rIns="64008" bIns="18288" anchor="ctr">
                      <a:noAutofit/>
                    </a:bodyPr>
                    <a:lstStyle/>
                    <a:p>
                      <a:pPr algn="l">
                        <a:lnSpc>
                          <a:spcPct val="112000"/>
                        </a:lnSpc>
                        <a:spcAft>
                          <a:spcPts val="0"/>
                        </a:spcAft>
                      </a:pPr>
                      <a:r>
                        <a:rPr sz="950" b="1">
                          <a:solidFill>
                            <a:srgbClr val="FFFFFF"/>
                          </a:solidFill>
                        </a:rPr>
                        <a:t>管理角色</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目标（实际承担的业绩责任）</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权重</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高回报活动（3项）</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管理机制</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时间投入</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完成情况自评</a:t>
                      </a:r>
                    </a:p>
                  </a:txBody>
                  <a:tcPr anchor="ctr">
                    <a:lnL w="0">
                      <a:noFill/>
                    </a:lnL>
                    <a:lnR w="0">
                      <a:noFill/>
                    </a:lnR>
                    <a:lnT w="0">
                      <a:noFill/>
                    </a:lnT>
                    <a:lnB w="0">
                      <a:noFill/>
                    </a:lnB>
                    <a:solidFill>
                      <a:srgbClr val="0C4BA1"/>
                    </a:solidFill>
                  </a:tcPr>
                </a:tc>
              </a:tr>
              <a:tr h="1005840">
                <a:tc>
                  <a:txBody>
                    <a:bodyPr wrap="square" lIns="64008" tIns="27432" rIns="64008" bIns="27432" anchor="t">
                      <a:noAutofit/>
                    </a:bodyPr>
                    <a:lstStyle/>
                    <a:p>
                      <a:pPr algn="l">
                        <a:lnSpc>
                          <a:spcPct val="108000"/>
                        </a:lnSpc>
                        <a:spcAft>
                          <a:spcPts val="200"/>
                        </a:spcAft>
                      </a:pPr>
                      <a:r>
                        <a:rPr sz="950" b="1">
                          <a:solidFill>
                            <a:srgbClr val="2F3E4F"/>
                          </a:solidFill>
                        </a:rPr>
                        <a:t>岗位特性类</a:t>
                      </a:r>
                    </a:p>
                    <a:p>
                      <a:pPr algn="l">
                        <a:lnSpc>
                          <a:spcPct val="108000"/>
                        </a:lnSpc>
                        <a:spcAft>
                          <a:spcPts val="200"/>
                        </a:spcAft>
                      </a:pPr>
                      <a:r>
                        <a:rPr sz="850" b="0">
                          <a:solidFill>
                            <a:srgbClr val="6F7E8F"/>
                          </a:solidFill>
                        </a:rPr>
                        <a:t>关键客户咨询与复杂方案牵引</a:t>
                      </a: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l">
                        <a:lnSpc>
                          <a:spcPct val="108000"/>
                        </a:lnSpc>
                        <a:spcAft>
                          <a:spcPts val="200"/>
                        </a:spcAft>
                      </a:pPr>
                      <a:r>
                        <a:rPr sz="950" b="0">
                          <a:solidFill>
                            <a:srgbClr val="2F3E4F"/>
                          </a:solidFill>
                        </a:rPr>
                        <a:t>① 巴西主要技术路线获客户认可并进入采购需求</a:t>
                      </a:r>
                    </a:p>
                    <a:p>
                      <a:pPr algn="l">
                        <a:lnSpc>
                          <a:spcPct val="108000"/>
                        </a:lnSpc>
                        <a:spcAft>
                          <a:spcPts val="200"/>
                        </a:spcAft>
                      </a:pPr>
                      <a:r>
                        <a:rPr sz="950" b="0">
                          <a:solidFill>
                            <a:srgbClr val="2F3E4F"/>
                          </a:solidFill>
                        </a:rPr>
                        <a:t>② 重点区域形成国别方案与技术建议</a:t>
                      </a: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ctr">
                        <a:lnSpc>
                          <a:spcPct val="108000"/>
                        </a:lnSpc>
                        <a:spcAft>
                          <a:spcPts val="200"/>
                        </a:spcAft>
                      </a:pP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l">
                        <a:lnSpc>
                          <a:spcPct val="108000"/>
                        </a:lnSpc>
                        <a:spcAft>
                          <a:spcPts val="200"/>
                        </a:spcAft>
                      </a:pPr>
                      <a:r>
                        <a:rPr sz="950" b="0">
                          <a:solidFill>
                            <a:srgbClr val="2F3E4F"/>
                          </a:solidFill>
                        </a:rPr>
                        <a:t>① 亲自承担RNP关键英语咨询与技术澄清〔专项〕</a:t>
                      </a:r>
                    </a:p>
                    <a:p>
                      <a:pPr algn="l">
                        <a:lnSpc>
                          <a:spcPct val="108000"/>
                        </a:lnSpc>
                        <a:spcAft>
                          <a:spcPts val="200"/>
                        </a:spcAft>
                      </a:pPr>
                      <a:r>
                        <a:rPr sz="950" b="0">
                          <a:solidFill>
                            <a:srgbClr val="2F3E4F"/>
                          </a:solidFill>
                        </a:rPr>
                        <a:t>② 国别方案与技术路线判断〔本职〕</a:t>
                      </a:r>
                    </a:p>
                    <a:p>
                      <a:pPr algn="l">
                        <a:lnSpc>
                          <a:spcPct val="108000"/>
                        </a:lnSpc>
                        <a:spcAft>
                          <a:spcPts val="200"/>
                        </a:spcAft>
                      </a:pPr>
                      <a:r>
                        <a:rPr sz="950" b="0">
                          <a:solidFill>
                            <a:srgbClr val="2F3E4F"/>
                          </a:solidFill>
                        </a:rPr>
                        <a:t>③ 重大效果、范围、权利边界把关〔双线〕</a:t>
                      </a: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l">
                        <a:lnSpc>
                          <a:spcPct val="108000"/>
                        </a:lnSpc>
                        <a:spcAft>
                          <a:spcPts val="200"/>
                        </a:spcAft>
                      </a:pPr>
                      <a:r>
                        <a:rPr sz="950" b="0">
                          <a:solidFill>
                            <a:srgbClr val="2F3E4F"/>
                          </a:solidFill>
                        </a:rPr>
                        <a:t>联合准备、关键问题复核</a:t>
                      </a:r>
                    </a:p>
                    <a:p>
                      <a:pPr algn="l">
                        <a:lnSpc>
                          <a:spcPct val="108000"/>
                        </a:lnSpc>
                        <a:spcAft>
                          <a:spcPts val="200"/>
                        </a:spcAft>
                      </a:pPr>
                      <a:r>
                        <a:rPr sz="950" b="0">
                          <a:solidFill>
                            <a:srgbClr val="2F3E4F"/>
                          </a:solidFill>
                        </a:rPr>
                        <a:t>客户问答与材料迭代</a:t>
                      </a:r>
                    </a:p>
                    <a:p>
                      <a:pPr algn="l">
                        <a:lnSpc>
                          <a:spcPct val="108000"/>
                        </a:lnSpc>
                        <a:spcAft>
                          <a:spcPts val="200"/>
                        </a:spcAft>
                      </a:pPr>
                      <a:r>
                        <a:rPr sz="950" b="0">
                          <a:solidFill>
                            <a:srgbClr val="2F3E4F"/>
                          </a:solidFill>
                        </a:rPr>
                        <a:t>面向团队的标准口径材料</a:t>
                      </a: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ctr">
                        <a:lnSpc>
                          <a:spcPct val="108000"/>
                        </a:lnSpc>
                        <a:spcAft>
                          <a:spcPts val="200"/>
                        </a:spcAft>
                      </a:pP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l">
                        <a:lnSpc>
                          <a:spcPct val="108000"/>
                        </a:lnSpc>
                        <a:spcAft>
                          <a:spcPts val="200"/>
                        </a:spcAft>
                      </a:pPr>
                      <a:r>
                        <a:rPr sz="950" b="1">
                          <a:solidFill>
                            <a:srgbClr val="1F8F5F"/>
                          </a:solidFill>
                        </a:rPr>
                        <a:t>已形成</a:t>
                      </a:r>
                    </a:p>
                    <a:p>
                      <a:pPr algn="l">
                        <a:lnSpc>
                          <a:spcPct val="108000"/>
                        </a:lnSpc>
                        <a:spcAft>
                          <a:spcPts val="200"/>
                        </a:spcAft>
                      </a:pPr>
                      <a:r>
                        <a:rPr sz="950" b="0">
                          <a:solidFill>
                            <a:srgbClr val="2F3E4F"/>
                          </a:solidFill>
                        </a:rPr>
                        <a:t>RNP主要路线获认可，客户TR体现方案输入；合同边界仍需收口</a:t>
                      </a:r>
                    </a:p>
                    <a:p>
                      <a:pPr algn="l">
                        <a:lnSpc>
                          <a:spcPct val="108000"/>
                        </a:lnSpc>
                        <a:spcAft>
                          <a:spcPts val="200"/>
                        </a:spcAft>
                      </a:pPr>
                      <a:r>
                        <a:rPr sz="850" b="0">
                          <a:solidFill>
                            <a:srgbClr val="6F7E8F"/>
                          </a:solidFill>
                        </a:rPr>
                        <a:t>见 P8—P10、P19</a:t>
                      </a:r>
                    </a:p>
                  </a:txBody>
                  <a:tcPr anchor="t">
                    <a:lnL w="0">
                      <a:noFill/>
                    </a:lnL>
                    <a:lnR w="0">
                      <a:noFill/>
                    </a:lnR>
                    <a:lnT w="0">
                      <a:noFill/>
                    </a:lnT>
                    <a:lnB w="9525" cap="flat" cmpd="sng" algn="ctr">
                      <a:solidFill>
                        <a:srgbClr val="D3DCE8"/>
                      </a:solidFill>
                      <a:prstDash val="solid"/>
                    </a:lnB>
                    <a:solidFill>
                      <a:srgbClr val="FFFFFF"/>
                    </a:solidFill>
                  </a:tcPr>
                </a:tc>
              </a:tr>
              <a:tr h="1005840">
                <a:tc>
                  <a:txBody>
                    <a:bodyPr wrap="square" lIns="64008" tIns="27432" rIns="64008" bIns="27432" anchor="t">
                      <a:noAutofit/>
                    </a:bodyPr>
                    <a:lstStyle/>
                    <a:p>
                      <a:pPr algn="l">
                        <a:lnSpc>
                          <a:spcPct val="108000"/>
                        </a:lnSpc>
                        <a:spcAft>
                          <a:spcPts val="200"/>
                        </a:spcAft>
                      </a:pPr>
                      <a:r>
                        <a:rPr sz="950" b="1">
                          <a:solidFill>
                            <a:srgbClr val="2F3E4F"/>
                          </a:solidFill>
                        </a:rPr>
                        <a:t>目标管理类</a:t>
                      </a:r>
                    </a:p>
                    <a:p>
                      <a:pPr algn="l">
                        <a:lnSpc>
                          <a:spcPct val="108000"/>
                        </a:lnSpc>
                        <a:spcAft>
                          <a:spcPts val="200"/>
                        </a:spcAft>
                      </a:pPr>
                      <a:r>
                        <a:rPr sz="850" b="0">
                          <a:solidFill>
                            <a:srgbClr val="6F7E8F"/>
                          </a:solidFill>
                        </a:rPr>
                        <a:t>巴西重点项目总体推进与全球咨询目标统筹</a:t>
                      </a: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l">
                        <a:lnSpc>
                          <a:spcPct val="108000"/>
                        </a:lnSpc>
                        <a:spcAft>
                          <a:spcPts val="200"/>
                        </a:spcAft>
                      </a:pPr>
                      <a:r>
                        <a:rPr sz="950" b="0">
                          <a:solidFill>
                            <a:srgbClr val="2F3E4F"/>
                          </a:solidFill>
                        </a:rPr>
                        <a:t>① RNP进入采购流程并具备签约条件</a:t>
                      </a:r>
                    </a:p>
                    <a:p>
                      <a:pPr algn="l">
                        <a:lnSpc>
                          <a:spcPct val="108000"/>
                        </a:lnSpc>
                        <a:spcAft>
                          <a:spcPts val="200"/>
                        </a:spcAft>
                      </a:pPr>
                      <a:r>
                        <a:rPr sz="950" b="0">
                          <a:solidFill>
                            <a:srgbClr val="2F3E4F"/>
                          </a:solidFill>
                        </a:rPr>
                        <a:t>② SERPRO进入PoC验证</a:t>
                      </a:r>
                    </a:p>
                    <a:p>
                      <a:pPr algn="l">
                        <a:lnSpc>
                          <a:spcPct val="108000"/>
                        </a:lnSpc>
                        <a:spcAft>
                          <a:spcPts val="200"/>
                        </a:spcAft>
                      </a:pPr>
                      <a:r>
                        <a:rPr sz="950" b="0">
                          <a:solidFill>
                            <a:srgbClr val="2F3E4F"/>
                          </a:solidFill>
                        </a:rPr>
                        <a:t>③ 各区域商机按成熟度分级推进</a:t>
                      </a: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ctr">
                        <a:lnSpc>
                          <a:spcPct val="108000"/>
                        </a:lnSpc>
                        <a:spcAft>
                          <a:spcPts val="200"/>
                        </a:spcAft>
                      </a:pP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l">
                        <a:lnSpc>
                          <a:spcPct val="108000"/>
                        </a:lnSpc>
                        <a:spcAft>
                          <a:spcPts val="200"/>
                        </a:spcAft>
                      </a:pPr>
                      <a:r>
                        <a:rPr sz="950" b="0">
                          <a:solidFill>
                            <a:srgbClr val="2F3E4F"/>
                          </a:solidFill>
                        </a:rPr>
                        <a:t>① 关键卡点识别与里程碑推进〔专项〕</a:t>
                      </a:r>
                    </a:p>
                    <a:p>
                      <a:pPr algn="l">
                        <a:lnSpc>
                          <a:spcPct val="108000"/>
                        </a:lnSpc>
                        <a:spcAft>
                          <a:spcPts val="200"/>
                        </a:spcAft>
                      </a:pPr>
                      <a:r>
                        <a:rPr sz="950" b="0">
                          <a:solidFill>
                            <a:srgbClr val="2F3E4F"/>
                          </a:solidFill>
                        </a:rPr>
                        <a:t>② 高层、伙伴与内部决策输入〔专项〕</a:t>
                      </a:r>
                    </a:p>
                    <a:p>
                      <a:pPr algn="l">
                        <a:lnSpc>
                          <a:spcPct val="108000"/>
                        </a:lnSpc>
                        <a:spcAft>
                          <a:spcPts val="200"/>
                        </a:spcAft>
                      </a:pPr>
                      <a:r>
                        <a:rPr sz="950" b="0">
                          <a:solidFill>
                            <a:srgbClr val="2F3E4F"/>
                          </a:solidFill>
                        </a:rPr>
                        <a:t>③ 人员、专业资源安排与商机取舍〔本职〕</a:t>
                      </a: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l">
                        <a:lnSpc>
                          <a:spcPct val="108000"/>
                        </a:lnSpc>
                        <a:spcAft>
                          <a:spcPts val="200"/>
                        </a:spcAft>
                      </a:pPr>
                      <a:r>
                        <a:rPr sz="950" b="0">
                          <a:solidFill>
                            <a:srgbClr val="2F3E4F"/>
                          </a:solidFill>
                        </a:rPr>
                        <a:t>项目周报、阶段任务分解</a:t>
                      </a:r>
                    </a:p>
                    <a:p>
                      <a:pPr algn="l">
                        <a:lnSpc>
                          <a:spcPct val="108000"/>
                        </a:lnSpc>
                        <a:spcAft>
                          <a:spcPts val="200"/>
                        </a:spcAft>
                      </a:pPr>
                      <a:r>
                        <a:rPr sz="950" b="0">
                          <a:solidFill>
                            <a:srgbClr val="2F3E4F"/>
                          </a:solidFill>
                        </a:rPr>
                        <a:t>专题讨论与问题跟踪</a:t>
                      </a:r>
                    </a:p>
                    <a:p>
                      <a:pPr algn="l">
                        <a:lnSpc>
                          <a:spcPct val="108000"/>
                        </a:lnSpc>
                        <a:spcAft>
                          <a:spcPts val="200"/>
                        </a:spcAft>
                      </a:pPr>
                      <a:r>
                        <a:rPr sz="950" b="0">
                          <a:solidFill>
                            <a:srgbClr val="2F3E4F"/>
                          </a:solidFill>
                        </a:rPr>
                        <a:t>现场LTC</a:t>
                      </a: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ctr">
                        <a:lnSpc>
                          <a:spcPct val="108000"/>
                        </a:lnSpc>
                        <a:spcAft>
                          <a:spcPts val="200"/>
                        </a:spcAft>
                      </a:pP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l">
                        <a:lnSpc>
                          <a:spcPct val="108000"/>
                        </a:lnSpc>
                        <a:spcAft>
                          <a:spcPts val="200"/>
                        </a:spcAft>
                      </a:pPr>
                      <a:r>
                        <a:rPr sz="950" b="1">
                          <a:solidFill>
                            <a:srgbClr val="C57B14"/>
                          </a:solidFill>
                        </a:rPr>
                        <a:t>推进中</a:t>
                      </a:r>
                    </a:p>
                    <a:p>
                      <a:pPr algn="l">
                        <a:lnSpc>
                          <a:spcPct val="108000"/>
                        </a:lnSpc>
                        <a:spcAft>
                          <a:spcPts val="200"/>
                        </a:spcAft>
                      </a:pPr>
                      <a:r>
                        <a:rPr sz="950" b="0">
                          <a:solidFill>
                            <a:srgbClr val="2F3E4F"/>
                          </a:solidFill>
                        </a:rPr>
                        <a:t>重大合作、技术与交易准备取得阶段进展；最终经营闭环尚未完成</a:t>
                      </a:r>
                    </a:p>
                    <a:p>
                      <a:pPr algn="l">
                        <a:lnSpc>
                          <a:spcPct val="108000"/>
                        </a:lnSpc>
                        <a:spcAft>
                          <a:spcPts val="200"/>
                        </a:spcAft>
                      </a:pPr>
                      <a:r>
                        <a:rPr sz="850" b="0">
                          <a:solidFill>
                            <a:srgbClr val="6F7E8F"/>
                          </a:solidFill>
                        </a:rPr>
                        <a:t>见 P7、P11—P15、P22</a:t>
                      </a:r>
                    </a:p>
                  </a:txBody>
                  <a:tcPr anchor="t">
                    <a:lnL w="0">
                      <a:noFill/>
                    </a:lnL>
                    <a:lnR w="0">
                      <a:noFill/>
                    </a:lnR>
                    <a:lnT w="0">
                      <a:noFill/>
                    </a:lnT>
                    <a:lnB w="9525" cap="flat" cmpd="sng" algn="ctr">
                      <a:solidFill>
                        <a:srgbClr val="D3DCE8"/>
                      </a:solidFill>
                      <a:prstDash val="solid"/>
                    </a:lnB>
                    <a:solidFill>
                      <a:srgbClr val="F6F8FC"/>
                    </a:solidFill>
                  </a:tcPr>
                </a:tc>
              </a:tr>
              <a:tr h="1005840">
                <a:tc>
                  <a:txBody>
                    <a:bodyPr wrap="square" lIns="64008" tIns="27432" rIns="64008" bIns="27432" anchor="t">
                      <a:noAutofit/>
                    </a:bodyPr>
                    <a:lstStyle/>
                    <a:p>
                      <a:pPr algn="l">
                        <a:lnSpc>
                          <a:spcPct val="108000"/>
                        </a:lnSpc>
                        <a:spcAft>
                          <a:spcPts val="200"/>
                        </a:spcAft>
                      </a:pPr>
                      <a:r>
                        <a:rPr sz="950" b="1">
                          <a:solidFill>
                            <a:srgbClr val="2F3E4F"/>
                          </a:solidFill>
                        </a:rPr>
                        <a:t>人与团队类</a:t>
                      </a:r>
                    </a:p>
                    <a:p>
                      <a:pPr algn="l">
                        <a:lnSpc>
                          <a:spcPct val="108000"/>
                        </a:lnSpc>
                        <a:spcAft>
                          <a:spcPts val="200"/>
                        </a:spcAft>
                      </a:pPr>
                      <a:r>
                        <a:rPr sz="850" b="0">
                          <a:solidFill>
                            <a:srgbClr val="6F7E8F"/>
                          </a:solidFill>
                        </a:rPr>
                        <a:t>建队伍、育骨干、保持现场与区域支撑连续性</a:t>
                      </a: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l">
                        <a:lnSpc>
                          <a:spcPct val="108000"/>
                        </a:lnSpc>
                        <a:spcAft>
                          <a:spcPts val="200"/>
                        </a:spcAft>
                      </a:pPr>
                      <a:r>
                        <a:rPr sz="950" b="0">
                          <a:solidFill>
                            <a:srgbClr val="2F3E4F"/>
                          </a:solidFill>
                        </a:rPr>
                        <a:t>① 重点区域形成主责咨询配置</a:t>
                      </a:r>
                    </a:p>
                    <a:p>
                      <a:pPr algn="l">
                        <a:lnSpc>
                          <a:spcPct val="108000"/>
                        </a:lnSpc>
                        <a:spcAft>
                          <a:spcPts val="200"/>
                        </a:spcAft>
                      </a:pPr>
                      <a:r>
                        <a:rPr sz="950" b="0">
                          <a:solidFill>
                            <a:srgbClr val="2F3E4F"/>
                          </a:solidFill>
                        </a:rPr>
                        <a:t>② 骨干能独立承接项目主责</a:t>
                      </a: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ctr">
                        <a:lnSpc>
                          <a:spcPct val="108000"/>
                        </a:lnSpc>
                        <a:spcAft>
                          <a:spcPts val="200"/>
                        </a:spcAft>
                      </a:pP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l">
                        <a:lnSpc>
                          <a:spcPct val="108000"/>
                        </a:lnSpc>
                        <a:spcAft>
                          <a:spcPts val="200"/>
                        </a:spcAft>
                      </a:pPr>
                      <a:r>
                        <a:rPr sz="950" b="0">
                          <a:solidFill>
                            <a:srgbClr val="2F3E4F"/>
                          </a:solidFill>
                        </a:rPr>
                        <a:t>① 招募与识别〔本职〕</a:t>
                      </a:r>
                    </a:p>
                    <a:p>
                      <a:pPr algn="l">
                        <a:lnSpc>
                          <a:spcPct val="108000"/>
                        </a:lnSpc>
                        <a:spcAft>
                          <a:spcPts val="200"/>
                        </a:spcAft>
                      </a:pPr>
                      <a:r>
                        <a:rPr sz="950" b="0">
                          <a:solidFill>
                            <a:srgbClr val="2F3E4F"/>
                          </a:solidFill>
                        </a:rPr>
                        <a:t>② 实战带教〔本职〕</a:t>
                      </a:r>
                    </a:p>
                    <a:p>
                      <a:pPr algn="l">
                        <a:lnSpc>
                          <a:spcPct val="108000"/>
                        </a:lnSpc>
                        <a:spcAft>
                          <a:spcPts val="200"/>
                        </a:spcAft>
                      </a:pPr>
                      <a:r>
                        <a:rPr sz="950" b="0">
                          <a:solidFill>
                            <a:srgbClr val="2F3E4F"/>
                          </a:solidFill>
                        </a:rPr>
                        <a:t>③ 跨区部署、交接与销售导入〔双线〕</a:t>
                      </a: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l">
                        <a:lnSpc>
                          <a:spcPct val="108000"/>
                        </a:lnSpc>
                        <a:spcAft>
                          <a:spcPts val="200"/>
                        </a:spcAft>
                      </a:pPr>
                      <a:r>
                        <a:rPr sz="950" b="0">
                          <a:solidFill>
                            <a:srgbClr val="2F3E4F"/>
                          </a:solidFill>
                        </a:rPr>
                        <a:t>集中办公、常态辅导</a:t>
                      </a:r>
                    </a:p>
                    <a:p>
                      <a:pPr algn="l">
                        <a:lnSpc>
                          <a:spcPct val="108000"/>
                        </a:lnSpc>
                        <a:spcAft>
                          <a:spcPts val="200"/>
                        </a:spcAft>
                      </a:pPr>
                      <a:r>
                        <a:rPr sz="950" b="0">
                          <a:solidFill>
                            <a:srgbClr val="2F3E4F"/>
                          </a:solidFill>
                        </a:rPr>
                        <a:t>主责分工与关键事项升级</a:t>
                      </a: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ctr">
                        <a:lnSpc>
                          <a:spcPct val="108000"/>
                        </a:lnSpc>
                        <a:spcAft>
                          <a:spcPts val="200"/>
                        </a:spcAft>
                      </a:pPr>
                    </a:p>
                  </a:txBody>
                  <a:tcPr anchor="t">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t">
                      <a:noAutofit/>
                    </a:bodyPr>
                    <a:lstStyle/>
                    <a:p>
                      <a:pPr algn="l">
                        <a:lnSpc>
                          <a:spcPct val="108000"/>
                        </a:lnSpc>
                        <a:spcAft>
                          <a:spcPts val="200"/>
                        </a:spcAft>
                      </a:pPr>
                      <a:r>
                        <a:rPr sz="950" b="1">
                          <a:solidFill>
                            <a:srgbClr val="C57B14"/>
                          </a:solidFill>
                        </a:rPr>
                        <a:t>推进中</a:t>
                      </a:r>
                    </a:p>
                    <a:p>
                      <a:pPr algn="l">
                        <a:lnSpc>
                          <a:spcPct val="108000"/>
                        </a:lnSpc>
                        <a:spcAft>
                          <a:spcPts val="200"/>
                        </a:spcAft>
                      </a:pPr>
                      <a:r>
                        <a:rPr sz="950" b="0">
                          <a:solidFill>
                            <a:srgbClr val="2F3E4F"/>
                          </a:solidFill>
                        </a:rPr>
                        <a:t>区域配置形成，骨干逐步承担主责；少数关键任务仍依赖本人把关</a:t>
                      </a:r>
                    </a:p>
                    <a:p>
                      <a:pPr algn="l">
                        <a:lnSpc>
                          <a:spcPct val="108000"/>
                        </a:lnSpc>
                        <a:spcAft>
                          <a:spcPts val="200"/>
                        </a:spcAft>
                      </a:pPr>
                      <a:r>
                        <a:rPr sz="850" b="0">
                          <a:solidFill>
                            <a:srgbClr val="6F7E8F"/>
                          </a:solidFill>
                        </a:rPr>
                        <a:t>见 P16、P17</a:t>
                      </a:r>
                    </a:p>
                  </a:txBody>
                  <a:tcPr anchor="t">
                    <a:lnL w="0">
                      <a:noFill/>
                    </a:lnL>
                    <a:lnR w="0">
                      <a:noFill/>
                    </a:lnR>
                    <a:lnT w="0">
                      <a:noFill/>
                    </a:lnT>
                    <a:lnB w="9525" cap="flat" cmpd="sng" algn="ctr">
                      <a:solidFill>
                        <a:srgbClr val="D3DCE8"/>
                      </a:solidFill>
                      <a:prstDash val="solid"/>
                    </a:lnB>
                    <a:solidFill>
                      <a:srgbClr val="FFFFFF"/>
                    </a:solidFill>
                  </a:tcPr>
                </a:tc>
              </a:tr>
              <a:tr h="1005840">
                <a:tc>
                  <a:txBody>
                    <a:bodyPr wrap="square" lIns="64008" tIns="27432" rIns="64008" bIns="27432" anchor="t">
                      <a:noAutofit/>
                    </a:bodyPr>
                    <a:lstStyle/>
                    <a:p>
                      <a:pPr algn="l">
                        <a:lnSpc>
                          <a:spcPct val="108000"/>
                        </a:lnSpc>
                        <a:spcAft>
                          <a:spcPts val="200"/>
                        </a:spcAft>
                      </a:pPr>
                      <a:r>
                        <a:rPr sz="950" b="1">
                          <a:solidFill>
                            <a:srgbClr val="2F3E4F"/>
                          </a:solidFill>
                        </a:rPr>
                        <a:t>运营类</a:t>
                      </a:r>
                    </a:p>
                    <a:p>
                      <a:pPr algn="l">
                        <a:lnSpc>
                          <a:spcPct val="108000"/>
                        </a:lnSpc>
                        <a:spcAft>
                          <a:spcPts val="200"/>
                        </a:spcAft>
                      </a:pPr>
                      <a:r>
                        <a:rPr sz="850" b="0">
                          <a:solidFill>
                            <a:srgbClr val="6F7E8F"/>
                          </a:solidFill>
                        </a:rPr>
                        <a:t>连接客户、伙伴、方案、服务与法财工作</a:t>
                      </a: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l">
                        <a:lnSpc>
                          <a:spcPct val="108000"/>
                        </a:lnSpc>
                        <a:spcAft>
                          <a:spcPts val="200"/>
                        </a:spcAft>
                      </a:pPr>
                      <a:r>
                        <a:rPr sz="950" b="0">
                          <a:solidFill>
                            <a:srgbClr val="2F3E4F"/>
                          </a:solidFill>
                        </a:rPr>
                        <a:t>① 售前、合同、交付之间不出现断层</a:t>
                      </a:r>
                    </a:p>
                    <a:p>
                      <a:pPr algn="l">
                        <a:lnSpc>
                          <a:spcPct val="108000"/>
                        </a:lnSpc>
                        <a:spcAft>
                          <a:spcPts val="200"/>
                        </a:spcAft>
                      </a:pPr>
                      <a:r>
                        <a:rPr sz="950" b="0">
                          <a:solidFill>
                            <a:srgbClr val="2F3E4F"/>
                          </a:solidFill>
                        </a:rPr>
                        <a:t>② 本地承接条件明确</a:t>
                      </a: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ctr">
                        <a:lnSpc>
                          <a:spcPct val="108000"/>
                        </a:lnSpc>
                        <a:spcAft>
                          <a:spcPts val="200"/>
                        </a:spcAft>
                      </a:pP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l">
                        <a:lnSpc>
                          <a:spcPct val="108000"/>
                        </a:lnSpc>
                        <a:spcAft>
                          <a:spcPts val="200"/>
                        </a:spcAft>
                      </a:pPr>
                      <a:r>
                        <a:rPr sz="950" b="0">
                          <a:solidFill>
                            <a:srgbClr val="2F3E4F"/>
                          </a:solidFill>
                        </a:rPr>
                        <a:t>① 关键材料评审〔本职〕</a:t>
                      </a:r>
                    </a:p>
                    <a:p>
                      <a:pPr algn="l">
                        <a:lnSpc>
                          <a:spcPct val="108000"/>
                        </a:lnSpc>
                        <a:spcAft>
                          <a:spcPts val="200"/>
                        </a:spcAft>
                      </a:pPr>
                      <a:r>
                        <a:rPr sz="950" b="0">
                          <a:solidFill>
                            <a:srgbClr val="2F3E4F"/>
                          </a:solidFill>
                        </a:rPr>
                        <a:t>② 采购事项书面化〔专项〕</a:t>
                      </a:r>
                    </a:p>
                    <a:p>
                      <a:pPr algn="l">
                        <a:lnSpc>
                          <a:spcPct val="108000"/>
                        </a:lnSpc>
                        <a:spcAft>
                          <a:spcPts val="200"/>
                        </a:spcAft>
                      </a:pPr>
                      <a:r>
                        <a:rPr sz="950" b="0">
                          <a:solidFill>
                            <a:srgbClr val="2F3E4F"/>
                          </a:solidFill>
                        </a:rPr>
                        <a:t>③ 专业接口与交付风险前置〔双线〕</a:t>
                      </a: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l">
                        <a:lnSpc>
                          <a:spcPct val="108000"/>
                        </a:lnSpc>
                        <a:spcAft>
                          <a:spcPts val="200"/>
                        </a:spcAft>
                      </a:pPr>
                      <a:r>
                        <a:rPr sz="950" b="0">
                          <a:solidFill>
                            <a:srgbClr val="2F3E4F"/>
                          </a:solidFill>
                        </a:rPr>
                        <a:t>评审会、责任接口</a:t>
                      </a:r>
                    </a:p>
                    <a:p>
                      <a:pPr algn="l">
                        <a:lnSpc>
                          <a:spcPct val="108000"/>
                        </a:lnSpc>
                        <a:spcAft>
                          <a:spcPts val="200"/>
                        </a:spcAft>
                      </a:pPr>
                      <a:r>
                        <a:rPr sz="950" b="0">
                          <a:solidFill>
                            <a:srgbClr val="2F3E4F"/>
                          </a:solidFill>
                        </a:rPr>
                        <a:t>正式邮件与行动事项</a:t>
                      </a: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ctr">
                        <a:lnSpc>
                          <a:spcPct val="108000"/>
                        </a:lnSpc>
                        <a:spcAft>
                          <a:spcPts val="200"/>
                        </a:spcAft>
                      </a:pPr>
                    </a:p>
                  </a:txBody>
                  <a:tcPr anchor="t">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t">
                      <a:noAutofit/>
                    </a:bodyPr>
                    <a:lstStyle/>
                    <a:p>
                      <a:pPr algn="l">
                        <a:lnSpc>
                          <a:spcPct val="108000"/>
                        </a:lnSpc>
                        <a:spcAft>
                          <a:spcPts val="200"/>
                        </a:spcAft>
                      </a:pPr>
                      <a:r>
                        <a:rPr sz="950" b="1">
                          <a:solidFill>
                            <a:srgbClr val="1F8F5F"/>
                          </a:solidFill>
                        </a:rPr>
                        <a:t>已形成</a:t>
                      </a:r>
                    </a:p>
                    <a:p>
                      <a:pPr algn="l">
                        <a:lnSpc>
                          <a:spcPct val="108000"/>
                        </a:lnSpc>
                        <a:spcAft>
                          <a:spcPts val="200"/>
                        </a:spcAft>
                      </a:pPr>
                      <a:r>
                        <a:rPr sz="950" b="0">
                          <a:solidFill>
                            <a:srgbClr val="2F3E4F"/>
                          </a:solidFill>
                        </a:rPr>
                        <a:t>采购、合同与本地承接问题更加明确；仍需提高机制稳定性</a:t>
                      </a:r>
                    </a:p>
                    <a:p>
                      <a:pPr algn="l">
                        <a:lnSpc>
                          <a:spcPct val="108000"/>
                        </a:lnSpc>
                        <a:spcAft>
                          <a:spcPts val="200"/>
                        </a:spcAft>
                      </a:pPr>
                      <a:r>
                        <a:rPr sz="850" b="0">
                          <a:solidFill>
                            <a:srgbClr val="6F7E8F"/>
                          </a:solidFill>
                        </a:rPr>
                        <a:t>见 P12、P13、P18、P25</a:t>
                      </a:r>
                    </a:p>
                  </a:txBody>
                  <a:tcPr anchor="t">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12" name="TextBox 11"/>
          <p:cNvSpPr txBox="1"/>
          <p:nvPr/>
        </p:nvSpPr>
        <p:spPr>
          <a:xfrm>
            <a:off x="365760" y="6309359"/>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权重与时间投入比例按实际任务由本人填写，不作事后推算；〔专项〕〔本职〕标注该活动所属主线。</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同期投入与管理方式的变化：从本人补位走向骨干承接</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10634472" y="548640"/>
            <a:ext cx="1188720"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看时间精力</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5</a:t>
            </a:r>
          </a:p>
        </p:txBody>
      </p:sp>
      <p:sp>
        <p:nvSpPr>
          <p:cNvPr id="6" name="TextBox 5"/>
          <p:cNvSpPr txBox="1"/>
          <p:nvPr/>
        </p:nvSpPr>
        <p:spPr>
          <a:xfrm>
            <a:off x="365760" y="1170432"/>
            <a:ext cx="1097280" cy="45720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起点条件</a:t>
            </a:r>
          </a:p>
        </p:txBody>
      </p:sp>
      <p:sp>
        <p:nvSpPr>
          <p:cNvPr id="7" name="Rounded Rectangle 6"/>
          <p:cNvSpPr/>
          <p:nvPr/>
        </p:nvSpPr>
        <p:spPr>
          <a:xfrm>
            <a:off x="1508760" y="1243584"/>
            <a:ext cx="2482596" cy="329184"/>
          </a:xfrm>
          <a:prstGeom prst="roundRect">
            <a:avLst>
              <a:gd name="adj" fmla="val 30000"/>
            </a:avLst>
          </a:prstGeom>
          <a:solidFill>
            <a:srgbClr val="F4F6F9"/>
          </a:solidFill>
          <a:ln w="952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0A2A5E"/>
                </a:solidFill>
              </a:rPr>
              <a:t>本地无实体、无专业合同支撑</a:t>
            </a:r>
          </a:p>
        </p:txBody>
      </p:sp>
      <p:sp>
        <p:nvSpPr>
          <p:cNvPr id="8" name="Rounded Rectangle 7"/>
          <p:cNvSpPr/>
          <p:nvPr/>
        </p:nvSpPr>
        <p:spPr>
          <a:xfrm>
            <a:off x="4119372" y="1243584"/>
            <a:ext cx="2482596" cy="329184"/>
          </a:xfrm>
          <a:prstGeom prst="roundRect">
            <a:avLst>
              <a:gd name="adj" fmla="val 30000"/>
            </a:avLst>
          </a:prstGeom>
          <a:solidFill>
            <a:srgbClr val="F4F6F9"/>
          </a:solidFill>
          <a:ln w="952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0A2A5E"/>
                </a:solidFill>
              </a:rPr>
              <a:t>无可套用的交易模式</a:t>
            </a:r>
          </a:p>
        </p:txBody>
      </p:sp>
      <p:sp>
        <p:nvSpPr>
          <p:cNvPr id="9" name="Rounded Rectangle 8"/>
          <p:cNvSpPr/>
          <p:nvPr/>
        </p:nvSpPr>
        <p:spPr>
          <a:xfrm>
            <a:off x="6729983" y="1243584"/>
            <a:ext cx="2482596" cy="329184"/>
          </a:xfrm>
          <a:prstGeom prst="roundRect">
            <a:avLst>
              <a:gd name="adj" fmla="val 30000"/>
            </a:avLst>
          </a:prstGeom>
          <a:solidFill>
            <a:srgbClr val="F4F6F9"/>
          </a:solidFill>
          <a:ln w="952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0A2A5E"/>
                </a:solidFill>
              </a:rPr>
              <a:t>咨询队伍从0起步、人员轮换</a:t>
            </a:r>
          </a:p>
        </p:txBody>
      </p:sp>
      <p:sp>
        <p:nvSpPr>
          <p:cNvPr id="10" name="Rounded Rectangle 9"/>
          <p:cNvSpPr/>
          <p:nvPr/>
        </p:nvSpPr>
        <p:spPr>
          <a:xfrm>
            <a:off x="9340596" y="1243584"/>
            <a:ext cx="2482596" cy="329184"/>
          </a:xfrm>
          <a:prstGeom prst="roundRect">
            <a:avLst>
              <a:gd name="adj" fmla="val 30000"/>
            </a:avLst>
          </a:prstGeom>
          <a:solidFill>
            <a:srgbClr val="F4F6F9"/>
          </a:solidFill>
          <a:ln w="952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0A2A5E"/>
                </a:solidFill>
              </a:rPr>
              <a:t>销售衔接不足，需本人补位</a:t>
            </a:r>
          </a:p>
        </p:txBody>
      </p:sp>
      <p:sp>
        <p:nvSpPr>
          <p:cNvPr id="11" name="Rectangle 10"/>
          <p:cNvSpPr/>
          <p:nvPr/>
        </p:nvSpPr>
        <p:spPr>
          <a:xfrm>
            <a:off x="365760" y="1737360"/>
            <a:ext cx="1143000" cy="347472"/>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737360"/>
            <a:ext cx="1143000" cy="347472"/>
          </a:xfrm>
          <a:prstGeom prst="rect">
            <a:avLst/>
          </a:prstGeom>
          <a:noFill/>
        </p:spPr>
        <p:txBody>
          <a:bodyPr wrap="square" lIns="54864" tIns="36576" rIns="54864" bIns="36576" anchor="ctr">
            <a:noAutofit/>
          </a:bodyPr>
          <a:lstStyle/>
          <a:p>
            <a:pPr algn="ctr">
              <a:lnSpc>
                <a:spcPct val="112000"/>
              </a:lnSpc>
              <a:spcAft>
                <a:spcPts val="300"/>
              </a:spcAft>
            </a:pPr>
            <a:r>
              <a:rPr sz="1050" b="1">
                <a:solidFill>
                  <a:srgbClr val="FFFFFF"/>
                </a:solidFill>
              </a:rPr>
              <a:t>阶段</a:t>
            </a:r>
          </a:p>
        </p:txBody>
      </p:sp>
      <p:sp>
        <p:nvSpPr>
          <p:cNvPr id="13" name="Rectangle 12"/>
          <p:cNvSpPr/>
          <p:nvPr/>
        </p:nvSpPr>
        <p:spPr>
          <a:xfrm>
            <a:off x="1618488" y="1737360"/>
            <a:ext cx="3108960" cy="347472"/>
          </a:xfrm>
          <a:prstGeom prst="rect">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18488" y="1737360"/>
            <a:ext cx="3108960" cy="347472"/>
          </a:xfrm>
          <a:prstGeom prst="rect">
            <a:avLst/>
          </a:prstGeom>
          <a:noFill/>
        </p:spPr>
        <p:txBody>
          <a:bodyPr wrap="square" lIns="54864" tIns="36576" rIns="54864" bIns="36576" anchor="ctr">
            <a:noAutofit/>
          </a:bodyPr>
          <a:lstStyle/>
          <a:p>
            <a:pPr algn="l">
              <a:lnSpc>
                <a:spcPct val="112000"/>
              </a:lnSpc>
              <a:spcAft>
                <a:spcPts val="300"/>
              </a:spcAft>
            </a:pPr>
            <a:r>
              <a:rPr sz="1050" b="1">
                <a:solidFill>
                  <a:srgbClr val="FFFFFF"/>
                </a:solidFill>
              </a:rPr>
              <a:t>战略专项 · 巴西</a:t>
            </a:r>
          </a:p>
        </p:txBody>
      </p:sp>
      <p:sp>
        <p:nvSpPr>
          <p:cNvPr id="15" name="Rectangle 14"/>
          <p:cNvSpPr/>
          <p:nvPr/>
        </p:nvSpPr>
        <p:spPr>
          <a:xfrm>
            <a:off x="4837176" y="1737360"/>
            <a:ext cx="3108960" cy="347472"/>
          </a:xfrm>
          <a:prstGeom prst="rect">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37176" y="1737360"/>
            <a:ext cx="3108960" cy="347472"/>
          </a:xfrm>
          <a:prstGeom prst="rect">
            <a:avLst/>
          </a:prstGeom>
          <a:noFill/>
        </p:spPr>
        <p:txBody>
          <a:bodyPr wrap="square" lIns="54864" tIns="36576" rIns="54864" bIns="36576" anchor="ctr">
            <a:noAutofit/>
          </a:bodyPr>
          <a:lstStyle/>
          <a:p>
            <a:pPr algn="l">
              <a:lnSpc>
                <a:spcPct val="112000"/>
              </a:lnSpc>
              <a:spcAft>
                <a:spcPts val="300"/>
              </a:spcAft>
            </a:pPr>
            <a:r>
              <a:rPr sz="1050" b="1">
                <a:solidFill>
                  <a:srgbClr val="FFFFFF"/>
                </a:solidFill>
              </a:rPr>
              <a:t>岗位本职 · 国际咨询</a:t>
            </a:r>
          </a:p>
        </p:txBody>
      </p:sp>
      <p:sp>
        <p:nvSpPr>
          <p:cNvPr id="17" name="Rectangle 16"/>
          <p:cNvSpPr/>
          <p:nvPr/>
        </p:nvSpPr>
        <p:spPr>
          <a:xfrm>
            <a:off x="8055864" y="1737360"/>
            <a:ext cx="3749039" cy="347472"/>
          </a:xfrm>
          <a:prstGeom prst="rect">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1737360"/>
            <a:ext cx="3749039" cy="347472"/>
          </a:xfrm>
          <a:prstGeom prst="rect">
            <a:avLst/>
          </a:prstGeom>
          <a:noFill/>
        </p:spPr>
        <p:txBody>
          <a:bodyPr wrap="square" lIns="54864" tIns="36576" rIns="54864" bIns="36576" anchor="ctr">
            <a:noAutofit/>
          </a:bodyPr>
          <a:lstStyle/>
          <a:p>
            <a:pPr algn="l">
              <a:lnSpc>
                <a:spcPct val="112000"/>
              </a:lnSpc>
              <a:spcAft>
                <a:spcPts val="300"/>
              </a:spcAft>
            </a:pPr>
            <a:r>
              <a:rPr sz="1050" b="1">
                <a:solidFill>
                  <a:srgbClr val="FFFFFF"/>
                </a:solidFill>
              </a:rPr>
              <a:t>本人与团队的分工</a:t>
            </a:r>
          </a:p>
        </p:txBody>
      </p:sp>
      <p:sp>
        <p:nvSpPr>
          <p:cNvPr id="19" name="Rounded Rectangle 18"/>
          <p:cNvSpPr/>
          <p:nvPr/>
        </p:nvSpPr>
        <p:spPr>
          <a:xfrm>
            <a:off x="365760" y="2157984"/>
            <a:ext cx="1143000" cy="932688"/>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267712"/>
            <a:ext cx="1143000" cy="365760"/>
          </a:xfrm>
          <a:prstGeom prst="rect">
            <a:avLst/>
          </a:prstGeom>
          <a:noFill/>
        </p:spPr>
        <p:txBody>
          <a:bodyPr wrap="square" lIns="54864" tIns="36576" rIns="54864" bIns="36576" anchor="ctr">
            <a:noAutofit/>
          </a:bodyPr>
          <a:lstStyle/>
          <a:p>
            <a:pPr algn="ctr">
              <a:lnSpc>
                <a:spcPct val="112000"/>
              </a:lnSpc>
              <a:spcAft>
                <a:spcPts val="0"/>
              </a:spcAft>
            </a:pPr>
            <a:r>
              <a:rPr sz="1200" b="1">
                <a:solidFill>
                  <a:srgbClr val="0A2A5E"/>
                </a:solidFill>
              </a:rPr>
              <a:t>补位期</a:t>
            </a:r>
          </a:p>
        </p:txBody>
      </p:sp>
      <p:sp>
        <p:nvSpPr>
          <p:cNvPr id="21" name="TextBox 20"/>
          <p:cNvSpPr txBox="1"/>
          <p:nvPr/>
        </p:nvSpPr>
        <p:spPr>
          <a:xfrm>
            <a:off x="365760" y="2615184"/>
            <a:ext cx="1143000" cy="320040"/>
          </a:xfrm>
          <a:prstGeom prst="rect">
            <a:avLst/>
          </a:prstGeom>
          <a:noFill/>
        </p:spPr>
        <p:txBody>
          <a:bodyPr wrap="square" lIns="54864" tIns="36576" rIns="54864" bIns="36576" anchor="ctr">
            <a:noAutofit/>
          </a:bodyPr>
          <a:lstStyle/>
          <a:p>
            <a:pPr algn="ctr">
              <a:lnSpc>
                <a:spcPct val="112000"/>
              </a:lnSpc>
              <a:spcAft>
                <a:spcPts val="0"/>
              </a:spcAft>
            </a:pPr>
            <a:r>
              <a:rPr sz="1000" b="0">
                <a:solidFill>
                  <a:srgbClr val="6F7E8F"/>
                </a:solidFill>
              </a:rPr>
              <a:t>2—5月</a:t>
            </a:r>
          </a:p>
        </p:txBody>
      </p:sp>
      <p:sp>
        <p:nvSpPr>
          <p:cNvPr id="22" name="Rounded Rectangle 21"/>
          <p:cNvSpPr/>
          <p:nvPr/>
        </p:nvSpPr>
        <p:spPr>
          <a:xfrm>
            <a:off x="1618488" y="2157984"/>
            <a:ext cx="3108960" cy="93268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91640" y="2194560"/>
            <a:ext cx="2962656"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0C4BA1"/>
              </a:buClr>
              <a:buSzPct val="100000"/>
              <a:buFont typeface="Arial"/>
              <a:buChar char="•"/>
            </a:pPr>
            <a:r>
              <a:rPr sz="950" b="0">
                <a:solidFill>
                  <a:srgbClr val="2F3E4F"/>
                </a:solidFill>
              </a:rPr>
              <a:t>RNP方案交流与4批技术澄清</a:t>
            </a:r>
          </a:p>
          <a:p>
            <a:pPr algn="l" marL="146304" indent="-146304">
              <a:lnSpc>
                <a:spcPct val="112000"/>
              </a:lnSpc>
              <a:spcAft>
                <a:spcPts val="200"/>
              </a:spcAft>
              <a:buClr>
                <a:srgbClr val="0C4BA1"/>
              </a:buClr>
              <a:buSzPct val="100000"/>
              <a:buFont typeface="Arial"/>
              <a:buChar char="•"/>
            </a:pPr>
            <a:r>
              <a:rPr sz="950" b="0">
                <a:solidFill>
                  <a:srgbClr val="2F3E4F"/>
                </a:solidFill>
              </a:rPr>
              <a:t>SERPRO医疗、教育、人事管理场景推进</a:t>
            </a:r>
          </a:p>
          <a:p>
            <a:pPr algn="l" marL="146304" indent="-146304">
              <a:lnSpc>
                <a:spcPct val="112000"/>
              </a:lnSpc>
              <a:spcAft>
                <a:spcPts val="200"/>
              </a:spcAft>
              <a:buClr>
                <a:srgbClr val="0C4BA1"/>
              </a:buClr>
              <a:buSzPct val="100000"/>
              <a:buFont typeface="Arial"/>
              <a:buChar char="•"/>
            </a:pPr>
            <a:r>
              <a:rPr sz="950" b="0">
                <a:solidFill>
                  <a:srgbClr val="2F3E4F"/>
                </a:solidFill>
              </a:rPr>
              <a:t>现场销售信息与客情导入</a:t>
            </a:r>
          </a:p>
        </p:txBody>
      </p:sp>
      <p:sp>
        <p:nvSpPr>
          <p:cNvPr id="24" name="Rounded Rectangle 23"/>
          <p:cNvSpPr/>
          <p:nvPr/>
        </p:nvSpPr>
        <p:spPr>
          <a:xfrm>
            <a:off x="4837176" y="2157984"/>
            <a:ext cx="3108960" cy="93268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0328" y="2194560"/>
            <a:ext cx="2962656"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0C4BA1"/>
              </a:buClr>
              <a:buSzPct val="100000"/>
              <a:buFont typeface="Arial"/>
              <a:buChar char="•"/>
            </a:pPr>
            <a:r>
              <a:rPr sz="950" b="0">
                <a:solidFill>
                  <a:srgbClr val="2F3E4F"/>
                </a:solidFill>
              </a:rPr>
              <a:t>埃及客户交流与售前向交付交底</a:t>
            </a:r>
          </a:p>
          <a:p>
            <a:pPr algn="l" marL="146304" indent="-146304">
              <a:lnSpc>
                <a:spcPct val="112000"/>
              </a:lnSpc>
              <a:spcAft>
                <a:spcPts val="200"/>
              </a:spcAft>
              <a:buClr>
                <a:srgbClr val="0C4BA1"/>
              </a:buClr>
              <a:buSzPct val="100000"/>
              <a:buFont typeface="Arial"/>
              <a:buChar char="•"/>
            </a:pPr>
            <a:r>
              <a:rPr sz="950" b="0">
                <a:solidFill>
                  <a:srgbClr val="2F3E4F"/>
                </a:solidFill>
              </a:rPr>
              <a:t>加纳、IGNITE、SDEC等方案支撑</a:t>
            </a:r>
          </a:p>
          <a:p>
            <a:pPr algn="l" marL="146304" indent="-146304">
              <a:lnSpc>
                <a:spcPct val="112000"/>
              </a:lnSpc>
              <a:spcAft>
                <a:spcPts val="200"/>
              </a:spcAft>
              <a:buClr>
                <a:srgbClr val="0C4BA1"/>
              </a:buClr>
              <a:buSzPct val="100000"/>
              <a:buFont typeface="Arial"/>
              <a:buChar char="•"/>
            </a:pPr>
            <a:r>
              <a:rPr sz="950" b="0">
                <a:solidFill>
                  <a:srgbClr val="2F3E4F"/>
                </a:solidFill>
              </a:rPr>
              <a:t>处理咨询离职、驻场与轮换压力</a:t>
            </a:r>
          </a:p>
        </p:txBody>
      </p:sp>
      <p:sp>
        <p:nvSpPr>
          <p:cNvPr id="26" name="Rounded Rectangle 25"/>
          <p:cNvSpPr/>
          <p:nvPr/>
        </p:nvSpPr>
        <p:spPr>
          <a:xfrm>
            <a:off x="8055864" y="2157984"/>
            <a:ext cx="3749039" cy="932688"/>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9016" y="2194560"/>
            <a:ext cx="3602735"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1F8F5F"/>
              </a:buClr>
              <a:buSzPct val="100000"/>
              <a:buFont typeface="Arial"/>
              <a:buChar char="•"/>
            </a:pPr>
            <a:r>
              <a:rPr sz="950" b="0">
                <a:solidFill>
                  <a:srgbClr val="2F3E4F"/>
                </a:solidFill>
              </a:rPr>
              <a:t>本人直接面客、补位销售、把握方案细节</a:t>
            </a:r>
          </a:p>
          <a:p>
            <a:pPr algn="l" marL="146304" indent="-146304">
              <a:lnSpc>
                <a:spcPct val="112000"/>
              </a:lnSpc>
              <a:spcAft>
                <a:spcPts val="200"/>
              </a:spcAft>
              <a:buClr>
                <a:srgbClr val="1F8F5F"/>
              </a:buClr>
              <a:buSzPct val="100000"/>
              <a:buFont typeface="Arial"/>
              <a:buChar char="•"/>
            </a:pPr>
            <a:r>
              <a:rPr sz="950" b="0">
                <a:solidFill>
                  <a:srgbClr val="2F3E4F"/>
                </a:solidFill>
              </a:rPr>
              <a:t>徐唯进入巴西与埃及项目，联合准备与面客</a:t>
            </a:r>
          </a:p>
        </p:txBody>
      </p:sp>
      <p:sp>
        <p:nvSpPr>
          <p:cNvPr id="28" name="Rounded Rectangle 27"/>
          <p:cNvSpPr/>
          <p:nvPr/>
        </p:nvSpPr>
        <p:spPr>
          <a:xfrm>
            <a:off x="365760" y="3163824"/>
            <a:ext cx="1143000" cy="932688"/>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273552"/>
            <a:ext cx="1143000" cy="365760"/>
          </a:xfrm>
          <a:prstGeom prst="rect">
            <a:avLst/>
          </a:prstGeom>
          <a:noFill/>
        </p:spPr>
        <p:txBody>
          <a:bodyPr wrap="square" lIns="54864" tIns="36576" rIns="54864" bIns="36576" anchor="ctr">
            <a:noAutofit/>
          </a:bodyPr>
          <a:lstStyle/>
          <a:p>
            <a:pPr algn="ctr">
              <a:lnSpc>
                <a:spcPct val="112000"/>
              </a:lnSpc>
              <a:spcAft>
                <a:spcPts val="0"/>
              </a:spcAft>
            </a:pPr>
            <a:r>
              <a:rPr sz="1200" b="1">
                <a:solidFill>
                  <a:srgbClr val="0A2A5E"/>
                </a:solidFill>
              </a:rPr>
              <a:t>分工期</a:t>
            </a:r>
          </a:p>
        </p:txBody>
      </p:sp>
      <p:sp>
        <p:nvSpPr>
          <p:cNvPr id="30" name="TextBox 29"/>
          <p:cNvSpPr txBox="1"/>
          <p:nvPr/>
        </p:nvSpPr>
        <p:spPr>
          <a:xfrm>
            <a:off x="365760" y="3621024"/>
            <a:ext cx="1143000" cy="320040"/>
          </a:xfrm>
          <a:prstGeom prst="rect">
            <a:avLst/>
          </a:prstGeom>
          <a:noFill/>
        </p:spPr>
        <p:txBody>
          <a:bodyPr wrap="square" lIns="54864" tIns="36576" rIns="54864" bIns="36576" anchor="ctr">
            <a:noAutofit/>
          </a:bodyPr>
          <a:lstStyle/>
          <a:p>
            <a:pPr algn="ctr">
              <a:lnSpc>
                <a:spcPct val="112000"/>
              </a:lnSpc>
              <a:spcAft>
                <a:spcPts val="0"/>
              </a:spcAft>
            </a:pPr>
            <a:r>
              <a:rPr sz="1000" b="0">
                <a:solidFill>
                  <a:srgbClr val="6F7E8F"/>
                </a:solidFill>
              </a:rPr>
              <a:t>6—8月</a:t>
            </a:r>
          </a:p>
        </p:txBody>
      </p:sp>
      <p:sp>
        <p:nvSpPr>
          <p:cNvPr id="31" name="Rounded Rectangle 30"/>
          <p:cNvSpPr/>
          <p:nvPr/>
        </p:nvSpPr>
        <p:spPr>
          <a:xfrm>
            <a:off x="1618488" y="3163824"/>
            <a:ext cx="3108960" cy="93268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91640" y="3200400"/>
            <a:ext cx="2962656"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0C4BA1"/>
              </a:buClr>
              <a:buSzPct val="100000"/>
              <a:buFont typeface="Arial"/>
              <a:buChar char="•"/>
            </a:pPr>
            <a:r>
              <a:rPr sz="950" b="0">
                <a:solidFill>
                  <a:srgbClr val="2F3E4F"/>
                </a:solidFill>
              </a:rPr>
              <a:t>服务化、总集与分签模式讨论；报价与付款设计</a:t>
            </a:r>
          </a:p>
          <a:p>
            <a:pPr algn="l" marL="146304" indent="-146304">
              <a:lnSpc>
                <a:spcPct val="112000"/>
              </a:lnSpc>
              <a:spcAft>
                <a:spcPts val="200"/>
              </a:spcAft>
              <a:buClr>
                <a:srgbClr val="0C4BA1"/>
              </a:buClr>
              <a:buSzPct val="100000"/>
              <a:buFont typeface="Arial"/>
              <a:buChar char="•"/>
            </a:pPr>
            <a:r>
              <a:rPr sz="950" b="0">
                <a:solidFill>
                  <a:srgbClr val="2F3E4F"/>
                </a:solidFill>
              </a:rPr>
              <a:t>SGP需求确认与PoC准备</a:t>
            </a:r>
          </a:p>
          <a:p>
            <a:pPr algn="l" marL="146304" indent="-146304">
              <a:lnSpc>
                <a:spcPct val="112000"/>
              </a:lnSpc>
              <a:spcAft>
                <a:spcPts val="200"/>
              </a:spcAft>
              <a:buClr>
                <a:srgbClr val="0C4BA1"/>
              </a:buClr>
              <a:buSzPct val="100000"/>
              <a:buFont typeface="Arial"/>
              <a:buChar char="•"/>
            </a:pPr>
            <a:r>
              <a:rPr sz="950" b="0">
                <a:solidFill>
                  <a:srgbClr val="2F3E4F"/>
                </a:solidFill>
              </a:rPr>
              <a:t>7月现场LTC，商法财到场</a:t>
            </a:r>
          </a:p>
        </p:txBody>
      </p:sp>
      <p:sp>
        <p:nvSpPr>
          <p:cNvPr id="33" name="Rounded Rectangle 32"/>
          <p:cNvSpPr/>
          <p:nvPr/>
        </p:nvSpPr>
        <p:spPr>
          <a:xfrm>
            <a:off x="4837176" y="3163824"/>
            <a:ext cx="3108960" cy="93268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10328" y="3200400"/>
            <a:ext cx="2962656"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0C4BA1"/>
              </a:buClr>
              <a:buSzPct val="100000"/>
              <a:buFont typeface="Arial"/>
              <a:buChar char="•"/>
            </a:pPr>
            <a:r>
              <a:rPr sz="950" b="0">
                <a:solidFill>
                  <a:srgbClr val="2F3E4F"/>
                </a:solidFill>
              </a:rPr>
              <a:t>埃及合同评审；非洲RFI、概算与可研</a:t>
            </a:r>
          </a:p>
          <a:p>
            <a:pPr algn="l" marL="146304" indent="-146304">
              <a:lnSpc>
                <a:spcPct val="112000"/>
              </a:lnSpc>
              <a:spcAft>
                <a:spcPts val="200"/>
              </a:spcAft>
              <a:buClr>
                <a:srgbClr val="0C4BA1"/>
              </a:buClr>
              <a:buSzPct val="100000"/>
              <a:buFont typeface="Arial"/>
              <a:buChar char="•"/>
            </a:pPr>
            <a:r>
              <a:rPr sz="950" b="0">
                <a:solidFill>
                  <a:srgbClr val="2F3E4F"/>
                </a:solidFill>
              </a:rPr>
              <a:t>东马现场部署；新咨询人员带教</a:t>
            </a:r>
          </a:p>
        </p:txBody>
      </p:sp>
      <p:sp>
        <p:nvSpPr>
          <p:cNvPr id="35" name="Rounded Rectangle 34"/>
          <p:cNvSpPr/>
          <p:nvPr/>
        </p:nvSpPr>
        <p:spPr>
          <a:xfrm>
            <a:off x="8055864" y="3163824"/>
            <a:ext cx="3749039" cy="932688"/>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9016" y="3200400"/>
            <a:ext cx="3602735"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1F8F5F"/>
              </a:buClr>
              <a:buSzPct val="100000"/>
              <a:buFont typeface="Arial"/>
              <a:buChar char="•"/>
            </a:pPr>
            <a:r>
              <a:rPr sz="950" b="0">
                <a:solidFill>
                  <a:srgbClr val="2F3E4F"/>
                </a:solidFill>
              </a:rPr>
              <a:t>骨干承担主要方案与现场任务</a:t>
            </a:r>
          </a:p>
          <a:p>
            <a:pPr algn="l" marL="146304" indent="-146304">
              <a:lnSpc>
                <a:spcPct val="112000"/>
              </a:lnSpc>
              <a:spcAft>
                <a:spcPts val="200"/>
              </a:spcAft>
              <a:buClr>
                <a:srgbClr val="1F8F5F"/>
              </a:buClr>
              <a:buSzPct val="100000"/>
              <a:buFont typeface="Arial"/>
              <a:buChar char="•"/>
            </a:pPr>
            <a:r>
              <a:rPr sz="950" b="0">
                <a:solidFill>
                  <a:srgbClr val="2F3E4F"/>
                </a:solidFill>
              </a:rPr>
              <a:t>本人转向关键判断、复核、总体推进与法财接口</a:t>
            </a:r>
          </a:p>
        </p:txBody>
      </p:sp>
      <p:sp>
        <p:nvSpPr>
          <p:cNvPr id="37" name="Rounded Rectangle 36"/>
          <p:cNvSpPr/>
          <p:nvPr/>
        </p:nvSpPr>
        <p:spPr>
          <a:xfrm>
            <a:off x="365760" y="4169664"/>
            <a:ext cx="1143000" cy="932688"/>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4279392"/>
            <a:ext cx="1143000" cy="365760"/>
          </a:xfrm>
          <a:prstGeom prst="rect">
            <a:avLst/>
          </a:prstGeom>
          <a:noFill/>
        </p:spPr>
        <p:txBody>
          <a:bodyPr wrap="square" lIns="54864" tIns="36576" rIns="54864" bIns="36576" anchor="ctr">
            <a:noAutofit/>
          </a:bodyPr>
          <a:lstStyle/>
          <a:p>
            <a:pPr algn="ctr">
              <a:lnSpc>
                <a:spcPct val="112000"/>
              </a:lnSpc>
              <a:spcAft>
                <a:spcPts val="0"/>
              </a:spcAft>
            </a:pPr>
            <a:r>
              <a:rPr sz="1200" b="1">
                <a:solidFill>
                  <a:srgbClr val="0A2A5E"/>
                </a:solidFill>
              </a:rPr>
              <a:t>承接期</a:t>
            </a:r>
          </a:p>
        </p:txBody>
      </p:sp>
      <p:sp>
        <p:nvSpPr>
          <p:cNvPr id="39" name="TextBox 38"/>
          <p:cNvSpPr txBox="1"/>
          <p:nvPr/>
        </p:nvSpPr>
        <p:spPr>
          <a:xfrm>
            <a:off x="365760" y="4626864"/>
            <a:ext cx="1143000" cy="320040"/>
          </a:xfrm>
          <a:prstGeom prst="rect">
            <a:avLst/>
          </a:prstGeom>
          <a:noFill/>
        </p:spPr>
        <p:txBody>
          <a:bodyPr wrap="square" lIns="54864" tIns="36576" rIns="54864" bIns="36576" anchor="ctr">
            <a:noAutofit/>
          </a:bodyPr>
          <a:lstStyle/>
          <a:p>
            <a:pPr algn="ctr">
              <a:lnSpc>
                <a:spcPct val="112000"/>
              </a:lnSpc>
              <a:spcAft>
                <a:spcPts val="0"/>
              </a:spcAft>
            </a:pPr>
            <a:r>
              <a:rPr sz="1000" b="0">
                <a:solidFill>
                  <a:srgbClr val="6F7E8F"/>
                </a:solidFill>
              </a:rPr>
              <a:t>9月起</a:t>
            </a:r>
          </a:p>
        </p:txBody>
      </p:sp>
      <p:sp>
        <p:nvSpPr>
          <p:cNvPr id="40" name="Rounded Rectangle 39"/>
          <p:cNvSpPr/>
          <p:nvPr/>
        </p:nvSpPr>
        <p:spPr>
          <a:xfrm>
            <a:off x="1618488" y="4169664"/>
            <a:ext cx="3108960" cy="93268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691640" y="4206240"/>
            <a:ext cx="2962656"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0C4BA1"/>
              </a:buClr>
              <a:buSzPct val="100000"/>
              <a:buFont typeface="Arial"/>
              <a:buChar char="•"/>
            </a:pPr>
            <a:r>
              <a:rPr sz="950" b="0">
                <a:solidFill>
                  <a:srgbClr val="2F3E4F"/>
                </a:solidFill>
              </a:rPr>
              <a:t>政府间文件、采购接口、SOW</a:t>
            </a:r>
          </a:p>
          <a:p>
            <a:pPr algn="l" marL="146304" indent="-146304">
              <a:lnSpc>
                <a:spcPct val="112000"/>
              </a:lnSpc>
              <a:spcAft>
                <a:spcPts val="200"/>
              </a:spcAft>
              <a:buClr>
                <a:srgbClr val="0C4BA1"/>
              </a:buClr>
              <a:buSzPct val="100000"/>
              <a:buFont typeface="Arial"/>
              <a:buChar char="•"/>
            </a:pPr>
            <a:r>
              <a:rPr sz="950" b="0">
                <a:solidFill>
                  <a:srgbClr val="2F3E4F"/>
                </a:solidFill>
              </a:rPr>
              <a:t>本地实体注册与SGP部署验收条件</a:t>
            </a:r>
          </a:p>
        </p:txBody>
      </p:sp>
      <p:sp>
        <p:nvSpPr>
          <p:cNvPr id="42" name="Rounded Rectangle 41"/>
          <p:cNvSpPr/>
          <p:nvPr/>
        </p:nvSpPr>
        <p:spPr>
          <a:xfrm>
            <a:off x="4837176" y="4169664"/>
            <a:ext cx="3108960" cy="93268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10328" y="4206240"/>
            <a:ext cx="2962656"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0C4BA1"/>
              </a:buClr>
              <a:buSzPct val="100000"/>
              <a:buFont typeface="Arial"/>
              <a:buChar char="•"/>
            </a:pPr>
            <a:r>
              <a:rPr sz="950" b="0">
                <a:solidFill>
                  <a:srgbClr val="2F3E4F"/>
                </a:solidFill>
              </a:rPr>
              <a:t>KNG范围风险评审；SDEC五个子项目SoC</a:t>
            </a:r>
          </a:p>
          <a:p>
            <a:pPr algn="l" marL="146304" indent="-146304">
              <a:lnSpc>
                <a:spcPct val="112000"/>
              </a:lnSpc>
              <a:spcAft>
                <a:spcPts val="200"/>
              </a:spcAft>
              <a:buClr>
                <a:srgbClr val="0C4BA1"/>
              </a:buClr>
              <a:buSzPct val="100000"/>
              <a:buFont typeface="Arial"/>
              <a:buChar char="•"/>
            </a:pPr>
            <a:r>
              <a:rPr sz="950" b="0">
                <a:solidFill>
                  <a:srgbClr val="2F3E4F"/>
                </a:solidFill>
              </a:rPr>
              <a:t>哈萨克斯坦、泰国等方案与客户交流</a:t>
            </a:r>
          </a:p>
        </p:txBody>
      </p:sp>
      <p:sp>
        <p:nvSpPr>
          <p:cNvPr id="44" name="Rounded Rectangle 43"/>
          <p:cNvSpPr/>
          <p:nvPr/>
        </p:nvSpPr>
        <p:spPr>
          <a:xfrm>
            <a:off x="8055864" y="4169664"/>
            <a:ext cx="3749039" cy="932688"/>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29016" y="4206240"/>
            <a:ext cx="3602735" cy="859536"/>
          </a:xfrm>
          <a:prstGeom prst="rect">
            <a:avLst/>
          </a:prstGeom>
          <a:noFill/>
        </p:spPr>
        <p:txBody>
          <a:bodyPr wrap="square" lIns="54864" tIns="36576" rIns="54864" bIns="36576" anchor="ctr">
            <a:noAutofit/>
          </a:bodyPr>
          <a:lstStyle/>
          <a:p>
            <a:pPr algn="l" marL="146304" indent="-146304">
              <a:lnSpc>
                <a:spcPct val="112000"/>
              </a:lnSpc>
              <a:spcAft>
                <a:spcPts val="200"/>
              </a:spcAft>
              <a:buClr>
                <a:srgbClr val="1F8F5F"/>
              </a:buClr>
              <a:buSzPct val="100000"/>
              <a:buFont typeface="Arial"/>
              <a:buChar char="•"/>
            </a:pPr>
            <a:r>
              <a:rPr sz="950" b="0">
                <a:solidFill>
                  <a:srgbClr val="2F3E4F"/>
                </a:solidFill>
              </a:rPr>
              <a:t>明确主备与授权边界；重大承诺先内部一致</a:t>
            </a:r>
          </a:p>
          <a:p>
            <a:pPr algn="l" marL="146304" indent="-146304">
              <a:lnSpc>
                <a:spcPct val="112000"/>
              </a:lnSpc>
              <a:spcAft>
                <a:spcPts val="200"/>
              </a:spcAft>
              <a:buClr>
                <a:srgbClr val="1F8F5F"/>
              </a:buClr>
              <a:buSzPct val="100000"/>
              <a:buFont typeface="Arial"/>
              <a:buChar char="•"/>
            </a:pPr>
            <a:r>
              <a:rPr sz="950" b="0">
                <a:solidFill>
                  <a:srgbClr val="2F3E4F"/>
                </a:solidFill>
              </a:rPr>
              <a:t>本人保留关键把关，减少单点依赖</a:t>
            </a:r>
          </a:p>
        </p:txBody>
      </p:sp>
      <p:sp>
        <p:nvSpPr>
          <p:cNvPr id="46" name="Rounded Rectangle 45"/>
          <p:cNvSpPr/>
          <p:nvPr/>
        </p:nvSpPr>
        <p:spPr>
          <a:xfrm>
            <a:off x="365760" y="5212080"/>
            <a:ext cx="2727198" cy="640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5257800"/>
            <a:ext cx="2727198" cy="352044"/>
          </a:xfrm>
          <a:prstGeom prst="rect">
            <a:avLst/>
          </a:prstGeom>
          <a:noFill/>
        </p:spPr>
        <p:txBody>
          <a:bodyPr wrap="square" lIns="36576" tIns="0" rIns="36576" bIns="0" anchor="ctr">
            <a:noAutofit/>
          </a:bodyPr>
          <a:lstStyle/>
          <a:p>
            <a:pPr algn="ctr">
              <a:lnSpc>
                <a:spcPct val="112000"/>
              </a:lnSpc>
              <a:spcAft>
                <a:spcPts val="0"/>
              </a:spcAft>
            </a:pPr>
            <a:r>
              <a:rPr sz="1600" b="1">
                <a:solidFill>
                  <a:srgbClr val="0C4BA1"/>
                </a:solidFill>
              </a:rPr>
              <a:t>5次</a:t>
            </a:r>
          </a:p>
        </p:txBody>
      </p:sp>
      <p:sp>
        <p:nvSpPr>
          <p:cNvPr id="48" name="TextBox 47"/>
          <p:cNvSpPr txBox="1"/>
          <p:nvPr/>
        </p:nvSpPr>
        <p:spPr>
          <a:xfrm>
            <a:off x="365760" y="5570524"/>
            <a:ext cx="2727198" cy="268833"/>
          </a:xfrm>
          <a:prstGeom prst="rect">
            <a:avLst/>
          </a:prstGeom>
          <a:noFill/>
        </p:spPr>
        <p:txBody>
          <a:bodyPr wrap="square" lIns="54864" tIns="0" rIns="54864" bIns="0" anchor="t">
            <a:noAutofit/>
          </a:bodyPr>
          <a:lstStyle/>
          <a:p>
            <a:pPr algn="ctr">
              <a:lnSpc>
                <a:spcPct val="112000"/>
              </a:lnSpc>
              <a:spcAft>
                <a:spcPts val="0"/>
              </a:spcAft>
            </a:pPr>
            <a:r>
              <a:rPr sz="950" b="0">
                <a:solidFill>
                  <a:srgbClr val="6F7E8F"/>
                </a:solidFill>
              </a:rPr>
              <a:t>七个月内中巴往返</a:t>
            </a:r>
          </a:p>
        </p:txBody>
      </p:sp>
      <p:sp>
        <p:nvSpPr>
          <p:cNvPr id="49" name="Rounded Rectangle 48"/>
          <p:cNvSpPr/>
          <p:nvPr/>
        </p:nvSpPr>
        <p:spPr>
          <a:xfrm>
            <a:off x="3275838" y="5212080"/>
            <a:ext cx="2727198" cy="640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75838" y="5257800"/>
            <a:ext cx="2727198" cy="352044"/>
          </a:xfrm>
          <a:prstGeom prst="rect">
            <a:avLst/>
          </a:prstGeom>
          <a:noFill/>
        </p:spPr>
        <p:txBody>
          <a:bodyPr wrap="square" lIns="36576" tIns="0" rIns="36576" bIns="0" anchor="ctr">
            <a:noAutofit/>
          </a:bodyPr>
          <a:lstStyle/>
          <a:p>
            <a:pPr algn="ctr">
              <a:lnSpc>
                <a:spcPct val="112000"/>
              </a:lnSpc>
              <a:spcAft>
                <a:spcPts val="0"/>
              </a:spcAft>
            </a:pPr>
            <a:r>
              <a:rPr sz="1600" b="1">
                <a:solidFill>
                  <a:srgbClr val="0C4BA1"/>
                </a:solidFill>
              </a:rPr>
              <a:t>11小时</a:t>
            </a:r>
          </a:p>
        </p:txBody>
      </p:sp>
      <p:sp>
        <p:nvSpPr>
          <p:cNvPr id="51" name="TextBox 50"/>
          <p:cNvSpPr txBox="1"/>
          <p:nvPr/>
        </p:nvSpPr>
        <p:spPr>
          <a:xfrm>
            <a:off x="3275838" y="5570524"/>
            <a:ext cx="2727198" cy="268833"/>
          </a:xfrm>
          <a:prstGeom prst="rect">
            <a:avLst/>
          </a:prstGeom>
          <a:noFill/>
        </p:spPr>
        <p:txBody>
          <a:bodyPr wrap="square" lIns="54864" tIns="0" rIns="54864" bIns="0" anchor="t">
            <a:noAutofit/>
          </a:bodyPr>
          <a:lstStyle/>
          <a:p>
            <a:pPr algn="ctr">
              <a:lnSpc>
                <a:spcPct val="112000"/>
              </a:lnSpc>
              <a:spcAft>
                <a:spcPts val="0"/>
              </a:spcAft>
            </a:pPr>
            <a:r>
              <a:rPr sz="950" b="0">
                <a:solidFill>
                  <a:srgbClr val="6F7E8F"/>
                </a:solidFill>
              </a:rPr>
              <a:t>时差下的两地协同</a:t>
            </a:r>
          </a:p>
        </p:txBody>
      </p:sp>
      <p:sp>
        <p:nvSpPr>
          <p:cNvPr id="52" name="Rounded Rectangle 51"/>
          <p:cNvSpPr/>
          <p:nvPr/>
        </p:nvSpPr>
        <p:spPr>
          <a:xfrm>
            <a:off x="6185916" y="5212080"/>
            <a:ext cx="2727198" cy="640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85916" y="5257800"/>
            <a:ext cx="2727198" cy="352044"/>
          </a:xfrm>
          <a:prstGeom prst="rect">
            <a:avLst/>
          </a:prstGeom>
          <a:noFill/>
        </p:spPr>
        <p:txBody>
          <a:bodyPr wrap="square" lIns="36576" tIns="0" rIns="36576" bIns="0" anchor="ctr">
            <a:noAutofit/>
          </a:bodyPr>
          <a:lstStyle/>
          <a:p>
            <a:pPr algn="ctr">
              <a:lnSpc>
                <a:spcPct val="112000"/>
              </a:lnSpc>
              <a:spcAft>
                <a:spcPts val="0"/>
              </a:spcAft>
            </a:pPr>
            <a:r>
              <a:rPr sz="1600" b="1">
                <a:solidFill>
                  <a:srgbClr val="0C4BA1"/>
                </a:solidFill>
              </a:rPr>
              <a:t>2地</a:t>
            </a:r>
          </a:p>
        </p:txBody>
      </p:sp>
      <p:sp>
        <p:nvSpPr>
          <p:cNvPr id="54" name="TextBox 53"/>
          <p:cNvSpPr txBox="1"/>
          <p:nvPr/>
        </p:nvSpPr>
        <p:spPr>
          <a:xfrm>
            <a:off x="6185916" y="5570524"/>
            <a:ext cx="2727198" cy="268833"/>
          </a:xfrm>
          <a:prstGeom prst="rect">
            <a:avLst/>
          </a:prstGeom>
          <a:noFill/>
        </p:spPr>
        <p:txBody>
          <a:bodyPr wrap="square" lIns="54864" tIns="0" rIns="54864" bIns="0" anchor="t">
            <a:noAutofit/>
          </a:bodyPr>
          <a:lstStyle/>
          <a:p>
            <a:pPr algn="ctr">
              <a:lnSpc>
                <a:spcPct val="112000"/>
              </a:lnSpc>
              <a:spcAft>
                <a:spcPts val="0"/>
              </a:spcAft>
            </a:pPr>
            <a:r>
              <a:rPr sz="950" b="0">
                <a:solidFill>
                  <a:srgbClr val="6F7E8F"/>
                </a:solidFill>
              </a:rPr>
              <a:t>巴西、埃及同时需常驻与轮换</a:t>
            </a:r>
          </a:p>
        </p:txBody>
      </p:sp>
      <p:sp>
        <p:nvSpPr>
          <p:cNvPr id="55" name="Rounded Rectangle 54"/>
          <p:cNvSpPr/>
          <p:nvPr/>
        </p:nvSpPr>
        <p:spPr>
          <a:xfrm>
            <a:off x="9095994" y="5212080"/>
            <a:ext cx="2727198" cy="640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5994" y="5257800"/>
            <a:ext cx="2727198" cy="352044"/>
          </a:xfrm>
          <a:prstGeom prst="rect">
            <a:avLst/>
          </a:prstGeom>
          <a:noFill/>
        </p:spPr>
        <p:txBody>
          <a:bodyPr wrap="square" lIns="36576" tIns="0" rIns="36576" bIns="0" anchor="ctr">
            <a:noAutofit/>
          </a:bodyPr>
          <a:lstStyle/>
          <a:p>
            <a:pPr algn="ctr">
              <a:lnSpc>
                <a:spcPct val="112000"/>
              </a:lnSpc>
              <a:spcAft>
                <a:spcPts val="0"/>
              </a:spcAft>
            </a:pPr>
            <a:r>
              <a:rPr sz="1600" b="1">
                <a:solidFill>
                  <a:srgbClr val="0C4BA1"/>
                </a:solidFill>
              </a:rPr>
              <a:t>本人接续</a:t>
            </a:r>
          </a:p>
        </p:txBody>
      </p:sp>
      <p:sp>
        <p:nvSpPr>
          <p:cNvPr id="57" name="TextBox 56"/>
          <p:cNvSpPr txBox="1"/>
          <p:nvPr/>
        </p:nvSpPr>
        <p:spPr>
          <a:xfrm>
            <a:off x="9095994" y="5570524"/>
            <a:ext cx="2727198" cy="268833"/>
          </a:xfrm>
          <a:prstGeom prst="rect">
            <a:avLst/>
          </a:prstGeom>
          <a:noFill/>
        </p:spPr>
        <p:txBody>
          <a:bodyPr wrap="square" lIns="54864" tIns="0" rIns="54864" bIns="0" anchor="t">
            <a:noAutofit/>
          </a:bodyPr>
          <a:lstStyle/>
          <a:p>
            <a:pPr algn="ctr">
              <a:lnSpc>
                <a:spcPct val="112000"/>
              </a:lnSpc>
              <a:spcAft>
                <a:spcPts val="0"/>
              </a:spcAft>
            </a:pPr>
            <a:r>
              <a:rPr sz="950" b="0">
                <a:solidFill>
                  <a:srgbClr val="6F7E8F"/>
                </a:solidFill>
              </a:rPr>
              <a:t>现场人员变化时跨区支援</a:t>
            </a:r>
          </a:p>
        </p:txBody>
      </p:sp>
      <p:sp>
        <p:nvSpPr>
          <p:cNvPr id="58" name="TextBox 57"/>
          <p:cNvSpPr txBox="1"/>
          <p:nvPr/>
        </p:nvSpPr>
        <p:spPr>
          <a:xfrm>
            <a:off x="365760" y="5907024"/>
            <a:ext cx="11457432" cy="329184"/>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专项与本职同期推进；管理方式从本人补位转向骨干承接，尚未消除单点依赖。三期划分为回顾归纳。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巴西成果全景：合作地位、技术需求、交易准备与应用验证同步推进</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902952" y="548640"/>
            <a:ext cx="1920240"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看结果</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6</a:t>
            </a:r>
          </a:p>
        </p:txBody>
      </p:sp>
      <p:sp>
        <p:nvSpPr>
          <p:cNvPr id="6" name="Rectangle 5"/>
          <p:cNvSpPr/>
          <p:nvPr/>
        </p:nvSpPr>
        <p:spPr>
          <a:xfrm>
            <a:off x="365760" y="1170432"/>
            <a:ext cx="1325880" cy="347472"/>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70432"/>
            <a:ext cx="1325880" cy="347472"/>
          </a:xfrm>
          <a:prstGeom prst="rect">
            <a:avLst/>
          </a:prstGeom>
          <a:noFill/>
        </p:spPr>
        <p:txBody>
          <a:bodyPr wrap="square" lIns="54864" tIns="36576" rIns="54864" bIns="36576" anchor="ctr">
            <a:noAutofit/>
          </a:bodyPr>
          <a:lstStyle/>
          <a:p>
            <a:pPr algn="l">
              <a:lnSpc>
                <a:spcPct val="112000"/>
              </a:lnSpc>
              <a:spcAft>
                <a:spcPts val="300"/>
              </a:spcAft>
            </a:pPr>
            <a:r>
              <a:rPr sz="1050" b="1">
                <a:solidFill>
                  <a:srgbClr val="FFFFFF"/>
                </a:solidFill>
              </a:rPr>
              <a:t>维度</a:t>
            </a:r>
          </a:p>
        </p:txBody>
      </p:sp>
      <p:sp>
        <p:nvSpPr>
          <p:cNvPr id="8" name="Rectangle 7"/>
          <p:cNvSpPr/>
          <p:nvPr/>
        </p:nvSpPr>
        <p:spPr>
          <a:xfrm>
            <a:off x="1783080" y="1170432"/>
            <a:ext cx="3063240" cy="347472"/>
          </a:xfrm>
          <a:prstGeom prst="rect">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83080" y="1170432"/>
            <a:ext cx="3063240" cy="347472"/>
          </a:xfrm>
          <a:prstGeom prst="rect">
            <a:avLst/>
          </a:prstGeom>
          <a:noFill/>
        </p:spPr>
        <p:txBody>
          <a:bodyPr wrap="square" lIns="54864" tIns="36576" rIns="54864" bIns="36576" anchor="ctr">
            <a:noAutofit/>
          </a:bodyPr>
          <a:lstStyle/>
          <a:p>
            <a:pPr algn="l">
              <a:lnSpc>
                <a:spcPct val="112000"/>
              </a:lnSpc>
              <a:spcAft>
                <a:spcPts val="300"/>
              </a:spcAft>
            </a:pPr>
            <a:r>
              <a:rPr sz="1050" b="1">
                <a:solidFill>
                  <a:srgbClr val="FFFFFF"/>
                </a:solidFill>
              </a:rPr>
              <a:t>早期状态 / 主要障碍</a:t>
            </a:r>
          </a:p>
        </p:txBody>
      </p:sp>
      <p:sp>
        <p:nvSpPr>
          <p:cNvPr id="10" name="Rectangle 9"/>
          <p:cNvSpPr/>
          <p:nvPr/>
        </p:nvSpPr>
        <p:spPr>
          <a:xfrm>
            <a:off x="5193792" y="1170432"/>
            <a:ext cx="4069080" cy="347472"/>
          </a:xfrm>
          <a:prstGeom prst="rect">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93792" y="1170432"/>
            <a:ext cx="4069080" cy="347472"/>
          </a:xfrm>
          <a:prstGeom prst="rect">
            <a:avLst/>
          </a:prstGeom>
          <a:noFill/>
        </p:spPr>
        <p:txBody>
          <a:bodyPr wrap="square" lIns="54864" tIns="36576" rIns="54864" bIns="36576" anchor="ctr">
            <a:noAutofit/>
          </a:bodyPr>
          <a:lstStyle/>
          <a:p>
            <a:pPr algn="l">
              <a:lnSpc>
                <a:spcPct val="112000"/>
              </a:lnSpc>
              <a:spcAft>
                <a:spcPts val="300"/>
              </a:spcAft>
            </a:pPr>
            <a:r>
              <a:rPr sz="1050" b="1">
                <a:solidFill>
                  <a:srgbClr val="FFFFFF"/>
                </a:solidFill>
              </a:rPr>
              <a:t>已取得的阶段变化</a:t>
            </a:r>
          </a:p>
        </p:txBody>
      </p:sp>
      <p:sp>
        <p:nvSpPr>
          <p:cNvPr id="12" name="Rectangle 11"/>
          <p:cNvSpPr/>
          <p:nvPr/>
        </p:nvSpPr>
        <p:spPr>
          <a:xfrm>
            <a:off x="9354312" y="1170432"/>
            <a:ext cx="2560320" cy="347472"/>
          </a:xfrm>
          <a:prstGeom prst="rect">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54312" y="1170432"/>
            <a:ext cx="2560320" cy="347472"/>
          </a:xfrm>
          <a:prstGeom prst="rect">
            <a:avLst/>
          </a:prstGeom>
          <a:noFill/>
        </p:spPr>
        <p:txBody>
          <a:bodyPr wrap="square" lIns="54864" tIns="36576" rIns="54864" bIns="36576" anchor="ctr">
            <a:noAutofit/>
          </a:bodyPr>
          <a:lstStyle/>
          <a:p>
            <a:pPr algn="l">
              <a:lnSpc>
                <a:spcPct val="112000"/>
              </a:lnSpc>
              <a:spcAft>
                <a:spcPts val="300"/>
              </a:spcAft>
            </a:pPr>
            <a:r>
              <a:rPr sz="1050" b="1">
                <a:solidFill>
                  <a:srgbClr val="FFFFFF"/>
                </a:solidFill>
              </a:rPr>
              <a:t>对公司价值</a:t>
            </a:r>
          </a:p>
        </p:txBody>
      </p:sp>
      <p:sp>
        <p:nvSpPr>
          <p:cNvPr id="14" name="Rounded Rectangle 13"/>
          <p:cNvSpPr/>
          <p:nvPr/>
        </p:nvSpPr>
        <p:spPr>
          <a:xfrm>
            <a:off x="365760" y="1591056"/>
            <a:ext cx="1325880" cy="71323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 y="1591056"/>
            <a:ext cx="1216152" cy="713232"/>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合作位置</a:t>
            </a:r>
          </a:p>
        </p:txBody>
      </p:sp>
      <p:sp>
        <p:nvSpPr>
          <p:cNvPr id="16" name="Rounded Rectangle 15"/>
          <p:cNvSpPr/>
          <p:nvPr/>
        </p:nvSpPr>
        <p:spPr>
          <a:xfrm>
            <a:off x="1783080" y="1591056"/>
            <a:ext cx="3063240" cy="71323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56232" y="1591056"/>
            <a:ext cx="291693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需与华为共同争取客户对联合方案的认可；实施主体及合作方式逐步明确</a:t>
            </a:r>
          </a:p>
        </p:txBody>
      </p:sp>
      <p:sp>
        <p:nvSpPr>
          <p:cNvPr id="18" name="Chevron 17"/>
          <p:cNvSpPr/>
          <p:nvPr/>
        </p:nvSpPr>
        <p:spPr>
          <a:xfrm>
            <a:off x="4901184" y="1810512"/>
            <a:ext cx="137160"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93792" y="1591056"/>
            <a:ext cx="4069080" cy="71323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66944" y="1591056"/>
            <a:ext cx="392277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4月形成战略合作文件（意向性质）；RNP承担国家AI项目推进；8月20日总统公开宣布相关合作，三方MoU 8月完成签署</a:t>
            </a:r>
          </a:p>
        </p:txBody>
      </p:sp>
      <p:sp>
        <p:nvSpPr>
          <p:cNvPr id="21" name="Rounded Rectangle 20"/>
          <p:cNvSpPr/>
          <p:nvPr/>
        </p:nvSpPr>
        <p:spPr>
          <a:xfrm>
            <a:off x="9354312" y="1591056"/>
            <a:ext cx="2560320" cy="71323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27464" y="1591056"/>
            <a:ext cx="2414015"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讯飞在国家级AI合作中的角色由方案交流走向公开合作位置</a:t>
            </a:r>
          </a:p>
        </p:txBody>
      </p:sp>
      <p:sp>
        <p:nvSpPr>
          <p:cNvPr id="23" name="Rounded Rectangle 22"/>
          <p:cNvSpPr/>
          <p:nvPr/>
        </p:nvSpPr>
        <p:spPr>
          <a:xfrm>
            <a:off x="365760" y="2368296"/>
            <a:ext cx="1325880" cy="71323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 y="2368296"/>
            <a:ext cx="1216152" cy="713232"/>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技术方案</a:t>
            </a:r>
          </a:p>
        </p:txBody>
      </p:sp>
      <p:sp>
        <p:nvSpPr>
          <p:cNvPr id="25" name="Rounded Rectangle 24"/>
          <p:cNvSpPr/>
          <p:nvPr/>
        </p:nvSpPr>
        <p:spPr>
          <a:xfrm>
            <a:off x="1783080" y="2368296"/>
            <a:ext cx="3063240" cy="71323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56232" y="2368296"/>
            <a:ext cx="291693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自主训练、数据、模型效果、技术依赖与知识转移存在大量待澄清问题</a:t>
            </a:r>
          </a:p>
        </p:txBody>
      </p:sp>
      <p:sp>
        <p:nvSpPr>
          <p:cNvPr id="27" name="Chevron 26"/>
          <p:cNvSpPr/>
          <p:nvPr/>
        </p:nvSpPr>
        <p:spPr>
          <a:xfrm>
            <a:off x="4901184" y="2587752"/>
            <a:ext cx="137160"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3792" y="2368296"/>
            <a:ext cx="4069080" cy="71323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66944" y="2368296"/>
            <a:ext cx="392277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联合完成多批问题应答，RNP总体接受主要方案与技术路线；相关内容体现在5月TR草稿</a:t>
            </a:r>
          </a:p>
        </p:txBody>
      </p:sp>
      <p:sp>
        <p:nvSpPr>
          <p:cNvPr id="30" name="Rounded Rectangle 29"/>
          <p:cNvSpPr/>
          <p:nvPr/>
        </p:nvSpPr>
        <p:spPr>
          <a:xfrm>
            <a:off x="9354312" y="2368296"/>
            <a:ext cx="2560320" cy="71323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27464" y="2368296"/>
            <a:ext cx="2414015"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咨询输出转为客户技术需求与后续采购讨论的输入</a:t>
            </a:r>
          </a:p>
        </p:txBody>
      </p:sp>
      <p:sp>
        <p:nvSpPr>
          <p:cNvPr id="32" name="Rounded Rectangle 31"/>
          <p:cNvSpPr/>
          <p:nvPr/>
        </p:nvSpPr>
        <p:spPr>
          <a:xfrm>
            <a:off x="365760" y="3145536"/>
            <a:ext cx="1325880" cy="71323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 y="3145536"/>
            <a:ext cx="1216152" cy="713232"/>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交易准备</a:t>
            </a:r>
          </a:p>
        </p:txBody>
      </p:sp>
      <p:sp>
        <p:nvSpPr>
          <p:cNvPr id="34" name="Rounded Rectangle 33"/>
          <p:cNvSpPr/>
          <p:nvPr/>
        </p:nvSpPr>
        <p:spPr>
          <a:xfrm>
            <a:off x="1783080" y="3145536"/>
            <a:ext cx="3063240" cy="71323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56232" y="3145536"/>
            <a:ext cx="291693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联合体、总集、服务化、分签等路径反复讨论，范围与付款依赖交易结构</a:t>
            </a:r>
          </a:p>
        </p:txBody>
      </p:sp>
      <p:sp>
        <p:nvSpPr>
          <p:cNvPr id="36" name="Chevron 35"/>
          <p:cNvSpPr/>
          <p:nvPr/>
        </p:nvSpPr>
        <p:spPr>
          <a:xfrm>
            <a:off x="4901184" y="3364992"/>
            <a:ext cx="137160"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193792" y="3145536"/>
            <a:ext cx="4069080" cy="71323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66944" y="3145536"/>
            <a:ext cx="392277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形成阶段报价与付款里程碑；进入采购部门直接对接、TR／SoC／SOW及合同准备</a:t>
            </a:r>
          </a:p>
        </p:txBody>
      </p:sp>
      <p:sp>
        <p:nvSpPr>
          <p:cNvPr id="39" name="Rounded Rectangle 38"/>
          <p:cNvSpPr/>
          <p:nvPr/>
        </p:nvSpPr>
        <p:spPr>
          <a:xfrm>
            <a:off x="9354312" y="3145536"/>
            <a:ext cx="2560320" cy="71323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27464" y="3145536"/>
            <a:ext cx="2414015"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为合作转化为正式交易建立具体材料与工作路径</a:t>
            </a:r>
          </a:p>
        </p:txBody>
      </p:sp>
      <p:sp>
        <p:nvSpPr>
          <p:cNvPr id="41" name="Rounded Rectangle 40"/>
          <p:cNvSpPr/>
          <p:nvPr/>
        </p:nvSpPr>
        <p:spPr>
          <a:xfrm>
            <a:off x="365760" y="3922776"/>
            <a:ext cx="1325880" cy="71323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0624" y="3922776"/>
            <a:ext cx="1216152" cy="713232"/>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应用合作</a:t>
            </a:r>
          </a:p>
        </p:txBody>
      </p:sp>
      <p:sp>
        <p:nvSpPr>
          <p:cNvPr id="43" name="Rounded Rectangle 42"/>
          <p:cNvSpPr/>
          <p:nvPr/>
        </p:nvSpPr>
        <p:spPr>
          <a:xfrm>
            <a:off x="1783080" y="3922776"/>
            <a:ext cx="3063240" cy="71323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56232" y="3922776"/>
            <a:ext cx="291693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SERPRO对医疗、教育和政务应用有兴趣，尚需明确客户与场景</a:t>
            </a:r>
          </a:p>
        </p:txBody>
      </p:sp>
      <p:sp>
        <p:nvSpPr>
          <p:cNvPr id="45" name="Chevron 44"/>
          <p:cNvSpPr/>
          <p:nvPr/>
        </p:nvSpPr>
        <p:spPr>
          <a:xfrm>
            <a:off x="4901184" y="4142232"/>
            <a:ext cx="137160"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193792" y="3922776"/>
            <a:ext cx="4069080" cy="71323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66944" y="3922776"/>
            <a:ext cx="392277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MGI-SGP招聘场景确认由讯飞开展PoC；8月完成开发并进入部署与验收沟通</a:t>
            </a:r>
          </a:p>
        </p:txBody>
      </p:sp>
      <p:sp>
        <p:nvSpPr>
          <p:cNvPr id="48" name="Rounded Rectangle 47"/>
          <p:cNvSpPr/>
          <p:nvPr/>
        </p:nvSpPr>
        <p:spPr>
          <a:xfrm>
            <a:off x="9354312" y="3922776"/>
            <a:ext cx="2560320" cy="71323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27464" y="3922776"/>
            <a:ext cx="2414015"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建立面向政府实际业务的应用验证基础</a:t>
            </a:r>
          </a:p>
        </p:txBody>
      </p:sp>
      <p:sp>
        <p:nvSpPr>
          <p:cNvPr id="50" name="Rounded Rectangle 49"/>
          <p:cNvSpPr/>
          <p:nvPr/>
        </p:nvSpPr>
        <p:spPr>
          <a:xfrm>
            <a:off x="365760" y="4700016"/>
            <a:ext cx="1325880" cy="71323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0624" y="4700016"/>
            <a:ext cx="1216152" cy="713232"/>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本地承接</a:t>
            </a:r>
          </a:p>
        </p:txBody>
      </p:sp>
      <p:sp>
        <p:nvSpPr>
          <p:cNvPr id="52" name="Rounded Rectangle 51"/>
          <p:cNvSpPr/>
          <p:nvPr/>
        </p:nvSpPr>
        <p:spPr>
          <a:xfrm>
            <a:off x="1783080" y="4700016"/>
            <a:ext cx="3063240" cy="71323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856232" y="4700016"/>
            <a:ext cx="291693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本地实体、经营范围、专业合同支撑与履约接口尚不完备</a:t>
            </a:r>
          </a:p>
        </p:txBody>
      </p:sp>
      <p:sp>
        <p:nvSpPr>
          <p:cNvPr id="54" name="Chevron 53"/>
          <p:cNvSpPr/>
          <p:nvPr/>
        </p:nvSpPr>
        <p:spPr>
          <a:xfrm>
            <a:off x="4901184" y="4919472"/>
            <a:ext cx="137160"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193792" y="4700016"/>
            <a:ext cx="4069080" cy="71323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266944" y="4700016"/>
            <a:ext cx="3922776"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推动注册材料与经营范围确认、律师资源配置、现场LTC和采购接口建立</a:t>
            </a:r>
          </a:p>
        </p:txBody>
      </p:sp>
      <p:sp>
        <p:nvSpPr>
          <p:cNvPr id="57" name="Rounded Rectangle 56"/>
          <p:cNvSpPr/>
          <p:nvPr/>
        </p:nvSpPr>
        <p:spPr>
          <a:xfrm>
            <a:off x="9354312" y="4700016"/>
            <a:ext cx="2560320" cy="71323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427464" y="4700016"/>
            <a:ext cx="2414015" cy="71323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为本地签约和履约准备提供基础</a:t>
            </a:r>
          </a:p>
        </p:txBody>
      </p:sp>
      <p:sp>
        <p:nvSpPr>
          <p:cNvPr id="59" name="TextBox 58"/>
          <p:cNvSpPr txBox="1"/>
          <p:nvPr/>
        </p:nvSpPr>
        <p:spPr>
          <a:xfrm>
            <a:off x="365760" y="5495544"/>
            <a:ext cx="2011680" cy="329184"/>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本人主导的工作连接</a:t>
            </a:r>
          </a:p>
        </p:txBody>
      </p:sp>
      <p:sp>
        <p:nvSpPr>
          <p:cNvPr id="60" name="Rounded Rectangle 59"/>
          <p:cNvSpPr/>
          <p:nvPr/>
        </p:nvSpPr>
        <p:spPr>
          <a:xfrm>
            <a:off x="2468879" y="5513831"/>
            <a:ext cx="2132838"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A2A5E"/>
                </a:solidFill>
              </a:rPr>
              <a:t>客户与高层推进</a:t>
            </a:r>
          </a:p>
        </p:txBody>
      </p:sp>
      <p:sp>
        <p:nvSpPr>
          <p:cNvPr id="61" name="Chevron 60"/>
          <p:cNvSpPr/>
          <p:nvPr/>
        </p:nvSpPr>
        <p:spPr>
          <a:xfrm>
            <a:off x="4674870" y="5522976"/>
            <a:ext cx="128016"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4876038" y="5513831"/>
            <a:ext cx="2132838"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A2A5E"/>
                </a:solidFill>
              </a:rPr>
              <a:t>关键咨询</a:t>
            </a:r>
          </a:p>
        </p:txBody>
      </p:sp>
      <p:sp>
        <p:nvSpPr>
          <p:cNvPr id="63" name="Chevron 62"/>
          <p:cNvSpPr/>
          <p:nvPr/>
        </p:nvSpPr>
        <p:spPr>
          <a:xfrm>
            <a:off x="7082027" y="5522976"/>
            <a:ext cx="128016"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283196" y="5513831"/>
            <a:ext cx="2132838"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A2A5E"/>
                </a:solidFill>
              </a:rPr>
              <a:t>商业路径与材料</a:t>
            </a:r>
          </a:p>
        </p:txBody>
      </p:sp>
      <p:sp>
        <p:nvSpPr>
          <p:cNvPr id="65" name="Chevron 64"/>
          <p:cNvSpPr/>
          <p:nvPr/>
        </p:nvSpPr>
        <p:spPr>
          <a:xfrm>
            <a:off x="9489186" y="5522976"/>
            <a:ext cx="128016"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9690353" y="5513831"/>
            <a:ext cx="2132838"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A2A5E"/>
                </a:solidFill>
              </a:rPr>
              <a:t>本地与交付条件</a:t>
            </a:r>
          </a:p>
        </p:txBody>
      </p:sp>
      <p:sp>
        <p:nvSpPr>
          <p:cNvPr id="67" name="TextBox 66"/>
          <p:cNvSpPr txBox="1"/>
          <p:nvPr/>
        </p:nvSpPr>
        <p:spPr>
          <a:xfrm>
            <a:off x="365760" y="5879592"/>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状态说明：上述为合作、技术、采购准备及开发成果；正式商业合同、回款和最终验收仍需推进。</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关键案例①　政府合作攻坚：将签约障碍转化为正式协调事项</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8439912" y="548640"/>
            <a:ext cx="3383280"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目标管理类 ｜ 跨层级推动</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7</a:t>
            </a:r>
          </a:p>
        </p:txBody>
      </p:sp>
      <p:sp>
        <p:nvSpPr>
          <p:cNvPr id="6" name="Rounded Rectangle 5"/>
          <p:cNvSpPr/>
          <p:nvPr/>
        </p:nvSpPr>
        <p:spPr>
          <a:xfrm>
            <a:off x="365760" y="1408176"/>
            <a:ext cx="2699765"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3776" y="1536192"/>
            <a:ext cx="1143000" cy="292608"/>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原来的障碍</a:t>
            </a:r>
          </a:p>
        </p:txBody>
      </p:sp>
      <p:sp>
        <p:nvSpPr>
          <p:cNvPr id="8" name="TextBox 7"/>
          <p:cNvSpPr txBox="1"/>
          <p:nvPr/>
        </p:nvSpPr>
        <p:spPr>
          <a:xfrm>
            <a:off x="457200" y="1920240"/>
            <a:ext cx="2516885" cy="144475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7A8898"/>
              </a:buClr>
              <a:buSzPct val="100000"/>
              <a:buFont typeface="Arial"/>
              <a:buChar char="•"/>
            </a:pPr>
            <a:r>
              <a:rPr sz="1050" b="0">
                <a:solidFill>
                  <a:srgbClr val="2F3E4F"/>
                </a:solidFill>
              </a:rPr>
              <a:t>巴方提出直接采购需要政府间文件支持</a:t>
            </a:r>
          </a:p>
          <a:p>
            <a:pPr algn="l" marL="146304" indent="-146304">
              <a:lnSpc>
                <a:spcPct val="112000"/>
              </a:lnSpc>
              <a:spcAft>
                <a:spcPts val="400"/>
              </a:spcAft>
              <a:buClr>
                <a:srgbClr val="7A8898"/>
              </a:buClr>
              <a:buSzPct val="100000"/>
              <a:buFont typeface="Arial"/>
              <a:buChar char="•"/>
            </a:pPr>
            <a:r>
              <a:rPr sz="1050" b="0">
                <a:solidFill>
                  <a:srgbClr val="2F3E4F"/>
                </a:solidFill>
              </a:rPr>
              <a:t>使馆签署涉及国内部委会商与授权，并要求书面说明项目情况与需求</a:t>
            </a:r>
          </a:p>
          <a:p>
            <a:pPr algn="l" marL="146304" indent="-146304">
              <a:lnSpc>
                <a:spcPct val="112000"/>
              </a:lnSpc>
              <a:spcAft>
                <a:spcPts val="400"/>
              </a:spcAft>
              <a:buClr>
                <a:srgbClr val="7A8898"/>
              </a:buClr>
              <a:buSzPct val="100000"/>
              <a:buFont typeface="Arial"/>
              <a:buChar char="•"/>
            </a:pPr>
            <a:r>
              <a:rPr sz="1050" b="0">
                <a:solidFill>
                  <a:srgbClr val="2F3E4F"/>
                </a:solidFill>
              </a:rPr>
              <a:t>单靠供应商合同谈判无法解决</a:t>
            </a:r>
          </a:p>
        </p:txBody>
      </p:sp>
      <p:sp>
        <p:nvSpPr>
          <p:cNvPr id="9" name="Chevron 8"/>
          <p:cNvSpPr/>
          <p:nvPr/>
        </p:nvSpPr>
        <p:spPr>
          <a:xfrm>
            <a:off x="3102101" y="1554480"/>
            <a:ext cx="146304" cy="292608"/>
          </a:xfrm>
          <a:prstGeom prst="chevron">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84982" y="1408176"/>
            <a:ext cx="2699765"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12998" y="1536192"/>
            <a:ext cx="1143000" cy="292608"/>
          </a:xfrm>
          <a:prstGeom prst="roundRect">
            <a:avLst>
              <a:gd name="adj" fmla="val 50000"/>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关键判断</a:t>
            </a:r>
          </a:p>
        </p:txBody>
      </p:sp>
      <p:sp>
        <p:nvSpPr>
          <p:cNvPr id="12" name="TextBox 11"/>
          <p:cNvSpPr txBox="1"/>
          <p:nvPr/>
        </p:nvSpPr>
        <p:spPr>
          <a:xfrm>
            <a:off x="3376422" y="1920240"/>
            <a:ext cx="2516885" cy="144475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3F7BD6"/>
              </a:buClr>
              <a:buSzPct val="100000"/>
              <a:buFont typeface="Arial"/>
              <a:buChar char="•"/>
            </a:pPr>
            <a:r>
              <a:rPr sz="1050" b="0">
                <a:solidFill>
                  <a:srgbClr val="2F3E4F"/>
                </a:solidFill>
              </a:rPr>
              <a:t>把前线障碍整理成高层可处理的决策事项，而非一般性介绍项目</a:t>
            </a:r>
          </a:p>
          <a:p>
            <a:pPr algn="l" marL="146304" indent="-146304">
              <a:lnSpc>
                <a:spcPct val="112000"/>
              </a:lnSpc>
              <a:spcAft>
                <a:spcPts val="400"/>
              </a:spcAft>
              <a:buClr>
                <a:srgbClr val="3F7BD6"/>
              </a:buClr>
              <a:buSzPct val="100000"/>
              <a:buFont typeface="Arial"/>
              <a:buChar char="•"/>
            </a:pPr>
            <a:r>
              <a:rPr sz="1050" b="0">
                <a:solidFill>
                  <a:srgbClr val="2F3E4F"/>
                </a:solidFill>
              </a:rPr>
              <a:t>伙伴内部协调受限时，讯飞侧单独提交、继续推进</a:t>
            </a:r>
          </a:p>
        </p:txBody>
      </p:sp>
      <p:sp>
        <p:nvSpPr>
          <p:cNvPr id="13" name="Chevron 12"/>
          <p:cNvSpPr/>
          <p:nvPr/>
        </p:nvSpPr>
        <p:spPr>
          <a:xfrm>
            <a:off x="6021324" y="1554480"/>
            <a:ext cx="146304" cy="292608"/>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04204" y="1408176"/>
            <a:ext cx="2699765"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32220" y="1536192"/>
            <a:ext cx="1143000" cy="292608"/>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本人行动</a:t>
            </a:r>
          </a:p>
        </p:txBody>
      </p:sp>
      <p:sp>
        <p:nvSpPr>
          <p:cNvPr id="16" name="TextBox 15"/>
          <p:cNvSpPr txBox="1"/>
          <p:nvPr/>
        </p:nvSpPr>
        <p:spPr>
          <a:xfrm>
            <a:off x="6295644" y="1920240"/>
            <a:ext cx="2516885" cy="144475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0C4BA1"/>
              </a:buClr>
              <a:buSzPct val="100000"/>
              <a:buFont typeface="Arial"/>
              <a:buChar char="•"/>
            </a:pPr>
            <a:r>
              <a:rPr sz="1050" b="0">
                <a:solidFill>
                  <a:srgbClr val="2F3E4F"/>
                </a:solidFill>
              </a:rPr>
              <a:t>推动8月19日再次向大使专题汇报，聚焦政府间协议、合规程序与签约时间</a:t>
            </a:r>
          </a:p>
          <a:p>
            <a:pPr algn="l" marL="146304" indent="-146304">
              <a:lnSpc>
                <a:spcPct val="112000"/>
              </a:lnSpc>
              <a:spcAft>
                <a:spcPts val="400"/>
              </a:spcAft>
              <a:buClr>
                <a:srgbClr val="0C4BA1"/>
              </a:buClr>
              <a:buSzPct val="100000"/>
              <a:buFont typeface="Arial"/>
              <a:buChar char="•"/>
            </a:pPr>
            <a:r>
              <a:rPr sz="1050" b="0">
                <a:solidFill>
                  <a:srgbClr val="2F3E4F"/>
                </a:solidFill>
              </a:rPr>
              <a:t>当晚组织现场团队完成《当前进展和紧急需求的汇报》提交发改委</a:t>
            </a:r>
          </a:p>
          <a:p>
            <a:pPr algn="l" marL="146304" indent="-146304">
              <a:lnSpc>
                <a:spcPct val="112000"/>
              </a:lnSpc>
              <a:spcAft>
                <a:spcPts val="400"/>
              </a:spcAft>
              <a:buClr>
                <a:srgbClr val="0C4BA1"/>
              </a:buClr>
              <a:buSzPct val="100000"/>
              <a:buFont typeface="Arial"/>
              <a:buChar char="•"/>
            </a:pPr>
            <a:r>
              <a:rPr sz="1050" b="0">
                <a:solidFill>
                  <a:srgbClr val="2F3E4F"/>
                </a:solidFill>
              </a:rPr>
              <a:t>后续持续提供项目具体信息</a:t>
            </a:r>
          </a:p>
        </p:txBody>
      </p:sp>
      <p:sp>
        <p:nvSpPr>
          <p:cNvPr id="17" name="Chevron 16"/>
          <p:cNvSpPr/>
          <p:nvPr/>
        </p:nvSpPr>
        <p:spPr>
          <a:xfrm>
            <a:off x="8940546" y="1554480"/>
            <a:ext cx="146304" cy="292608"/>
          </a:xfrm>
          <a:prstGeom prst="chevron">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23426" y="1408176"/>
            <a:ext cx="2699765"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51442" y="1536192"/>
            <a:ext cx="1143000" cy="292608"/>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可见变化</a:t>
            </a:r>
          </a:p>
        </p:txBody>
      </p:sp>
      <p:sp>
        <p:nvSpPr>
          <p:cNvPr id="20" name="TextBox 19"/>
          <p:cNvSpPr txBox="1"/>
          <p:nvPr/>
        </p:nvSpPr>
        <p:spPr>
          <a:xfrm>
            <a:off x="9214866" y="1920240"/>
            <a:ext cx="2516885" cy="144475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1F8F5F"/>
              </a:buClr>
              <a:buSzPct val="100000"/>
              <a:buFont typeface="Arial"/>
              <a:buChar char="•"/>
            </a:pPr>
            <a:r>
              <a:rPr sz="1050" b="0">
                <a:solidFill>
                  <a:srgbClr val="2F3E4F"/>
                </a:solidFill>
              </a:rPr>
              <a:t>8月20日反馈原则同意签署</a:t>
            </a:r>
          </a:p>
          <a:p>
            <a:pPr algn="l" marL="146304" indent="-146304">
              <a:lnSpc>
                <a:spcPct val="112000"/>
              </a:lnSpc>
              <a:spcAft>
                <a:spcPts val="400"/>
              </a:spcAft>
              <a:buClr>
                <a:srgbClr val="1F8F5F"/>
              </a:buClr>
              <a:buSzPct val="100000"/>
              <a:buFont typeface="Arial"/>
              <a:buChar char="•"/>
            </a:pPr>
            <a:r>
              <a:rPr sz="1050" b="0">
                <a:solidFill>
                  <a:srgbClr val="2F3E4F"/>
                </a:solidFill>
              </a:rPr>
              <a:t>8月21日文本发送巴西科创部</a:t>
            </a:r>
          </a:p>
          <a:p>
            <a:pPr algn="l" marL="146304" indent="-146304">
              <a:lnSpc>
                <a:spcPct val="112000"/>
              </a:lnSpc>
              <a:spcAft>
                <a:spcPts val="400"/>
              </a:spcAft>
              <a:buClr>
                <a:srgbClr val="1F8F5F"/>
              </a:buClr>
              <a:buSzPct val="100000"/>
              <a:buFont typeface="Arial"/>
              <a:buChar char="•"/>
            </a:pPr>
            <a:r>
              <a:rPr sz="1050" b="0">
                <a:solidFill>
                  <a:srgbClr val="2F3E4F"/>
                </a:solidFill>
              </a:rPr>
              <a:t>8月25日巴方反馈意见，进入文本确认</a:t>
            </a:r>
          </a:p>
        </p:txBody>
      </p:sp>
      <p:sp>
        <p:nvSpPr>
          <p:cNvPr id="21" name="Rectangle 20"/>
          <p:cNvSpPr/>
          <p:nvPr/>
        </p:nvSpPr>
        <p:spPr>
          <a:xfrm>
            <a:off x="914400" y="4023359"/>
            <a:ext cx="10360152" cy="27432"/>
          </a:xfrm>
          <a:prstGeom prst="rect">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5528" y="3918203"/>
            <a:ext cx="237744" cy="237744"/>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p>
        </p:txBody>
      </p:sp>
      <p:sp>
        <p:nvSpPr>
          <p:cNvPr id="23" name="TextBox 22"/>
          <p:cNvSpPr txBox="1"/>
          <p:nvPr/>
        </p:nvSpPr>
        <p:spPr>
          <a:xfrm>
            <a:off x="-91440" y="3602735"/>
            <a:ext cx="2011680" cy="292608"/>
          </a:xfrm>
          <a:prstGeom prst="rect">
            <a:avLst/>
          </a:prstGeom>
          <a:noFill/>
        </p:spPr>
        <p:txBody>
          <a:bodyPr wrap="square" lIns="54864" tIns="36576" rIns="54864" bIns="36576" anchor="ctr">
            <a:noAutofit/>
          </a:bodyPr>
          <a:lstStyle/>
          <a:p>
            <a:pPr algn="ctr">
              <a:lnSpc>
                <a:spcPct val="112000"/>
              </a:lnSpc>
              <a:spcAft>
                <a:spcPts val="0"/>
              </a:spcAft>
            </a:pPr>
            <a:r>
              <a:rPr sz="1100" b="1">
                <a:solidFill>
                  <a:srgbClr val="0A2A5E"/>
                </a:solidFill>
              </a:rPr>
              <a:t>8.19</a:t>
            </a:r>
          </a:p>
        </p:txBody>
      </p:sp>
      <p:sp>
        <p:nvSpPr>
          <p:cNvPr id="24" name="TextBox 23"/>
          <p:cNvSpPr txBox="1"/>
          <p:nvPr/>
        </p:nvSpPr>
        <p:spPr>
          <a:xfrm>
            <a:off x="-91440" y="4206240"/>
            <a:ext cx="2011680" cy="292608"/>
          </a:xfrm>
          <a:prstGeom prst="rect">
            <a:avLst/>
          </a:prstGeom>
          <a:noFill/>
        </p:spPr>
        <p:txBody>
          <a:bodyPr wrap="square" lIns="54864" tIns="36576" rIns="54864" bIns="36576" anchor="t">
            <a:noAutofit/>
          </a:bodyPr>
          <a:lstStyle/>
          <a:p>
            <a:pPr algn="ctr">
              <a:lnSpc>
                <a:spcPct val="112000"/>
              </a:lnSpc>
              <a:spcAft>
                <a:spcPts val="0"/>
              </a:spcAft>
            </a:pPr>
            <a:r>
              <a:rPr sz="950" b="0">
                <a:solidFill>
                  <a:srgbClr val="2F3E4F"/>
                </a:solidFill>
              </a:rPr>
              <a:t>大使专题汇报</a:t>
            </a:r>
          </a:p>
        </p:txBody>
      </p:sp>
      <p:sp>
        <p:nvSpPr>
          <p:cNvPr id="25" name="Oval 24"/>
          <p:cNvSpPr/>
          <p:nvPr/>
        </p:nvSpPr>
        <p:spPr>
          <a:xfrm>
            <a:off x="3385566" y="3918203"/>
            <a:ext cx="237744" cy="237744"/>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p>
        </p:txBody>
      </p:sp>
      <p:sp>
        <p:nvSpPr>
          <p:cNvPr id="26" name="TextBox 25"/>
          <p:cNvSpPr txBox="1"/>
          <p:nvPr/>
        </p:nvSpPr>
        <p:spPr>
          <a:xfrm>
            <a:off x="2498598" y="3602735"/>
            <a:ext cx="2011680" cy="292608"/>
          </a:xfrm>
          <a:prstGeom prst="rect">
            <a:avLst/>
          </a:prstGeom>
          <a:noFill/>
        </p:spPr>
        <p:txBody>
          <a:bodyPr wrap="square" lIns="54864" tIns="36576" rIns="54864" bIns="36576" anchor="ctr">
            <a:noAutofit/>
          </a:bodyPr>
          <a:lstStyle/>
          <a:p>
            <a:pPr algn="ctr">
              <a:lnSpc>
                <a:spcPct val="112000"/>
              </a:lnSpc>
              <a:spcAft>
                <a:spcPts val="0"/>
              </a:spcAft>
            </a:pPr>
            <a:r>
              <a:rPr sz="1100" b="1">
                <a:solidFill>
                  <a:srgbClr val="0A2A5E"/>
                </a:solidFill>
              </a:rPr>
              <a:t>当晚</a:t>
            </a:r>
          </a:p>
        </p:txBody>
      </p:sp>
      <p:sp>
        <p:nvSpPr>
          <p:cNvPr id="27" name="TextBox 26"/>
          <p:cNvSpPr txBox="1"/>
          <p:nvPr/>
        </p:nvSpPr>
        <p:spPr>
          <a:xfrm>
            <a:off x="2498598" y="4206240"/>
            <a:ext cx="2011680" cy="292608"/>
          </a:xfrm>
          <a:prstGeom prst="rect">
            <a:avLst/>
          </a:prstGeom>
          <a:noFill/>
        </p:spPr>
        <p:txBody>
          <a:bodyPr wrap="square" lIns="54864" tIns="36576" rIns="54864" bIns="36576" anchor="t">
            <a:noAutofit/>
          </a:bodyPr>
          <a:lstStyle/>
          <a:p>
            <a:pPr algn="ctr">
              <a:lnSpc>
                <a:spcPct val="112000"/>
              </a:lnSpc>
              <a:spcAft>
                <a:spcPts val="0"/>
              </a:spcAft>
            </a:pPr>
            <a:r>
              <a:rPr sz="950" b="0">
                <a:solidFill>
                  <a:srgbClr val="2F3E4F"/>
                </a:solidFill>
              </a:rPr>
              <a:t>紧急需求报告提交发改委</a:t>
            </a:r>
          </a:p>
        </p:txBody>
      </p:sp>
      <p:sp>
        <p:nvSpPr>
          <p:cNvPr id="28" name="Oval 27"/>
          <p:cNvSpPr/>
          <p:nvPr/>
        </p:nvSpPr>
        <p:spPr>
          <a:xfrm>
            <a:off x="5975604" y="3918203"/>
            <a:ext cx="237744" cy="237744"/>
          </a:xfrm>
          <a:prstGeom prst="ellipse">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p>
        </p:txBody>
      </p:sp>
      <p:sp>
        <p:nvSpPr>
          <p:cNvPr id="29" name="TextBox 28"/>
          <p:cNvSpPr txBox="1"/>
          <p:nvPr/>
        </p:nvSpPr>
        <p:spPr>
          <a:xfrm>
            <a:off x="5088636" y="3602735"/>
            <a:ext cx="2011680" cy="292608"/>
          </a:xfrm>
          <a:prstGeom prst="rect">
            <a:avLst/>
          </a:prstGeom>
          <a:noFill/>
        </p:spPr>
        <p:txBody>
          <a:bodyPr wrap="square" lIns="54864" tIns="36576" rIns="54864" bIns="36576" anchor="ctr">
            <a:noAutofit/>
          </a:bodyPr>
          <a:lstStyle/>
          <a:p>
            <a:pPr algn="ctr">
              <a:lnSpc>
                <a:spcPct val="112000"/>
              </a:lnSpc>
              <a:spcAft>
                <a:spcPts val="0"/>
              </a:spcAft>
            </a:pPr>
            <a:r>
              <a:rPr sz="1100" b="1">
                <a:solidFill>
                  <a:srgbClr val="0A2A5E"/>
                </a:solidFill>
              </a:rPr>
              <a:t>8.20</a:t>
            </a:r>
          </a:p>
        </p:txBody>
      </p:sp>
      <p:sp>
        <p:nvSpPr>
          <p:cNvPr id="30" name="TextBox 29"/>
          <p:cNvSpPr txBox="1"/>
          <p:nvPr/>
        </p:nvSpPr>
        <p:spPr>
          <a:xfrm>
            <a:off x="5088636" y="4206240"/>
            <a:ext cx="2011680" cy="292608"/>
          </a:xfrm>
          <a:prstGeom prst="rect">
            <a:avLst/>
          </a:prstGeom>
          <a:noFill/>
        </p:spPr>
        <p:txBody>
          <a:bodyPr wrap="square" lIns="54864" tIns="36576" rIns="54864" bIns="36576" anchor="t">
            <a:noAutofit/>
          </a:bodyPr>
          <a:lstStyle/>
          <a:p>
            <a:pPr algn="ctr">
              <a:lnSpc>
                <a:spcPct val="112000"/>
              </a:lnSpc>
              <a:spcAft>
                <a:spcPts val="0"/>
              </a:spcAft>
            </a:pPr>
            <a:r>
              <a:rPr sz="950" b="0">
                <a:solidFill>
                  <a:srgbClr val="2F3E4F"/>
                </a:solidFill>
              </a:rPr>
              <a:t>原则同意签署</a:t>
            </a:r>
          </a:p>
        </p:txBody>
      </p:sp>
      <p:sp>
        <p:nvSpPr>
          <p:cNvPr id="31" name="Oval 30"/>
          <p:cNvSpPr/>
          <p:nvPr/>
        </p:nvSpPr>
        <p:spPr>
          <a:xfrm>
            <a:off x="8565642" y="3918203"/>
            <a:ext cx="237744" cy="237744"/>
          </a:xfrm>
          <a:prstGeom prst="ellipse">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p>
        </p:txBody>
      </p:sp>
      <p:sp>
        <p:nvSpPr>
          <p:cNvPr id="32" name="TextBox 31"/>
          <p:cNvSpPr txBox="1"/>
          <p:nvPr/>
        </p:nvSpPr>
        <p:spPr>
          <a:xfrm>
            <a:off x="7678674" y="3602735"/>
            <a:ext cx="2011680" cy="292608"/>
          </a:xfrm>
          <a:prstGeom prst="rect">
            <a:avLst/>
          </a:prstGeom>
          <a:noFill/>
        </p:spPr>
        <p:txBody>
          <a:bodyPr wrap="square" lIns="54864" tIns="36576" rIns="54864" bIns="36576" anchor="ctr">
            <a:noAutofit/>
          </a:bodyPr>
          <a:lstStyle/>
          <a:p>
            <a:pPr algn="ctr">
              <a:lnSpc>
                <a:spcPct val="112000"/>
              </a:lnSpc>
              <a:spcAft>
                <a:spcPts val="0"/>
              </a:spcAft>
            </a:pPr>
            <a:r>
              <a:rPr sz="1100" b="1">
                <a:solidFill>
                  <a:srgbClr val="0A2A5E"/>
                </a:solidFill>
              </a:rPr>
              <a:t>8.21</a:t>
            </a:r>
          </a:p>
        </p:txBody>
      </p:sp>
      <p:sp>
        <p:nvSpPr>
          <p:cNvPr id="33" name="TextBox 32"/>
          <p:cNvSpPr txBox="1"/>
          <p:nvPr/>
        </p:nvSpPr>
        <p:spPr>
          <a:xfrm>
            <a:off x="7678674" y="4206240"/>
            <a:ext cx="2011680" cy="292608"/>
          </a:xfrm>
          <a:prstGeom prst="rect">
            <a:avLst/>
          </a:prstGeom>
          <a:noFill/>
        </p:spPr>
        <p:txBody>
          <a:bodyPr wrap="square" lIns="54864" tIns="36576" rIns="54864" bIns="36576" anchor="t">
            <a:noAutofit/>
          </a:bodyPr>
          <a:lstStyle/>
          <a:p>
            <a:pPr algn="ctr">
              <a:lnSpc>
                <a:spcPct val="112000"/>
              </a:lnSpc>
              <a:spcAft>
                <a:spcPts val="0"/>
              </a:spcAft>
            </a:pPr>
            <a:r>
              <a:rPr sz="950" b="0">
                <a:solidFill>
                  <a:srgbClr val="2F3E4F"/>
                </a:solidFill>
              </a:rPr>
              <a:t>文本发送科创部</a:t>
            </a:r>
          </a:p>
        </p:txBody>
      </p:sp>
      <p:sp>
        <p:nvSpPr>
          <p:cNvPr id="34" name="Oval 33"/>
          <p:cNvSpPr/>
          <p:nvPr/>
        </p:nvSpPr>
        <p:spPr>
          <a:xfrm>
            <a:off x="11155680" y="3918203"/>
            <a:ext cx="237744" cy="237744"/>
          </a:xfrm>
          <a:prstGeom prst="ellipse">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p>
        </p:txBody>
      </p:sp>
      <p:sp>
        <p:nvSpPr>
          <p:cNvPr id="35" name="TextBox 34"/>
          <p:cNvSpPr txBox="1"/>
          <p:nvPr/>
        </p:nvSpPr>
        <p:spPr>
          <a:xfrm>
            <a:off x="10268712" y="3602735"/>
            <a:ext cx="2011680" cy="292608"/>
          </a:xfrm>
          <a:prstGeom prst="rect">
            <a:avLst/>
          </a:prstGeom>
          <a:noFill/>
        </p:spPr>
        <p:txBody>
          <a:bodyPr wrap="square" lIns="54864" tIns="36576" rIns="54864" bIns="36576" anchor="ctr">
            <a:noAutofit/>
          </a:bodyPr>
          <a:lstStyle/>
          <a:p>
            <a:pPr algn="ctr">
              <a:lnSpc>
                <a:spcPct val="112000"/>
              </a:lnSpc>
              <a:spcAft>
                <a:spcPts val="0"/>
              </a:spcAft>
            </a:pPr>
            <a:r>
              <a:rPr sz="1100" b="1">
                <a:solidFill>
                  <a:srgbClr val="0A2A5E"/>
                </a:solidFill>
              </a:rPr>
              <a:t>8.25</a:t>
            </a:r>
          </a:p>
        </p:txBody>
      </p:sp>
      <p:sp>
        <p:nvSpPr>
          <p:cNvPr id="36" name="TextBox 35"/>
          <p:cNvSpPr txBox="1"/>
          <p:nvPr/>
        </p:nvSpPr>
        <p:spPr>
          <a:xfrm>
            <a:off x="10268712" y="4206240"/>
            <a:ext cx="2011680" cy="292608"/>
          </a:xfrm>
          <a:prstGeom prst="rect">
            <a:avLst/>
          </a:prstGeom>
          <a:noFill/>
        </p:spPr>
        <p:txBody>
          <a:bodyPr wrap="square" lIns="54864" tIns="36576" rIns="54864" bIns="36576" anchor="t">
            <a:noAutofit/>
          </a:bodyPr>
          <a:lstStyle/>
          <a:p>
            <a:pPr algn="ctr">
              <a:lnSpc>
                <a:spcPct val="112000"/>
              </a:lnSpc>
              <a:spcAft>
                <a:spcPts val="0"/>
              </a:spcAft>
            </a:pPr>
            <a:r>
              <a:rPr sz="950" b="0">
                <a:solidFill>
                  <a:srgbClr val="2F3E4F"/>
                </a:solidFill>
              </a:rPr>
              <a:t>巴方反馈意见</a:t>
            </a:r>
          </a:p>
        </p:txBody>
      </p:sp>
      <p:sp>
        <p:nvSpPr>
          <p:cNvPr id="37" name="Rounded Rectangle 36"/>
          <p:cNvSpPr/>
          <p:nvPr/>
        </p:nvSpPr>
        <p:spPr>
          <a:xfrm>
            <a:off x="365760" y="4562856"/>
            <a:ext cx="3660647" cy="868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75488" y="4654295"/>
            <a:ext cx="1051560" cy="256032"/>
          </a:xfrm>
          <a:prstGeom prst="roundRect">
            <a:avLst>
              <a:gd name="adj" fmla="val 50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推进方式改变</a:t>
            </a:r>
          </a:p>
        </p:txBody>
      </p:sp>
      <p:sp>
        <p:nvSpPr>
          <p:cNvPr id="39" name="TextBox 38"/>
          <p:cNvSpPr txBox="1"/>
          <p:nvPr/>
        </p:nvSpPr>
        <p:spPr>
          <a:xfrm>
            <a:off x="457200" y="4928616"/>
            <a:ext cx="3477767" cy="50292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从“有问题需协调”转为“有明确问题、书面材料、相关部门与后续动作”的持续跟踪</a:t>
            </a:r>
          </a:p>
        </p:txBody>
      </p:sp>
      <p:sp>
        <p:nvSpPr>
          <p:cNvPr id="40" name="Rounded Rectangle 39"/>
          <p:cNvSpPr/>
          <p:nvPr/>
        </p:nvSpPr>
        <p:spPr>
          <a:xfrm>
            <a:off x="4264152" y="4562856"/>
            <a:ext cx="3660647" cy="868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373880" y="4654295"/>
            <a:ext cx="1051560" cy="256032"/>
          </a:xfrm>
          <a:prstGeom prst="roundRect">
            <a:avLst>
              <a:gd name="adj" fmla="val 50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总体责任体现</a:t>
            </a:r>
          </a:p>
        </p:txBody>
      </p:sp>
      <p:sp>
        <p:nvSpPr>
          <p:cNvPr id="42" name="TextBox 41"/>
          <p:cNvSpPr txBox="1"/>
          <p:nvPr/>
        </p:nvSpPr>
        <p:spPr>
          <a:xfrm>
            <a:off x="4355591" y="4928616"/>
            <a:ext cx="3477767" cy="50292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伙伴内部流程受约束时保持讯飞侧行动连续，并与采购、合同及注册准备相衔接</a:t>
            </a:r>
          </a:p>
        </p:txBody>
      </p:sp>
      <p:sp>
        <p:nvSpPr>
          <p:cNvPr id="43" name="Rounded Rectangle 42"/>
          <p:cNvSpPr/>
          <p:nvPr/>
        </p:nvSpPr>
        <p:spPr>
          <a:xfrm>
            <a:off x="8162543" y="4562856"/>
            <a:ext cx="3660647" cy="868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272271" y="4654295"/>
            <a:ext cx="1051560" cy="256032"/>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阶段边界</a:t>
            </a:r>
          </a:p>
        </p:txBody>
      </p:sp>
      <p:sp>
        <p:nvSpPr>
          <p:cNvPr id="45" name="TextBox 44"/>
          <p:cNvSpPr txBox="1"/>
          <p:nvPr/>
        </p:nvSpPr>
        <p:spPr>
          <a:xfrm>
            <a:off x="8253983" y="4928616"/>
            <a:ext cx="3477767" cy="50292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原则同意与文本往返不等于最终签署，也不替代RNP自身的采购论证与内部审批</a:t>
            </a:r>
          </a:p>
        </p:txBody>
      </p:sp>
      <p:sp>
        <p:nvSpPr>
          <p:cNvPr id="46" name="Rounded Rectangle 45"/>
          <p:cNvSpPr/>
          <p:nvPr/>
        </p:nvSpPr>
        <p:spPr>
          <a:xfrm>
            <a:off x="365760" y="5522975"/>
            <a:ext cx="11457432" cy="45720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93776" y="5605271"/>
            <a:ext cx="914400" cy="292608"/>
          </a:xfrm>
          <a:prstGeom prst="roundRect">
            <a:avLst>
              <a:gd name="adj" fmla="val 50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FFFFFF"/>
                </a:solidFill>
              </a:rPr>
              <a:t>同期对接</a:t>
            </a:r>
          </a:p>
        </p:txBody>
      </p:sp>
      <p:sp>
        <p:nvSpPr>
          <p:cNvPr id="48" name="TextBox 47"/>
          <p:cNvSpPr txBox="1"/>
          <p:nvPr/>
        </p:nvSpPr>
        <p:spPr>
          <a:xfrm>
            <a:off x="1508760" y="5522975"/>
            <a:ext cx="10177272" cy="457200"/>
          </a:xfrm>
          <a:prstGeom prst="rect">
            <a:avLst/>
          </a:prstGeom>
          <a:noFill/>
        </p:spPr>
        <p:txBody>
          <a:bodyPr wrap="square" lIns="54864" tIns="36576" rIns="54864" bIns="36576" anchor="ctr">
            <a:noAutofit/>
          </a:bodyPr>
          <a:lstStyle/>
          <a:p>
            <a:pPr algn="l">
              <a:lnSpc>
                <a:spcPct val="112000"/>
              </a:lnSpc>
              <a:spcAft>
                <a:spcPts val="0"/>
              </a:spcAft>
            </a:pPr>
            <a:r>
              <a:rPr sz="1000" b="0">
                <a:solidFill>
                  <a:srgbClr val="2F3E4F"/>
                </a:solidFill>
              </a:rPr>
              <a:t>7月大使沟通 · MGI高层交流 · 8月总统府、外交部、科创部对接，分别对应文件、节奏、注册与本地经营承诺等实际议题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技术方案成果：主要路线获认可，方案内容进入客户TR</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8732520" y="548640"/>
            <a:ext cx="3090672"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岗位特性类 ｜ 看结果</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8</a:t>
            </a:r>
          </a:p>
        </p:txBody>
      </p:sp>
      <p:sp>
        <p:nvSpPr>
          <p:cNvPr id="6" name="Pentagon 5"/>
          <p:cNvSpPr/>
          <p:nvPr/>
        </p:nvSpPr>
        <p:spPr>
          <a:xfrm>
            <a:off x="365760" y="1435608"/>
            <a:ext cx="2174443" cy="475488"/>
          </a:xfrm>
          <a:prstGeom prst="homePlat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57200" y="1536192"/>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0C4BA1"/>
                </a:solidFill>
              </a:rPr>
              <a:t>1</a:t>
            </a:r>
          </a:p>
        </p:txBody>
      </p:sp>
      <p:sp>
        <p:nvSpPr>
          <p:cNvPr id="8" name="TextBox 7"/>
          <p:cNvSpPr txBox="1"/>
          <p:nvPr/>
        </p:nvSpPr>
        <p:spPr>
          <a:xfrm>
            <a:off x="777240" y="1435608"/>
            <a:ext cx="1625803" cy="475488"/>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FFFFFF"/>
                </a:solidFill>
              </a:rPr>
              <a:t>面向新实施主体调整方案</a:t>
            </a:r>
          </a:p>
        </p:txBody>
      </p:sp>
      <p:sp>
        <p:nvSpPr>
          <p:cNvPr id="9" name="Pentagon 8"/>
          <p:cNvSpPr/>
          <p:nvPr/>
        </p:nvSpPr>
        <p:spPr>
          <a:xfrm>
            <a:off x="2686507" y="1435608"/>
            <a:ext cx="2174443" cy="475488"/>
          </a:xfrm>
          <a:prstGeom prst="homePlat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77947" y="1536192"/>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0C4BA1"/>
                </a:solidFill>
              </a:rPr>
              <a:t>2</a:t>
            </a:r>
          </a:p>
        </p:txBody>
      </p:sp>
      <p:sp>
        <p:nvSpPr>
          <p:cNvPr id="11" name="TextBox 10"/>
          <p:cNvSpPr txBox="1"/>
          <p:nvPr/>
        </p:nvSpPr>
        <p:spPr>
          <a:xfrm>
            <a:off x="3097987" y="1435608"/>
            <a:ext cx="1625803" cy="475488"/>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FFFFFF"/>
                </a:solidFill>
              </a:rPr>
              <a:t>持续回应核心质疑</a:t>
            </a:r>
          </a:p>
        </p:txBody>
      </p:sp>
      <p:sp>
        <p:nvSpPr>
          <p:cNvPr id="12" name="Pentagon 11"/>
          <p:cNvSpPr/>
          <p:nvPr/>
        </p:nvSpPr>
        <p:spPr>
          <a:xfrm>
            <a:off x="5007254" y="1435608"/>
            <a:ext cx="2174443" cy="475488"/>
          </a:xfrm>
          <a:prstGeom prst="homePlat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98694" y="1536192"/>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0C4BA1"/>
                </a:solidFill>
              </a:rPr>
              <a:t>3</a:t>
            </a:r>
          </a:p>
        </p:txBody>
      </p:sp>
      <p:sp>
        <p:nvSpPr>
          <p:cNvPr id="14" name="TextBox 13"/>
          <p:cNvSpPr txBox="1"/>
          <p:nvPr/>
        </p:nvSpPr>
        <p:spPr>
          <a:xfrm>
            <a:off x="5418734" y="1435608"/>
            <a:ext cx="1625803" cy="475488"/>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FFFFFF"/>
                </a:solidFill>
              </a:rPr>
              <a:t>取得主要路线认可</a:t>
            </a:r>
          </a:p>
        </p:txBody>
      </p:sp>
      <p:sp>
        <p:nvSpPr>
          <p:cNvPr id="15" name="Pentagon 14"/>
          <p:cNvSpPr/>
          <p:nvPr/>
        </p:nvSpPr>
        <p:spPr>
          <a:xfrm>
            <a:off x="7328001" y="1435608"/>
            <a:ext cx="2174443" cy="475488"/>
          </a:xfrm>
          <a:prstGeom prst="homePlat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19441" y="1536192"/>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0C4BA1"/>
                </a:solidFill>
              </a:rPr>
              <a:t>4</a:t>
            </a:r>
          </a:p>
        </p:txBody>
      </p:sp>
      <p:sp>
        <p:nvSpPr>
          <p:cNvPr id="17" name="TextBox 16"/>
          <p:cNvSpPr txBox="1"/>
          <p:nvPr/>
        </p:nvSpPr>
        <p:spPr>
          <a:xfrm>
            <a:off x="7739481" y="1435608"/>
            <a:ext cx="1625803" cy="475488"/>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FFFFFF"/>
                </a:solidFill>
              </a:rPr>
              <a:t>内容进入采购需求</a:t>
            </a:r>
          </a:p>
        </p:txBody>
      </p:sp>
      <p:sp>
        <p:nvSpPr>
          <p:cNvPr id="18" name="Rectangle 17"/>
          <p:cNvSpPr/>
          <p:nvPr/>
        </p:nvSpPr>
        <p:spPr>
          <a:xfrm>
            <a:off x="9648748" y="1435608"/>
            <a:ext cx="2174443" cy="475488"/>
          </a:xfrm>
          <a:prstGeom prst="rect">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40188" y="1536192"/>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C57B14"/>
                </a:solidFill>
              </a:rPr>
              <a:t>5</a:t>
            </a:r>
          </a:p>
        </p:txBody>
      </p:sp>
      <p:sp>
        <p:nvSpPr>
          <p:cNvPr id="20" name="TextBox 19"/>
          <p:cNvSpPr txBox="1"/>
          <p:nvPr/>
        </p:nvSpPr>
        <p:spPr>
          <a:xfrm>
            <a:off x="10060228" y="1435608"/>
            <a:ext cx="1625803" cy="475488"/>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FFFFFF"/>
                </a:solidFill>
              </a:rPr>
              <a:t>新增范围继续管理</a:t>
            </a:r>
          </a:p>
        </p:txBody>
      </p:sp>
      <p:sp>
        <p:nvSpPr>
          <p:cNvPr id="21" name="Rounded Rectangle 20"/>
          <p:cNvSpPr/>
          <p:nvPr/>
        </p:nvSpPr>
        <p:spPr>
          <a:xfrm>
            <a:off x="365760" y="2002536"/>
            <a:ext cx="2174443" cy="89611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2020824"/>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从LNCC相关方案转向RNP，需适应新主体的建设目标与采购关切</a:t>
            </a:r>
          </a:p>
        </p:txBody>
      </p:sp>
      <p:sp>
        <p:nvSpPr>
          <p:cNvPr id="23" name="Rounded Rectangle 22"/>
          <p:cNvSpPr/>
          <p:nvPr/>
        </p:nvSpPr>
        <p:spPr>
          <a:xfrm>
            <a:off x="2686507" y="2002536"/>
            <a:ext cx="2174443" cy="89611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59659" y="2020824"/>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客户围绕训练、语料、主权能力、评测与长期使用提出多批问题</a:t>
            </a:r>
          </a:p>
        </p:txBody>
      </p:sp>
      <p:sp>
        <p:nvSpPr>
          <p:cNvPr id="25" name="Rounded Rectangle 24"/>
          <p:cNvSpPr/>
          <p:nvPr/>
        </p:nvSpPr>
        <p:spPr>
          <a:xfrm>
            <a:off x="5007254" y="2002536"/>
            <a:ext cx="2174443" cy="89611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0406" y="2020824"/>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客户需判断当前方案能否支撑巴西模型与自主能力建设</a:t>
            </a:r>
          </a:p>
        </p:txBody>
      </p:sp>
      <p:sp>
        <p:nvSpPr>
          <p:cNvPr id="27" name="Rounded Rectangle 26"/>
          <p:cNvSpPr/>
          <p:nvPr/>
        </p:nvSpPr>
        <p:spPr>
          <a:xfrm>
            <a:off x="7328001" y="2002536"/>
            <a:ext cx="2174443" cy="89611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1153" y="2020824"/>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客户需将合作方向写成技术需求文件</a:t>
            </a:r>
          </a:p>
        </p:txBody>
      </p:sp>
      <p:sp>
        <p:nvSpPr>
          <p:cNvPr id="29" name="Rounded Rectangle 28"/>
          <p:cNvSpPr/>
          <p:nvPr/>
        </p:nvSpPr>
        <p:spPr>
          <a:xfrm>
            <a:off x="9648748" y="2002536"/>
            <a:ext cx="2174443" cy="89611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21900" y="2020824"/>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TR新增DLM、基础权重开放；后续还有内容安全、年费及算力问题</a:t>
            </a:r>
          </a:p>
        </p:txBody>
      </p:sp>
      <p:sp>
        <p:nvSpPr>
          <p:cNvPr id="31" name="Rounded Rectangle 30"/>
          <p:cNvSpPr/>
          <p:nvPr/>
        </p:nvSpPr>
        <p:spPr>
          <a:xfrm>
            <a:off x="347472" y="1883664"/>
            <a:ext cx="1005840" cy="219456"/>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障碍 / 任务</a:t>
            </a:r>
          </a:p>
        </p:txBody>
      </p:sp>
      <p:sp>
        <p:nvSpPr>
          <p:cNvPr id="32" name="Rounded Rectangle 31"/>
          <p:cNvSpPr/>
          <p:nvPr/>
        </p:nvSpPr>
        <p:spPr>
          <a:xfrm>
            <a:off x="365760" y="2953512"/>
            <a:ext cx="2174443" cy="89611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2971800"/>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按RNP需求调整主权AI方案，联合华为完成融合与汇报准备</a:t>
            </a:r>
          </a:p>
        </p:txBody>
      </p:sp>
      <p:sp>
        <p:nvSpPr>
          <p:cNvPr id="34" name="Rounded Rectangle 33"/>
          <p:cNvSpPr/>
          <p:nvPr/>
        </p:nvSpPr>
        <p:spPr>
          <a:xfrm>
            <a:off x="2686507" y="2953512"/>
            <a:ext cx="2174443" cy="89611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59659" y="2971800"/>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联合准备4批30多个问题应答；本人亲自承担关键英语技术与业务解释</a:t>
            </a:r>
          </a:p>
        </p:txBody>
      </p:sp>
      <p:sp>
        <p:nvSpPr>
          <p:cNvPr id="36" name="Rounded Rectangle 35"/>
          <p:cNvSpPr/>
          <p:nvPr/>
        </p:nvSpPr>
        <p:spPr>
          <a:xfrm>
            <a:off x="5007254" y="2953512"/>
            <a:ext cx="2174443" cy="89611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80406" y="2971800"/>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区分科研探索与项目交付，解释基于成熟底座持续训练与知识转移路径</a:t>
            </a:r>
          </a:p>
        </p:txBody>
      </p:sp>
      <p:sp>
        <p:nvSpPr>
          <p:cNvPr id="38" name="Rounded Rectangle 37"/>
          <p:cNvSpPr/>
          <p:nvPr/>
        </p:nvSpPr>
        <p:spPr>
          <a:xfrm>
            <a:off x="7328001" y="2953512"/>
            <a:ext cx="2174443" cy="89611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1153" y="2971800"/>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持续提交HLD及技术回复，并对客户TR进行分析</a:t>
            </a:r>
          </a:p>
        </p:txBody>
      </p:sp>
      <p:sp>
        <p:nvSpPr>
          <p:cNvPr id="40" name="Rounded Rectangle 39"/>
          <p:cNvSpPr/>
          <p:nvPr/>
        </p:nvSpPr>
        <p:spPr>
          <a:xfrm>
            <a:off x="9648748" y="2953512"/>
            <a:ext cx="2174443" cy="896112"/>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21900" y="2971800"/>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联合服务、方案与伙伴讨论应答策略，形成SoC与后续澄清</a:t>
            </a:r>
          </a:p>
        </p:txBody>
      </p:sp>
      <p:sp>
        <p:nvSpPr>
          <p:cNvPr id="42" name="Rounded Rectangle 41"/>
          <p:cNvSpPr/>
          <p:nvPr/>
        </p:nvSpPr>
        <p:spPr>
          <a:xfrm>
            <a:off x="347472" y="2834640"/>
            <a:ext cx="1005840" cy="219456"/>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本人与团队工作</a:t>
            </a:r>
          </a:p>
        </p:txBody>
      </p:sp>
      <p:sp>
        <p:nvSpPr>
          <p:cNvPr id="43" name="Rounded Rectangle 42"/>
          <p:cNvSpPr/>
          <p:nvPr/>
        </p:nvSpPr>
        <p:spPr>
          <a:xfrm>
            <a:off x="365760" y="3904488"/>
            <a:ext cx="2174443" cy="89611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3922776"/>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4月形成面向RNP的联合汇报材料并开展正式交流</a:t>
            </a:r>
          </a:p>
        </p:txBody>
      </p:sp>
      <p:sp>
        <p:nvSpPr>
          <p:cNvPr id="45" name="Rounded Rectangle 44"/>
          <p:cNvSpPr/>
          <p:nvPr/>
        </p:nvSpPr>
        <p:spPr>
          <a:xfrm>
            <a:off x="2686507" y="3904488"/>
            <a:ext cx="2174443" cy="89611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59659" y="3922776"/>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多轮现场与线上澄清，问题逐步转为明确方案与待讨论事项</a:t>
            </a:r>
          </a:p>
        </p:txBody>
      </p:sp>
      <p:sp>
        <p:nvSpPr>
          <p:cNvPr id="47" name="Rounded Rectangle 46"/>
          <p:cNvSpPr/>
          <p:nvPr/>
        </p:nvSpPr>
        <p:spPr>
          <a:xfrm>
            <a:off x="5007254" y="3904488"/>
            <a:ext cx="2174443" cy="89611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80406" y="3922776"/>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5月周报：RNP总体接受方案与技术路线，本阶段技术澄清关闭</a:t>
            </a:r>
          </a:p>
        </p:txBody>
      </p:sp>
      <p:sp>
        <p:nvSpPr>
          <p:cNvPr id="49" name="Rounded Rectangle 48"/>
          <p:cNvSpPr/>
          <p:nvPr/>
        </p:nvSpPr>
        <p:spPr>
          <a:xfrm>
            <a:off x="7328001" y="3904488"/>
            <a:ext cx="2174443" cy="89611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01153" y="3922776"/>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5月15日TR草稿与HLD及澄清回复基本一致，形成采购讨论输入</a:t>
            </a:r>
          </a:p>
        </p:txBody>
      </p:sp>
      <p:sp>
        <p:nvSpPr>
          <p:cNvPr id="51" name="Rounded Rectangle 50"/>
          <p:cNvSpPr/>
          <p:nvPr/>
        </p:nvSpPr>
        <p:spPr>
          <a:xfrm>
            <a:off x="9648748" y="3904488"/>
            <a:ext cx="2174443" cy="896112"/>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21900" y="3922776"/>
            <a:ext cx="2028139" cy="859536"/>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在路线认可后继续管理范围、费用与交付前提</a:t>
            </a:r>
          </a:p>
        </p:txBody>
      </p:sp>
      <p:sp>
        <p:nvSpPr>
          <p:cNvPr id="53" name="Rounded Rectangle 52"/>
          <p:cNvSpPr/>
          <p:nvPr/>
        </p:nvSpPr>
        <p:spPr>
          <a:xfrm>
            <a:off x="347472" y="3785616"/>
            <a:ext cx="1005840" cy="219456"/>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产出或变化</a:t>
            </a:r>
          </a:p>
        </p:txBody>
      </p:sp>
      <p:sp>
        <p:nvSpPr>
          <p:cNvPr id="54" name="Rounded Rectangle 53"/>
          <p:cNvSpPr/>
          <p:nvPr/>
        </p:nvSpPr>
        <p:spPr>
          <a:xfrm>
            <a:off x="365760" y="4910327"/>
            <a:ext cx="2691384" cy="640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 y="4956047"/>
            <a:ext cx="2691384" cy="352044"/>
          </a:xfrm>
          <a:prstGeom prst="rect">
            <a:avLst/>
          </a:prstGeom>
          <a:noFill/>
        </p:spPr>
        <p:txBody>
          <a:bodyPr wrap="square" lIns="36576" tIns="0" rIns="36576" bIns="0" anchor="ctr">
            <a:noAutofit/>
          </a:bodyPr>
          <a:lstStyle/>
          <a:p>
            <a:pPr algn="ctr">
              <a:lnSpc>
                <a:spcPct val="112000"/>
              </a:lnSpc>
              <a:spcAft>
                <a:spcPts val="0"/>
              </a:spcAft>
            </a:pPr>
            <a:r>
              <a:rPr sz="1500" b="1">
                <a:solidFill>
                  <a:srgbClr val="0C4BA1"/>
                </a:solidFill>
              </a:rPr>
              <a:t>4批 · 30+</a:t>
            </a:r>
          </a:p>
        </p:txBody>
      </p:sp>
      <p:sp>
        <p:nvSpPr>
          <p:cNvPr id="56" name="TextBox 55"/>
          <p:cNvSpPr txBox="1"/>
          <p:nvPr/>
        </p:nvSpPr>
        <p:spPr>
          <a:xfrm>
            <a:off x="365760" y="5268772"/>
            <a:ext cx="2691384" cy="268833"/>
          </a:xfrm>
          <a:prstGeom prst="rect">
            <a:avLst/>
          </a:prstGeom>
          <a:noFill/>
        </p:spPr>
        <p:txBody>
          <a:bodyPr wrap="square" lIns="54864" tIns="0" rIns="54864" bIns="0" anchor="t">
            <a:noAutofit/>
          </a:bodyPr>
          <a:lstStyle/>
          <a:p>
            <a:pPr algn="ctr">
              <a:lnSpc>
                <a:spcPct val="112000"/>
              </a:lnSpc>
              <a:spcAft>
                <a:spcPts val="0"/>
              </a:spcAft>
            </a:pPr>
            <a:r>
              <a:rPr sz="950" b="0">
                <a:solidFill>
                  <a:srgbClr val="6F7E8F"/>
                </a:solidFill>
              </a:rPr>
              <a:t>客户问题联合应答</a:t>
            </a:r>
          </a:p>
        </p:txBody>
      </p:sp>
      <p:sp>
        <p:nvSpPr>
          <p:cNvPr id="57" name="Rounded Rectangle 56"/>
          <p:cNvSpPr/>
          <p:nvPr/>
        </p:nvSpPr>
        <p:spPr>
          <a:xfrm>
            <a:off x="3240024" y="4910327"/>
            <a:ext cx="2691384" cy="640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40024" y="4956047"/>
            <a:ext cx="2691384" cy="352044"/>
          </a:xfrm>
          <a:prstGeom prst="rect">
            <a:avLst/>
          </a:prstGeom>
          <a:noFill/>
        </p:spPr>
        <p:txBody>
          <a:bodyPr wrap="square" lIns="36576" tIns="0" rIns="36576" bIns="0" anchor="ctr">
            <a:noAutofit/>
          </a:bodyPr>
          <a:lstStyle/>
          <a:p>
            <a:pPr algn="ctr">
              <a:lnSpc>
                <a:spcPct val="112000"/>
              </a:lnSpc>
              <a:spcAft>
                <a:spcPts val="0"/>
              </a:spcAft>
            </a:pPr>
            <a:r>
              <a:rPr sz="1500" b="1">
                <a:solidFill>
                  <a:srgbClr val="0C4BA1"/>
                </a:solidFill>
              </a:rPr>
              <a:t>5月</a:t>
            </a:r>
          </a:p>
        </p:txBody>
      </p:sp>
      <p:sp>
        <p:nvSpPr>
          <p:cNvPr id="59" name="TextBox 58"/>
          <p:cNvSpPr txBox="1"/>
          <p:nvPr/>
        </p:nvSpPr>
        <p:spPr>
          <a:xfrm>
            <a:off x="3240024" y="5268772"/>
            <a:ext cx="2691384" cy="268833"/>
          </a:xfrm>
          <a:prstGeom prst="rect">
            <a:avLst/>
          </a:prstGeom>
          <a:noFill/>
        </p:spPr>
        <p:txBody>
          <a:bodyPr wrap="square" lIns="54864" tIns="0" rIns="54864" bIns="0" anchor="t">
            <a:noAutofit/>
          </a:bodyPr>
          <a:lstStyle/>
          <a:p>
            <a:pPr algn="ctr">
              <a:lnSpc>
                <a:spcPct val="112000"/>
              </a:lnSpc>
              <a:spcAft>
                <a:spcPts val="0"/>
              </a:spcAft>
            </a:pPr>
            <a:r>
              <a:rPr sz="950" b="0">
                <a:solidFill>
                  <a:srgbClr val="6F7E8F"/>
                </a:solidFill>
              </a:rPr>
              <a:t>客户总体接受方案与技术路线</a:t>
            </a:r>
          </a:p>
        </p:txBody>
      </p:sp>
      <p:sp>
        <p:nvSpPr>
          <p:cNvPr id="60" name="Rounded Rectangle 59"/>
          <p:cNvSpPr/>
          <p:nvPr/>
        </p:nvSpPr>
        <p:spPr>
          <a:xfrm>
            <a:off x="6114288" y="4910327"/>
            <a:ext cx="2691384" cy="640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14288" y="4956047"/>
            <a:ext cx="2691384" cy="352044"/>
          </a:xfrm>
          <a:prstGeom prst="rect">
            <a:avLst/>
          </a:prstGeom>
          <a:noFill/>
        </p:spPr>
        <p:txBody>
          <a:bodyPr wrap="square" lIns="36576" tIns="0" rIns="36576" bIns="0" anchor="ctr">
            <a:noAutofit/>
          </a:bodyPr>
          <a:lstStyle/>
          <a:p>
            <a:pPr algn="ctr">
              <a:lnSpc>
                <a:spcPct val="112000"/>
              </a:lnSpc>
              <a:spcAft>
                <a:spcPts val="0"/>
              </a:spcAft>
            </a:pPr>
            <a:r>
              <a:rPr sz="1500" b="1">
                <a:solidFill>
                  <a:srgbClr val="0C4BA1"/>
                </a:solidFill>
              </a:rPr>
              <a:t>5.15</a:t>
            </a:r>
          </a:p>
        </p:txBody>
      </p:sp>
      <p:sp>
        <p:nvSpPr>
          <p:cNvPr id="62" name="TextBox 61"/>
          <p:cNvSpPr txBox="1"/>
          <p:nvPr/>
        </p:nvSpPr>
        <p:spPr>
          <a:xfrm>
            <a:off x="6114288" y="5268772"/>
            <a:ext cx="2691384" cy="268833"/>
          </a:xfrm>
          <a:prstGeom prst="rect">
            <a:avLst/>
          </a:prstGeom>
          <a:noFill/>
        </p:spPr>
        <p:txBody>
          <a:bodyPr wrap="square" lIns="54864" tIns="0" rIns="54864" bIns="0" anchor="t">
            <a:noAutofit/>
          </a:bodyPr>
          <a:lstStyle/>
          <a:p>
            <a:pPr algn="ctr">
              <a:lnSpc>
                <a:spcPct val="112000"/>
              </a:lnSpc>
              <a:spcAft>
                <a:spcPts val="0"/>
              </a:spcAft>
            </a:pPr>
            <a:r>
              <a:rPr sz="950" b="0">
                <a:solidFill>
                  <a:srgbClr val="6F7E8F"/>
                </a:solidFill>
              </a:rPr>
              <a:t>TR草稿与HLD及澄清回复基本一致</a:t>
            </a:r>
          </a:p>
        </p:txBody>
      </p:sp>
      <p:sp>
        <p:nvSpPr>
          <p:cNvPr id="63" name="Rounded Rectangle 62"/>
          <p:cNvSpPr/>
          <p:nvPr/>
        </p:nvSpPr>
        <p:spPr>
          <a:xfrm>
            <a:off x="8988552" y="4910327"/>
            <a:ext cx="2834639" cy="640080"/>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098280" y="4910327"/>
            <a:ext cx="2615183" cy="640080"/>
          </a:xfrm>
          <a:prstGeom prst="rect">
            <a:avLst/>
          </a:prstGeom>
          <a:noFill/>
        </p:spPr>
        <p:txBody>
          <a:bodyPr wrap="square" lIns="54864" tIns="36576" rIns="54864" bIns="36576" anchor="ctr">
            <a:noAutofit/>
          </a:bodyPr>
          <a:lstStyle/>
          <a:p>
            <a:pPr algn="l">
              <a:lnSpc>
                <a:spcPct val="112000"/>
              </a:lnSpc>
              <a:spcAft>
                <a:spcPts val="0"/>
              </a:spcAft>
            </a:pPr>
            <a:r>
              <a:rPr sz="950" b="1">
                <a:solidFill>
                  <a:srgbClr val="2F3E4F"/>
                </a:solidFill>
              </a:rPr>
              <a:t>新增范围</a:t>
            </a:r>
            <a:r>
              <a:rPr sz="950" b="0">
                <a:solidFill>
                  <a:srgbClr val="2F3E4F"/>
                </a:solidFill>
              </a:rPr>
              <a:t>　DLM、基础权重开放、内容安全、年费、算力：已认可与新增内容分别标识，继续评审，不视为无边界承诺</a:t>
            </a:r>
          </a:p>
        </p:txBody>
      </p:sp>
      <p:sp>
        <p:nvSpPr>
          <p:cNvPr id="65" name="TextBox 64"/>
          <p:cNvSpPr txBox="1"/>
          <p:nvPr/>
        </p:nvSpPr>
        <p:spPr>
          <a:xfrm>
            <a:off x="365760" y="5623559"/>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归因：客户侧文件由客户编制；主要路线认可与TR变化是多轮联合工作的阶段结果，不归因为某一次发言。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关键案例②　把自主能力诉求转化为可实施、可验收的路径</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8586216" y="548640"/>
            <a:ext cx="3236976"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岗位特性类 ｜ 专业判断</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9</a:t>
            </a:r>
          </a:p>
        </p:txBody>
      </p:sp>
      <p:sp>
        <p:nvSpPr>
          <p:cNvPr id="6" name="Rounded Rectangle 5"/>
          <p:cNvSpPr/>
          <p:nvPr/>
        </p:nvSpPr>
        <p:spPr>
          <a:xfrm>
            <a:off x="365760" y="1833372"/>
            <a:ext cx="2699765"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3776" y="1961388"/>
            <a:ext cx="1143000" cy="292608"/>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客户诉求</a:t>
            </a:r>
          </a:p>
        </p:txBody>
      </p:sp>
      <p:sp>
        <p:nvSpPr>
          <p:cNvPr id="8" name="TextBox 7"/>
          <p:cNvSpPr txBox="1"/>
          <p:nvPr/>
        </p:nvSpPr>
        <p:spPr>
          <a:xfrm>
            <a:off x="457200" y="2345436"/>
            <a:ext cx="2516885" cy="194767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7A8898"/>
              </a:buClr>
              <a:buSzPct val="100000"/>
              <a:buFont typeface="Arial"/>
              <a:buChar char="•"/>
            </a:pPr>
            <a:r>
              <a:rPr sz="1050" b="0">
                <a:solidFill>
                  <a:srgbClr val="2F3E4F"/>
                </a:solidFill>
              </a:rPr>
              <a:t>能否先以小模型从零训练，掌握完整技术，随后再扩大模型与算力规模</a:t>
            </a:r>
          </a:p>
          <a:p>
            <a:pPr algn="l" marL="146304" indent="-146304">
              <a:lnSpc>
                <a:spcPct val="112000"/>
              </a:lnSpc>
              <a:spcAft>
                <a:spcPts val="400"/>
              </a:spcAft>
              <a:buClr>
                <a:srgbClr val="7A8898"/>
              </a:buClr>
              <a:buSzPct val="100000"/>
              <a:buFont typeface="Arial"/>
              <a:buChar char="•"/>
            </a:pPr>
            <a:r>
              <a:rPr sz="1050" b="0">
                <a:solidFill>
                  <a:srgbClr val="2F3E4F"/>
                </a:solidFill>
              </a:rPr>
              <a:t>背景：项目转向RNP为实施主体，方案需与华为融合并首次正式面客</a:t>
            </a:r>
          </a:p>
        </p:txBody>
      </p:sp>
      <p:sp>
        <p:nvSpPr>
          <p:cNvPr id="9" name="Chevron 8"/>
          <p:cNvSpPr/>
          <p:nvPr/>
        </p:nvSpPr>
        <p:spPr>
          <a:xfrm>
            <a:off x="3102101" y="1979676"/>
            <a:ext cx="146304" cy="292608"/>
          </a:xfrm>
          <a:prstGeom prst="chevron">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84982" y="1833372"/>
            <a:ext cx="2699765"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12998" y="1961388"/>
            <a:ext cx="1143000" cy="292608"/>
          </a:xfrm>
          <a:prstGeom prst="roundRect">
            <a:avLst>
              <a:gd name="adj" fmla="val 50000"/>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本人判断</a:t>
            </a:r>
          </a:p>
        </p:txBody>
      </p:sp>
      <p:sp>
        <p:nvSpPr>
          <p:cNvPr id="12" name="TextBox 11"/>
          <p:cNvSpPr txBox="1"/>
          <p:nvPr/>
        </p:nvSpPr>
        <p:spPr>
          <a:xfrm>
            <a:off x="3376422" y="2345436"/>
            <a:ext cx="2516885" cy="194767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3F7BD6"/>
              </a:buClr>
              <a:buSzPct val="100000"/>
              <a:buFont typeface="Arial"/>
              <a:buChar char="•"/>
            </a:pPr>
            <a:r>
              <a:rPr sz="1050" b="0">
                <a:solidFill>
                  <a:srgbClr val="2F3E4F"/>
                </a:solidFill>
              </a:rPr>
              <a:t>“科研探索”与“当前面向公共服务的项目交付”必须区分</a:t>
            </a:r>
          </a:p>
          <a:p>
            <a:pPr algn="l" marL="146304" indent="-146304">
              <a:lnSpc>
                <a:spcPct val="112000"/>
              </a:lnSpc>
              <a:spcAft>
                <a:spcPts val="400"/>
              </a:spcAft>
              <a:buClr>
                <a:srgbClr val="3F7BD6"/>
              </a:buClr>
              <a:buSzPct val="100000"/>
              <a:buFont typeface="Arial"/>
              <a:buChar char="•"/>
            </a:pPr>
            <a:r>
              <a:rPr sz="1050" b="0">
                <a:solidFill>
                  <a:srgbClr val="2F3E4F"/>
                </a:solidFill>
              </a:rPr>
              <a:t>后者要同时考虑效果、实施投入、可控性与供应商责任</a:t>
            </a:r>
          </a:p>
        </p:txBody>
      </p:sp>
      <p:sp>
        <p:nvSpPr>
          <p:cNvPr id="13" name="Chevron 12"/>
          <p:cNvSpPr/>
          <p:nvPr/>
        </p:nvSpPr>
        <p:spPr>
          <a:xfrm>
            <a:off x="6021324" y="1979676"/>
            <a:ext cx="146304" cy="292608"/>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04204" y="1833372"/>
            <a:ext cx="2699765"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32220" y="1961388"/>
            <a:ext cx="1143000" cy="292608"/>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本人行动</a:t>
            </a:r>
          </a:p>
        </p:txBody>
      </p:sp>
      <p:sp>
        <p:nvSpPr>
          <p:cNvPr id="16" name="TextBox 15"/>
          <p:cNvSpPr txBox="1"/>
          <p:nvPr/>
        </p:nvSpPr>
        <p:spPr>
          <a:xfrm>
            <a:off x="6295644" y="2345436"/>
            <a:ext cx="2516885" cy="194767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0C4BA1"/>
              </a:buClr>
              <a:buSzPct val="100000"/>
              <a:buFont typeface="Arial"/>
              <a:buChar char="•"/>
            </a:pPr>
            <a:r>
              <a:rPr sz="1050" b="0">
                <a:solidFill>
                  <a:srgbClr val="2F3E4F"/>
                </a:solidFill>
              </a:rPr>
              <a:t>用英语解释：先依托成熟底座完成本地增训、语料建设与知识转移，再基于吸收能力逐步探索从零训练</a:t>
            </a:r>
          </a:p>
          <a:p>
            <a:pPr algn="l" marL="146304" indent="-146304">
              <a:lnSpc>
                <a:spcPct val="112000"/>
              </a:lnSpc>
              <a:spcAft>
                <a:spcPts val="400"/>
              </a:spcAft>
              <a:buClr>
                <a:srgbClr val="0C4BA1"/>
              </a:buClr>
              <a:buSzPct val="100000"/>
              <a:buFont typeface="Arial"/>
              <a:buChar char="•"/>
            </a:pPr>
            <a:r>
              <a:rPr sz="1050" b="0">
                <a:solidFill>
                  <a:srgbClr val="2F3E4F"/>
                </a:solidFill>
              </a:rPr>
              <a:t>不否定长期自主目标，也不把全部目标无条件放入当前项目</a:t>
            </a:r>
          </a:p>
        </p:txBody>
      </p:sp>
      <p:sp>
        <p:nvSpPr>
          <p:cNvPr id="17" name="Chevron 16"/>
          <p:cNvSpPr/>
          <p:nvPr/>
        </p:nvSpPr>
        <p:spPr>
          <a:xfrm>
            <a:off x="8940546" y="1979676"/>
            <a:ext cx="146304" cy="292608"/>
          </a:xfrm>
          <a:prstGeom prst="chevron">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23426" y="1833372"/>
            <a:ext cx="2699765"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51442" y="1961388"/>
            <a:ext cx="1143000" cy="292608"/>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现场变化</a:t>
            </a:r>
          </a:p>
        </p:txBody>
      </p:sp>
      <p:sp>
        <p:nvSpPr>
          <p:cNvPr id="20" name="TextBox 19"/>
          <p:cNvSpPr txBox="1"/>
          <p:nvPr/>
        </p:nvSpPr>
        <p:spPr>
          <a:xfrm>
            <a:off x="9214866" y="2345436"/>
            <a:ext cx="2516885" cy="194767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1F8F5F"/>
              </a:buClr>
              <a:buSzPct val="100000"/>
              <a:buFont typeface="Arial"/>
              <a:buChar char="•"/>
            </a:pPr>
            <a:r>
              <a:rPr sz="1050" b="0">
                <a:solidFill>
                  <a:srgbClr val="2F3E4F"/>
                </a:solidFill>
              </a:rPr>
              <a:t>客户随后明确复述：当前可掌握持续训练与演进，从零训练是更高难度的后续方向</a:t>
            </a:r>
          </a:p>
          <a:p>
            <a:pPr algn="l" marL="146304" indent="-146304">
              <a:lnSpc>
                <a:spcPct val="112000"/>
              </a:lnSpc>
              <a:spcAft>
                <a:spcPts val="400"/>
              </a:spcAft>
              <a:buClr>
                <a:srgbClr val="1F8F5F"/>
              </a:buClr>
              <a:buSzPct val="100000"/>
              <a:buFont typeface="Arial"/>
              <a:buChar char="•"/>
            </a:pPr>
            <a:r>
              <a:rPr sz="1050" b="0">
                <a:solidFill>
                  <a:srgbClr val="2F3E4F"/>
                </a:solidFill>
              </a:rPr>
              <a:t>讨论从“是否真正自主”转向能力阶段、实施条件与交付责任</a:t>
            </a:r>
          </a:p>
        </p:txBody>
      </p:sp>
      <p:sp>
        <p:nvSpPr>
          <p:cNvPr id="21" name="Rounded Rectangle 20"/>
          <p:cNvSpPr/>
          <p:nvPr/>
        </p:nvSpPr>
        <p:spPr>
          <a:xfrm>
            <a:off x="365760" y="4530852"/>
            <a:ext cx="11457432" cy="566928"/>
          </a:xfrm>
          <a:prstGeom prst="roundRect">
            <a:avLst>
              <a:gd name="adj" fmla="val 12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2920" y="4677156"/>
            <a:ext cx="91440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0A2A5E"/>
                </a:solidFill>
              </a:rPr>
              <a:t>本人作用</a:t>
            </a:r>
          </a:p>
        </p:txBody>
      </p:sp>
      <p:sp>
        <p:nvSpPr>
          <p:cNvPr id="23" name="TextBox 22"/>
          <p:cNvSpPr txBox="1"/>
          <p:nvPr/>
        </p:nvSpPr>
        <p:spPr>
          <a:xfrm>
            <a:off x="1508760" y="4530852"/>
            <a:ext cx="10177272" cy="56692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FFFFFF"/>
                </a:solidFill>
              </a:rPr>
              <a:t>不仅解释技术“能不能做”，还把客户目标、实施条件和供应商承担结果的范围放到同一讨论框架。</a:t>
            </a:r>
          </a:p>
        </p:txBody>
      </p:sp>
      <p:sp>
        <p:nvSpPr>
          <p:cNvPr id="24" name="TextBox 23"/>
          <p:cNvSpPr txBox="1"/>
          <p:nvPr/>
        </p:nvSpPr>
        <p:spPr>
          <a:xfrm>
            <a:off x="365760" y="5244084"/>
            <a:ext cx="2194560" cy="310896"/>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配套五问（见下页）</a:t>
            </a:r>
          </a:p>
        </p:txBody>
      </p:sp>
      <p:sp>
        <p:nvSpPr>
          <p:cNvPr id="25" name="Rounded Rectangle 24"/>
          <p:cNvSpPr/>
          <p:nvPr/>
        </p:nvSpPr>
        <p:spPr>
          <a:xfrm>
            <a:off x="2651760" y="5262372"/>
            <a:ext cx="1746503"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本地数据不足如何开始</a:t>
            </a:r>
          </a:p>
        </p:txBody>
      </p:sp>
      <p:sp>
        <p:nvSpPr>
          <p:cNvPr id="26" name="Rounded Rectangle 25"/>
          <p:cNvSpPr/>
          <p:nvPr/>
        </p:nvSpPr>
        <p:spPr>
          <a:xfrm>
            <a:off x="4507992" y="5262372"/>
            <a:ext cx="1746503"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语料规模为何不能与万亿级比较</a:t>
            </a:r>
          </a:p>
        </p:txBody>
      </p:sp>
      <p:sp>
        <p:nvSpPr>
          <p:cNvPr id="27" name="Rounded Rectangle 26"/>
          <p:cNvSpPr/>
          <p:nvPr/>
        </p:nvSpPr>
        <p:spPr>
          <a:xfrm>
            <a:off x="6364223" y="5262372"/>
            <a:ext cx="1746503"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能否从昇腾迁移到其他生态</a:t>
            </a:r>
          </a:p>
        </p:txBody>
      </p:sp>
      <p:sp>
        <p:nvSpPr>
          <p:cNvPr id="28" name="Rounded Rectangle 27"/>
          <p:cNvSpPr/>
          <p:nvPr/>
        </p:nvSpPr>
        <p:spPr>
          <a:xfrm>
            <a:off x="8220456" y="5262372"/>
            <a:ext cx="1746503"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如何验收葡语与本土能力</a:t>
            </a:r>
          </a:p>
        </p:txBody>
      </p:sp>
      <p:sp>
        <p:nvSpPr>
          <p:cNvPr id="29" name="Rounded Rectangle 28"/>
          <p:cNvSpPr/>
          <p:nvPr/>
        </p:nvSpPr>
        <p:spPr>
          <a:xfrm>
            <a:off x="10076688" y="5262372"/>
            <a:ext cx="1746503" cy="292608"/>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如何兼顾自主使用与知识产权</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关键咨询问答：配套五问的澄清及其对方案与交易的作用</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岗位特性类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10</a:t>
            </a:r>
          </a:p>
        </p:txBody>
      </p:sp>
      <p:graphicFrame>
        <p:nvGraphicFramePr>
          <p:cNvPr id="6" name="Table 5"/>
          <p:cNvGraphicFramePr>
            <a:graphicFrameLocks noGrp="1"/>
          </p:cNvGraphicFramePr>
          <p:nvPr/>
        </p:nvGraphicFramePr>
        <p:xfrm>
          <a:off x="365760" y="1170432"/>
          <a:ext cx="11457432" cy="4315968"/>
        </p:xfrm>
        <a:graphic>
          <a:graphicData uri="http://schemas.openxmlformats.org/drawingml/2006/table">
            <a:tbl>
              <a:tblPr firstRow="0" bandRow="0">
                <a:tableStyleId>{2D5ABB26-0587-4C30-8999-92F81FD0307C}</a:tableStyleId>
              </a:tblPr>
              <a:tblGrid>
                <a:gridCol w="2743200"/>
                <a:gridCol w="5120640"/>
                <a:gridCol w="3593592"/>
              </a:tblGrid>
              <a:tr h="384048">
                <a:tc>
                  <a:txBody>
                    <a:bodyPr wrap="square" lIns="64008" tIns="18288" rIns="64008" bIns="18288" anchor="ctr">
                      <a:noAutofit/>
                    </a:bodyPr>
                    <a:lstStyle/>
                    <a:p>
                      <a:pPr algn="l">
                        <a:lnSpc>
                          <a:spcPct val="112000"/>
                        </a:lnSpc>
                        <a:spcAft>
                          <a:spcPts val="0"/>
                        </a:spcAft>
                      </a:pPr>
                      <a:r>
                        <a:rPr sz="1050" b="1">
                          <a:solidFill>
                            <a:srgbClr val="FFFFFF"/>
                          </a:solidFill>
                        </a:rPr>
                        <a:t>客户问题</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本人关键解释 / 建议</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对方案与交易的作用</a:t>
                      </a:r>
                    </a:p>
                  </a:txBody>
                  <a:tcPr anchor="ctr">
                    <a:lnL w="0">
                      <a:noFill/>
                    </a:lnL>
                    <a:lnR w="0">
                      <a:noFill/>
                    </a:lnR>
                    <a:lnT w="0">
                      <a:noFill/>
                    </a:lnT>
                    <a:lnB w="0">
                      <a:noFill/>
                    </a:lnB>
                    <a:solidFill>
                      <a:srgbClr val="0C4BA1"/>
                    </a:solidFill>
                  </a:tcPr>
                </a:tc>
              </a:tr>
              <a:tr h="786384">
                <a:tc>
                  <a:txBody>
                    <a:bodyPr wrap="square" lIns="64008" tIns="27432" rIns="64008" bIns="27432" anchor="ctr">
                      <a:noAutofit/>
                    </a:bodyPr>
                    <a:lstStyle/>
                    <a:p>
                      <a:pPr algn="l">
                        <a:lnSpc>
                          <a:spcPct val="108000"/>
                        </a:lnSpc>
                        <a:spcAft>
                          <a:spcPts val="200"/>
                        </a:spcAft>
                      </a:pPr>
                      <a:r>
                        <a:rPr sz="1000" b="1">
                          <a:solidFill>
                            <a:srgbClr val="0A2A5E"/>
                          </a:solidFill>
                        </a:rPr>
                        <a:t>本地数据不足，如何开始？</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先调查本地已有数据与机构资源，评估数量、类型和质量，再决定复用、质量处理或新建；讨论语料团队与训练团队并行</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将数据责任转为可启动的调查与建设安排</a:t>
                      </a:r>
                    </a:p>
                  </a:txBody>
                  <a:tcPr anchor="ctr">
                    <a:lnL w="0">
                      <a:noFill/>
                    </a:lnL>
                    <a:lnR w="0">
                      <a:noFill/>
                    </a:lnR>
                    <a:lnT w="0">
                      <a:noFill/>
                    </a:lnT>
                    <a:lnB w="9525" cap="flat" cmpd="sng" algn="ctr">
                      <a:solidFill>
                        <a:srgbClr val="D3DCE8"/>
                      </a:solidFill>
                      <a:prstDash val="solid"/>
                    </a:lnB>
                    <a:solidFill>
                      <a:srgbClr val="FFFFFF"/>
                    </a:solidFill>
                  </a:tcPr>
                </a:tc>
              </a:tr>
              <a:tr h="786384">
                <a:tc>
                  <a:txBody>
                    <a:bodyPr wrap="square" lIns="64008" tIns="27432" rIns="64008" bIns="27432" anchor="ctr">
                      <a:noAutofit/>
                    </a:bodyPr>
                    <a:lstStyle/>
                    <a:p>
                      <a:pPr algn="l">
                        <a:lnSpc>
                          <a:spcPct val="108000"/>
                        </a:lnSpc>
                        <a:spcAft>
                          <a:spcPts val="200"/>
                        </a:spcAft>
                      </a:pPr>
                      <a:r>
                        <a:rPr sz="1000" b="1">
                          <a:solidFill>
                            <a:srgbClr val="0A2A5E"/>
                          </a:solidFill>
                        </a:rPr>
                        <a:t>本地语料规模为何不能直接与其他项目万亿级数据比较？</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区分从零预训练与基于成熟底座持续训练的统计口径，澄清本地语料与通用数据的不同用途</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为客户判断方案充分性提供一致的比较维度，不把不同口径直接对比</a:t>
                      </a:r>
                    </a:p>
                  </a:txBody>
                  <a:tcPr anchor="ctr">
                    <a:lnL w="0">
                      <a:noFill/>
                    </a:lnL>
                    <a:lnR w="0">
                      <a:noFill/>
                    </a:lnR>
                    <a:lnT w="0">
                      <a:noFill/>
                    </a:lnT>
                    <a:lnB w="9525" cap="flat" cmpd="sng" algn="ctr">
                      <a:solidFill>
                        <a:srgbClr val="D3DCE8"/>
                      </a:solidFill>
                      <a:prstDash val="solid"/>
                    </a:lnB>
                    <a:solidFill>
                      <a:srgbClr val="F6F8FC"/>
                    </a:solidFill>
                  </a:tcPr>
                </a:tc>
              </a:tr>
              <a:tr h="786384">
                <a:tc>
                  <a:txBody>
                    <a:bodyPr wrap="square" lIns="64008" tIns="27432" rIns="64008" bIns="27432" anchor="ctr">
                      <a:noAutofit/>
                    </a:bodyPr>
                    <a:lstStyle/>
                    <a:p>
                      <a:pPr algn="l">
                        <a:lnSpc>
                          <a:spcPct val="108000"/>
                        </a:lnSpc>
                        <a:spcAft>
                          <a:spcPts val="200"/>
                        </a:spcAft>
                      </a:pPr>
                      <a:r>
                        <a:rPr sz="1000" b="1">
                          <a:solidFill>
                            <a:srgbClr val="0A2A5E"/>
                          </a:solidFill>
                        </a:rPr>
                        <a:t>能否从昇腾迁移到其他硬件生态？</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解释软件栈、算子与工程优化工作，区分基础可部署支持与额外性能优化服务</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回应开放性诉求，并把工程投入与服务边界纳入讨论</a:t>
                      </a:r>
                    </a:p>
                  </a:txBody>
                  <a:tcPr anchor="ctr">
                    <a:lnL w="0">
                      <a:noFill/>
                    </a:lnL>
                    <a:lnR w="0">
                      <a:noFill/>
                    </a:lnR>
                    <a:lnT w="0">
                      <a:noFill/>
                    </a:lnT>
                    <a:lnB w="9525" cap="flat" cmpd="sng" algn="ctr">
                      <a:solidFill>
                        <a:srgbClr val="D3DCE8"/>
                      </a:solidFill>
                      <a:prstDash val="solid"/>
                    </a:lnB>
                    <a:solidFill>
                      <a:srgbClr val="FFFFFF"/>
                    </a:solidFill>
                  </a:tcPr>
                </a:tc>
              </a:tr>
              <a:tr h="786384">
                <a:tc>
                  <a:txBody>
                    <a:bodyPr wrap="square" lIns="64008" tIns="27432" rIns="64008" bIns="27432" anchor="ctr">
                      <a:noAutofit/>
                    </a:bodyPr>
                    <a:lstStyle/>
                    <a:p>
                      <a:pPr algn="l">
                        <a:lnSpc>
                          <a:spcPct val="108000"/>
                        </a:lnSpc>
                        <a:spcAft>
                          <a:spcPts val="200"/>
                        </a:spcAft>
                      </a:pPr>
                      <a:r>
                        <a:rPr sz="1000" b="1">
                          <a:solidFill>
                            <a:srgbClr val="0A2A5E"/>
                          </a:solidFill>
                        </a:rPr>
                        <a:t>如何验收葡语与本土能力？</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区分语言能力和巴西本地内容相关能力；提出初版基准、客户讨论及量化验收口径</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将主观效果目标转为可共同确认的评测安排</a:t>
                      </a:r>
                    </a:p>
                  </a:txBody>
                  <a:tcPr anchor="ctr">
                    <a:lnL w="0">
                      <a:noFill/>
                    </a:lnL>
                    <a:lnR w="0">
                      <a:noFill/>
                    </a:lnR>
                    <a:lnT w="0">
                      <a:noFill/>
                    </a:lnT>
                    <a:lnB w="9525" cap="flat" cmpd="sng" algn="ctr">
                      <a:solidFill>
                        <a:srgbClr val="D3DCE8"/>
                      </a:solidFill>
                      <a:prstDash val="solid"/>
                    </a:lnB>
                    <a:solidFill>
                      <a:srgbClr val="F6F8FC"/>
                    </a:solidFill>
                  </a:tcPr>
                </a:tc>
              </a:tr>
              <a:tr h="786384">
                <a:tc>
                  <a:txBody>
                    <a:bodyPr wrap="square" lIns="64008" tIns="27432" rIns="64008" bIns="27432" anchor="ctr">
                      <a:noAutofit/>
                    </a:bodyPr>
                    <a:lstStyle/>
                    <a:p>
                      <a:pPr algn="l">
                        <a:lnSpc>
                          <a:spcPct val="108000"/>
                        </a:lnSpc>
                        <a:spcAft>
                          <a:spcPts val="200"/>
                        </a:spcAft>
                      </a:pPr>
                      <a:r>
                        <a:rPr sz="1000" b="1">
                          <a:solidFill>
                            <a:srgbClr val="0A2A5E"/>
                          </a:solidFill>
                        </a:rPr>
                        <a:t>如何兼顾自主使用与核心知识产权？</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区分模型／数据使用、定制代码、基础版本核心代码、持续升级及再分发范围</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为后续权利与服务条款提供讨论边界，而非作无条件转让承诺</a:t>
                      </a:r>
                    </a:p>
                  </a:txBody>
                  <a:tcPr anchor="ctr">
                    <a:lnL w="0">
                      <a:noFill/>
                    </a:lnL>
                    <a:lnR w="0">
                      <a:noFill/>
                    </a:lnR>
                    <a:lnT w="0">
                      <a:noFill/>
                    </a:lnT>
                    <a:lnB w="9525" cap="flat" cmpd="sng" algn="ctr">
                      <a:solidFill>
                        <a:srgbClr val="D3DCE8"/>
                      </a:solidFill>
                      <a:prstDash val="solid"/>
                    </a:lnB>
                    <a:solidFill>
                      <a:srgbClr val="FFFFFF"/>
                    </a:solidFill>
                  </a:tcPr>
                </a:tc>
              </a:tr>
            </a:tbl>
          </a:graphicData>
        </a:graphic>
      </p:graphicFrame>
      <p:sp>
        <p:nvSpPr>
          <p:cNvPr id="7" name="TextBox 6"/>
          <p:cNvSpPr txBox="1"/>
          <p:nvPr/>
        </p:nvSpPr>
        <p:spPr>
          <a:xfrm>
            <a:off x="365760" y="5623560"/>
            <a:ext cx="11457432" cy="457200"/>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5月5日会议中有对应发言；5月8日语料比较内容为本人回忆补录。会议中的周期、性能、所有权说明不直接转成技术保证或合同条款。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商业模式与价值争取：将技术范围、交易结构与付款安排衔接</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目标管理类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11</a:t>
            </a:r>
          </a:p>
        </p:txBody>
      </p:sp>
      <p:graphicFrame>
        <p:nvGraphicFramePr>
          <p:cNvPr id="6" name="Table 5"/>
          <p:cNvGraphicFramePr>
            <a:graphicFrameLocks noGrp="1"/>
          </p:cNvGraphicFramePr>
          <p:nvPr/>
        </p:nvGraphicFramePr>
        <p:xfrm>
          <a:off x="365760" y="1170432"/>
          <a:ext cx="11457432" cy="3236976"/>
        </p:xfrm>
        <a:graphic>
          <a:graphicData uri="http://schemas.openxmlformats.org/drawingml/2006/table">
            <a:tbl>
              <a:tblPr firstRow="0" bandRow="0">
                <a:tableStyleId>{2D5ABB26-0587-4C30-8999-92F81FD0307C}</a:tableStyleId>
              </a:tblPr>
              <a:tblGrid>
                <a:gridCol w="1920240"/>
                <a:gridCol w="5669280"/>
                <a:gridCol w="3867912"/>
              </a:tblGrid>
              <a:tr h="384048">
                <a:tc>
                  <a:txBody>
                    <a:bodyPr wrap="square" lIns="64008" tIns="18288" rIns="64008" bIns="18288" anchor="ctr">
                      <a:noAutofit/>
                    </a:bodyPr>
                    <a:lstStyle/>
                    <a:p>
                      <a:pPr algn="l">
                        <a:lnSpc>
                          <a:spcPct val="112000"/>
                        </a:lnSpc>
                        <a:spcAft>
                          <a:spcPts val="0"/>
                        </a:spcAft>
                      </a:pPr>
                      <a:r>
                        <a:rPr sz="1050" b="1">
                          <a:solidFill>
                            <a:srgbClr val="FFFFFF"/>
                          </a:solidFill>
                        </a:rPr>
                        <a:t>阶段 / 问题</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本人组织或参与的工作</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形成的阶段结果</a:t>
                      </a:r>
                    </a:p>
                  </a:txBody>
                  <a:tcPr anchor="ctr">
                    <a:lnL w="0">
                      <a:noFill/>
                    </a:lnL>
                    <a:lnR w="0">
                      <a:noFill/>
                    </a:lnR>
                    <a:lnT w="0">
                      <a:noFill/>
                    </a:lnT>
                    <a:lnB w="0">
                      <a:noFill/>
                    </a:lnB>
                    <a:solidFill>
                      <a:srgbClr val="0C4BA1"/>
                    </a:solidFill>
                  </a:tcPr>
                </a:tc>
              </a:tr>
              <a:tr h="713232">
                <a:tc>
                  <a:txBody>
                    <a:bodyPr wrap="square" lIns="64008" tIns="27432" rIns="64008" bIns="27432" anchor="ctr">
                      <a:noAutofit/>
                    </a:bodyPr>
                    <a:lstStyle/>
                    <a:p>
                      <a:pPr algn="l">
                        <a:lnSpc>
                          <a:spcPct val="108000"/>
                        </a:lnSpc>
                        <a:spcAft>
                          <a:spcPts val="200"/>
                        </a:spcAft>
                      </a:pPr>
                      <a:r>
                        <a:rPr sz="1000" b="1">
                          <a:solidFill>
                            <a:srgbClr val="0A2A5E"/>
                          </a:solidFill>
                        </a:rPr>
                        <a:t>联合体或分签</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围绕客户希望整体承接的诉求，组织讨论各方合同界面、交付里程碑及付款方式</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将联合技术方案进一步转为交易结构讨论</a:t>
                      </a:r>
                    </a:p>
                  </a:txBody>
                  <a:tcPr anchor="ctr">
                    <a:lnL w="0">
                      <a:noFill/>
                    </a:lnL>
                    <a:lnR w="0">
                      <a:noFill/>
                    </a:lnR>
                    <a:lnT w="0">
                      <a:noFill/>
                    </a:lnT>
                    <a:lnB w="9525" cap="flat" cmpd="sng" algn="ctr">
                      <a:solidFill>
                        <a:srgbClr val="D3DCE8"/>
                      </a:solidFill>
                      <a:prstDash val="solid"/>
                    </a:lnB>
                    <a:solidFill>
                      <a:srgbClr val="FFFFFF"/>
                    </a:solidFill>
                  </a:tcPr>
                </a:tc>
              </a:tr>
              <a:tr h="713232">
                <a:tc>
                  <a:txBody>
                    <a:bodyPr wrap="square" lIns="64008" tIns="27432" rIns="64008" bIns="27432" anchor="ctr">
                      <a:noAutofit/>
                    </a:bodyPr>
                    <a:lstStyle/>
                    <a:p>
                      <a:pPr algn="l">
                        <a:lnSpc>
                          <a:spcPct val="108000"/>
                        </a:lnSpc>
                        <a:spcAft>
                          <a:spcPts val="200"/>
                        </a:spcAft>
                      </a:pPr>
                      <a:r>
                        <a:rPr sz="1000" b="1">
                          <a:solidFill>
                            <a:srgbClr val="0A2A5E"/>
                          </a:solidFill>
                        </a:rPr>
                        <a:t>服务化与总集方案</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面对资产持有和OPEX采购要求，与华为一线研判讯飞担任总集的条件；组织多轮内部汇报，并将集团确定的态度与原则反馈一线</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形成明确的内部决策输入与对外原则，不在未明确条件下直接承诺</a:t>
                      </a:r>
                    </a:p>
                  </a:txBody>
                  <a:tcPr anchor="ctr">
                    <a:lnL w="0">
                      <a:noFill/>
                    </a:lnL>
                    <a:lnR w="0">
                      <a:noFill/>
                    </a:lnR>
                    <a:lnT w="0">
                      <a:noFill/>
                    </a:lnT>
                    <a:lnB w="9525" cap="flat" cmpd="sng" algn="ctr">
                      <a:solidFill>
                        <a:srgbClr val="D3DCE8"/>
                      </a:solidFill>
                      <a:prstDash val="solid"/>
                    </a:lnB>
                    <a:solidFill>
                      <a:srgbClr val="F6F8FC"/>
                    </a:solidFill>
                  </a:tcPr>
                </a:tc>
              </a:tr>
              <a:tr h="713232">
                <a:tc>
                  <a:txBody>
                    <a:bodyPr wrap="square" lIns="64008" tIns="27432" rIns="64008" bIns="27432" anchor="ctr">
                      <a:noAutofit/>
                    </a:bodyPr>
                    <a:lstStyle/>
                    <a:p>
                      <a:pPr algn="l">
                        <a:lnSpc>
                          <a:spcPct val="108000"/>
                        </a:lnSpc>
                        <a:spcAft>
                          <a:spcPts val="200"/>
                        </a:spcAft>
                      </a:pPr>
                      <a:r>
                        <a:rPr sz="1000" b="1">
                          <a:solidFill>
                            <a:srgbClr val="0A2A5E"/>
                          </a:solidFill>
                        </a:rPr>
                        <a:t>本地承接能力顾虑</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围绕客户对知名度、本地组织及履约能力的担心，组织案例、资质和子公司相关说明准备</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针对影响交易选择的具体顾虑提供证明材料</a:t>
                      </a:r>
                    </a:p>
                  </a:txBody>
                  <a:tcPr anchor="ctr">
                    <a:lnL w="0">
                      <a:noFill/>
                    </a:lnL>
                    <a:lnR w="0">
                      <a:noFill/>
                    </a:lnR>
                    <a:lnT w="0">
                      <a:noFill/>
                    </a:lnT>
                    <a:lnB w="9525" cap="flat" cmpd="sng" algn="ctr">
                      <a:solidFill>
                        <a:srgbClr val="D3DCE8"/>
                      </a:solidFill>
                      <a:prstDash val="solid"/>
                    </a:lnB>
                    <a:solidFill>
                      <a:srgbClr val="FFFFFF"/>
                    </a:solidFill>
                  </a:tcPr>
                </a:tc>
              </a:tr>
              <a:tr h="713232">
                <a:tc>
                  <a:txBody>
                    <a:bodyPr wrap="square" lIns="64008" tIns="27432" rIns="64008" bIns="27432" anchor="ctr">
                      <a:noAutofit/>
                    </a:bodyPr>
                    <a:lstStyle/>
                    <a:p>
                      <a:pPr algn="l">
                        <a:lnSpc>
                          <a:spcPct val="108000"/>
                        </a:lnSpc>
                        <a:spcAft>
                          <a:spcPts val="200"/>
                        </a:spcAft>
                      </a:pPr>
                      <a:r>
                        <a:rPr sz="1000" b="1">
                          <a:solidFill>
                            <a:srgbClr val="0A2A5E"/>
                          </a:solidFill>
                        </a:rPr>
                        <a:t>分签方向与材料调整</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随客户及华为反馈更新工作范围、报价与付款安排</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6月按新范围刷新讯飞侧报价，完成付款里程碑设计并提交客户</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7" name="TextBox 6"/>
          <p:cNvSpPr txBox="1"/>
          <p:nvPr/>
        </p:nvSpPr>
        <p:spPr>
          <a:xfrm>
            <a:off x="365760" y="4590288"/>
            <a:ext cx="2743200" cy="310896"/>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本人重点关注的三个经营问题</a:t>
            </a:r>
          </a:p>
        </p:txBody>
      </p:sp>
      <p:sp>
        <p:nvSpPr>
          <p:cNvPr id="8" name="Rounded Rectangle 7"/>
          <p:cNvSpPr/>
          <p:nvPr/>
        </p:nvSpPr>
        <p:spPr>
          <a:xfrm>
            <a:off x="365760" y="4956048"/>
            <a:ext cx="3660647"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5010912"/>
            <a:ext cx="3441191" cy="310896"/>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C4BA1"/>
                </a:solidFill>
              </a:rPr>
              <a:t>讯飞在联合方案中承担什么</a:t>
            </a:r>
          </a:p>
        </p:txBody>
      </p:sp>
      <p:sp>
        <p:nvSpPr>
          <p:cNvPr id="10" name="TextBox 9"/>
          <p:cNvSpPr txBox="1"/>
          <p:nvPr/>
        </p:nvSpPr>
        <p:spPr>
          <a:xfrm>
            <a:off x="475488" y="5321808"/>
            <a:ext cx="3441191" cy="603504"/>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参与训练工具链与平台集成界面讨论，明确阶段分工；推理、容器与服务范围继续向伙伴确认</a:t>
            </a:r>
          </a:p>
        </p:txBody>
      </p:sp>
      <p:sp>
        <p:nvSpPr>
          <p:cNvPr id="11" name="Rounded Rectangle 10"/>
          <p:cNvSpPr/>
          <p:nvPr/>
        </p:nvSpPr>
        <p:spPr>
          <a:xfrm>
            <a:off x="4264152" y="4956048"/>
            <a:ext cx="3660647"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3880" y="5010912"/>
            <a:ext cx="3441191" cy="310896"/>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C4BA1"/>
                </a:solidFill>
              </a:rPr>
              <a:t>项目分期与回款如何衔接</a:t>
            </a:r>
          </a:p>
        </p:txBody>
      </p:sp>
      <p:sp>
        <p:nvSpPr>
          <p:cNvPr id="13" name="TextBox 12"/>
          <p:cNvSpPr txBox="1"/>
          <p:nvPr/>
        </p:nvSpPr>
        <p:spPr>
          <a:xfrm>
            <a:off x="4373880" y="5321808"/>
            <a:ext cx="3441191" cy="603504"/>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组织讨论实施分期、一期份额与回款目标，避免交付计划与付款安排脱节；实际以合同确认</a:t>
            </a:r>
          </a:p>
        </p:txBody>
      </p:sp>
      <p:sp>
        <p:nvSpPr>
          <p:cNvPr id="14" name="Rounded Rectangle 13"/>
          <p:cNvSpPr/>
          <p:nvPr/>
        </p:nvSpPr>
        <p:spPr>
          <a:xfrm>
            <a:off x="8162543" y="4956048"/>
            <a:ext cx="3660647"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2271" y="5010912"/>
            <a:ext cx="3441191" cy="310896"/>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C4BA1"/>
                </a:solidFill>
              </a:rPr>
              <a:t>责任与收入是否对应</a:t>
            </a:r>
          </a:p>
        </p:txBody>
      </p:sp>
      <p:sp>
        <p:nvSpPr>
          <p:cNvPr id="16" name="TextBox 15"/>
          <p:cNvSpPr txBox="1"/>
          <p:nvPr/>
        </p:nvSpPr>
        <p:spPr>
          <a:xfrm>
            <a:off x="8272271" y="5321808"/>
            <a:ext cx="3441191" cy="603504"/>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在总集、分包、资产持有与额外服务讨论中，将新增责任、资源投入与客户预期一起纳入内部判断</a:t>
            </a:r>
          </a:p>
        </p:txBody>
      </p:sp>
      <p:sp>
        <p:nvSpPr>
          <p:cNvPr id="17" name="TextBox 16"/>
          <p:cNvSpPr txBox="1"/>
          <p:nvPr/>
        </p:nvSpPr>
        <p:spPr>
          <a:xfrm>
            <a:off x="365760" y="6035040"/>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具体产出：集成方案讨论、总集原则与内部汇报、工作范围与报价更新、交付及付款里程碑。阶段报价金额与币种口径待核，不上屏。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采购与合同攻坚：将未知条件逐项明确并形成书面依据</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902952" y="548640"/>
            <a:ext cx="1920240"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运营类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12</a:t>
            </a:r>
          </a:p>
        </p:txBody>
      </p:sp>
      <p:sp>
        <p:nvSpPr>
          <p:cNvPr id="6" name="Rectangle 5"/>
          <p:cNvSpPr/>
          <p:nvPr/>
        </p:nvSpPr>
        <p:spPr>
          <a:xfrm>
            <a:off x="365760" y="1170432"/>
            <a:ext cx="1965960" cy="347472"/>
          </a:xfrm>
          <a:prstGeom prst="rect">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70432"/>
            <a:ext cx="1965960" cy="347472"/>
          </a:xfrm>
          <a:prstGeom prst="rect">
            <a:avLst/>
          </a:prstGeom>
          <a:noFill/>
        </p:spPr>
        <p:txBody>
          <a:bodyPr wrap="square" lIns="54864" tIns="36576" rIns="54864" bIns="36576" anchor="ctr">
            <a:noAutofit/>
          </a:bodyPr>
          <a:lstStyle/>
          <a:p>
            <a:pPr algn="l">
              <a:lnSpc>
                <a:spcPct val="112000"/>
              </a:lnSpc>
              <a:spcAft>
                <a:spcPts val="300"/>
              </a:spcAft>
            </a:pPr>
            <a:r>
              <a:rPr sz="1000" b="1">
                <a:solidFill>
                  <a:srgbClr val="FFFFFF"/>
                </a:solidFill>
              </a:rPr>
              <a:t>关键工作</a:t>
            </a:r>
          </a:p>
        </p:txBody>
      </p:sp>
      <p:sp>
        <p:nvSpPr>
          <p:cNvPr id="8" name="Rectangle 7"/>
          <p:cNvSpPr/>
          <p:nvPr/>
        </p:nvSpPr>
        <p:spPr>
          <a:xfrm>
            <a:off x="2423160" y="1170432"/>
            <a:ext cx="5074920" cy="347472"/>
          </a:xfrm>
          <a:prstGeom prst="rect">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23160" y="1170432"/>
            <a:ext cx="5074920" cy="347472"/>
          </a:xfrm>
          <a:prstGeom prst="rect">
            <a:avLst/>
          </a:prstGeom>
          <a:noFill/>
        </p:spPr>
        <p:txBody>
          <a:bodyPr wrap="square" lIns="54864" tIns="36576" rIns="54864" bIns="36576" anchor="ctr">
            <a:noAutofit/>
          </a:bodyPr>
          <a:lstStyle/>
          <a:p>
            <a:pPr algn="l">
              <a:lnSpc>
                <a:spcPct val="112000"/>
              </a:lnSpc>
              <a:spcAft>
                <a:spcPts val="300"/>
              </a:spcAft>
            </a:pPr>
            <a:r>
              <a:rPr sz="1000" b="1">
                <a:solidFill>
                  <a:srgbClr val="FFFFFF"/>
                </a:solidFill>
              </a:rPr>
              <a:t>本人及团队的具体行动</a:t>
            </a:r>
          </a:p>
        </p:txBody>
      </p:sp>
      <p:sp>
        <p:nvSpPr>
          <p:cNvPr id="10" name="Rectangle 9"/>
          <p:cNvSpPr/>
          <p:nvPr/>
        </p:nvSpPr>
        <p:spPr>
          <a:xfrm>
            <a:off x="7589519" y="1170432"/>
            <a:ext cx="3246120" cy="347472"/>
          </a:xfrm>
          <a:prstGeom prst="rect">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19" y="1170432"/>
            <a:ext cx="3246120" cy="347472"/>
          </a:xfrm>
          <a:prstGeom prst="rect">
            <a:avLst/>
          </a:prstGeom>
          <a:noFill/>
        </p:spPr>
        <p:txBody>
          <a:bodyPr wrap="square" lIns="54864" tIns="36576" rIns="54864" bIns="36576" anchor="ctr">
            <a:noAutofit/>
          </a:bodyPr>
          <a:lstStyle/>
          <a:p>
            <a:pPr algn="l">
              <a:lnSpc>
                <a:spcPct val="112000"/>
              </a:lnSpc>
              <a:spcAft>
                <a:spcPts val="300"/>
              </a:spcAft>
            </a:pPr>
            <a:r>
              <a:rPr sz="1000" b="1">
                <a:solidFill>
                  <a:srgbClr val="FFFFFF"/>
                </a:solidFill>
              </a:rPr>
              <a:t>已形成的产出 / 明确事项</a:t>
            </a:r>
          </a:p>
        </p:txBody>
      </p:sp>
      <p:sp>
        <p:nvSpPr>
          <p:cNvPr id="12" name="Rectangle 11"/>
          <p:cNvSpPr/>
          <p:nvPr/>
        </p:nvSpPr>
        <p:spPr>
          <a:xfrm>
            <a:off x="10927080" y="1170432"/>
            <a:ext cx="987552" cy="347472"/>
          </a:xfrm>
          <a:prstGeom prst="rect">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27080" y="1170432"/>
            <a:ext cx="987552" cy="347472"/>
          </a:xfrm>
          <a:prstGeom prst="rect">
            <a:avLst/>
          </a:prstGeom>
          <a:noFill/>
        </p:spPr>
        <p:txBody>
          <a:bodyPr wrap="square" lIns="54864" tIns="36576" rIns="54864" bIns="36576" anchor="ctr">
            <a:noAutofit/>
          </a:bodyPr>
          <a:lstStyle/>
          <a:p>
            <a:pPr algn="l">
              <a:lnSpc>
                <a:spcPct val="112000"/>
              </a:lnSpc>
              <a:spcAft>
                <a:spcPts val="300"/>
              </a:spcAft>
            </a:pPr>
            <a:r>
              <a:rPr sz="1000" b="1">
                <a:solidFill>
                  <a:srgbClr val="FFFFFF"/>
                </a:solidFill>
              </a:rPr>
              <a:t>状态</a:t>
            </a:r>
          </a:p>
        </p:txBody>
      </p:sp>
      <p:sp>
        <p:nvSpPr>
          <p:cNvPr id="14" name="Rounded Rectangle 13"/>
          <p:cNvSpPr/>
          <p:nvPr/>
        </p:nvSpPr>
        <p:spPr>
          <a:xfrm>
            <a:off x="365760" y="1572768"/>
            <a:ext cx="1965960" cy="62179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 y="1572768"/>
            <a:ext cx="1856231" cy="62179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A2A5E"/>
                </a:solidFill>
              </a:rPr>
              <a:t>配置本地专业支撑</a:t>
            </a:r>
          </a:p>
        </p:txBody>
      </p:sp>
      <p:sp>
        <p:nvSpPr>
          <p:cNvPr id="16" name="Rounded Rectangle 15"/>
          <p:cNvSpPr/>
          <p:nvPr/>
        </p:nvSpPr>
        <p:spPr>
          <a:xfrm>
            <a:off x="2423160" y="1572768"/>
            <a:ext cx="50749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96312" y="1572768"/>
            <a:ext cx="4928616"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现场完成三家律所调研与交流，选定与RNP对接所需的葡语合同顾问律师</a:t>
            </a:r>
          </a:p>
        </p:txBody>
      </p:sp>
      <p:sp>
        <p:nvSpPr>
          <p:cNvPr id="18" name="Rounded Rectangle 17"/>
          <p:cNvSpPr/>
          <p:nvPr/>
        </p:nvSpPr>
        <p:spPr>
          <a:xfrm>
            <a:off x="7589519" y="1572768"/>
            <a:ext cx="32461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62671" y="1572768"/>
            <a:ext cx="3099815"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为采购和合同沟通配置具体专业支持；不替代集团法务决策</a:t>
            </a:r>
          </a:p>
        </p:txBody>
      </p:sp>
      <p:sp>
        <p:nvSpPr>
          <p:cNvPr id="20" name="Rounded Rectangle 19"/>
          <p:cNvSpPr/>
          <p:nvPr/>
        </p:nvSpPr>
        <p:spPr>
          <a:xfrm>
            <a:off x="10927080" y="1572768"/>
            <a:ext cx="987552" cy="62179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1018519" y="1746504"/>
            <a:ext cx="804672" cy="274320"/>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已形成</a:t>
            </a:r>
          </a:p>
        </p:txBody>
      </p:sp>
      <p:sp>
        <p:nvSpPr>
          <p:cNvPr id="22" name="Rounded Rectangle 21"/>
          <p:cNvSpPr/>
          <p:nvPr/>
        </p:nvSpPr>
        <p:spPr>
          <a:xfrm>
            <a:off x="365760" y="2249424"/>
            <a:ext cx="1965960" cy="62179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0624" y="2249424"/>
            <a:ext cx="1856231" cy="62179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A2A5E"/>
                </a:solidFill>
              </a:rPr>
              <a:t>组织采购部门首次直接对接</a:t>
            </a:r>
          </a:p>
        </p:txBody>
      </p:sp>
      <p:sp>
        <p:nvSpPr>
          <p:cNvPr id="24" name="Rounded Rectangle 23"/>
          <p:cNvSpPr/>
          <p:nvPr/>
        </p:nvSpPr>
        <p:spPr>
          <a:xfrm>
            <a:off x="2423160" y="2249424"/>
            <a:ext cx="50749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96312" y="2249424"/>
            <a:ext cx="4928616"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8月4日与财务、法务、商务及外聘律师共同讨论主体资格、签约前提和节奏</a:t>
            </a:r>
          </a:p>
        </p:txBody>
      </p:sp>
      <p:sp>
        <p:nvSpPr>
          <p:cNvPr id="26" name="Rounded Rectangle 25"/>
          <p:cNvSpPr/>
          <p:nvPr/>
        </p:nvSpPr>
        <p:spPr>
          <a:xfrm>
            <a:off x="7589519" y="2249424"/>
            <a:ext cx="32461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62671" y="2249424"/>
            <a:ext cx="3099815"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明确本地子公司承接方向、母公司业绩援用、采购资料与后续核查事项</a:t>
            </a:r>
          </a:p>
        </p:txBody>
      </p:sp>
      <p:sp>
        <p:nvSpPr>
          <p:cNvPr id="28" name="Rounded Rectangle 27"/>
          <p:cNvSpPr/>
          <p:nvPr/>
        </p:nvSpPr>
        <p:spPr>
          <a:xfrm>
            <a:off x="10927080" y="2249424"/>
            <a:ext cx="987552" cy="62179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018519" y="2423160"/>
            <a:ext cx="804672" cy="274320"/>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已形成</a:t>
            </a:r>
          </a:p>
        </p:txBody>
      </p:sp>
      <p:sp>
        <p:nvSpPr>
          <p:cNvPr id="30" name="Rounded Rectangle 29"/>
          <p:cNvSpPr/>
          <p:nvPr/>
        </p:nvSpPr>
        <p:spPr>
          <a:xfrm>
            <a:off x="365760" y="2926080"/>
            <a:ext cx="1965960" cy="62179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624" y="2926080"/>
            <a:ext cx="1856231" cy="62179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A2A5E"/>
                </a:solidFill>
              </a:rPr>
              <a:t>推动准备工作并行</a:t>
            </a:r>
          </a:p>
        </p:txBody>
      </p:sp>
      <p:sp>
        <p:nvSpPr>
          <p:cNvPr id="32" name="Rounded Rectangle 31"/>
          <p:cNvSpPr/>
          <p:nvPr/>
        </p:nvSpPr>
        <p:spPr>
          <a:xfrm>
            <a:off x="2423160" y="2926080"/>
            <a:ext cx="50749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96312" y="2926080"/>
            <a:ext cx="4928616"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询问公司尚在注册时能否先开展材料、报价和合同讨论</a:t>
            </a:r>
          </a:p>
        </p:txBody>
      </p:sp>
      <p:sp>
        <p:nvSpPr>
          <p:cNvPr id="34" name="Rounded Rectangle 33"/>
          <p:cNvSpPr/>
          <p:nvPr/>
        </p:nvSpPr>
        <p:spPr>
          <a:xfrm>
            <a:off x="7589519" y="2926080"/>
            <a:ext cx="32461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62671" y="2926080"/>
            <a:ext cx="3099815"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RNP反馈前期准备可并行，正式签约须有效CNPJ；草稿提案可作需求与费用归类输入</a:t>
            </a:r>
          </a:p>
        </p:txBody>
      </p:sp>
      <p:sp>
        <p:nvSpPr>
          <p:cNvPr id="36" name="Rounded Rectangle 35"/>
          <p:cNvSpPr/>
          <p:nvPr/>
        </p:nvSpPr>
        <p:spPr>
          <a:xfrm>
            <a:off x="10927080" y="2926080"/>
            <a:ext cx="987552" cy="62179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1018519" y="3099816"/>
            <a:ext cx="804672" cy="274320"/>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客户认可</a:t>
            </a:r>
          </a:p>
        </p:txBody>
      </p:sp>
      <p:sp>
        <p:nvSpPr>
          <p:cNvPr id="38" name="Rounded Rectangle 37"/>
          <p:cNvSpPr/>
          <p:nvPr/>
        </p:nvSpPr>
        <p:spPr>
          <a:xfrm>
            <a:off x="365760" y="3602735"/>
            <a:ext cx="1965960" cy="62179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 y="3602735"/>
            <a:ext cx="1856231" cy="62179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A2A5E"/>
                </a:solidFill>
              </a:rPr>
              <a:t>将沟通结论书面化</a:t>
            </a:r>
          </a:p>
        </p:txBody>
      </p:sp>
      <p:sp>
        <p:nvSpPr>
          <p:cNvPr id="40" name="Rounded Rectangle 39"/>
          <p:cNvSpPr/>
          <p:nvPr/>
        </p:nvSpPr>
        <p:spPr>
          <a:xfrm>
            <a:off x="2423160" y="3602735"/>
            <a:ext cx="50749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96312" y="3602735"/>
            <a:ext cx="4928616"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会后向客户发送正式邮件，逐项求证分包报备、履约担保、用工等风险</a:t>
            </a:r>
          </a:p>
        </p:txBody>
      </p:sp>
      <p:sp>
        <p:nvSpPr>
          <p:cNvPr id="42" name="Rounded Rectangle 41"/>
          <p:cNvSpPr/>
          <p:nvPr/>
        </p:nvSpPr>
        <p:spPr>
          <a:xfrm>
            <a:off x="7589519" y="3602735"/>
            <a:ext cx="32461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62671" y="3602735"/>
            <a:ext cx="3099815"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形成正式确认请求；建立项目负责人、采购组织、执行接口三层沟通通道</a:t>
            </a:r>
          </a:p>
        </p:txBody>
      </p:sp>
      <p:sp>
        <p:nvSpPr>
          <p:cNvPr id="44" name="Rounded Rectangle 43"/>
          <p:cNvSpPr/>
          <p:nvPr/>
        </p:nvSpPr>
        <p:spPr>
          <a:xfrm>
            <a:off x="10927080" y="3602735"/>
            <a:ext cx="987552" cy="621792"/>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1018519" y="3776472"/>
            <a:ext cx="804672" cy="274320"/>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已提交</a:t>
            </a:r>
          </a:p>
        </p:txBody>
      </p:sp>
      <p:sp>
        <p:nvSpPr>
          <p:cNvPr id="46" name="Rounded Rectangle 45"/>
          <p:cNvSpPr/>
          <p:nvPr/>
        </p:nvSpPr>
        <p:spPr>
          <a:xfrm>
            <a:off x="365760" y="4279392"/>
            <a:ext cx="1965960" cy="62179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0624" y="4279392"/>
            <a:ext cx="1856231" cy="62179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A2A5E"/>
                </a:solidFill>
              </a:rPr>
              <a:t>处理伙伴方案卡点</a:t>
            </a:r>
          </a:p>
        </p:txBody>
      </p:sp>
      <p:sp>
        <p:nvSpPr>
          <p:cNvPr id="48" name="Rounded Rectangle 47"/>
          <p:cNvSpPr/>
          <p:nvPr/>
        </p:nvSpPr>
        <p:spPr>
          <a:xfrm>
            <a:off x="2423160" y="4279392"/>
            <a:ext cx="50749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496312" y="4279392"/>
            <a:ext cx="4928616"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两次与华为项目负责人深入交流，针对正式方案未提交推动联合SOW攻关并分解内部任务</a:t>
            </a:r>
          </a:p>
        </p:txBody>
      </p:sp>
      <p:sp>
        <p:nvSpPr>
          <p:cNvPr id="50" name="Rounded Rectangle 49"/>
          <p:cNvSpPr/>
          <p:nvPr/>
        </p:nvSpPr>
        <p:spPr>
          <a:xfrm>
            <a:off x="7589519" y="4279392"/>
            <a:ext cx="32461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62671" y="4279392"/>
            <a:ext cx="3099815"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将伙伴侧依赖转为联合工作任务；提交与评审状态继续跟踪</a:t>
            </a:r>
          </a:p>
        </p:txBody>
      </p:sp>
      <p:sp>
        <p:nvSpPr>
          <p:cNvPr id="52" name="Rounded Rectangle 51"/>
          <p:cNvSpPr/>
          <p:nvPr/>
        </p:nvSpPr>
        <p:spPr>
          <a:xfrm>
            <a:off x="10927080" y="4279392"/>
            <a:ext cx="987552" cy="621792"/>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1018519" y="4453128"/>
            <a:ext cx="804672" cy="274320"/>
          </a:xfrm>
          <a:prstGeom prst="roundRect">
            <a:avLst>
              <a:gd name="adj" fmla="val 50000"/>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推进中</a:t>
            </a:r>
          </a:p>
        </p:txBody>
      </p:sp>
      <p:sp>
        <p:nvSpPr>
          <p:cNvPr id="54" name="Rounded Rectangle 53"/>
          <p:cNvSpPr/>
          <p:nvPr/>
        </p:nvSpPr>
        <p:spPr>
          <a:xfrm>
            <a:off x="365760" y="4956048"/>
            <a:ext cx="1965960" cy="621792"/>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0624" y="4956048"/>
            <a:ext cx="1856231" cy="62179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A2A5E"/>
                </a:solidFill>
              </a:rPr>
              <a:t>持续管理未决问题</a:t>
            </a:r>
          </a:p>
        </p:txBody>
      </p:sp>
      <p:sp>
        <p:nvSpPr>
          <p:cNvPr id="56" name="Rounded Rectangle 55"/>
          <p:cNvSpPr/>
          <p:nvPr/>
        </p:nvSpPr>
        <p:spPr>
          <a:xfrm>
            <a:off x="2423160" y="4956048"/>
            <a:ext cx="50749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96312" y="4956048"/>
            <a:ext cx="4928616"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汇总并跟进11项遗留事项的书面答复，关联方案、实体与专业责任人</a:t>
            </a:r>
          </a:p>
        </p:txBody>
      </p:sp>
      <p:sp>
        <p:nvSpPr>
          <p:cNvPr id="58" name="Rounded Rectangle 57"/>
          <p:cNvSpPr/>
          <p:nvPr/>
        </p:nvSpPr>
        <p:spPr>
          <a:xfrm>
            <a:off x="7589519" y="4956048"/>
            <a:ext cx="3246120" cy="6217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62671" y="4956048"/>
            <a:ext cx="3099815" cy="621792"/>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形成签约准备问题清单；未取得回复的事项保持未决</a:t>
            </a:r>
          </a:p>
        </p:txBody>
      </p:sp>
      <p:sp>
        <p:nvSpPr>
          <p:cNvPr id="60" name="Rounded Rectangle 59"/>
          <p:cNvSpPr/>
          <p:nvPr/>
        </p:nvSpPr>
        <p:spPr>
          <a:xfrm>
            <a:off x="10927080" y="4956048"/>
            <a:ext cx="987552" cy="621792"/>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1018519" y="5129784"/>
            <a:ext cx="804672" cy="274320"/>
          </a:xfrm>
          <a:prstGeom prst="roundRect">
            <a:avLst>
              <a:gd name="adj" fmla="val 50000"/>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待确认</a:t>
            </a:r>
          </a:p>
        </p:txBody>
      </p:sp>
      <p:sp>
        <p:nvSpPr>
          <p:cNvPr id="62" name="Rounded Rectangle 61"/>
          <p:cNvSpPr/>
          <p:nvPr/>
        </p:nvSpPr>
        <p:spPr>
          <a:xfrm>
            <a:off x="365760" y="5650991"/>
            <a:ext cx="11457432" cy="45720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5650991"/>
            <a:ext cx="11183111" cy="457200"/>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2F3E4F"/>
                </a:solidFill>
              </a:rPr>
              <a:t>已明确的流程认识</a:t>
            </a:r>
            <a:r>
              <a:rPr sz="1000" b="0">
                <a:solidFill>
                  <a:srgbClr val="2F3E4F"/>
                </a:solidFill>
              </a:rPr>
              <a:t>　合作支持文件、采购需求、正式提案与客户内部审批相互关联但不能彼此替代；我方先完成可控准备，再持续跟进外部依赖。</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关键案例③　本地承接与现场LTC：使方案具备签约和履约条件</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8732520" y="548640"/>
            <a:ext cx="3090672"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运营类 ｜ 跨专业落地</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13</a:t>
            </a:r>
          </a:p>
        </p:txBody>
      </p:sp>
      <p:sp>
        <p:nvSpPr>
          <p:cNvPr id="6" name="Rounded Rectangle 5"/>
          <p:cNvSpPr/>
          <p:nvPr/>
        </p:nvSpPr>
        <p:spPr>
          <a:xfrm>
            <a:off x="365760" y="1581912"/>
            <a:ext cx="2699765" cy="28346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3776" y="1709928"/>
            <a:ext cx="1143000" cy="292608"/>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原来的障碍</a:t>
            </a:r>
          </a:p>
        </p:txBody>
      </p:sp>
      <p:sp>
        <p:nvSpPr>
          <p:cNvPr id="8" name="TextBox 7"/>
          <p:cNvSpPr txBox="1"/>
          <p:nvPr/>
        </p:nvSpPr>
        <p:spPr>
          <a:xfrm>
            <a:off x="457200" y="2093976"/>
            <a:ext cx="2516885" cy="226771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7A8898"/>
              </a:buClr>
              <a:buSzPct val="100000"/>
              <a:buFont typeface="Arial"/>
              <a:buChar char="•"/>
            </a:pPr>
            <a:r>
              <a:rPr sz="1000" b="0">
                <a:solidFill>
                  <a:srgbClr val="2F3E4F"/>
                </a:solidFill>
              </a:rPr>
              <a:t>RNP采购讨论主动提出经营范围与服务代码要求</a:t>
            </a:r>
          </a:p>
          <a:p>
            <a:pPr algn="l" marL="146304" indent="-146304">
              <a:lnSpc>
                <a:spcPct val="112000"/>
              </a:lnSpc>
              <a:spcAft>
                <a:spcPts val="400"/>
              </a:spcAft>
              <a:buClr>
                <a:srgbClr val="7A8898"/>
              </a:buClr>
              <a:buSzPct val="100000"/>
              <a:buFont typeface="Arial"/>
              <a:buChar char="•"/>
            </a:pPr>
            <a:r>
              <a:rPr sz="1000" b="0">
                <a:solidFill>
                  <a:srgbClr val="2F3E4F"/>
                </a:solidFill>
              </a:rPr>
              <a:t>当前注册按服务类办理，暂不含贸易、设备租赁；纪要指出原安全设备OPEX安排不能按现有结构纳入签约范围</a:t>
            </a:r>
          </a:p>
          <a:p>
            <a:pPr algn="l" marL="146304" indent="-146304">
              <a:lnSpc>
                <a:spcPct val="112000"/>
              </a:lnSpc>
              <a:spcAft>
                <a:spcPts val="400"/>
              </a:spcAft>
              <a:buClr>
                <a:srgbClr val="7A8898"/>
              </a:buClr>
              <a:buSzPct val="100000"/>
              <a:buFont typeface="Arial"/>
              <a:buChar char="•"/>
            </a:pPr>
            <a:r>
              <a:rPr sz="1000" b="0">
                <a:solidFill>
                  <a:srgbClr val="2F3E4F"/>
                </a:solidFill>
              </a:rPr>
              <a:t>CNAE、NBS分类影响提案与后续付款</a:t>
            </a:r>
          </a:p>
        </p:txBody>
      </p:sp>
      <p:sp>
        <p:nvSpPr>
          <p:cNvPr id="9" name="Chevron 8"/>
          <p:cNvSpPr/>
          <p:nvPr/>
        </p:nvSpPr>
        <p:spPr>
          <a:xfrm>
            <a:off x="3102101" y="1728216"/>
            <a:ext cx="146304" cy="292608"/>
          </a:xfrm>
          <a:prstGeom prst="chevron">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84982" y="1581912"/>
            <a:ext cx="2699765" cy="28346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12998" y="1709928"/>
            <a:ext cx="1143000" cy="292608"/>
          </a:xfrm>
          <a:prstGeom prst="roundRect">
            <a:avLst>
              <a:gd name="adj" fmla="val 50000"/>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关键判断</a:t>
            </a:r>
          </a:p>
        </p:txBody>
      </p:sp>
      <p:sp>
        <p:nvSpPr>
          <p:cNvPr id="12" name="TextBox 11"/>
          <p:cNvSpPr txBox="1"/>
          <p:nvPr/>
        </p:nvSpPr>
        <p:spPr>
          <a:xfrm>
            <a:off x="3376422" y="2093976"/>
            <a:ext cx="2516885" cy="226771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3F7BD6"/>
              </a:buClr>
              <a:buSzPct val="100000"/>
              <a:buFont typeface="Arial"/>
              <a:buChar char="•"/>
            </a:pPr>
            <a:r>
              <a:rPr sz="1000" b="0">
                <a:solidFill>
                  <a:srgbClr val="2F3E4F"/>
                </a:solidFill>
              </a:rPr>
              <a:t>技术方案包含某项交付，不等于新设主体已具备以该方式承接、开票和履约的条件</a:t>
            </a:r>
          </a:p>
          <a:p>
            <a:pPr algn="l" marL="146304" indent="-146304">
              <a:lnSpc>
                <a:spcPct val="112000"/>
              </a:lnSpc>
              <a:spcAft>
                <a:spcPts val="400"/>
              </a:spcAft>
              <a:buClr>
                <a:srgbClr val="3F7BD6"/>
              </a:buClr>
              <a:buSzPct val="100000"/>
              <a:buFont typeface="Arial"/>
              <a:buChar char="•"/>
            </a:pPr>
            <a:r>
              <a:rPr sz="1000" b="0">
                <a:solidFill>
                  <a:srgbClr val="2F3E4F"/>
                </a:solidFill>
              </a:rPr>
              <a:t>经营范围、设备安排与合同范围必须放在一起处理，不能只转给律师</a:t>
            </a:r>
          </a:p>
        </p:txBody>
      </p:sp>
      <p:sp>
        <p:nvSpPr>
          <p:cNvPr id="13" name="Chevron 12"/>
          <p:cNvSpPr/>
          <p:nvPr/>
        </p:nvSpPr>
        <p:spPr>
          <a:xfrm>
            <a:off x="6021324" y="1728216"/>
            <a:ext cx="146304" cy="292608"/>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04204" y="1581912"/>
            <a:ext cx="2699765" cy="28346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32220" y="1709928"/>
            <a:ext cx="1143000" cy="292608"/>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本人行动</a:t>
            </a:r>
          </a:p>
        </p:txBody>
      </p:sp>
      <p:sp>
        <p:nvSpPr>
          <p:cNvPr id="16" name="TextBox 15"/>
          <p:cNvSpPr txBox="1"/>
          <p:nvPr/>
        </p:nvSpPr>
        <p:spPr>
          <a:xfrm>
            <a:off x="6295644" y="2093976"/>
            <a:ext cx="2516885" cy="226771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7月起现场牵头LTC，商法财到场，围绕公司设立与合同准备协同</a:t>
            </a:r>
          </a:p>
          <a:p>
            <a:pPr algn="l" marL="146304" indent="-146304">
              <a:lnSpc>
                <a:spcPct val="112000"/>
              </a:lnSpc>
              <a:spcAft>
                <a:spcPts val="400"/>
              </a:spcAft>
              <a:buClr>
                <a:srgbClr val="0C4BA1"/>
              </a:buClr>
              <a:buSzPct val="100000"/>
              <a:buFont typeface="Arial"/>
              <a:buChar char="•"/>
            </a:pPr>
            <a:r>
              <a:rPr sz="1000" b="0">
                <a:solidFill>
                  <a:srgbClr val="2F3E4F"/>
                </a:solidFill>
              </a:rPr>
              <a:t>组织方案侧与财务、律师对齐服务内容与CNAE、NBS（核定由会计师承担）</a:t>
            </a:r>
          </a:p>
          <a:p>
            <a:pPr algn="l" marL="146304" indent="-146304">
              <a:lnSpc>
                <a:spcPct val="112000"/>
              </a:lnSpc>
              <a:spcAft>
                <a:spcPts val="400"/>
              </a:spcAft>
              <a:buClr>
                <a:srgbClr val="0C4BA1"/>
              </a:buClr>
              <a:buSzPct val="100000"/>
              <a:buFont typeface="Arial"/>
              <a:buChar char="•"/>
            </a:pPr>
            <a:r>
              <a:rPr sz="1000" b="0">
                <a:solidFill>
                  <a:srgbClr val="2F3E4F"/>
                </a:solidFill>
              </a:rPr>
              <a:t>按纪要行动项承担与华为沟通解决方案、细化方案、向RNP确认未决事项</a:t>
            </a:r>
          </a:p>
          <a:p>
            <a:pPr algn="l" marL="146304" indent="-146304">
              <a:lnSpc>
                <a:spcPct val="112000"/>
              </a:lnSpc>
              <a:spcAft>
                <a:spcPts val="400"/>
              </a:spcAft>
              <a:buClr>
                <a:srgbClr val="0C4BA1"/>
              </a:buClr>
              <a:buSzPct val="100000"/>
              <a:buFont typeface="Arial"/>
              <a:buChar char="•"/>
            </a:pPr>
            <a:r>
              <a:rPr sz="1000" b="0">
                <a:solidFill>
                  <a:srgbClr val="2F3E4F"/>
                </a:solidFill>
              </a:rPr>
              <a:t>推动TR、SOW、BoQ、验收、责任矩阵与付款材料衔接；重大范围与资源承诺先在内部形成一致判断</a:t>
            </a:r>
          </a:p>
        </p:txBody>
      </p:sp>
      <p:sp>
        <p:nvSpPr>
          <p:cNvPr id="17" name="Chevron 16"/>
          <p:cNvSpPr/>
          <p:nvPr/>
        </p:nvSpPr>
        <p:spPr>
          <a:xfrm>
            <a:off x="8940546" y="1728216"/>
            <a:ext cx="146304" cy="292608"/>
          </a:xfrm>
          <a:prstGeom prst="chevron">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23426" y="1581912"/>
            <a:ext cx="2699765" cy="28346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51442" y="1709928"/>
            <a:ext cx="1143000" cy="292608"/>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可见变化</a:t>
            </a:r>
          </a:p>
        </p:txBody>
      </p:sp>
      <p:sp>
        <p:nvSpPr>
          <p:cNvPr id="20" name="TextBox 19"/>
          <p:cNvSpPr txBox="1"/>
          <p:nvPr/>
        </p:nvSpPr>
        <p:spPr>
          <a:xfrm>
            <a:off x="9214866" y="2093976"/>
            <a:ext cx="2516885" cy="2267712"/>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1F8F5F"/>
              </a:buClr>
              <a:buSzPct val="100000"/>
              <a:buFont typeface="Arial"/>
              <a:buChar char="•"/>
            </a:pPr>
            <a:r>
              <a:rPr sz="1000" b="0">
                <a:solidFill>
                  <a:srgbClr val="2F3E4F"/>
                </a:solidFill>
              </a:rPr>
              <a:t>问题进入签约前提清单并有明确责任人</a:t>
            </a:r>
          </a:p>
          <a:p>
            <a:pPr algn="l" marL="146304" indent="-146304">
              <a:lnSpc>
                <a:spcPct val="112000"/>
              </a:lnSpc>
              <a:spcAft>
                <a:spcPts val="400"/>
              </a:spcAft>
              <a:buClr>
                <a:srgbClr val="1F8F5F"/>
              </a:buClr>
              <a:buSzPct val="100000"/>
              <a:buFont typeface="Arial"/>
              <a:buChar char="•"/>
            </a:pPr>
            <a:r>
              <a:rPr sz="1000" b="0">
                <a:solidFill>
                  <a:srgbClr val="2F3E4F"/>
                </a:solidFill>
              </a:rPr>
              <a:t>8月下旬完成注册材料与经营范围准备，继续推动注册申请</a:t>
            </a:r>
          </a:p>
          <a:p>
            <a:pPr algn="l" marL="146304" indent="-146304">
              <a:lnSpc>
                <a:spcPct val="112000"/>
              </a:lnSpc>
              <a:spcAft>
                <a:spcPts val="400"/>
              </a:spcAft>
              <a:buClr>
                <a:srgbClr val="1F8F5F"/>
              </a:buClr>
              <a:buSzPct val="100000"/>
              <a:buFont typeface="Arial"/>
              <a:buChar char="•"/>
            </a:pPr>
            <a:r>
              <a:rPr sz="1000" b="0">
                <a:solidFill>
                  <a:srgbClr val="2F3E4F"/>
                </a:solidFill>
              </a:rPr>
              <a:t>总部人员、本地支持层级、数据、算力与培训对象等履约前提逐项明确</a:t>
            </a:r>
          </a:p>
        </p:txBody>
      </p:sp>
      <p:sp>
        <p:nvSpPr>
          <p:cNvPr id="21" name="Rounded Rectangle 20"/>
          <p:cNvSpPr/>
          <p:nvPr/>
        </p:nvSpPr>
        <p:spPr>
          <a:xfrm>
            <a:off x="365760" y="4581143"/>
            <a:ext cx="2174443" cy="548640"/>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581143"/>
            <a:ext cx="1260043" cy="54864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本地注册</a:t>
            </a:r>
          </a:p>
        </p:txBody>
      </p:sp>
      <p:sp>
        <p:nvSpPr>
          <p:cNvPr id="23" name="Rounded Rectangle 22"/>
          <p:cNvSpPr/>
          <p:nvPr/>
        </p:nvSpPr>
        <p:spPr>
          <a:xfrm>
            <a:off x="1717243" y="4718304"/>
            <a:ext cx="713232" cy="274320"/>
          </a:xfrm>
          <a:prstGeom prst="roundRect">
            <a:avLst>
              <a:gd name="adj" fmla="val 50000"/>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推进中</a:t>
            </a:r>
          </a:p>
        </p:txBody>
      </p:sp>
      <p:sp>
        <p:nvSpPr>
          <p:cNvPr id="24" name="Rounded Rectangle 23"/>
          <p:cNvSpPr/>
          <p:nvPr/>
        </p:nvSpPr>
        <p:spPr>
          <a:xfrm>
            <a:off x="2686507" y="4581143"/>
            <a:ext cx="2174443" cy="548640"/>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77947" y="4581143"/>
            <a:ext cx="1260043" cy="54864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客户资金</a:t>
            </a:r>
          </a:p>
        </p:txBody>
      </p:sp>
      <p:sp>
        <p:nvSpPr>
          <p:cNvPr id="26" name="Rounded Rectangle 25"/>
          <p:cNvSpPr/>
          <p:nvPr/>
        </p:nvSpPr>
        <p:spPr>
          <a:xfrm>
            <a:off x="4037990" y="4718304"/>
            <a:ext cx="713232" cy="274320"/>
          </a:xfrm>
          <a:prstGeom prst="roundRect">
            <a:avLst>
              <a:gd name="adj" fmla="val 50000"/>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待确认</a:t>
            </a:r>
          </a:p>
        </p:txBody>
      </p:sp>
      <p:sp>
        <p:nvSpPr>
          <p:cNvPr id="27" name="Rounded Rectangle 26"/>
          <p:cNvSpPr/>
          <p:nvPr/>
        </p:nvSpPr>
        <p:spPr>
          <a:xfrm>
            <a:off x="5007254" y="4581143"/>
            <a:ext cx="2174443" cy="548640"/>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8694" y="4581143"/>
            <a:ext cx="1260043" cy="54864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伙伴材料</a:t>
            </a:r>
          </a:p>
        </p:txBody>
      </p:sp>
      <p:sp>
        <p:nvSpPr>
          <p:cNvPr id="29" name="Rounded Rectangle 28"/>
          <p:cNvSpPr/>
          <p:nvPr/>
        </p:nvSpPr>
        <p:spPr>
          <a:xfrm>
            <a:off x="6358737" y="4718304"/>
            <a:ext cx="713232" cy="274320"/>
          </a:xfrm>
          <a:prstGeom prst="roundRect">
            <a:avLst>
              <a:gd name="adj" fmla="val 50000"/>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推进中</a:t>
            </a:r>
          </a:p>
        </p:txBody>
      </p:sp>
      <p:sp>
        <p:nvSpPr>
          <p:cNvPr id="30" name="Rounded Rectangle 29"/>
          <p:cNvSpPr/>
          <p:nvPr/>
        </p:nvSpPr>
        <p:spPr>
          <a:xfrm>
            <a:off x="7328001" y="4581143"/>
            <a:ext cx="2174443" cy="548640"/>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19441" y="4581143"/>
            <a:ext cx="1260043" cy="54864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数据中心建设</a:t>
            </a:r>
          </a:p>
        </p:txBody>
      </p:sp>
      <p:sp>
        <p:nvSpPr>
          <p:cNvPr id="32" name="Rounded Rectangle 31"/>
          <p:cNvSpPr/>
          <p:nvPr/>
        </p:nvSpPr>
        <p:spPr>
          <a:xfrm>
            <a:off x="8679484" y="4718304"/>
            <a:ext cx="713232" cy="274320"/>
          </a:xfrm>
          <a:prstGeom prst="roundRect">
            <a:avLst>
              <a:gd name="adj" fmla="val 50000"/>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待确认</a:t>
            </a:r>
          </a:p>
        </p:txBody>
      </p:sp>
      <p:sp>
        <p:nvSpPr>
          <p:cNvPr id="33" name="Rounded Rectangle 32"/>
          <p:cNvSpPr/>
          <p:nvPr/>
        </p:nvSpPr>
        <p:spPr>
          <a:xfrm>
            <a:off x="9648748" y="4581143"/>
            <a:ext cx="2174443" cy="548640"/>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4581143"/>
            <a:ext cx="1260043" cy="54864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客户配合条件</a:t>
            </a:r>
          </a:p>
        </p:txBody>
      </p:sp>
      <p:sp>
        <p:nvSpPr>
          <p:cNvPr id="35" name="Rounded Rectangle 34"/>
          <p:cNvSpPr/>
          <p:nvPr/>
        </p:nvSpPr>
        <p:spPr>
          <a:xfrm>
            <a:off x="11000232" y="4718304"/>
            <a:ext cx="713232" cy="274320"/>
          </a:xfrm>
          <a:prstGeom prst="roundRect">
            <a:avLst>
              <a:gd name="adj" fmla="val 50000"/>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待确认</a:t>
            </a:r>
          </a:p>
        </p:txBody>
      </p:sp>
      <p:sp>
        <p:nvSpPr>
          <p:cNvPr id="36" name="Rounded Rectangle 35"/>
          <p:cNvSpPr/>
          <p:nvPr/>
        </p:nvSpPr>
        <p:spPr>
          <a:xfrm>
            <a:off x="365760" y="5239511"/>
            <a:ext cx="11457432" cy="56692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93776" y="5376672"/>
            <a:ext cx="731520" cy="292608"/>
          </a:xfrm>
          <a:prstGeom prst="roundRect">
            <a:avLst>
              <a:gd name="adj" fmla="val 50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FFFFFF"/>
                </a:solidFill>
              </a:rPr>
              <a:t>归因</a:t>
            </a:r>
          </a:p>
        </p:txBody>
      </p:sp>
      <p:sp>
        <p:nvSpPr>
          <p:cNvPr id="38" name="TextBox 37"/>
          <p:cNvSpPr txBox="1"/>
          <p:nvPr/>
        </p:nvSpPr>
        <p:spPr>
          <a:xfrm>
            <a:off x="1325880" y="5239511"/>
            <a:ext cx="10360152" cy="566928"/>
          </a:xfrm>
          <a:prstGeom prst="rect">
            <a:avLst/>
          </a:prstGeom>
          <a:noFill/>
        </p:spPr>
        <p:txBody>
          <a:bodyPr wrap="square" lIns="54864" tIns="36576" rIns="54864" bIns="36576" anchor="ctr">
            <a:noAutofit/>
          </a:bodyPr>
          <a:lstStyle/>
          <a:p>
            <a:pPr algn="l">
              <a:lnSpc>
                <a:spcPct val="112000"/>
              </a:lnSpc>
              <a:spcAft>
                <a:spcPts val="0"/>
              </a:spcAft>
            </a:pPr>
            <a:r>
              <a:rPr sz="1000" b="0">
                <a:solidFill>
                  <a:srgbClr val="2F3E4F"/>
                </a:solidFill>
              </a:rPr>
              <a:t>问题由RNP在采购讨论中提出；财务及会计师核定经营范围与分类，法务落实文本；本人组织业务依赖与跨方推进。未关闭事项不写“已化解”。</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SERPRO应用成果：从多场景规划进入MGI-SGP招聘应用验证</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目标管理类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14</a:t>
            </a:r>
          </a:p>
        </p:txBody>
      </p:sp>
      <p:sp>
        <p:nvSpPr>
          <p:cNvPr id="6" name="Rounded Rectangle 5"/>
          <p:cNvSpPr/>
          <p:nvPr/>
        </p:nvSpPr>
        <p:spPr>
          <a:xfrm>
            <a:off x="365760" y="1463039"/>
            <a:ext cx="2174443" cy="28803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75488" y="1591055"/>
            <a:ext cx="292608" cy="292608"/>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1</a:t>
            </a:r>
          </a:p>
        </p:txBody>
      </p:sp>
      <p:sp>
        <p:nvSpPr>
          <p:cNvPr id="8" name="TextBox 7"/>
          <p:cNvSpPr txBox="1"/>
          <p:nvPr/>
        </p:nvSpPr>
        <p:spPr>
          <a:xfrm>
            <a:off x="822960" y="1554479"/>
            <a:ext cx="1625803" cy="36576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建立合作入口</a:t>
            </a:r>
          </a:p>
        </p:txBody>
      </p:sp>
      <p:sp>
        <p:nvSpPr>
          <p:cNvPr id="9" name="Rounded Rectangle 8"/>
          <p:cNvSpPr/>
          <p:nvPr/>
        </p:nvSpPr>
        <p:spPr>
          <a:xfrm>
            <a:off x="1973275" y="1938527"/>
            <a:ext cx="457200" cy="201168"/>
          </a:xfrm>
          <a:prstGeom prst="roundRect">
            <a:avLst>
              <a:gd name="adj" fmla="val 50000"/>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00" b="1">
                <a:solidFill>
                  <a:srgbClr val="FFFFFF"/>
                </a:solidFill>
              </a:rPr>
              <a:t>主线</a:t>
            </a:r>
          </a:p>
        </p:txBody>
      </p:sp>
      <p:sp>
        <p:nvSpPr>
          <p:cNvPr id="10" name="TextBox 9"/>
          <p:cNvSpPr txBox="1"/>
          <p:nvPr/>
        </p:nvSpPr>
        <p:spPr>
          <a:xfrm>
            <a:off x="457200" y="2194559"/>
            <a:ext cx="1991563" cy="21031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0C4BA1"/>
              </a:buClr>
              <a:buSzPct val="100000"/>
              <a:buFont typeface="Arial"/>
              <a:buChar char="•"/>
            </a:pPr>
            <a:r>
              <a:rPr sz="950" b="0">
                <a:solidFill>
                  <a:srgbClr val="2F3E4F"/>
                </a:solidFill>
              </a:rPr>
              <a:t>组织主权AI合作伙伴框架RFI阶段材料</a:t>
            </a:r>
          </a:p>
          <a:p>
            <a:pPr algn="l" marL="146304" indent="-146304">
              <a:lnSpc>
                <a:spcPct val="112000"/>
              </a:lnSpc>
              <a:spcAft>
                <a:spcPts val="300"/>
              </a:spcAft>
              <a:buClr>
                <a:srgbClr val="0C4BA1"/>
              </a:buClr>
              <a:buSzPct val="100000"/>
              <a:buFont typeface="Arial"/>
              <a:buChar char="•"/>
            </a:pPr>
            <a:r>
              <a:rPr sz="950" b="0">
                <a:solidFill>
                  <a:srgbClr val="2F3E4F"/>
                </a:solidFill>
              </a:rPr>
              <a:t>SERPRO高层来访与方案交流</a:t>
            </a:r>
          </a:p>
          <a:p>
            <a:pPr algn="l" marL="146304" indent="-146304">
              <a:lnSpc>
                <a:spcPct val="112000"/>
              </a:lnSpc>
              <a:spcAft>
                <a:spcPts val="300"/>
              </a:spcAft>
              <a:buClr>
                <a:srgbClr val="0C4BA1"/>
              </a:buClr>
              <a:buSzPct val="100000"/>
              <a:buFont typeface="Arial"/>
              <a:buChar char="•"/>
            </a:pPr>
            <a:r>
              <a:rPr sz="950" b="0">
                <a:solidFill>
                  <a:srgbClr val="2F3E4F"/>
                </a:solidFill>
              </a:rPr>
              <a:t>联合华为对接本地伙伴</a:t>
            </a:r>
          </a:p>
        </p:txBody>
      </p:sp>
      <p:sp>
        <p:nvSpPr>
          <p:cNvPr id="11" name="Chevron 10"/>
          <p:cNvSpPr/>
          <p:nvPr/>
        </p:nvSpPr>
        <p:spPr>
          <a:xfrm>
            <a:off x="2549347" y="1645919"/>
            <a:ext cx="128016"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686507" y="1463039"/>
            <a:ext cx="2174443" cy="28803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96235" y="1591055"/>
            <a:ext cx="292608" cy="292608"/>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2</a:t>
            </a:r>
          </a:p>
        </p:txBody>
      </p:sp>
      <p:sp>
        <p:nvSpPr>
          <p:cNvPr id="14" name="TextBox 13"/>
          <p:cNvSpPr txBox="1"/>
          <p:nvPr/>
        </p:nvSpPr>
        <p:spPr>
          <a:xfrm>
            <a:off x="3143707" y="1554479"/>
            <a:ext cx="1625803" cy="36576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联合驻场与需求规划</a:t>
            </a:r>
          </a:p>
        </p:txBody>
      </p:sp>
      <p:sp>
        <p:nvSpPr>
          <p:cNvPr id="15" name="Rounded Rectangle 14"/>
          <p:cNvSpPr/>
          <p:nvPr/>
        </p:nvSpPr>
        <p:spPr>
          <a:xfrm>
            <a:off x="4294022" y="1938527"/>
            <a:ext cx="457200" cy="201168"/>
          </a:xfrm>
          <a:prstGeom prst="roundRect">
            <a:avLst>
              <a:gd name="adj" fmla="val 50000"/>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00" b="1">
                <a:solidFill>
                  <a:srgbClr val="FFFFFF"/>
                </a:solidFill>
              </a:rPr>
              <a:t>主线</a:t>
            </a:r>
          </a:p>
        </p:txBody>
      </p:sp>
      <p:sp>
        <p:nvSpPr>
          <p:cNvPr id="16" name="TextBox 15"/>
          <p:cNvSpPr txBox="1"/>
          <p:nvPr/>
        </p:nvSpPr>
        <p:spPr>
          <a:xfrm>
            <a:off x="2777947" y="2194559"/>
            <a:ext cx="1991563" cy="21031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0C4BA1"/>
              </a:buClr>
              <a:buSzPct val="100000"/>
              <a:buFont typeface="Arial"/>
              <a:buChar char="•"/>
            </a:pPr>
            <a:r>
              <a:rPr sz="950" b="0">
                <a:solidFill>
                  <a:srgbClr val="2F3E4F"/>
                </a:solidFill>
              </a:rPr>
              <a:t>与华为组成联合团队驻场</a:t>
            </a:r>
          </a:p>
          <a:p>
            <a:pPr algn="l" marL="146304" indent="-146304">
              <a:lnSpc>
                <a:spcPct val="112000"/>
              </a:lnSpc>
              <a:spcAft>
                <a:spcPts val="300"/>
              </a:spcAft>
              <a:buClr>
                <a:srgbClr val="0C4BA1"/>
              </a:buClr>
              <a:buSzPct val="100000"/>
              <a:buFont typeface="Arial"/>
              <a:buChar char="•"/>
            </a:pPr>
            <a:r>
              <a:rPr sz="950" b="0">
                <a:solidFill>
                  <a:srgbClr val="2F3E4F"/>
                </a:solidFill>
              </a:rPr>
              <a:t>对接SERPRO业务与技术人员</a:t>
            </a:r>
          </a:p>
          <a:p>
            <a:pPr algn="l" marL="146304" indent="-146304">
              <a:lnSpc>
                <a:spcPct val="112000"/>
              </a:lnSpc>
              <a:spcAft>
                <a:spcPts val="300"/>
              </a:spcAft>
              <a:buClr>
                <a:srgbClr val="0C4BA1"/>
              </a:buClr>
              <a:buSzPct val="100000"/>
              <a:buFont typeface="Arial"/>
              <a:buChar char="•"/>
            </a:pPr>
            <a:r>
              <a:rPr sz="950" b="0">
                <a:solidFill>
                  <a:srgbClr val="2F3E4F"/>
                </a:solidFill>
              </a:rPr>
              <a:t>梳理可优先验证的应用场景</a:t>
            </a:r>
          </a:p>
        </p:txBody>
      </p:sp>
      <p:sp>
        <p:nvSpPr>
          <p:cNvPr id="17" name="Chevron 16"/>
          <p:cNvSpPr/>
          <p:nvPr/>
        </p:nvSpPr>
        <p:spPr>
          <a:xfrm>
            <a:off x="4870094" y="1645919"/>
            <a:ext cx="128016"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07254" y="1463039"/>
            <a:ext cx="2174443" cy="288036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116982" y="1591055"/>
            <a:ext cx="292608" cy="292608"/>
          </a:xfrm>
          <a:prstGeom prst="ellipse">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3</a:t>
            </a:r>
          </a:p>
        </p:txBody>
      </p:sp>
      <p:sp>
        <p:nvSpPr>
          <p:cNvPr id="20" name="TextBox 19"/>
          <p:cNvSpPr txBox="1"/>
          <p:nvPr/>
        </p:nvSpPr>
        <p:spPr>
          <a:xfrm>
            <a:off x="5464454" y="1554479"/>
            <a:ext cx="1625803" cy="36576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医疗、教育场景匹配</a:t>
            </a:r>
          </a:p>
        </p:txBody>
      </p:sp>
      <p:sp>
        <p:nvSpPr>
          <p:cNvPr id="21" name="Rounded Rectangle 20"/>
          <p:cNvSpPr/>
          <p:nvPr/>
        </p:nvSpPr>
        <p:spPr>
          <a:xfrm>
            <a:off x="6614769" y="1938527"/>
            <a:ext cx="457200" cy="201168"/>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00" b="1">
                <a:solidFill>
                  <a:srgbClr val="FFFFFF"/>
                </a:solidFill>
              </a:rPr>
              <a:t>支线</a:t>
            </a:r>
          </a:p>
        </p:txBody>
      </p:sp>
      <p:sp>
        <p:nvSpPr>
          <p:cNvPr id="22" name="TextBox 21"/>
          <p:cNvSpPr txBox="1"/>
          <p:nvPr/>
        </p:nvSpPr>
        <p:spPr>
          <a:xfrm>
            <a:off x="5098694" y="2194559"/>
            <a:ext cx="1991563" cy="21031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7A8898"/>
              </a:buClr>
              <a:buSzPct val="100000"/>
              <a:buFont typeface="Arial"/>
              <a:buChar char="•"/>
            </a:pPr>
            <a:r>
              <a:rPr sz="950" b="0">
                <a:solidFill>
                  <a:srgbClr val="2F3E4F"/>
                </a:solidFill>
              </a:rPr>
              <a:t>拉通医疗公司讨论移动医疗车影像辅助诊断</a:t>
            </a:r>
          </a:p>
          <a:p>
            <a:pPr algn="l" marL="146304" indent="-146304">
              <a:lnSpc>
                <a:spcPct val="112000"/>
              </a:lnSpc>
              <a:spcAft>
                <a:spcPts val="300"/>
              </a:spcAft>
              <a:buClr>
                <a:srgbClr val="7A8898"/>
              </a:buClr>
              <a:buSzPct val="100000"/>
              <a:buFont typeface="Arial"/>
              <a:buChar char="•"/>
            </a:pPr>
            <a:r>
              <a:rPr sz="950" b="0">
                <a:solidFill>
                  <a:srgbClr val="2F3E4F"/>
                </a:solidFill>
              </a:rPr>
              <a:t>配合对接教育部门，讨论中文学习等快赢场景</a:t>
            </a:r>
          </a:p>
          <a:p>
            <a:pPr algn="l" marL="146304" indent="-146304">
              <a:lnSpc>
                <a:spcPct val="112000"/>
              </a:lnSpc>
              <a:spcAft>
                <a:spcPts val="300"/>
              </a:spcAft>
              <a:buClr>
                <a:srgbClr val="7A8898"/>
              </a:buClr>
              <a:buSzPct val="100000"/>
              <a:buFont typeface="Arial"/>
              <a:buChar char="•"/>
            </a:pPr>
            <a:r>
              <a:rPr sz="950" b="0">
                <a:solidFill>
                  <a:srgbClr val="2F3E4F"/>
                </a:solidFill>
              </a:rPr>
              <a:t>多轮交流，明确偏好；不等同落地订单</a:t>
            </a:r>
          </a:p>
        </p:txBody>
      </p:sp>
      <p:sp>
        <p:nvSpPr>
          <p:cNvPr id="23" name="Chevron 22"/>
          <p:cNvSpPr/>
          <p:nvPr/>
        </p:nvSpPr>
        <p:spPr>
          <a:xfrm>
            <a:off x="7190841" y="1645919"/>
            <a:ext cx="128016"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28001" y="1463039"/>
            <a:ext cx="2174443" cy="28803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37729" y="1591055"/>
            <a:ext cx="292608" cy="292608"/>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4</a:t>
            </a:r>
          </a:p>
        </p:txBody>
      </p:sp>
      <p:sp>
        <p:nvSpPr>
          <p:cNvPr id="26" name="TextBox 25"/>
          <p:cNvSpPr txBox="1"/>
          <p:nvPr/>
        </p:nvSpPr>
        <p:spPr>
          <a:xfrm>
            <a:off x="7785201" y="1554479"/>
            <a:ext cx="1625803" cy="36576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MGI-SGP需求收敛</a:t>
            </a:r>
          </a:p>
        </p:txBody>
      </p:sp>
      <p:sp>
        <p:nvSpPr>
          <p:cNvPr id="27" name="Rounded Rectangle 26"/>
          <p:cNvSpPr/>
          <p:nvPr/>
        </p:nvSpPr>
        <p:spPr>
          <a:xfrm>
            <a:off x="8935516" y="1938527"/>
            <a:ext cx="457200" cy="201168"/>
          </a:xfrm>
          <a:prstGeom prst="roundRect">
            <a:avLst>
              <a:gd name="adj" fmla="val 50000"/>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00" b="1">
                <a:solidFill>
                  <a:srgbClr val="FFFFFF"/>
                </a:solidFill>
              </a:rPr>
              <a:t>主线</a:t>
            </a:r>
          </a:p>
        </p:txBody>
      </p:sp>
      <p:sp>
        <p:nvSpPr>
          <p:cNvPr id="28" name="TextBox 27"/>
          <p:cNvSpPr txBox="1"/>
          <p:nvPr/>
        </p:nvSpPr>
        <p:spPr>
          <a:xfrm>
            <a:off x="7419441" y="2194559"/>
            <a:ext cx="1991563" cy="21031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0C4BA1"/>
              </a:buClr>
              <a:buSzPct val="100000"/>
              <a:buFont typeface="Arial"/>
              <a:buChar char="•"/>
            </a:pPr>
            <a:r>
              <a:rPr sz="950" b="0">
                <a:solidFill>
                  <a:srgbClr val="2F3E4F"/>
                </a:solidFill>
              </a:rPr>
              <a:t>分析招聘和档案数字化需求</a:t>
            </a:r>
          </a:p>
          <a:p>
            <a:pPr algn="l" marL="146304" indent="-146304">
              <a:lnSpc>
                <a:spcPct val="112000"/>
              </a:lnSpc>
              <a:spcAft>
                <a:spcPts val="300"/>
              </a:spcAft>
              <a:buClr>
                <a:srgbClr val="0C4BA1"/>
              </a:buClr>
              <a:buSzPct val="100000"/>
              <a:buFont typeface="Arial"/>
              <a:buChar char="•"/>
            </a:pPr>
            <a:r>
              <a:rPr sz="950" b="0">
                <a:solidFill>
                  <a:srgbClr val="2F3E4F"/>
                </a:solidFill>
              </a:rPr>
              <a:t>组织产线准备Demo、调研清单和PoC方案</a:t>
            </a:r>
          </a:p>
          <a:p>
            <a:pPr algn="l" marL="146304" indent="-146304">
              <a:lnSpc>
                <a:spcPct val="112000"/>
              </a:lnSpc>
              <a:spcAft>
                <a:spcPts val="300"/>
              </a:spcAft>
              <a:buClr>
                <a:srgbClr val="0C4BA1"/>
              </a:buClr>
              <a:buSzPct val="100000"/>
              <a:buFont typeface="Arial"/>
              <a:buChar char="•"/>
            </a:pPr>
            <a:r>
              <a:rPr sz="950" b="0">
                <a:solidFill>
                  <a:srgbClr val="2F3E4F"/>
                </a:solidFill>
              </a:rPr>
              <a:t>6月招聘场景获客户认可并确认由讯飞开展PoC</a:t>
            </a:r>
          </a:p>
        </p:txBody>
      </p:sp>
      <p:sp>
        <p:nvSpPr>
          <p:cNvPr id="29" name="Chevron 28"/>
          <p:cNvSpPr/>
          <p:nvPr/>
        </p:nvSpPr>
        <p:spPr>
          <a:xfrm>
            <a:off x="9511588" y="1645919"/>
            <a:ext cx="128016" cy="274320"/>
          </a:xfrm>
          <a:prstGeom prst="chevron">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48748" y="1463039"/>
            <a:ext cx="2174443" cy="2880360"/>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758476" y="1591055"/>
            <a:ext cx="292608" cy="292608"/>
          </a:xfrm>
          <a:prstGeom prst="ellipse">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5</a:t>
            </a:r>
          </a:p>
        </p:txBody>
      </p:sp>
      <p:sp>
        <p:nvSpPr>
          <p:cNvPr id="32" name="TextBox 31"/>
          <p:cNvSpPr txBox="1"/>
          <p:nvPr/>
        </p:nvSpPr>
        <p:spPr>
          <a:xfrm>
            <a:off x="10105948" y="1554479"/>
            <a:ext cx="1625803" cy="36576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PoC开发与部署</a:t>
            </a:r>
          </a:p>
        </p:txBody>
      </p:sp>
      <p:sp>
        <p:nvSpPr>
          <p:cNvPr id="33" name="Rounded Rectangle 32"/>
          <p:cNvSpPr/>
          <p:nvPr/>
        </p:nvSpPr>
        <p:spPr>
          <a:xfrm>
            <a:off x="11256264" y="1938527"/>
            <a:ext cx="457200" cy="201168"/>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00" b="1">
                <a:solidFill>
                  <a:srgbClr val="FFFFFF"/>
                </a:solidFill>
              </a:rPr>
              <a:t>成果</a:t>
            </a:r>
          </a:p>
        </p:txBody>
      </p:sp>
      <p:sp>
        <p:nvSpPr>
          <p:cNvPr id="34" name="TextBox 33"/>
          <p:cNvSpPr txBox="1"/>
          <p:nvPr/>
        </p:nvSpPr>
        <p:spPr>
          <a:xfrm>
            <a:off x="9740188" y="2194559"/>
            <a:ext cx="1991563" cy="21031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0C4BA1"/>
              </a:buClr>
              <a:buSzPct val="100000"/>
              <a:buFont typeface="Arial"/>
              <a:buChar char="•"/>
            </a:pPr>
            <a:r>
              <a:rPr sz="950" b="0">
                <a:solidFill>
                  <a:srgbClr val="2F3E4F"/>
                </a:solidFill>
              </a:rPr>
              <a:t>牵引需求细化、产品资源、客户反馈与伙伴协调</a:t>
            </a:r>
          </a:p>
          <a:p>
            <a:pPr algn="l" marL="146304" indent="-146304">
              <a:lnSpc>
                <a:spcPct val="112000"/>
              </a:lnSpc>
              <a:spcAft>
                <a:spcPts val="300"/>
              </a:spcAft>
              <a:buClr>
                <a:srgbClr val="0C4BA1"/>
              </a:buClr>
              <a:buSzPct val="100000"/>
              <a:buFont typeface="Arial"/>
              <a:buChar char="•"/>
            </a:pPr>
            <a:r>
              <a:rPr sz="950" b="0">
                <a:solidFill>
                  <a:srgbClr val="2F3E4F"/>
                </a:solidFill>
              </a:rPr>
              <a:t>推动周例会与过程演示</a:t>
            </a:r>
          </a:p>
          <a:p>
            <a:pPr algn="l" marL="146304" indent="-146304">
              <a:lnSpc>
                <a:spcPct val="112000"/>
              </a:lnSpc>
              <a:spcAft>
                <a:spcPts val="300"/>
              </a:spcAft>
              <a:buClr>
                <a:srgbClr val="0C4BA1"/>
              </a:buClr>
              <a:buSzPct val="100000"/>
              <a:buFont typeface="Arial"/>
              <a:buChar char="•"/>
            </a:pPr>
            <a:r>
              <a:rPr sz="950" b="0">
                <a:solidFill>
                  <a:srgbClr val="2F3E4F"/>
                </a:solidFill>
              </a:rPr>
              <a:t>8月PoC完成开发并持续优化，进入云环境部署和最终验收条件确认</a:t>
            </a:r>
          </a:p>
        </p:txBody>
      </p:sp>
      <p:sp>
        <p:nvSpPr>
          <p:cNvPr id="35" name="Rounded Rectangle 34"/>
          <p:cNvSpPr/>
          <p:nvPr/>
        </p:nvSpPr>
        <p:spPr>
          <a:xfrm>
            <a:off x="365760" y="4480559"/>
            <a:ext cx="5618988" cy="10515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2064" y="4590287"/>
            <a:ext cx="5381244" cy="384048"/>
          </a:xfrm>
          <a:prstGeom prst="rect">
            <a:avLst/>
          </a:prstGeom>
          <a:noFill/>
        </p:spPr>
        <p:txBody>
          <a:bodyPr wrap="square" lIns="18288" tIns="0" rIns="18288" bIns="0" anchor="ctr">
            <a:noAutofit/>
          </a:bodyPr>
          <a:lstStyle/>
          <a:p>
            <a:pPr algn="l">
              <a:lnSpc>
                <a:spcPct val="112000"/>
              </a:lnSpc>
              <a:spcAft>
                <a:spcPts val="0"/>
              </a:spcAft>
            </a:pPr>
            <a:r>
              <a:rPr sz="1150" b="1">
                <a:solidFill>
                  <a:srgbClr val="0A2A5E"/>
                </a:solidFill>
              </a:rPr>
              <a:t>本人承担</a:t>
            </a:r>
          </a:p>
        </p:txBody>
      </p:sp>
      <p:sp>
        <p:nvSpPr>
          <p:cNvPr id="37" name="TextBox 36"/>
          <p:cNvSpPr txBox="1"/>
          <p:nvPr/>
        </p:nvSpPr>
        <p:spPr>
          <a:xfrm>
            <a:off x="475488" y="5029199"/>
            <a:ext cx="5399531" cy="448055"/>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需求与价值判断、跨产品线组织、客户和伙伴沟通、关键节奏与采购路径推进</a:t>
            </a:r>
          </a:p>
        </p:txBody>
      </p:sp>
      <p:sp>
        <p:nvSpPr>
          <p:cNvPr id="38" name="Rounded Rectangle 37"/>
          <p:cNvSpPr/>
          <p:nvPr/>
        </p:nvSpPr>
        <p:spPr>
          <a:xfrm>
            <a:off x="6204204" y="4480559"/>
            <a:ext cx="5618988" cy="10515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0508" y="4590287"/>
            <a:ext cx="5381244" cy="384048"/>
          </a:xfrm>
          <a:prstGeom prst="rect">
            <a:avLst/>
          </a:prstGeom>
          <a:noFill/>
        </p:spPr>
        <p:txBody>
          <a:bodyPr wrap="square" lIns="18288" tIns="0" rIns="18288" bIns="0" anchor="ctr">
            <a:noAutofit/>
          </a:bodyPr>
          <a:lstStyle/>
          <a:p>
            <a:pPr algn="l">
              <a:lnSpc>
                <a:spcPct val="112000"/>
              </a:lnSpc>
              <a:spcAft>
                <a:spcPts val="0"/>
              </a:spcAft>
            </a:pPr>
            <a:r>
              <a:rPr sz="1150" b="1">
                <a:solidFill>
                  <a:srgbClr val="0A2A5E"/>
                </a:solidFill>
              </a:rPr>
              <a:t>团队承担</a:t>
            </a:r>
          </a:p>
        </p:txBody>
      </p:sp>
      <p:sp>
        <p:nvSpPr>
          <p:cNvPr id="40" name="TextBox 39"/>
          <p:cNvSpPr txBox="1"/>
          <p:nvPr/>
        </p:nvSpPr>
        <p:spPr>
          <a:xfrm>
            <a:off x="6313932" y="5029199"/>
            <a:ext cx="5399531" cy="448055"/>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具体方案、Demo与系统开发、部署和技术测试；阶段效果由客户反馈和后续验收分别确认</a:t>
            </a:r>
          </a:p>
        </p:txBody>
      </p:sp>
      <p:sp>
        <p:nvSpPr>
          <p:cNvPr id="41" name="TextBox 40"/>
          <p:cNvSpPr txBox="1"/>
          <p:nvPr/>
        </p:nvSpPr>
        <p:spPr>
          <a:xfrm>
            <a:off x="365760" y="5596127"/>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公司价值：在国家级基础能力项目之外，形成面向政府真实业务的应用验证基础，为商业转化积累场景、客户与实施经验。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SERPRO商业推进：同步组织客户确认、研发验证、云资源与采购路径</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 ｜ 目标管理类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15</a:t>
            </a:r>
          </a:p>
        </p:txBody>
      </p:sp>
      <p:graphicFrame>
        <p:nvGraphicFramePr>
          <p:cNvPr id="6" name="Table 5"/>
          <p:cNvGraphicFramePr>
            <a:graphicFrameLocks noGrp="1"/>
          </p:cNvGraphicFramePr>
          <p:nvPr/>
        </p:nvGraphicFramePr>
        <p:xfrm>
          <a:off x="365760" y="1170432"/>
          <a:ext cx="11457432" cy="4133088"/>
        </p:xfrm>
        <a:graphic>
          <a:graphicData uri="http://schemas.openxmlformats.org/drawingml/2006/table">
            <a:tbl>
              <a:tblPr firstRow="0" bandRow="0">
                <a:tableStyleId>{2D5ABB26-0587-4C30-8999-92F81FD0307C}</a:tableStyleId>
              </a:tblPr>
              <a:tblGrid>
                <a:gridCol w="1554480"/>
                <a:gridCol w="3291840"/>
                <a:gridCol w="3657600"/>
                <a:gridCol w="2953512"/>
              </a:tblGrid>
              <a:tr h="384048">
                <a:tc>
                  <a:txBody>
                    <a:bodyPr wrap="square" lIns="64008" tIns="18288" rIns="64008" bIns="18288" anchor="ctr">
                      <a:noAutofit/>
                    </a:bodyPr>
                    <a:lstStyle/>
                    <a:p>
                      <a:pPr algn="l">
                        <a:lnSpc>
                          <a:spcPct val="112000"/>
                        </a:lnSpc>
                        <a:spcAft>
                          <a:spcPts val="0"/>
                        </a:spcAft>
                      </a:pPr>
                      <a:r>
                        <a:rPr sz="1050" b="1">
                          <a:solidFill>
                            <a:srgbClr val="FFFFFF"/>
                          </a:solidFill>
                        </a:rPr>
                        <a:t>推进链条</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当时存在的关键问题</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本人与团队处理方式</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当前成果与边界</a:t>
                      </a:r>
                    </a:p>
                  </a:txBody>
                  <a:tcPr anchor="ctr">
                    <a:lnL w="0">
                      <a:noFill/>
                    </a:lnL>
                    <a:lnR w="0">
                      <a:noFill/>
                    </a:lnR>
                    <a:lnT w="0">
                      <a:noFill/>
                    </a:lnT>
                    <a:lnB w="0">
                      <a:noFill/>
                    </a:lnB>
                    <a:solidFill>
                      <a:srgbClr val="0C4BA1"/>
                    </a:solidFill>
                  </a:tcPr>
                </a:tc>
              </a:tr>
              <a:tr h="749808">
                <a:tc>
                  <a:txBody>
                    <a:bodyPr wrap="square" lIns="64008" tIns="27432" rIns="64008" bIns="27432" anchor="ctr">
                      <a:noAutofit/>
                    </a:bodyPr>
                    <a:lstStyle/>
                    <a:p>
                      <a:pPr algn="l">
                        <a:lnSpc>
                          <a:spcPct val="108000"/>
                        </a:lnSpc>
                        <a:spcAft>
                          <a:spcPts val="200"/>
                        </a:spcAft>
                      </a:pPr>
                      <a:r>
                        <a:rPr sz="950" b="1">
                          <a:solidFill>
                            <a:srgbClr val="0A2A5E"/>
                          </a:solidFill>
                        </a:rPr>
                        <a:t>最终业务客户确认</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SERPRO认可方案，不等于MGI-SGP已确认全部PoC条件；后续存在局部调整</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通过周例会、确认函和持续沟通推进业务条件明确，收到变化后组织系统对齐</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过程反馈积极；正式确认及调整仍需逐项跟进</a:t>
                      </a:r>
                    </a:p>
                  </a:txBody>
                  <a:tcPr anchor="ctr">
                    <a:lnL w="0">
                      <a:noFill/>
                    </a:lnL>
                    <a:lnR w="0">
                      <a:noFill/>
                    </a:lnR>
                    <a:lnT w="0">
                      <a:noFill/>
                    </a:lnT>
                    <a:lnB w="9525" cap="flat" cmpd="sng" algn="ctr">
                      <a:solidFill>
                        <a:srgbClr val="D3DCE8"/>
                      </a:solidFill>
                      <a:prstDash val="solid"/>
                    </a:lnB>
                    <a:solidFill>
                      <a:srgbClr val="FFFFFF"/>
                    </a:solidFill>
                  </a:tcPr>
                </a:tc>
              </a:tr>
              <a:tr h="749808">
                <a:tc>
                  <a:txBody>
                    <a:bodyPr wrap="square" lIns="64008" tIns="27432" rIns="64008" bIns="27432" anchor="ctr">
                      <a:noAutofit/>
                    </a:bodyPr>
                    <a:lstStyle/>
                    <a:p>
                      <a:pPr algn="l">
                        <a:lnSpc>
                          <a:spcPct val="108000"/>
                        </a:lnSpc>
                        <a:spcAft>
                          <a:spcPts val="200"/>
                        </a:spcAft>
                      </a:pPr>
                      <a:r>
                        <a:rPr sz="950" b="1">
                          <a:solidFill>
                            <a:srgbClr val="0A2A5E"/>
                          </a:solidFill>
                        </a:rPr>
                        <a:t>开发与验证</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Demo认可需进一步转成明确功能和测试安排</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组织需求细化、产品经理及研发支持，持续开展过程演示和优化</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开发已形成阶段成果；不以开发完成替代最终验收</a:t>
                      </a:r>
                    </a:p>
                  </a:txBody>
                  <a:tcPr anchor="ctr">
                    <a:lnL w="0">
                      <a:noFill/>
                    </a:lnL>
                    <a:lnR w="0">
                      <a:noFill/>
                    </a:lnR>
                    <a:lnT w="0">
                      <a:noFill/>
                    </a:lnT>
                    <a:lnB w="9525" cap="flat" cmpd="sng" algn="ctr">
                      <a:solidFill>
                        <a:srgbClr val="D3DCE8"/>
                      </a:solidFill>
                      <a:prstDash val="solid"/>
                    </a:lnB>
                    <a:solidFill>
                      <a:srgbClr val="F6F8FC"/>
                    </a:solidFill>
                  </a:tcPr>
                </a:tc>
              </a:tr>
              <a:tr h="749808">
                <a:tc>
                  <a:txBody>
                    <a:bodyPr wrap="square" lIns="64008" tIns="27432" rIns="64008" bIns="27432" anchor="ctr">
                      <a:noAutofit/>
                    </a:bodyPr>
                    <a:lstStyle/>
                    <a:p>
                      <a:pPr algn="l">
                        <a:lnSpc>
                          <a:spcPct val="108000"/>
                        </a:lnSpc>
                        <a:spcAft>
                          <a:spcPts val="200"/>
                        </a:spcAft>
                      </a:pPr>
                      <a:r>
                        <a:rPr sz="950" b="1">
                          <a:solidFill>
                            <a:srgbClr val="0A2A5E"/>
                          </a:solidFill>
                        </a:rPr>
                        <a:t>云资源与部署</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华为云资源供给存在延迟，影响部署与交付节奏</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与华为、SERPRO和现场团队梳理资源卡点，推进申请、部署和后续安排</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进入部署阶段；资源和交付节奏仍有外部依赖</a:t>
                      </a:r>
                    </a:p>
                  </a:txBody>
                  <a:tcPr anchor="ctr">
                    <a:lnL w="0">
                      <a:noFill/>
                    </a:lnL>
                    <a:lnR w="0">
                      <a:noFill/>
                    </a:lnR>
                    <a:lnT w="0">
                      <a:noFill/>
                    </a:lnT>
                    <a:lnB w="9525" cap="flat" cmpd="sng" algn="ctr">
                      <a:solidFill>
                        <a:srgbClr val="D3DCE8"/>
                      </a:solidFill>
                      <a:prstDash val="solid"/>
                    </a:lnB>
                    <a:solidFill>
                      <a:srgbClr val="FFFFFF"/>
                    </a:solidFill>
                  </a:tcPr>
                </a:tc>
              </a:tr>
              <a:tr h="749808">
                <a:tc>
                  <a:txBody>
                    <a:bodyPr wrap="square" lIns="64008" tIns="27432" rIns="64008" bIns="27432" anchor="ctr">
                      <a:noAutofit/>
                    </a:bodyPr>
                    <a:lstStyle/>
                    <a:p>
                      <a:pPr algn="l">
                        <a:lnSpc>
                          <a:spcPct val="108000"/>
                        </a:lnSpc>
                        <a:spcAft>
                          <a:spcPts val="200"/>
                        </a:spcAft>
                      </a:pPr>
                      <a:r>
                        <a:rPr sz="950" b="1">
                          <a:solidFill>
                            <a:srgbClr val="0A2A5E"/>
                          </a:solidFill>
                        </a:rPr>
                        <a:t>采购路径</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PoC成功后如何通过现有合作关系采购，涉及上架主体和合同路径</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组织讨论通过华为云MarketPlace与既有MGI—SERPRO—华为框架衔接；保留香港主体、巴西代理等选项</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形成可继续论证的路径；尚不等于上架完成或订单获得</a:t>
                      </a:r>
                    </a:p>
                  </a:txBody>
                  <a:tcPr anchor="ctr">
                    <a:lnL w="0">
                      <a:noFill/>
                    </a:lnL>
                    <a:lnR w="0">
                      <a:noFill/>
                    </a:lnR>
                    <a:lnT w="0">
                      <a:noFill/>
                    </a:lnT>
                    <a:lnB w="9525" cap="flat" cmpd="sng" algn="ctr">
                      <a:solidFill>
                        <a:srgbClr val="D3DCE8"/>
                      </a:solidFill>
                      <a:prstDash val="solid"/>
                    </a:lnB>
                    <a:solidFill>
                      <a:srgbClr val="F6F8FC"/>
                    </a:solidFill>
                  </a:tcPr>
                </a:tc>
              </a:tr>
              <a:tr h="749808">
                <a:tc>
                  <a:txBody>
                    <a:bodyPr wrap="square" lIns="64008" tIns="27432" rIns="64008" bIns="27432" anchor="ctr">
                      <a:noAutofit/>
                    </a:bodyPr>
                    <a:lstStyle/>
                    <a:p>
                      <a:pPr algn="l">
                        <a:lnSpc>
                          <a:spcPct val="108000"/>
                        </a:lnSpc>
                        <a:spcAft>
                          <a:spcPts val="200"/>
                        </a:spcAft>
                      </a:pPr>
                      <a:r>
                        <a:rPr sz="950" b="1">
                          <a:solidFill>
                            <a:srgbClr val="0A2A5E"/>
                          </a:solidFill>
                        </a:rPr>
                        <a:t>销售承接</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前期项目背景与伙伴资源需要进入销售工作</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导入前期进展、华为侧接口和客户诉求，梳理后续推进策略</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推动商业信息衔接，避免应用团队与销售各自掌握不完整情况</a:t>
                      </a:r>
                    </a:p>
                  </a:txBody>
                  <a:tcPr anchor="ctr">
                    <a:lnL w="0">
                      <a:noFill/>
                    </a:lnL>
                    <a:lnR w="0">
                      <a:noFill/>
                    </a:lnR>
                    <a:lnT w="0">
                      <a:noFill/>
                    </a:lnT>
                    <a:lnB w="9525" cap="flat" cmpd="sng" algn="ctr">
                      <a:solidFill>
                        <a:srgbClr val="D3DCE8"/>
                      </a:solidFill>
                      <a:prstDash val="solid"/>
                    </a:lnB>
                    <a:solidFill>
                      <a:srgbClr val="FFFFFF"/>
                    </a:solidFill>
                  </a:tcPr>
                </a:tc>
              </a:tr>
            </a:tbl>
          </a:graphicData>
        </a:graphic>
      </p:graphicFrame>
      <p:sp>
        <p:nvSpPr>
          <p:cNvPr id="7" name="Rounded Rectangle 6"/>
          <p:cNvSpPr/>
          <p:nvPr/>
        </p:nvSpPr>
        <p:spPr>
          <a:xfrm>
            <a:off x="365760" y="5504688"/>
            <a:ext cx="11457432" cy="502920"/>
          </a:xfrm>
          <a:prstGeom prst="roundRect">
            <a:avLst>
              <a:gd name="adj" fmla="val 12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504688"/>
            <a:ext cx="11091672" cy="502920"/>
          </a:xfrm>
          <a:prstGeom prst="rect">
            <a:avLst/>
          </a:prstGeom>
          <a:noFill/>
        </p:spPr>
        <p:txBody>
          <a:bodyPr wrap="square" lIns="54864" tIns="36576" rIns="54864" bIns="36576" anchor="ctr">
            <a:noAutofit/>
          </a:bodyPr>
          <a:lstStyle/>
          <a:p>
            <a:pPr algn="l">
              <a:lnSpc>
                <a:spcPct val="112000"/>
              </a:lnSpc>
              <a:spcAft>
                <a:spcPts val="300"/>
              </a:spcAft>
            </a:pPr>
            <a:r>
              <a:rPr sz="1100" b="1">
                <a:solidFill>
                  <a:srgbClr val="FFFFFF"/>
                </a:solidFill>
              </a:rPr>
              <a:t>不仅推进系统“做出来”，也推进客户“确认”、伙伴“能够部署”和后续“具备采购路径”；所有条件以实际确认和合同为准。</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国际咨询组织建设：从0到1，从人员组建到重点区域主责配置</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人与团队类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16</a:t>
            </a:r>
          </a:p>
        </p:txBody>
      </p:sp>
      <p:sp>
        <p:nvSpPr>
          <p:cNvPr id="6" name="TextBox 5"/>
          <p:cNvSpPr txBox="1"/>
          <p:nvPr/>
        </p:nvSpPr>
        <p:spPr>
          <a:xfrm>
            <a:off x="365760" y="1170432"/>
            <a:ext cx="3660647" cy="310896"/>
          </a:xfrm>
          <a:prstGeom prst="rect">
            <a:avLst/>
          </a:prstGeom>
          <a:noFill/>
        </p:spPr>
        <p:txBody>
          <a:bodyPr wrap="square" lIns="54864" tIns="36576" rIns="54864" bIns="36576" anchor="ctr">
            <a:noAutofit/>
          </a:bodyPr>
          <a:lstStyle/>
          <a:p>
            <a:pPr algn="l">
              <a:lnSpc>
                <a:spcPct val="112000"/>
              </a:lnSpc>
              <a:spcAft>
                <a:spcPts val="0"/>
              </a:spcAft>
            </a:pPr>
            <a:r>
              <a:rPr sz="1200" b="1">
                <a:solidFill>
                  <a:srgbClr val="0A2A5E"/>
                </a:solidFill>
              </a:rPr>
              <a:t>人员配置</a:t>
            </a:r>
          </a:p>
        </p:txBody>
      </p:sp>
      <p:sp>
        <p:nvSpPr>
          <p:cNvPr id="7" name="Rounded Rectangle 6"/>
          <p:cNvSpPr/>
          <p:nvPr/>
        </p:nvSpPr>
        <p:spPr>
          <a:xfrm>
            <a:off x="365760" y="1517904"/>
            <a:ext cx="3660647" cy="64008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1600200"/>
            <a:ext cx="502920" cy="237744"/>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起点</a:t>
            </a:r>
          </a:p>
        </p:txBody>
      </p:sp>
      <p:sp>
        <p:nvSpPr>
          <p:cNvPr id="9" name="TextBox 8"/>
          <p:cNvSpPr txBox="1"/>
          <p:nvPr/>
        </p:nvSpPr>
        <p:spPr>
          <a:xfrm>
            <a:off x="1024128" y="1517904"/>
            <a:ext cx="2929128" cy="640080"/>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2025年底启动招募与首轮带教；人员分散，临时跨区支撑</a:t>
            </a:r>
          </a:p>
        </p:txBody>
      </p:sp>
      <p:sp>
        <p:nvSpPr>
          <p:cNvPr id="10" name="Down Arrow 9"/>
          <p:cNvSpPr/>
          <p:nvPr/>
        </p:nvSpPr>
        <p:spPr>
          <a:xfrm>
            <a:off x="2068067" y="2194560"/>
            <a:ext cx="256032" cy="164592"/>
          </a:xfrm>
          <a:prstGeom prst="downArrow">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5760" y="2395728"/>
            <a:ext cx="3660647" cy="7772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2514600"/>
            <a:ext cx="502920" cy="237744"/>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现在</a:t>
            </a:r>
          </a:p>
        </p:txBody>
      </p:sp>
      <p:sp>
        <p:nvSpPr>
          <p:cNvPr id="13" name="TextBox 12"/>
          <p:cNvSpPr txBox="1"/>
          <p:nvPr/>
        </p:nvSpPr>
        <p:spPr>
          <a:xfrm>
            <a:off x="1024128" y="2395728"/>
            <a:ext cx="2929128" cy="777240"/>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Q1记录共6人，5个重点区域均配置主责咨询；随后经历离职、补充与跨区调度</a:t>
            </a:r>
          </a:p>
        </p:txBody>
      </p:sp>
      <p:sp>
        <p:nvSpPr>
          <p:cNvPr id="14" name="TextBox 13"/>
          <p:cNvSpPr txBox="1"/>
          <p:nvPr/>
        </p:nvSpPr>
        <p:spPr>
          <a:xfrm>
            <a:off x="4264152" y="1170432"/>
            <a:ext cx="3660647" cy="310896"/>
          </a:xfrm>
          <a:prstGeom prst="rect">
            <a:avLst/>
          </a:prstGeom>
          <a:noFill/>
        </p:spPr>
        <p:txBody>
          <a:bodyPr wrap="square" lIns="54864" tIns="36576" rIns="54864" bIns="36576" anchor="ctr">
            <a:noAutofit/>
          </a:bodyPr>
          <a:lstStyle/>
          <a:p>
            <a:pPr algn="l">
              <a:lnSpc>
                <a:spcPct val="112000"/>
              </a:lnSpc>
              <a:spcAft>
                <a:spcPts val="0"/>
              </a:spcAft>
            </a:pPr>
            <a:r>
              <a:rPr sz="1200" b="1">
                <a:solidFill>
                  <a:srgbClr val="0A2A5E"/>
                </a:solidFill>
              </a:rPr>
              <a:t>责任分工</a:t>
            </a:r>
          </a:p>
        </p:txBody>
      </p:sp>
      <p:sp>
        <p:nvSpPr>
          <p:cNvPr id="15" name="Rounded Rectangle 14"/>
          <p:cNvSpPr/>
          <p:nvPr/>
        </p:nvSpPr>
        <p:spPr>
          <a:xfrm>
            <a:off x="4264152" y="1517904"/>
            <a:ext cx="3660647" cy="64008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55591" y="1600200"/>
            <a:ext cx="502920" cy="237744"/>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起点</a:t>
            </a:r>
          </a:p>
        </p:txBody>
      </p:sp>
      <p:sp>
        <p:nvSpPr>
          <p:cNvPr id="17" name="TextBox 16"/>
          <p:cNvSpPr txBox="1"/>
          <p:nvPr/>
        </p:nvSpPr>
        <p:spPr>
          <a:xfrm>
            <a:off x="4922520" y="1517904"/>
            <a:ext cx="2929128" cy="640080"/>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本人直接处理更多方案细节与客户问题</a:t>
            </a:r>
          </a:p>
        </p:txBody>
      </p:sp>
      <p:sp>
        <p:nvSpPr>
          <p:cNvPr id="18" name="Down Arrow 17"/>
          <p:cNvSpPr/>
          <p:nvPr/>
        </p:nvSpPr>
        <p:spPr>
          <a:xfrm>
            <a:off x="5966459" y="2194560"/>
            <a:ext cx="256032" cy="164592"/>
          </a:xfrm>
          <a:prstGeom prst="downArrow">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64152" y="2395728"/>
            <a:ext cx="3660647" cy="7772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355591" y="2514600"/>
            <a:ext cx="502920" cy="237744"/>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现在</a:t>
            </a:r>
          </a:p>
        </p:txBody>
      </p:sp>
      <p:sp>
        <p:nvSpPr>
          <p:cNvPr id="21" name="TextBox 20"/>
          <p:cNvSpPr txBox="1"/>
          <p:nvPr/>
        </p:nvSpPr>
        <p:spPr>
          <a:xfrm>
            <a:off x="4922520" y="2395728"/>
            <a:ext cx="2929128" cy="777240"/>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骨干承担主责方案与现场工作；本人保留关键判断、复核与总体推进</a:t>
            </a:r>
          </a:p>
        </p:txBody>
      </p:sp>
      <p:sp>
        <p:nvSpPr>
          <p:cNvPr id="22" name="TextBox 21"/>
          <p:cNvSpPr txBox="1"/>
          <p:nvPr/>
        </p:nvSpPr>
        <p:spPr>
          <a:xfrm>
            <a:off x="8162543" y="1170432"/>
            <a:ext cx="3660647" cy="310896"/>
          </a:xfrm>
          <a:prstGeom prst="rect">
            <a:avLst/>
          </a:prstGeom>
          <a:noFill/>
        </p:spPr>
        <p:txBody>
          <a:bodyPr wrap="square" lIns="54864" tIns="36576" rIns="54864" bIns="36576" anchor="ctr">
            <a:noAutofit/>
          </a:bodyPr>
          <a:lstStyle/>
          <a:p>
            <a:pPr algn="l">
              <a:lnSpc>
                <a:spcPct val="112000"/>
              </a:lnSpc>
              <a:spcAft>
                <a:spcPts val="0"/>
              </a:spcAft>
            </a:pPr>
            <a:r>
              <a:rPr sz="1200" b="1">
                <a:solidFill>
                  <a:srgbClr val="0A2A5E"/>
                </a:solidFill>
              </a:rPr>
              <a:t>工作方法</a:t>
            </a:r>
          </a:p>
        </p:txBody>
      </p:sp>
      <p:sp>
        <p:nvSpPr>
          <p:cNvPr id="23" name="Rounded Rectangle 22"/>
          <p:cNvSpPr/>
          <p:nvPr/>
        </p:nvSpPr>
        <p:spPr>
          <a:xfrm>
            <a:off x="8162543" y="1517904"/>
            <a:ext cx="3660647" cy="64008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53983" y="1600200"/>
            <a:ext cx="502920" cy="237744"/>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起点</a:t>
            </a:r>
          </a:p>
        </p:txBody>
      </p:sp>
      <p:sp>
        <p:nvSpPr>
          <p:cNvPr id="25" name="TextBox 24"/>
          <p:cNvSpPr txBox="1"/>
          <p:nvPr/>
        </p:nvSpPr>
        <p:spPr>
          <a:xfrm>
            <a:off x="8820912" y="1517904"/>
            <a:ext cx="2929128" cy="640080"/>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6F7E8F"/>
                </a:solidFill>
              </a:rPr>
              <a:t>按单次任务交付，经验留在个人</a:t>
            </a:r>
          </a:p>
        </p:txBody>
      </p:sp>
      <p:sp>
        <p:nvSpPr>
          <p:cNvPr id="26" name="Down Arrow 25"/>
          <p:cNvSpPr/>
          <p:nvPr/>
        </p:nvSpPr>
        <p:spPr>
          <a:xfrm>
            <a:off x="9864851" y="2194560"/>
            <a:ext cx="256032" cy="164592"/>
          </a:xfrm>
          <a:prstGeom prst="downArrow">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62543" y="2395728"/>
            <a:ext cx="3660647" cy="7772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53983" y="2514600"/>
            <a:ext cx="502920" cy="237744"/>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现在</a:t>
            </a:r>
          </a:p>
        </p:txBody>
      </p:sp>
      <p:sp>
        <p:nvSpPr>
          <p:cNvPr id="29" name="TextBox 28"/>
          <p:cNvSpPr txBox="1"/>
          <p:nvPr/>
        </p:nvSpPr>
        <p:spPr>
          <a:xfrm>
            <a:off x="8820912" y="2395728"/>
            <a:ext cx="2929128" cy="777240"/>
          </a:xfrm>
          <a:prstGeom prst="rect">
            <a:avLst/>
          </a:prstGeom>
          <a:noFill/>
        </p:spPr>
        <p:txBody>
          <a:bodyPr wrap="square" lIns="54864" tIns="36576" rIns="54864" bIns="36576" anchor="ctr">
            <a:noAutofit/>
          </a:bodyPr>
          <a:lstStyle/>
          <a:p>
            <a:pPr algn="l">
              <a:lnSpc>
                <a:spcPct val="112000"/>
              </a:lnSpc>
              <a:spcAft>
                <a:spcPts val="0"/>
              </a:spcAft>
            </a:pPr>
            <a:r>
              <a:rPr sz="950" b="0">
                <a:solidFill>
                  <a:srgbClr val="2F3E4F"/>
                </a:solidFill>
              </a:rPr>
              <a:t>集中办公、实战复盘、关键材料评审、跨项目经验复用</a:t>
            </a:r>
          </a:p>
        </p:txBody>
      </p:sp>
      <p:sp>
        <p:nvSpPr>
          <p:cNvPr id="30" name="TextBox 29"/>
          <p:cNvSpPr txBox="1"/>
          <p:nvPr/>
        </p:nvSpPr>
        <p:spPr>
          <a:xfrm>
            <a:off x="365760" y="3291839"/>
            <a:ext cx="3291840"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区域主责配置与代表项目（Q1阶段记录）</a:t>
            </a:r>
          </a:p>
        </p:txBody>
      </p:sp>
      <p:sp>
        <p:nvSpPr>
          <p:cNvPr id="31" name="Rounded Rectangle 30"/>
          <p:cNvSpPr/>
          <p:nvPr/>
        </p:nvSpPr>
        <p:spPr>
          <a:xfrm>
            <a:off x="365760" y="3602735"/>
            <a:ext cx="2174443" cy="8229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630168"/>
            <a:ext cx="1991563"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C4BA1"/>
                </a:solidFill>
              </a:rPr>
              <a:t>拉丁美洲</a:t>
            </a:r>
          </a:p>
        </p:txBody>
      </p:sp>
      <p:sp>
        <p:nvSpPr>
          <p:cNvPr id="33" name="TextBox 32"/>
          <p:cNvSpPr txBox="1"/>
          <p:nvPr/>
        </p:nvSpPr>
        <p:spPr>
          <a:xfrm>
            <a:off x="457200" y="3895344"/>
            <a:ext cx="1991563" cy="50292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RNP、SERPRO，以及墨西哥等方案或Demo准备</a:t>
            </a:r>
          </a:p>
        </p:txBody>
      </p:sp>
      <p:sp>
        <p:nvSpPr>
          <p:cNvPr id="34" name="Rounded Rectangle 33"/>
          <p:cNvSpPr/>
          <p:nvPr/>
        </p:nvSpPr>
        <p:spPr>
          <a:xfrm>
            <a:off x="2686507" y="3602735"/>
            <a:ext cx="2174443" cy="8229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77947" y="3630168"/>
            <a:ext cx="1991563"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C4BA1"/>
                </a:solidFill>
              </a:rPr>
              <a:t>中东中亚</a:t>
            </a:r>
          </a:p>
        </p:txBody>
      </p:sp>
      <p:sp>
        <p:nvSpPr>
          <p:cNvPr id="36" name="TextBox 35"/>
          <p:cNvSpPr txBox="1"/>
          <p:nvPr/>
        </p:nvSpPr>
        <p:spPr>
          <a:xfrm>
            <a:off x="2777947" y="3895344"/>
            <a:ext cx="1991563" cy="50292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IGNITE、KNG、沙特相关项目、哈萨克斯坦等</a:t>
            </a:r>
          </a:p>
        </p:txBody>
      </p:sp>
      <p:sp>
        <p:nvSpPr>
          <p:cNvPr id="37" name="Rounded Rectangle 36"/>
          <p:cNvSpPr/>
          <p:nvPr/>
        </p:nvSpPr>
        <p:spPr>
          <a:xfrm>
            <a:off x="5007254" y="3602735"/>
            <a:ext cx="2174443" cy="8229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98694" y="3630168"/>
            <a:ext cx="1991563"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C4BA1"/>
                </a:solidFill>
              </a:rPr>
              <a:t>东南亚</a:t>
            </a:r>
          </a:p>
        </p:txBody>
      </p:sp>
      <p:sp>
        <p:nvSpPr>
          <p:cNvPr id="39" name="TextBox 38"/>
          <p:cNvSpPr txBox="1"/>
          <p:nvPr/>
        </p:nvSpPr>
        <p:spPr>
          <a:xfrm>
            <a:off x="5098694" y="3895344"/>
            <a:ext cx="1991563" cy="50292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SDEC、泰国、斯里兰卡等</a:t>
            </a:r>
          </a:p>
        </p:txBody>
      </p:sp>
      <p:sp>
        <p:nvSpPr>
          <p:cNvPr id="40" name="Rounded Rectangle 39"/>
          <p:cNvSpPr/>
          <p:nvPr/>
        </p:nvSpPr>
        <p:spPr>
          <a:xfrm>
            <a:off x="7328001" y="3602735"/>
            <a:ext cx="2174443" cy="8229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19441" y="3630168"/>
            <a:ext cx="1991563"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C4BA1"/>
                </a:solidFill>
              </a:rPr>
              <a:t>北部非洲</a:t>
            </a:r>
          </a:p>
        </p:txBody>
      </p:sp>
      <p:sp>
        <p:nvSpPr>
          <p:cNvPr id="42" name="TextBox 41"/>
          <p:cNvSpPr txBox="1"/>
          <p:nvPr/>
        </p:nvSpPr>
        <p:spPr>
          <a:xfrm>
            <a:off x="7419441" y="3895344"/>
            <a:ext cx="1991563" cy="50292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埃及ISD、ACUD、SIDPEC等</a:t>
            </a:r>
          </a:p>
        </p:txBody>
      </p:sp>
      <p:sp>
        <p:nvSpPr>
          <p:cNvPr id="43" name="Rounded Rectangle 42"/>
          <p:cNvSpPr/>
          <p:nvPr/>
        </p:nvSpPr>
        <p:spPr>
          <a:xfrm>
            <a:off x="9648748" y="3602735"/>
            <a:ext cx="2174443" cy="8229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40188" y="3630168"/>
            <a:ext cx="1991563"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C4BA1"/>
                </a:solidFill>
              </a:rPr>
              <a:t>南部非洲等非洲机会</a:t>
            </a:r>
          </a:p>
        </p:txBody>
      </p:sp>
      <p:sp>
        <p:nvSpPr>
          <p:cNvPr id="45" name="TextBox 44"/>
          <p:cNvSpPr txBox="1"/>
          <p:nvPr/>
        </p:nvSpPr>
        <p:spPr>
          <a:xfrm>
            <a:off x="9740188" y="3895344"/>
            <a:ext cx="1991563" cy="50292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加纳、埃塞俄比亚、坦桑尼亚、肯尼亚等</a:t>
            </a:r>
          </a:p>
        </p:txBody>
      </p:sp>
      <p:sp>
        <p:nvSpPr>
          <p:cNvPr id="46" name="TextBox 45"/>
          <p:cNvSpPr txBox="1"/>
          <p:nvPr/>
        </p:nvSpPr>
        <p:spPr>
          <a:xfrm>
            <a:off x="365760" y="4535424"/>
            <a:ext cx="2743200"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本人完成的组织工作</a:t>
            </a:r>
          </a:p>
        </p:txBody>
      </p:sp>
      <p:sp>
        <p:nvSpPr>
          <p:cNvPr id="47" name="Rounded Rectangle 46"/>
          <p:cNvSpPr/>
          <p:nvPr/>
        </p:nvSpPr>
        <p:spPr>
          <a:xfrm>
            <a:off x="365760" y="4846320"/>
            <a:ext cx="2727198" cy="731520"/>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864608"/>
            <a:ext cx="2544318" cy="25603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1F8F5F"/>
                </a:solidFill>
              </a:rPr>
              <a:t>选人与识别</a:t>
            </a:r>
          </a:p>
        </p:txBody>
      </p:sp>
      <p:sp>
        <p:nvSpPr>
          <p:cNvPr id="49" name="TextBox 48"/>
          <p:cNvSpPr txBox="1"/>
          <p:nvPr/>
        </p:nvSpPr>
        <p:spPr>
          <a:xfrm>
            <a:off x="457200" y="5102352"/>
            <a:ext cx="2544318" cy="45720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围绕海外面客、技术理解与跨文化沟通要求招募与判断</a:t>
            </a:r>
          </a:p>
        </p:txBody>
      </p:sp>
      <p:sp>
        <p:nvSpPr>
          <p:cNvPr id="50" name="Rounded Rectangle 49"/>
          <p:cNvSpPr/>
          <p:nvPr/>
        </p:nvSpPr>
        <p:spPr>
          <a:xfrm>
            <a:off x="3275838" y="4846320"/>
            <a:ext cx="2727198" cy="731520"/>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67278" y="4864608"/>
            <a:ext cx="2544318" cy="25603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1F8F5F"/>
                </a:solidFill>
              </a:rPr>
              <a:t>任务与区域部署</a:t>
            </a:r>
          </a:p>
        </p:txBody>
      </p:sp>
      <p:sp>
        <p:nvSpPr>
          <p:cNvPr id="52" name="TextBox 51"/>
          <p:cNvSpPr txBox="1"/>
          <p:nvPr/>
        </p:nvSpPr>
        <p:spPr>
          <a:xfrm>
            <a:off x="3367278" y="5102352"/>
            <a:ext cx="2544318" cy="45720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把人员放到具体项目与客户任务，按巴西、埃及、东马现场需要调整</a:t>
            </a:r>
          </a:p>
        </p:txBody>
      </p:sp>
      <p:sp>
        <p:nvSpPr>
          <p:cNvPr id="53" name="Rounded Rectangle 52"/>
          <p:cNvSpPr/>
          <p:nvPr/>
        </p:nvSpPr>
        <p:spPr>
          <a:xfrm>
            <a:off x="6185916" y="4846320"/>
            <a:ext cx="2727198" cy="731520"/>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77356" y="4864608"/>
            <a:ext cx="2544318" cy="25603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1F8F5F"/>
                </a:solidFill>
              </a:rPr>
              <a:t>质量与资源统筹</a:t>
            </a:r>
          </a:p>
        </p:txBody>
      </p:sp>
      <p:sp>
        <p:nvSpPr>
          <p:cNvPr id="55" name="TextBox 54"/>
          <p:cNvSpPr txBox="1"/>
          <p:nvPr/>
        </p:nvSpPr>
        <p:spPr>
          <a:xfrm>
            <a:off x="6277356" y="5102352"/>
            <a:ext cx="2544318" cy="45720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把关关键路线、投标边界、合同范围；人员紧张时决定本人介入或专业增援</a:t>
            </a:r>
          </a:p>
        </p:txBody>
      </p:sp>
      <p:sp>
        <p:nvSpPr>
          <p:cNvPr id="56" name="Rounded Rectangle 55"/>
          <p:cNvSpPr/>
          <p:nvPr/>
        </p:nvSpPr>
        <p:spPr>
          <a:xfrm>
            <a:off x="9095994" y="4846320"/>
            <a:ext cx="2727198" cy="731520"/>
          </a:xfrm>
          <a:prstGeom prst="roundRect">
            <a:avLst>
              <a:gd name="adj" fmla="val 5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87434" y="4864608"/>
            <a:ext cx="2544318" cy="25603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1F8F5F"/>
                </a:solidFill>
              </a:rPr>
              <a:t>连续性保障</a:t>
            </a:r>
          </a:p>
        </p:txBody>
      </p:sp>
      <p:sp>
        <p:nvSpPr>
          <p:cNvPr id="58" name="TextBox 57"/>
          <p:cNvSpPr txBox="1"/>
          <p:nvPr/>
        </p:nvSpPr>
        <p:spPr>
          <a:xfrm>
            <a:off x="9187434" y="5102352"/>
            <a:ext cx="2544318" cy="457200"/>
          </a:xfrm>
          <a:prstGeom prst="rect">
            <a:avLst/>
          </a:prstGeom>
          <a:noFill/>
        </p:spPr>
        <p:txBody>
          <a:bodyPr wrap="square" lIns="54864" tIns="36576" rIns="54864" bIns="36576" anchor="t">
            <a:noAutofit/>
          </a:bodyPr>
          <a:lstStyle/>
          <a:p>
            <a:pPr algn="l">
              <a:lnSpc>
                <a:spcPct val="112000"/>
              </a:lnSpc>
              <a:spcAft>
                <a:spcPts val="0"/>
              </a:spcAft>
            </a:pPr>
            <a:r>
              <a:rPr sz="900" b="0">
                <a:solidFill>
                  <a:srgbClr val="2F3E4F"/>
                </a:solidFill>
              </a:rPr>
              <a:t>处理离职、轮换与新人到岗衔接，持续推动招聘与带教</a:t>
            </a:r>
          </a:p>
        </p:txBody>
      </p:sp>
      <p:sp>
        <p:nvSpPr>
          <p:cNvPr id="59" name="Rounded Rectangle 58"/>
          <p:cNvSpPr/>
          <p:nvPr/>
        </p:nvSpPr>
        <p:spPr>
          <a:xfrm>
            <a:off x="365760" y="5687568"/>
            <a:ext cx="11457432" cy="457200"/>
          </a:xfrm>
          <a:prstGeom prst="roundRect">
            <a:avLst>
              <a:gd name="adj" fmla="val 5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93776" y="5779007"/>
            <a:ext cx="914400" cy="274320"/>
          </a:xfrm>
          <a:prstGeom prst="roundRect">
            <a:avLst>
              <a:gd name="adj" fmla="val 50000"/>
            </a:avLst>
          </a:prstGeom>
          <a:solidFill>
            <a:srgbClr val="C57B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FFFFFF"/>
                </a:solidFill>
              </a:rPr>
              <a:t>实际约束</a:t>
            </a:r>
          </a:p>
        </p:txBody>
      </p:sp>
      <p:sp>
        <p:nvSpPr>
          <p:cNvPr id="61" name="TextBox 60"/>
          <p:cNvSpPr txBox="1"/>
          <p:nvPr/>
        </p:nvSpPr>
        <p:spPr>
          <a:xfrm>
            <a:off x="1508760" y="5687568"/>
            <a:ext cx="10177272" cy="457200"/>
          </a:xfrm>
          <a:prstGeom prst="rect">
            <a:avLst/>
          </a:prstGeom>
          <a:noFill/>
        </p:spPr>
        <p:txBody>
          <a:bodyPr wrap="square" lIns="54864" tIns="36576" rIns="54864" bIns="36576" anchor="ctr">
            <a:noAutofit/>
          </a:bodyPr>
          <a:lstStyle/>
          <a:p>
            <a:pPr algn="l">
              <a:lnSpc>
                <a:spcPct val="112000"/>
              </a:lnSpc>
              <a:spcAft>
                <a:spcPts val="0"/>
              </a:spcAft>
            </a:pPr>
            <a:r>
              <a:rPr sz="1000" b="0">
                <a:solidFill>
                  <a:srgbClr val="2F3E4F"/>
                </a:solidFill>
              </a:rPr>
              <a:t>在项目不断进入、重点国家需要现场支持的同时建队；离职、双现场常驻与轮换、小颗粒商机并发，调度压力持续。</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骨干培养与业务连续性：让关键能力逐步由团队承担</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人与团队类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17</a:t>
            </a:r>
          </a:p>
        </p:txBody>
      </p:sp>
      <p:sp>
        <p:nvSpPr>
          <p:cNvPr id="6" name="TextBox 5"/>
          <p:cNvSpPr txBox="1"/>
          <p:nvPr/>
        </p:nvSpPr>
        <p:spPr>
          <a:xfrm>
            <a:off x="365760" y="1170432"/>
            <a:ext cx="5212080" cy="310896"/>
          </a:xfrm>
          <a:prstGeom prst="rect">
            <a:avLst/>
          </a:prstGeom>
          <a:noFill/>
        </p:spPr>
        <p:txBody>
          <a:bodyPr wrap="square" lIns="54864" tIns="36576" rIns="54864" bIns="36576" anchor="ctr">
            <a:noAutofit/>
          </a:bodyPr>
          <a:lstStyle/>
          <a:p>
            <a:pPr algn="l">
              <a:lnSpc>
                <a:spcPct val="112000"/>
              </a:lnSpc>
              <a:spcAft>
                <a:spcPts val="0"/>
              </a:spcAft>
            </a:pPr>
            <a:r>
              <a:rPr sz="1200" b="1">
                <a:solidFill>
                  <a:srgbClr val="0A2A5E"/>
                </a:solidFill>
              </a:rPr>
              <a:t>徐唯：培养动作与责任递进</a:t>
            </a:r>
          </a:p>
        </p:txBody>
      </p:sp>
      <p:sp>
        <p:nvSpPr>
          <p:cNvPr id="7" name="Rounded Rectangle 6"/>
          <p:cNvSpPr/>
          <p:nvPr/>
        </p:nvSpPr>
        <p:spPr>
          <a:xfrm>
            <a:off x="365760" y="1554480"/>
            <a:ext cx="5212080" cy="69494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93776" y="1746504"/>
            <a:ext cx="310896" cy="310896"/>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1</a:t>
            </a:r>
          </a:p>
        </p:txBody>
      </p:sp>
      <p:sp>
        <p:nvSpPr>
          <p:cNvPr id="9" name="TextBox 8"/>
          <p:cNvSpPr txBox="1"/>
          <p:nvPr/>
        </p:nvSpPr>
        <p:spPr>
          <a:xfrm>
            <a:off x="914400" y="1591056"/>
            <a:ext cx="4572000"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选人与进入项目</a:t>
            </a:r>
          </a:p>
        </p:txBody>
      </p:sp>
      <p:sp>
        <p:nvSpPr>
          <p:cNvPr id="10" name="TextBox 9"/>
          <p:cNvSpPr txBox="1"/>
          <p:nvPr/>
        </p:nvSpPr>
        <p:spPr>
          <a:xfrm>
            <a:off x="914400" y="1847088"/>
            <a:ext cx="4572000" cy="384048"/>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招募识别；安排进入埃及、巴西等实际项目，导入业务背景、客户诉求与方案逻辑</a:t>
            </a:r>
          </a:p>
        </p:txBody>
      </p:sp>
      <p:sp>
        <p:nvSpPr>
          <p:cNvPr id="11" name="Rounded Rectangle 10"/>
          <p:cNvSpPr/>
          <p:nvPr/>
        </p:nvSpPr>
        <p:spPr>
          <a:xfrm>
            <a:off x="365760" y="2340864"/>
            <a:ext cx="5212080" cy="69494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93776" y="2532888"/>
            <a:ext cx="310896" cy="310896"/>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2</a:t>
            </a:r>
          </a:p>
        </p:txBody>
      </p:sp>
      <p:sp>
        <p:nvSpPr>
          <p:cNvPr id="13" name="TextBox 12"/>
          <p:cNvSpPr txBox="1"/>
          <p:nvPr/>
        </p:nvSpPr>
        <p:spPr>
          <a:xfrm>
            <a:off x="914400" y="2377440"/>
            <a:ext cx="4572000"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联合准备与面客</a:t>
            </a:r>
          </a:p>
        </p:txBody>
      </p:sp>
      <p:sp>
        <p:nvSpPr>
          <p:cNvPr id="14" name="TextBox 13"/>
          <p:cNvSpPr txBox="1"/>
          <p:nvPr/>
        </p:nvSpPr>
        <p:spPr>
          <a:xfrm>
            <a:off x="914400" y="2633472"/>
            <a:ext cx="4572000" cy="384048"/>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共同准备关键客户交流；能区分决策层、业务层、技术层的关注点，组织分层材料</a:t>
            </a:r>
          </a:p>
        </p:txBody>
      </p:sp>
      <p:sp>
        <p:nvSpPr>
          <p:cNvPr id="15" name="Rounded Rectangle 14"/>
          <p:cNvSpPr/>
          <p:nvPr/>
        </p:nvSpPr>
        <p:spPr>
          <a:xfrm>
            <a:off x="365760" y="3127248"/>
            <a:ext cx="5212080" cy="69494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93776" y="3319272"/>
            <a:ext cx="310896" cy="310896"/>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3</a:t>
            </a:r>
          </a:p>
        </p:txBody>
      </p:sp>
      <p:sp>
        <p:nvSpPr>
          <p:cNvPr id="17" name="TextBox 16"/>
          <p:cNvSpPr txBox="1"/>
          <p:nvPr/>
        </p:nvSpPr>
        <p:spPr>
          <a:xfrm>
            <a:off x="914400" y="3163824"/>
            <a:ext cx="4572000"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承担主要方案与现场任务</a:t>
            </a:r>
          </a:p>
        </p:txBody>
      </p:sp>
      <p:sp>
        <p:nvSpPr>
          <p:cNvPr id="18" name="TextBox 17"/>
          <p:cNvSpPr txBox="1"/>
          <p:nvPr/>
        </p:nvSpPr>
        <p:spPr>
          <a:xfrm>
            <a:off x="914400" y="3419856"/>
            <a:ext cx="4572000" cy="384048"/>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逐步承担材料编制、客户问题、伙伴沟通及现场主责；关键节点由本人复核</a:t>
            </a:r>
          </a:p>
        </p:txBody>
      </p:sp>
      <p:sp>
        <p:nvSpPr>
          <p:cNvPr id="19" name="Rounded Rectangle 18"/>
          <p:cNvSpPr/>
          <p:nvPr/>
        </p:nvSpPr>
        <p:spPr>
          <a:xfrm>
            <a:off x="365760" y="3913632"/>
            <a:ext cx="5212080" cy="694944"/>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93776" y="4105656"/>
            <a:ext cx="310896" cy="310896"/>
          </a:xfrm>
          <a:prstGeom prst="ellipse">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000" b="1">
                <a:solidFill>
                  <a:srgbClr val="FFFFFF"/>
                </a:solidFill>
              </a:rPr>
              <a:t>4</a:t>
            </a:r>
          </a:p>
        </p:txBody>
      </p:sp>
      <p:sp>
        <p:nvSpPr>
          <p:cNvPr id="21" name="TextBox 20"/>
          <p:cNvSpPr txBox="1"/>
          <p:nvPr/>
        </p:nvSpPr>
        <p:spPr>
          <a:xfrm>
            <a:off x="914400" y="3950208"/>
            <a:ext cx="4572000"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本人转向关键把关</a:t>
            </a:r>
          </a:p>
        </p:txBody>
      </p:sp>
      <p:sp>
        <p:nvSpPr>
          <p:cNvPr id="22" name="TextBox 21"/>
          <p:cNvSpPr txBox="1"/>
          <p:nvPr/>
        </p:nvSpPr>
        <p:spPr>
          <a:xfrm>
            <a:off x="914400" y="4206240"/>
            <a:ext cx="4572000" cy="384048"/>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保留重大技术、效果、范围及对外承诺判断；更多处理总体推进、本地实体与法财接口</a:t>
            </a:r>
          </a:p>
        </p:txBody>
      </p:sp>
      <p:graphicFrame>
        <p:nvGraphicFramePr>
          <p:cNvPr id="23" name="Table 22"/>
          <p:cNvGraphicFramePr>
            <a:graphicFrameLocks noGrp="1"/>
          </p:cNvGraphicFramePr>
          <p:nvPr/>
        </p:nvGraphicFramePr>
        <p:xfrm>
          <a:off x="5852160" y="1170432"/>
          <a:ext cx="5971030" cy="2578608"/>
        </p:xfrm>
        <a:graphic>
          <a:graphicData uri="http://schemas.openxmlformats.org/drawingml/2006/table">
            <a:tbl>
              <a:tblPr firstRow="0" bandRow="0">
                <a:tableStyleId>{2D5ABB26-0587-4C30-8999-92F81FD0307C}</a:tableStyleId>
              </a:tblPr>
              <a:tblGrid>
                <a:gridCol w="2985515"/>
                <a:gridCol w="2985515"/>
              </a:tblGrid>
              <a:tr h="384048">
                <a:tc>
                  <a:txBody>
                    <a:bodyPr wrap="square" lIns="64008" tIns="18288" rIns="64008" bIns="18288" anchor="ctr">
                      <a:noAutofit/>
                    </a:bodyPr>
                    <a:lstStyle/>
                    <a:p>
                      <a:pPr algn="l">
                        <a:lnSpc>
                          <a:spcPct val="112000"/>
                        </a:lnSpc>
                        <a:spcAft>
                          <a:spcPts val="0"/>
                        </a:spcAft>
                      </a:pPr>
                      <a:r>
                        <a:rPr sz="1050" b="1">
                          <a:solidFill>
                            <a:srgbClr val="FFFFFF"/>
                          </a:solidFill>
                        </a:rPr>
                        <a:t>骨干主责（现在能独立承担）</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本人把关（仍由本人承担）</a:t>
                      </a:r>
                    </a:p>
                  </a:txBody>
                  <a:tcPr anchor="ctr">
                    <a:lnL w="0">
                      <a:noFill/>
                    </a:lnL>
                    <a:lnR w="0">
                      <a:noFill/>
                    </a:lnR>
                    <a:lnT w="0">
                      <a:noFill/>
                    </a:lnT>
                    <a:lnB w="0">
                      <a:noFill/>
                    </a:lnB>
                    <a:solidFill>
                      <a:srgbClr val="0C4BA1"/>
                    </a:solidFill>
                  </a:tcPr>
                </a:tc>
              </a:tr>
              <a:tr h="548640">
                <a:tc>
                  <a:txBody>
                    <a:bodyPr wrap="square" lIns="64008" tIns="27432" rIns="64008" bIns="27432" anchor="ctr">
                      <a:noAutofit/>
                    </a:bodyPr>
                    <a:lstStyle/>
                    <a:p>
                      <a:pPr algn="l">
                        <a:lnSpc>
                          <a:spcPct val="108000"/>
                        </a:lnSpc>
                        <a:spcAft>
                          <a:spcPts val="200"/>
                        </a:spcAft>
                      </a:pPr>
                      <a:r>
                        <a:rPr sz="950" b="0">
                          <a:solidFill>
                            <a:srgbClr val="2F3E4F"/>
                          </a:solidFill>
                        </a:rPr>
                        <a:t>具体方案材料与常规客户问题应答</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重大技术路线与效果承诺</a:t>
                      </a:r>
                    </a:p>
                  </a:txBody>
                  <a:tcPr anchor="ctr">
                    <a:lnL w="0">
                      <a:noFill/>
                    </a:lnL>
                    <a:lnR w="0">
                      <a:noFill/>
                    </a:lnR>
                    <a:lnT w="0">
                      <a:noFill/>
                    </a:lnT>
                    <a:lnB w="9525" cap="flat" cmpd="sng" algn="ctr">
                      <a:solidFill>
                        <a:srgbClr val="D3DCE8"/>
                      </a:solidFill>
                      <a:prstDash val="solid"/>
                    </a:lnB>
                    <a:solidFill>
                      <a:srgbClr val="FFFFFF"/>
                    </a:solidFill>
                  </a:tcPr>
                </a:tc>
              </a:tr>
              <a:tr h="548640">
                <a:tc>
                  <a:txBody>
                    <a:bodyPr wrap="square" lIns="64008" tIns="27432" rIns="64008" bIns="27432" anchor="ctr">
                      <a:noAutofit/>
                    </a:bodyPr>
                    <a:lstStyle/>
                    <a:p>
                      <a:pPr algn="l">
                        <a:lnSpc>
                          <a:spcPct val="108000"/>
                        </a:lnSpc>
                        <a:spcAft>
                          <a:spcPts val="200"/>
                        </a:spcAft>
                      </a:pPr>
                      <a:r>
                        <a:rPr sz="950" b="0">
                          <a:solidFill>
                            <a:srgbClr val="2F3E4F"/>
                          </a:solidFill>
                        </a:rPr>
                        <a:t>现场主责咨询与日常客户沟通</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工作范围、权利边界与对外正式承诺</a:t>
                      </a:r>
                    </a:p>
                  </a:txBody>
                  <a:tcPr anchor="ctr">
                    <a:lnL w="0">
                      <a:noFill/>
                    </a:lnL>
                    <a:lnR w="0">
                      <a:noFill/>
                    </a:lnR>
                    <a:lnT w="0">
                      <a:noFill/>
                    </a:lnT>
                    <a:lnB w="9525" cap="flat" cmpd="sng" algn="ctr">
                      <a:solidFill>
                        <a:srgbClr val="D3DCE8"/>
                      </a:solidFill>
                      <a:prstDash val="solid"/>
                    </a:lnB>
                    <a:solidFill>
                      <a:srgbClr val="F6F8FC"/>
                    </a:solidFill>
                  </a:tcPr>
                </a:tc>
              </a:tr>
              <a:tr h="548640">
                <a:tc>
                  <a:txBody>
                    <a:bodyPr wrap="square" lIns="64008" tIns="27432" rIns="64008" bIns="27432" anchor="ctr">
                      <a:noAutofit/>
                    </a:bodyPr>
                    <a:lstStyle/>
                    <a:p>
                      <a:pPr algn="l">
                        <a:lnSpc>
                          <a:spcPct val="108000"/>
                        </a:lnSpc>
                        <a:spcAft>
                          <a:spcPts val="200"/>
                        </a:spcAft>
                      </a:pPr>
                      <a:r>
                        <a:rPr sz="950" b="0">
                          <a:solidFill>
                            <a:srgbClr val="2F3E4F"/>
                          </a:solidFill>
                        </a:rPr>
                        <a:t>伙伴跟进、联合准备与会后复盘</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交易模式、报价与付款设计</a:t>
                      </a:r>
                    </a:p>
                  </a:txBody>
                  <a:tcPr anchor="ctr">
                    <a:lnL w="0">
                      <a:noFill/>
                    </a:lnL>
                    <a:lnR w="0">
                      <a:noFill/>
                    </a:lnR>
                    <a:lnT w="0">
                      <a:noFill/>
                    </a:lnT>
                    <a:lnB w="9525" cap="flat" cmpd="sng" algn="ctr">
                      <a:solidFill>
                        <a:srgbClr val="D3DCE8"/>
                      </a:solidFill>
                      <a:prstDash val="solid"/>
                    </a:lnB>
                    <a:solidFill>
                      <a:srgbClr val="FFFFFF"/>
                    </a:solidFill>
                  </a:tcPr>
                </a:tc>
              </a:tr>
              <a:tr h="548640">
                <a:tc>
                  <a:txBody>
                    <a:bodyPr wrap="square" lIns="64008" tIns="27432" rIns="64008" bIns="27432" anchor="ctr">
                      <a:noAutofit/>
                    </a:bodyPr>
                    <a:lstStyle/>
                    <a:p>
                      <a:pPr algn="l">
                        <a:lnSpc>
                          <a:spcPct val="108000"/>
                        </a:lnSpc>
                        <a:spcAft>
                          <a:spcPts val="200"/>
                        </a:spcAft>
                      </a:pPr>
                      <a:r>
                        <a:rPr sz="950" b="0">
                          <a:solidFill>
                            <a:srgbClr val="2F3E4F"/>
                          </a:solidFill>
                        </a:rPr>
                        <a:t>主责交接与新人带教</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跨部门争议与升级事项</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24" name="TextBox 23"/>
          <p:cNvSpPr txBox="1"/>
          <p:nvPr/>
        </p:nvSpPr>
        <p:spPr>
          <a:xfrm>
            <a:off x="5852160" y="3785615"/>
            <a:ext cx="5971031" cy="274320"/>
          </a:xfrm>
          <a:prstGeom prst="rect">
            <a:avLst/>
          </a:prstGeom>
          <a:noFill/>
        </p:spPr>
        <p:txBody>
          <a:bodyPr wrap="square" lIns="54864" tIns="36576" rIns="54864" bIns="36576" anchor="ctr">
            <a:noAutofit/>
          </a:bodyPr>
          <a:lstStyle/>
          <a:p>
            <a:pPr algn="l">
              <a:lnSpc>
                <a:spcPct val="112000"/>
              </a:lnSpc>
              <a:spcAft>
                <a:spcPts val="0"/>
              </a:spcAft>
            </a:pPr>
            <a:r>
              <a:rPr sz="850" b="0">
                <a:solidFill>
                  <a:srgbClr val="6F7E8F"/>
                </a:solidFill>
              </a:rPr>
              <a:t>此表为现有分工的概括，不代表已形成完整授权制度；以本人确认为准</a:t>
            </a:r>
          </a:p>
        </p:txBody>
      </p:sp>
      <p:sp>
        <p:nvSpPr>
          <p:cNvPr id="25" name="Rounded Rectangle 24"/>
          <p:cNvSpPr/>
          <p:nvPr/>
        </p:nvSpPr>
        <p:spPr>
          <a:xfrm>
            <a:off x="365760" y="4782312"/>
            <a:ext cx="3660647"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 y="4855464"/>
            <a:ext cx="3441191" cy="27432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授权边界</a:t>
            </a:r>
          </a:p>
        </p:txBody>
      </p:sp>
      <p:sp>
        <p:nvSpPr>
          <p:cNvPr id="27" name="TextBox 26"/>
          <p:cNvSpPr txBox="1"/>
          <p:nvPr/>
        </p:nvSpPr>
        <p:spPr>
          <a:xfrm>
            <a:off x="475488" y="5129784"/>
            <a:ext cx="3441191" cy="64008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一般方案交给骨干；重大效果、范围、权利、对外承诺继续把关，避免“完全放手”与“全部自己做”两个极端</a:t>
            </a:r>
          </a:p>
        </p:txBody>
      </p:sp>
      <p:sp>
        <p:nvSpPr>
          <p:cNvPr id="28" name="Rounded Rectangle 27"/>
          <p:cNvSpPr/>
          <p:nvPr/>
        </p:nvSpPr>
        <p:spPr>
          <a:xfrm>
            <a:off x="4264152" y="4782312"/>
            <a:ext cx="3660647"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3880" y="4855464"/>
            <a:ext cx="3441191" cy="27432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现场连续性与主备</a:t>
            </a:r>
          </a:p>
        </p:txBody>
      </p:sp>
      <p:sp>
        <p:nvSpPr>
          <p:cNvPr id="30" name="TextBox 29"/>
          <p:cNvSpPr txBox="1"/>
          <p:nvPr/>
        </p:nvSpPr>
        <p:spPr>
          <a:xfrm>
            <a:off x="4373880" y="5129784"/>
            <a:ext cx="3441191" cy="64008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人员阶段性离场或项目并发时，本人接续关键客户与方案工作，协调其他咨询支援并主持交接</a:t>
            </a:r>
          </a:p>
        </p:txBody>
      </p:sp>
      <p:sp>
        <p:nvSpPr>
          <p:cNvPr id="31" name="Rounded Rectangle 30"/>
          <p:cNvSpPr/>
          <p:nvPr/>
        </p:nvSpPr>
        <p:spPr>
          <a:xfrm>
            <a:off x="8162543" y="4782312"/>
            <a:ext cx="3660647"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2271" y="4855464"/>
            <a:ext cx="3441191" cy="274320"/>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带教延伸到销售</a:t>
            </a:r>
          </a:p>
        </p:txBody>
      </p:sp>
      <p:sp>
        <p:nvSpPr>
          <p:cNvPr id="33" name="TextBox 32"/>
          <p:cNvSpPr txBox="1"/>
          <p:nvPr/>
        </p:nvSpPr>
        <p:spPr>
          <a:xfrm>
            <a:off x="8272271" y="5129784"/>
            <a:ext cx="3441191" cy="64008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对新到现场销售导入项目背景、政府与客户接口、华为关系与现场目标；后续持续同步卡点与伙伴资源</a:t>
            </a:r>
          </a:p>
        </p:txBody>
      </p:sp>
      <p:sp>
        <p:nvSpPr>
          <p:cNvPr id="34" name="TextBox 33"/>
          <p:cNvSpPr txBox="1"/>
          <p:nvPr/>
        </p:nvSpPr>
        <p:spPr>
          <a:xfrm>
            <a:off x="365760" y="5861304"/>
            <a:ext cx="11457432" cy="329184"/>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组织价值：关键任务开始由骨干承接，本人从全部亲自执行转向方向判断、质量复核和资源组织；尚未消除单点依赖。</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埃及ISD：持续连接客户咨询、PoC、合同与交付准备</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902952" y="548640"/>
            <a:ext cx="1920240"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运营类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18</a:t>
            </a:r>
          </a:p>
        </p:txBody>
      </p:sp>
      <p:sp>
        <p:nvSpPr>
          <p:cNvPr id="6" name="Rounded Rectangle 5"/>
          <p:cNvSpPr/>
          <p:nvPr/>
        </p:nvSpPr>
        <p:spPr>
          <a:xfrm>
            <a:off x="365760" y="1367027"/>
            <a:ext cx="11457432" cy="1325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93776" y="1865375"/>
            <a:ext cx="1371600" cy="329184"/>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本人判断与组织</a:t>
            </a:r>
          </a:p>
        </p:txBody>
      </p:sp>
      <p:sp>
        <p:nvSpPr>
          <p:cNvPr id="8" name="TextBox 7"/>
          <p:cNvSpPr txBox="1"/>
          <p:nvPr/>
        </p:nvSpPr>
        <p:spPr>
          <a:xfrm>
            <a:off x="2057400" y="1440179"/>
            <a:ext cx="4722876" cy="119786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参与AI Lab负责人与技术团队交流，梳理客户RAG现状与下一步策略</a:t>
            </a:r>
          </a:p>
          <a:p>
            <a:pPr algn="l" marL="146304" indent="-146304">
              <a:lnSpc>
                <a:spcPct val="112000"/>
              </a:lnSpc>
              <a:spcAft>
                <a:spcPts val="400"/>
              </a:spcAft>
              <a:buClr>
                <a:srgbClr val="0C4BA1"/>
              </a:buClr>
              <a:buSzPct val="100000"/>
              <a:buFont typeface="Arial"/>
              <a:buChar char="•"/>
            </a:pPr>
            <a:r>
              <a:rPr sz="1000" b="0">
                <a:solidFill>
                  <a:srgbClr val="2F3E4F"/>
                </a:solidFill>
              </a:rPr>
              <a:t>向铁三角与交付团队交底前期HLD、背景与客户要求</a:t>
            </a:r>
          </a:p>
        </p:txBody>
      </p:sp>
      <p:sp>
        <p:nvSpPr>
          <p:cNvPr id="9" name="TextBox 8"/>
          <p:cNvSpPr txBox="1"/>
          <p:nvPr/>
        </p:nvSpPr>
        <p:spPr>
          <a:xfrm>
            <a:off x="6963156" y="1440179"/>
            <a:ext cx="4722876" cy="119786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识别原HLD部分内容未完全响应RFP，提示后续可能被客户挑战</a:t>
            </a:r>
          </a:p>
          <a:p>
            <a:pPr algn="l" marL="146304" indent="-146304">
              <a:lnSpc>
                <a:spcPct val="112000"/>
              </a:lnSpc>
              <a:spcAft>
                <a:spcPts val="400"/>
              </a:spcAft>
              <a:buClr>
                <a:srgbClr val="0C4BA1"/>
              </a:buClr>
              <a:buSzPct val="100000"/>
              <a:buFont typeface="Arial"/>
              <a:buChar char="•"/>
            </a:pPr>
            <a:r>
              <a:rPr sz="1000" b="0">
                <a:solidFill>
                  <a:srgbClr val="2F3E4F"/>
                </a:solidFill>
              </a:rPr>
              <a:t>参与法务合规讨论，审阅合同初稿并提出修改；提示主合同信息不足影响背靠背衔接</a:t>
            </a:r>
          </a:p>
        </p:txBody>
      </p:sp>
      <p:sp>
        <p:nvSpPr>
          <p:cNvPr id="10" name="Rounded Rectangle 9"/>
          <p:cNvSpPr/>
          <p:nvPr/>
        </p:nvSpPr>
        <p:spPr>
          <a:xfrm>
            <a:off x="365760" y="2802635"/>
            <a:ext cx="11457432" cy="1325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3776" y="3300983"/>
            <a:ext cx="1371600" cy="329184"/>
          </a:xfrm>
          <a:prstGeom prst="roundRect">
            <a:avLst>
              <a:gd name="adj" fmla="val 50000"/>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团队与专业部门产出</a:t>
            </a:r>
          </a:p>
        </p:txBody>
      </p:sp>
      <p:sp>
        <p:nvSpPr>
          <p:cNvPr id="12" name="TextBox 11"/>
          <p:cNvSpPr txBox="1"/>
          <p:nvPr/>
        </p:nvSpPr>
        <p:spPr>
          <a:xfrm>
            <a:off x="2057400" y="2875787"/>
            <a:ext cx="4722876" cy="119786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客户调研、技术方案与高层演示材料</a:t>
            </a:r>
          </a:p>
          <a:p>
            <a:pPr algn="l" marL="146304" indent="-146304">
              <a:lnSpc>
                <a:spcPct val="112000"/>
              </a:lnSpc>
              <a:spcAft>
                <a:spcPts val="400"/>
              </a:spcAft>
              <a:buClr>
                <a:srgbClr val="0C4BA1"/>
              </a:buClr>
              <a:buSzPct val="100000"/>
              <a:buFont typeface="Arial"/>
              <a:buChar char="•"/>
            </a:pPr>
            <a:r>
              <a:rPr sz="1000" b="0">
                <a:solidFill>
                  <a:srgbClr val="2F3E4F"/>
                </a:solidFill>
              </a:rPr>
              <a:t>场景演示准备、技术沟通与PoC问题跟踪</a:t>
            </a:r>
          </a:p>
        </p:txBody>
      </p:sp>
      <p:sp>
        <p:nvSpPr>
          <p:cNvPr id="13" name="TextBox 12"/>
          <p:cNvSpPr txBox="1"/>
          <p:nvPr/>
        </p:nvSpPr>
        <p:spPr>
          <a:xfrm>
            <a:off x="6963156" y="2875787"/>
            <a:ext cx="4722876" cy="119786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基于方案的交付计划与后续报价输入</a:t>
            </a:r>
          </a:p>
          <a:p>
            <a:pPr algn="l" marL="146304" indent="-146304">
              <a:lnSpc>
                <a:spcPct val="112000"/>
              </a:lnSpc>
              <a:spcAft>
                <a:spcPts val="400"/>
              </a:spcAft>
              <a:buClr>
                <a:srgbClr val="0C4BA1"/>
              </a:buClr>
              <a:buSzPct val="100000"/>
              <a:buFont typeface="Arial"/>
              <a:buChar char="•"/>
            </a:pPr>
            <a:r>
              <a:rPr sz="1000" b="0">
                <a:solidFill>
                  <a:srgbClr val="2F3E4F"/>
                </a:solidFill>
              </a:rPr>
              <a:t>协调咨询赴埃及，结合ISD、ACUD、SIDPEC及伙伴活动安排任务</a:t>
            </a:r>
          </a:p>
        </p:txBody>
      </p:sp>
      <p:sp>
        <p:nvSpPr>
          <p:cNvPr id="14" name="Rounded Rectangle 13"/>
          <p:cNvSpPr/>
          <p:nvPr/>
        </p:nvSpPr>
        <p:spPr>
          <a:xfrm>
            <a:off x="365760" y="4238243"/>
            <a:ext cx="11457432" cy="10972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3776" y="4622291"/>
            <a:ext cx="1371600" cy="329184"/>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对项目的作用 / 状态</a:t>
            </a:r>
          </a:p>
        </p:txBody>
      </p:sp>
      <p:sp>
        <p:nvSpPr>
          <p:cNvPr id="16" name="TextBox 15"/>
          <p:cNvSpPr txBox="1"/>
          <p:nvPr/>
        </p:nvSpPr>
        <p:spPr>
          <a:xfrm>
            <a:off x="2057400" y="4311395"/>
            <a:ext cx="4722876" cy="96926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客户实际系统与我方方案衔接，不只做通用产品介绍</a:t>
            </a:r>
          </a:p>
          <a:p>
            <a:pPr algn="l" marL="146304" indent="-146304">
              <a:lnSpc>
                <a:spcPct val="112000"/>
              </a:lnSpc>
              <a:spcAft>
                <a:spcPts val="400"/>
              </a:spcAft>
              <a:buClr>
                <a:srgbClr val="0C4BA1"/>
              </a:buClr>
              <a:buSzPct val="100000"/>
              <a:buFont typeface="Arial"/>
              <a:buChar char="•"/>
            </a:pPr>
            <a:r>
              <a:rPr sz="1000" b="0">
                <a:solidFill>
                  <a:srgbClr val="2F3E4F"/>
                </a:solidFill>
              </a:rPr>
              <a:t>潜在范围问题在交付前提出，不等到验收时才发现</a:t>
            </a:r>
          </a:p>
        </p:txBody>
      </p:sp>
      <p:sp>
        <p:nvSpPr>
          <p:cNvPr id="17" name="TextBox 16"/>
          <p:cNvSpPr txBox="1"/>
          <p:nvPr/>
        </p:nvSpPr>
        <p:spPr>
          <a:xfrm>
            <a:off x="6963156" y="4311395"/>
            <a:ext cx="4722876" cy="96926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合同与交付范围更一致；法务合规结论由专业团队确认</a:t>
            </a:r>
          </a:p>
          <a:p>
            <a:pPr algn="l" marL="146304" indent="-146304">
              <a:lnSpc>
                <a:spcPct val="112000"/>
              </a:lnSpc>
              <a:spcAft>
                <a:spcPts val="400"/>
              </a:spcAft>
              <a:buClr>
                <a:srgbClr val="0C4BA1"/>
              </a:buClr>
              <a:buSzPct val="100000"/>
              <a:buFont typeface="Arial"/>
              <a:buChar char="•"/>
            </a:pPr>
            <a:r>
              <a:rPr sz="1000" b="0">
                <a:solidFill>
                  <a:srgbClr val="2F3E4F"/>
                </a:solidFill>
              </a:rPr>
              <a:t>受限事项保留风险，不写成全部验证通过</a:t>
            </a:r>
          </a:p>
        </p:txBody>
      </p:sp>
      <p:sp>
        <p:nvSpPr>
          <p:cNvPr id="18" name="Rounded Rectangle 17"/>
          <p:cNvSpPr/>
          <p:nvPr/>
        </p:nvSpPr>
        <p:spPr>
          <a:xfrm>
            <a:off x="365760" y="5518403"/>
            <a:ext cx="11457432" cy="502920"/>
          </a:xfrm>
          <a:prstGeom prst="roundRect">
            <a:avLst>
              <a:gd name="adj" fmla="val 12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518403"/>
            <a:ext cx="11091672" cy="502920"/>
          </a:xfrm>
          <a:prstGeom prst="rect">
            <a:avLst/>
          </a:prstGeom>
          <a:noFill/>
        </p:spPr>
        <p:txBody>
          <a:bodyPr wrap="square" lIns="54864" tIns="36576" rIns="54864" bIns="36576" anchor="ctr">
            <a:noAutofit/>
          </a:bodyPr>
          <a:lstStyle/>
          <a:p>
            <a:pPr algn="l">
              <a:lnSpc>
                <a:spcPct val="112000"/>
              </a:lnSpc>
              <a:spcAft>
                <a:spcPts val="300"/>
              </a:spcAft>
            </a:pPr>
            <a:r>
              <a:rPr sz="1100" b="1">
                <a:solidFill>
                  <a:srgbClr val="FFFFFF"/>
                </a:solidFill>
              </a:rPr>
              <a:t>本人贡献重点：持续把握关键风险、组织前后场交接和合同评审；具体测试、实施与专业判断由对应团队承担。</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非洲多国：形成语料、国别方案、RFI与可研等实际产出</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岗位特性类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19</a:t>
            </a:r>
          </a:p>
        </p:txBody>
      </p:sp>
      <p:graphicFrame>
        <p:nvGraphicFramePr>
          <p:cNvPr id="6" name="Table 5"/>
          <p:cNvGraphicFramePr>
            <a:graphicFrameLocks noGrp="1"/>
          </p:cNvGraphicFramePr>
          <p:nvPr/>
        </p:nvGraphicFramePr>
        <p:xfrm>
          <a:off x="365760" y="1170432"/>
          <a:ext cx="11457432" cy="4553712"/>
        </p:xfrm>
        <a:graphic>
          <a:graphicData uri="http://schemas.openxmlformats.org/drawingml/2006/table">
            <a:tbl>
              <a:tblPr firstRow="0" bandRow="0">
                <a:tableStyleId>{2D5ABB26-0587-4C30-8999-92F81FD0307C}</a:tableStyleId>
              </a:tblPr>
              <a:tblGrid>
                <a:gridCol w="1371600"/>
                <a:gridCol w="3291840"/>
                <a:gridCol w="3931920"/>
                <a:gridCol w="2862072"/>
              </a:tblGrid>
              <a:tr h="384048">
                <a:tc>
                  <a:txBody>
                    <a:bodyPr wrap="square" lIns="64008" tIns="18288" rIns="64008" bIns="18288" anchor="ctr">
                      <a:noAutofit/>
                    </a:bodyPr>
                    <a:lstStyle/>
                    <a:p>
                      <a:pPr algn="l">
                        <a:lnSpc>
                          <a:spcPct val="112000"/>
                        </a:lnSpc>
                        <a:spcAft>
                          <a:spcPts val="0"/>
                        </a:spcAft>
                      </a:pPr>
                      <a:r>
                        <a:rPr sz="1050" b="1">
                          <a:solidFill>
                            <a:srgbClr val="FFFFFF"/>
                          </a:solidFill>
                        </a:rPr>
                        <a:t>国家 / 机会</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本人的关键组织与判断</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已记录的团队产出</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阶段价值与未完成事项</a:t>
                      </a:r>
                    </a:p>
                  </a:txBody>
                  <a:tcPr anchor="ctr">
                    <a:lnL w="0">
                      <a:noFill/>
                    </a:lnL>
                    <a:lnR w="0">
                      <a:noFill/>
                    </a:lnR>
                    <a:lnT w="0">
                      <a:noFill/>
                    </a:lnT>
                    <a:lnB w="0">
                      <a:noFill/>
                    </a:lnB>
                    <a:solidFill>
                      <a:srgbClr val="0C4BA1"/>
                    </a:solidFill>
                  </a:tcPr>
                </a:tc>
              </a:tr>
              <a:tr h="694944">
                <a:tc>
                  <a:txBody>
                    <a:bodyPr wrap="square" lIns="64008" tIns="27432" rIns="64008" bIns="27432" anchor="ctr">
                      <a:noAutofit/>
                    </a:bodyPr>
                    <a:lstStyle/>
                    <a:p>
                      <a:pPr algn="l">
                        <a:lnSpc>
                          <a:spcPct val="108000"/>
                        </a:lnSpc>
                        <a:spcAft>
                          <a:spcPts val="200"/>
                        </a:spcAft>
                      </a:pPr>
                      <a:r>
                        <a:rPr sz="950" b="1">
                          <a:solidFill>
                            <a:srgbClr val="0A2A5E"/>
                          </a:solidFill>
                        </a:rPr>
                        <a:t>加纳</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讨论本地大学语料摸排策略，导入其他国家经验，与巴西方案基线拉通；组织运营、配置及报价讨论</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现场语料摸排、运营方案与HLD、配置和报价更新；8月细化技术建议书，输出语料本土化方案与应用差异化说明</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从通用介绍进入本地资源与实施设计；预算与客户流程仍需跟踪</a:t>
                      </a:r>
                    </a:p>
                  </a:txBody>
                  <a:tcPr anchor="ctr">
                    <a:lnL w="0">
                      <a:noFill/>
                    </a:lnL>
                    <a:lnR w="0">
                      <a:noFill/>
                    </a:lnR>
                    <a:lnT w="0">
                      <a:noFill/>
                    </a:lnT>
                    <a:lnB w="9525" cap="flat" cmpd="sng" algn="ctr">
                      <a:solidFill>
                        <a:srgbClr val="D3DCE8"/>
                      </a:solidFill>
                      <a:prstDash val="solid"/>
                    </a:lnB>
                    <a:solidFill>
                      <a:srgbClr val="FFFFFF"/>
                    </a:solidFill>
                  </a:tcPr>
                </a:tc>
              </a:tr>
              <a:tr h="694944">
                <a:tc>
                  <a:txBody>
                    <a:bodyPr wrap="square" lIns="64008" tIns="27432" rIns="64008" bIns="27432" anchor="ctr">
                      <a:noAutofit/>
                    </a:bodyPr>
                    <a:lstStyle/>
                    <a:p>
                      <a:pPr algn="l">
                        <a:lnSpc>
                          <a:spcPct val="108000"/>
                        </a:lnSpc>
                        <a:spcAft>
                          <a:spcPts val="200"/>
                        </a:spcAft>
                      </a:pPr>
                      <a:r>
                        <a:rPr sz="950" b="1">
                          <a:solidFill>
                            <a:srgbClr val="0A2A5E"/>
                          </a:solidFill>
                        </a:rPr>
                        <a:t>埃塞俄比亚</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协调主责咨询及华为对齐预算、范围和方案口径，参与RFI及方案评审</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伙伴选择RFI初版、方案／概算、应用材料；8月与华为就基础方案达成一致</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形成具体合作与方案讨论输入，不等同客户最终采购接受</a:t>
                      </a:r>
                    </a:p>
                  </a:txBody>
                  <a:tcPr anchor="ctr">
                    <a:lnL w="0">
                      <a:noFill/>
                    </a:lnL>
                    <a:lnR w="0">
                      <a:noFill/>
                    </a:lnR>
                    <a:lnT w="0">
                      <a:noFill/>
                    </a:lnT>
                    <a:lnB w="9525" cap="flat" cmpd="sng" algn="ctr">
                      <a:solidFill>
                        <a:srgbClr val="D3DCE8"/>
                      </a:solidFill>
                      <a:prstDash val="solid"/>
                    </a:lnB>
                    <a:solidFill>
                      <a:srgbClr val="F6F8FC"/>
                    </a:solidFill>
                  </a:tcPr>
                </a:tc>
              </a:tr>
              <a:tr h="694944">
                <a:tc>
                  <a:txBody>
                    <a:bodyPr wrap="square" lIns="64008" tIns="27432" rIns="64008" bIns="27432" anchor="ctr">
                      <a:noAutofit/>
                    </a:bodyPr>
                    <a:lstStyle/>
                    <a:p>
                      <a:pPr algn="l">
                        <a:lnSpc>
                          <a:spcPct val="108000"/>
                        </a:lnSpc>
                        <a:spcAft>
                          <a:spcPts val="200"/>
                        </a:spcAft>
                      </a:pPr>
                      <a:r>
                        <a:rPr sz="950" b="1">
                          <a:solidFill>
                            <a:srgbClr val="0A2A5E"/>
                          </a:solidFill>
                        </a:rPr>
                        <a:t>坦桑尼亚</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跟进前期方案、投入测算与材料质量，组织评审</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一版概算，HLD持续更新</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提供项目规模与可行性讨论基础</a:t>
                      </a:r>
                    </a:p>
                  </a:txBody>
                  <a:tcPr anchor="ctr">
                    <a:lnL w="0">
                      <a:noFill/>
                    </a:lnL>
                    <a:lnR w="0">
                      <a:noFill/>
                    </a:lnR>
                    <a:lnT w="0">
                      <a:noFill/>
                    </a:lnT>
                    <a:lnB w="9525" cap="flat" cmpd="sng" algn="ctr">
                      <a:solidFill>
                        <a:srgbClr val="D3DCE8"/>
                      </a:solidFill>
                      <a:prstDash val="solid"/>
                    </a:lnB>
                    <a:solidFill>
                      <a:srgbClr val="FFFFFF"/>
                    </a:solidFill>
                  </a:tcPr>
                </a:tc>
              </a:tr>
              <a:tr h="694944">
                <a:tc>
                  <a:txBody>
                    <a:bodyPr wrap="square" lIns="64008" tIns="27432" rIns="64008" bIns="27432" anchor="ctr">
                      <a:noAutofit/>
                    </a:bodyPr>
                    <a:lstStyle/>
                    <a:p>
                      <a:pPr algn="l">
                        <a:lnSpc>
                          <a:spcPct val="108000"/>
                        </a:lnSpc>
                        <a:spcAft>
                          <a:spcPts val="200"/>
                        </a:spcAft>
                      </a:pPr>
                      <a:r>
                        <a:rPr sz="950" b="1">
                          <a:solidFill>
                            <a:srgbClr val="0A2A5E"/>
                          </a:solidFill>
                        </a:rPr>
                        <a:t>肯尼亚</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持续跟进可研修改及内部评审，协调资源回应材料需求</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可研材料迭代</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支撑项目可行性讨论，后续决策仍在推进</a:t>
                      </a:r>
                    </a:p>
                  </a:txBody>
                  <a:tcPr anchor="ctr">
                    <a:lnL w="0">
                      <a:noFill/>
                    </a:lnL>
                    <a:lnR w="0">
                      <a:noFill/>
                    </a:lnR>
                    <a:lnT w="0">
                      <a:noFill/>
                    </a:lnT>
                    <a:lnB w="9525" cap="flat" cmpd="sng" algn="ctr">
                      <a:solidFill>
                        <a:srgbClr val="D3DCE8"/>
                      </a:solidFill>
                      <a:prstDash val="solid"/>
                    </a:lnB>
                    <a:solidFill>
                      <a:srgbClr val="F6F8FC"/>
                    </a:solidFill>
                  </a:tcPr>
                </a:tc>
              </a:tr>
              <a:tr h="694944">
                <a:tc>
                  <a:txBody>
                    <a:bodyPr wrap="square" lIns="64008" tIns="27432" rIns="64008" bIns="27432" anchor="ctr">
                      <a:noAutofit/>
                    </a:bodyPr>
                    <a:lstStyle/>
                    <a:p>
                      <a:pPr algn="l">
                        <a:lnSpc>
                          <a:spcPct val="108000"/>
                        </a:lnSpc>
                        <a:spcAft>
                          <a:spcPts val="200"/>
                        </a:spcAft>
                      </a:pPr>
                      <a:r>
                        <a:rPr sz="950" b="1">
                          <a:solidFill>
                            <a:srgbClr val="0A2A5E"/>
                          </a:solidFill>
                        </a:rPr>
                        <a:t>南部非洲相关机会</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组织高阶训战、场景沟通和新机会梳理</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训战材料与现场交流、招采智能体PoC初步沟通等</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形成伙伴与场景输入，前期机会不计为已完成PoC</a:t>
                      </a:r>
                    </a:p>
                  </a:txBody>
                  <a:tcPr anchor="ctr">
                    <a:lnL w="0">
                      <a:noFill/>
                    </a:lnL>
                    <a:lnR w="0">
                      <a:noFill/>
                    </a:lnR>
                    <a:lnT w="0">
                      <a:noFill/>
                    </a:lnT>
                    <a:lnB w="9525" cap="flat" cmpd="sng" algn="ctr">
                      <a:solidFill>
                        <a:srgbClr val="D3DCE8"/>
                      </a:solidFill>
                      <a:prstDash val="solid"/>
                    </a:lnB>
                    <a:solidFill>
                      <a:srgbClr val="FFFFFF"/>
                    </a:solidFill>
                  </a:tcPr>
                </a:tc>
              </a:tr>
              <a:tr h="694944">
                <a:tc>
                  <a:txBody>
                    <a:bodyPr wrap="square" lIns="64008" tIns="27432" rIns="64008" bIns="27432" anchor="ctr">
                      <a:noAutofit/>
                    </a:bodyPr>
                    <a:lstStyle/>
                    <a:p>
                      <a:pPr algn="l">
                        <a:lnSpc>
                          <a:spcPct val="108000"/>
                        </a:lnSpc>
                        <a:spcAft>
                          <a:spcPts val="200"/>
                        </a:spcAft>
                      </a:pPr>
                      <a:r>
                        <a:rPr sz="950" b="1">
                          <a:solidFill>
                            <a:srgbClr val="0A2A5E"/>
                          </a:solidFill>
                        </a:rPr>
                        <a:t>加蓬等新增机会</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与华为及相关团队讨论智算项目和轻量方案方向</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项目沟通及后续材料准备安排</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作为新机会储备，不与成熟项目同口径呈现</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7" name="TextBox 6"/>
          <p:cNvSpPr txBox="1"/>
          <p:nvPr/>
        </p:nvSpPr>
        <p:spPr>
          <a:xfrm>
            <a:off x="365760" y="5833872"/>
            <a:ext cx="11457432" cy="457200"/>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成果类型：语料调查、国别设计、运营说明、RFI、概算、可研、技术建议书与伙伴赋能。本人价值：把不同国家的需求、预算、数据与交付条件纳入方案判断，推动一线经验复用。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中东中亚：围绕竞争、范围和交付条件组织重点商机支撑</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岗位特性类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20</a:t>
            </a:r>
          </a:p>
        </p:txBody>
      </p:sp>
      <p:sp>
        <p:nvSpPr>
          <p:cNvPr id="6" name="Rounded Rectangle 5"/>
          <p:cNvSpPr/>
          <p:nvPr/>
        </p:nvSpPr>
        <p:spPr>
          <a:xfrm>
            <a:off x="365760" y="1467611"/>
            <a:ext cx="3660647"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 y="1540763"/>
            <a:ext cx="3404615" cy="329184"/>
          </a:xfrm>
          <a:prstGeom prst="rect">
            <a:avLst/>
          </a:prstGeom>
          <a:noFill/>
        </p:spPr>
        <p:txBody>
          <a:bodyPr wrap="square" lIns="54864" tIns="36576" rIns="54864" bIns="36576" anchor="ctr">
            <a:noAutofit/>
          </a:bodyPr>
          <a:lstStyle/>
          <a:p>
            <a:pPr algn="l">
              <a:lnSpc>
                <a:spcPct val="112000"/>
              </a:lnSpc>
              <a:spcAft>
                <a:spcPts val="0"/>
              </a:spcAft>
            </a:pPr>
            <a:r>
              <a:rPr sz="1200" b="1">
                <a:solidFill>
                  <a:srgbClr val="0A2A5E"/>
                </a:solidFill>
              </a:rPr>
              <a:t>IGNITE（巴基斯坦）</a:t>
            </a:r>
          </a:p>
        </p:txBody>
      </p:sp>
      <p:sp>
        <p:nvSpPr>
          <p:cNvPr id="8" name="Rounded Rectangle 7"/>
          <p:cNvSpPr/>
          <p:nvPr/>
        </p:nvSpPr>
        <p:spPr>
          <a:xfrm>
            <a:off x="493776" y="1924811"/>
            <a:ext cx="868680" cy="237744"/>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障碍与判断</a:t>
            </a:r>
          </a:p>
        </p:txBody>
      </p:sp>
      <p:sp>
        <p:nvSpPr>
          <p:cNvPr id="9" name="TextBox 8"/>
          <p:cNvSpPr txBox="1"/>
          <p:nvPr/>
        </p:nvSpPr>
        <p:spPr>
          <a:xfrm>
            <a:off x="457200" y="2199131"/>
            <a:ext cx="3477767" cy="11887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0C4BA1"/>
              </a:buClr>
              <a:buSzPct val="100000"/>
              <a:buFont typeface="Arial"/>
              <a:buChar char="•"/>
            </a:pPr>
            <a:r>
              <a:rPr sz="950" b="0">
                <a:solidFill>
                  <a:srgbClr val="2F3E4F"/>
                </a:solidFill>
              </a:rPr>
              <a:t>新版标书存在无法满足项；伙伴方案与外部竞争均可能影响差异化</a:t>
            </a:r>
          </a:p>
          <a:p>
            <a:pPr algn="l" marL="146304" indent="-146304">
              <a:lnSpc>
                <a:spcPct val="112000"/>
              </a:lnSpc>
              <a:spcAft>
                <a:spcPts val="300"/>
              </a:spcAft>
              <a:buClr>
                <a:srgbClr val="0C4BA1"/>
              </a:buClr>
              <a:buSzPct val="100000"/>
              <a:buFont typeface="Arial"/>
              <a:buChar char="•"/>
            </a:pPr>
            <a:r>
              <a:rPr sz="950" b="0">
                <a:solidFill>
                  <a:srgbClr val="2F3E4F"/>
                </a:solidFill>
              </a:rPr>
              <a:t>与主责咨询分析标书和竞品，组织内部研判；讨论平台、语料与训练指导等最小工作范围</a:t>
            </a:r>
          </a:p>
        </p:txBody>
      </p:sp>
      <p:sp>
        <p:nvSpPr>
          <p:cNvPr id="10" name="Rounded Rectangle 9"/>
          <p:cNvSpPr/>
          <p:nvPr/>
        </p:nvSpPr>
        <p:spPr>
          <a:xfrm>
            <a:off x="493776" y="3387851"/>
            <a:ext cx="868680" cy="237744"/>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产出与状态</a:t>
            </a:r>
          </a:p>
        </p:txBody>
      </p:sp>
      <p:sp>
        <p:nvSpPr>
          <p:cNvPr id="11" name="TextBox 10"/>
          <p:cNvSpPr txBox="1"/>
          <p:nvPr/>
        </p:nvSpPr>
        <p:spPr>
          <a:xfrm>
            <a:off x="457200" y="3662170"/>
            <a:ext cx="3477767" cy="5029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1F8F5F"/>
              </a:buClr>
              <a:buSzPct val="100000"/>
              <a:buFont typeface="Arial"/>
              <a:buChar char="•"/>
            </a:pPr>
            <a:r>
              <a:rPr sz="950" b="0">
                <a:solidFill>
                  <a:srgbClr val="2F3E4F"/>
                </a:solidFill>
              </a:rPr>
              <a:t>参数修改建议、方案边界讨论与投标支持口径；内部建议不等同客户采纳</a:t>
            </a:r>
          </a:p>
        </p:txBody>
      </p:sp>
      <p:sp>
        <p:nvSpPr>
          <p:cNvPr id="12" name="Rounded Rectangle 11"/>
          <p:cNvSpPr/>
          <p:nvPr/>
        </p:nvSpPr>
        <p:spPr>
          <a:xfrm>
            <a:off x="4264152" y="1467611"/>
            <a:ext cx="3660647"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2167" y="1540763"/>
            <a:ext cx="3404615" cy="329184"/>
          </a:xfrm>
          <a:prstGeom prst="rect">
            <a:avLst/>
          </a:prstGeom>
          <a:noFill/>
        </p:spPr>
        <p:txBody>
          <a:bodyPr wrap="square" lIns="54864" tIns="36576" rIns="54864" bIns="36576" anchor="ctr">
            <a:noAutofit/>
          </a:bodyPr>
          <a:lstStyle/>
          <a:p>
            <a:pPr algn="l">
              <a:lnSpc>
                <a:spcPct val="112000"/>
              </a:lnSpc>
              <a:spcAft>
                <a:spcPts val="0"/>
              </a:spcAft>
            </a:pPr>
            <a:r>
              <a:rPr sz="1200" b="1">
                <a:solidFill>
                  <a:srgbClr val="0A2A5E"/>
                </a:solidFill>
              </a:rPr>
              <a:t>KNG（科威特）</a:t>
            </a:r>
          </a:p>
        </p:txBody>
      </p:sp>
      <p:sp>
        <p:nvSpPr>
          <p:cNvPr id="14" name="Rounded Rectangle 13"/>
          <p:cNvSpPr/>
          <p:nvPr/>
        </p:nvSpPr>
        <p:spPr>
          <a:xfrm>
            <a:off x="4392167" y="1924811"/>
            <a:ext cx="868680" cy="237744"/>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障碍与判断</a:t>
            </a:r>
          </a:p>
        </p:txBody>
      </p:sp>
      <p:sp>
        <p:nvSpPr>
          <p:cNvPr id="15" name="TextBox 14"/>
          <p:cNvSpPr txBox="1"/>
          <p:nvPr/>
        </p:nvSpPr>
        <p:spPr>
          <a:xfrm>
            <a:off x="4355591" y="2199131"/>
            <a:ext cx="3477767" cy="11887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0C4BA1"/>
              </a:buClr>
              <a:buSzPct val="100000"/>
              <a:buFont typeface="Arial"/>
              <a:buChar char="•"/>
            </a:pPr>
            <a:r>
              <a:rPr sz="950" b="0">
                <a:solidFill>
                  <a:srgbClr val="2F3E4F"/>
                </a:solidFill>
              </a:rPr>
              <a:t>客户仍依据初版SoC理解范围，尚未最终认可更新的HLD，存在合同与交付认知差异</a:t>
            </a:r>
          </a:p>
          <a:p>
            <a:pPr algn="l" marL="146304" indent="-146304">
              <a:lnSpc>
                <a:spcPct val="112000"/>
              </a:lnSpc>
              <a:spcAft>
                <a:spcPts val="300"/>
              </a:spcAft>
              <a:buClr>
                <a:srgbClr val="0C4BA1"/>
              </a:buClr>
              <a:buSzPct val="100000"/>
              <a:buFont typeface="Arial"/>
              <a:buChar char="•"/>
            </a:pPr>
            <a:r>
              <a:rPr sz="950" b="0">
                <a:solidFill>
                  <a:srgbClr val="2F3E4F"/>
                </a:solidFill>
              </a:rPr>
              <a:t>完成SoC评审并联合产线评估风险，推动与华为、总集和客户继续确认</a:t>
            </a:r>
          </a:p>
        </p:txBody>
      </p:sp>
      <p:sp>
        <p:nvSpPr>
          <p:cNvPr id="16" name="Rounded Rectangle 15"/>
          <p:cNvSpPr/>
          <p:nvPr/>
        </p:nvSpPr>
        <p:spPr>
          <a:xfrm>
            <a:off x="4392167" y="3387851"/>
            <a:ext cx="868680" cy="237744"/>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产出与状态</a:t>
            </a:r>
          </a:p>
        </p:txBody>
      </p:sp>
      <p:sp>
        <p:nvSpPr>
          <p:cNvPr id="17" name="TextBox 16"/>
          <p:cNvSpPr txBox="1"/>
          <p:nvPr/>
        </p:nvSpPr>
        <p:spPr>
          <a:xfrm>
            <a:off x="4355591" y="3662170"/>
            <a:ext cx="3477767" cy="5029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1F8F5F"/>
              </a:buClr>
              <a:buSzPct val="100000"/>
              <a:buFont typeface="Arial"/>
              <a:buChar char="•"/>
            </a:pPr>
            <a:r>
              <a:rPr sz="950" b="0">
                <a:solidFill>
                  <a:srgbClr val="2F3E4F"/>
                </a:solidFill>
              </a:rPr>
              <a:t>范围风险已识别并进入处理；SoC作为合同范围谈判的重要输入</a:t>
            </a:r>
          </a:p>
        </p:txBody>
      </p:sp>
      <p:sp>
        <p:nvSpPr>
          <p:cNvPr id="18" name="Rounded Rectangle 17"/>
          <p:cNvSpPr/>
          <p:nvPr/>
        </p:nvSpPr>
        <p:spPr>
          <a:xfrm>
            <a:off x="8162543" y="1467611"/>
            <a:ext cx="3660647"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0560" y="1540763"/>
            <a:ext cx="3404615" cy="329184"/>
          </a:xfrm>
          <a:prstGeom prst="rect">
            <a:avLst/>
          </a:prstGeom>
          <a:noFill/>
        </p:spPr>
        <p:txBody>
          <a:bodyPr wrap="square" lIns="54864" tIns="36576" rIns="54864" bIns="36576" anchor="ctr">
            <a:noAutofit/>
          </a:bodyPr>
          <a:lstStyle/>
          <a:p>
            <a:pPr algn="l">
              <a:lnSpc>
                <a:spcPct val="112000"/>
              </a:lnSpc>
              <a:spcAft>
                <a:spcPts val="0"/>
              </a:spcAft>
            </a:pPr>
            <a:r>
              <a:rPr sz="1200" b="1">
                <a:solidFill>
                  <a:srgbClr val="0A2A5E"/>
                </a:solidFill>
              </a:rPr>
              <a:t>沙特：MOI 与 SDAIA</a:t>
            </a:r>
          </a:p>
        </p:txBody>
      </p:sp>
      <p:sp>
        <p:nvSpPr>
          <p:cNvPr id="20" name="Rounded Rectangle 19"/>
          <p:cNvSpPr/>
          <p:nvPr/>
        </p:nvSpPr>
        <p:spPr>
          <a:xfrm>
            <a:off x="8290560" y="1924811"/>
            <a:ext cx="868680" cy="237744"/>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障碍与判断</a:t>
            </a:r>
          </a:p>
        </p:txBody>
      </p:sp>
      <p:sp>
        <p:nvSpPr>
          <p:cNvPr id="21" name="TextBox 20"/>
          <p:cNvSpPr txBox="1"/>
          <p:nvPr/>
        </p:nvSpPr>
        <p:spPr>
          <a:xfrm>
            <a:off x="8253983" y="2199131"/>
            <a:ext cx="3477767" cy="11887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0C4BA1"/>
              </a:buClr>
              <a:buSzPct val="100000"/>
              <a:buFont typeface="Arial"/>
              <a:buChar char="•"/>
            </a:pPr>
            <a:r>
              <a:rPr sz="950" b="0">
                <a:solidFill>
                  <a:srgbClr val="2F3E4F"/>
                </a:solidFill>
              </a:rPr>
              <a:t>MOI私有化PoC受硬件、接口适配条件影响，8月记录为中止；组织相关团队协同跟进遗留问题</a:t>
            </a:r>
          </a:p>
          <a:p>
            <a:pPr algn="l" marL="146304" indent="-146304">
              <a:lnSpc>
                <a:spcPct val="112000"/>
              </a:lnSpc>
              <a:spcAft>
                <a:spcPts val="300"/>
              </a:spcAft>
              <a:buClr>
                <a:srgbClr val="0C4BA1"/>
              </a:buClr>
              <a:buSzPct val="100000"/>
              <a:buFont typeface="Arial"/>
              <a:buChar char="•"/>
            </a:pPr>
            <a:r>
              <a:rPr sz="950" b="0">
                <a:solidFill>
                  <a:srgbClr val="2F3E4F"/>
                </a:solidFill>
              </a:rPr>
              <a:t>SDAIA新机会需明确平台、智能体、模型适配及服务边界</a:t>
            </a:r>
          </a:p>
        </p:txBody>
      </p:sp>
      <p:sp>
        <p:nvSpPr>
          <p:cNvPr id="22" name="Rounded Rectangle 21"/>
          <p:cNvSpPr/>
          <p:nvPr/>
        </p:nvSpPr>
        <p:spPr>
          <a:xfrm>
            <a:off x="8290560" y="3387851"/>
            <a:ext cx="868680" cy="237744"/>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850" b="1">
                <a:solidFill>
                  <a:srgbClr val="FFFFFF"/>
                </a:solidFill>
              </a:rPr>
              <a:t>产出与状态</a:t>
            </a:r>
          </a:p>
        </p:txBody>
      </p:sp>
      <p:sp>
        <p:nvSpPr>
          <p:cNvPr id="23" name="TextBox 22"/>
          <p:cNvSpPr txBox="1"/>
          <p:nvPr/>
        </p:nvSpPr>
        <p:spPr>
          <a:xfrm>
            <a:off x="8253983" y="3662170"/>
            <a:ext cx="3477767" cy="502920"/>
          </a:xfrm>
          <a:prstGeom prst="rect">
            <a:avLst/>
          </a:prstGeom>
          <a:noFill/>
        </p:spPr>
        <p:txBody>
          <a:bodyPr wrap="square" lIns="54864" tIns="36576" rIns="54864" bIns="36576" anchor="t">
            <a:noAutofit/>
          </a:bodyPr>
          <a:lstStyle/>
          <a:p>
            <a:pPr algn="l" marL="146304" indent="-146304">
              <a:lnSpc>
                <a:spcPct val="112000"/>
              </a:lnSpc>
              <a:spcAft>
                <a:spcPts val="300"/>
              </a:spcAft>
              <a:buClr>
                <a:srgbClr val="1F8F5F"/>
              </a:buClr>
              <a:buSzPct val="100000"/>
              <a:buFont typeface="Arial"/>
              <a:buChar char="•"/>
            </a:pPr>
            <a:r>
              <a:rPr sz="950" b="0">
                <a:solidFill>
                  <a:srgbClr val="2F3E4F"/>
                </a:solidFill>
              </a:rPr>
              <a:t>已引入协作团队继续推动，不表述为PoC通过；SDAIA形成方案方向与后续任务</a:t>
            </a:r>
          </a:p>
        </p:txBody>
      </p:sp>
      <p:sp>
        <p:nvSpPr>
          <p:cNvPr id="24" name="Rounded Rectangle 23"/>
          <p:cNvSpPr/>
          <p:nvPr/>
        </p:nvSpPr>
        <p:spPr>
          <a:xfrm>
            <a:off x="365760" y="4320539"/>
            <a:ext cx="11457432" cy="96012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3776" y="4375403"/>
            <a:ext cx="1828800" cy="27432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其他产出</a:t>
            </a:r>
          </a:p>
        </p:txBody>
      </p:sp>
      <p:sp>
        <p:nvSpPr>
          <p:cNvPr id="26" name="TextBox 25"/>
          <p:cNvSpPr txBox="1"/>
          <p:nvPr/>
        </p:nvSpPr>
        <p:spPr>
          <a:xfrm>
            <a:off x="493776" y="4668011"/>
            <a:ext cx="2690622" cy="25603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C4BA1"/>
                </a:solidFill>
              </a:rPr>
              <a:t>哈萨克斯坦</a:t>
            </a:r>
          </a:p>
        </p:txBody>
      </p:sp>
      <p:sp>
        <p:nvSpPr>
          <p:cNvPr id="27" name="TextBox 26"/>
          <p:cNvSpPr txBox="1"/>
          <p:nvPr/>
        </p:nvSpPr>
        <p:spPr>
          <a:xfrm>
            <a:off x="493776" y="4905755"/>
            <a:ext cx="2690622" cy="34747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MaaS与Agent平台客户汇报、对华为一线宣讲</a:t>
            </a:r>
          </a:p>
        </p:txBody>
      </p:sp>
      <p:sp>
        <p:nvSpPr>
          <p:cNvPr id="28" name="TextBox 27"/>
          <p:cNvSpPr txBox="1"/>
          <p:nvPr/>
        </p:nvSpPr>
        <p:spPr>
          <a:xfrm>
            <a:off x="3330702" y="4668011"/>
            <a:ext cx="2690622" cy="25603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C4BA1"/>
                </a:solidFill>
              </a:rPr>
              <a:t>科威特其他机会</a:t>
            </a:r>
          </a:p>
        </p:txBody>
      </p:sp>
      <p:sp>
        <p:nvSpPr>
          <p:cNvPr id="29" name="TextBox 28"/>
          <p:cNvSpPr txBox="1"/>
          <p:nvPr/>
        </p:nvSpPr>
        <p:spPr>
          <a:xfrm>
            <a:off x="3330702" y="4905755"/>
            <a:ext cx="2690622" cy="34747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政务、知识库及配置清单材料</a:t>
            </a:r>
          </a:p>
        </p:txBody>
      </p:sp>
      <p:sp>
        <p:nvSpPr>
          <p:cNvPr id="30" name="TextBox 29"/>
          <p:cNvSpPr txBox="1"/>
          <p:nvPr/>
        </p:nvSpPr>
        <p:spPr>
          <a:xfrm>
            <a:off x="6167628" y="4668011"/>
            <a:ext cx="2690622" cy="25603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C4BA1"/>
                </a:solidFill>
              </a:rPr>
              <a:t>阿曼</a:t>
            </a:r>
          </a:p>
        </p:txBody>
      </p:sp>
      <p:sp>
        <p:nvSpPr>
          <p:cNvPr id="31" name="TextBox 30"/>
          <p:cNvSpPr txBox="1"/>
          <p:nvPr/>
        </p:nvSpPr>
        <p:spPr>
          <a:xfrm>
            <a:off x="6167628" y="4905755"/>
            <a:ext cx="2690622" cy="34747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油气方案交流</a:t>
            </a:r>
          </a:p>
        </p:txBody>
      </p:sp>
      <p:sp>
        <p:nvSpPr>
          <p:cNvPr id="32" name="TextBox 31"/>
          <p:cNvSpPr txBox="1"/>
          <p:nvPr/>
        </p:nvSpPr>
        <p:spPr>
          <a:xfrm>
            <a:off x="9004554" y="4668011"/>
            <a:ext cx="2690622" cy="256032"/>
          </a:xfrm>
          <a:prstGeom prst="rect">
            <a:avLst/>
          </a:prstGeom>
          <a:noFill/>
        </p:spPr>
        <p:txBody>
          <a:bodyPr wrap="square" lIns="54864" tIns="36576" rIns="54864" bIns="36576" anchor="ctr">
            <a:noAutofit/>
          </a:bodyPr>
          <a:lstStyle/>
          <a:p>
            <a:pPr algn="l">
              <a:lnSpc>
                <a:spcPct val="112000"/>
              </a:lnSpc>
              <a:spcAft>
                <a:spcPts val="0"/>
              </a:spcAft>
            </a:pPr>
            <a:r>
              <a:rPr sz="1000" b="1">
                <a:solidFill>
                  <a:srgbClr val="0C4BA1"/>
                </a:solidFill>
              </a:rPr>
              <a:t>白俄罗斯</a:t>
            </a:r>
          </a:p>
        </p:txBody>
      </p:sp>
      <p:sp>
        <p:nvSpPr>
          <p:cNvPr id="33" name="TextBox 32"/>
          <p:cNvSpPr txBox="1"/>
          <p:nvPr/>
        </p:nvSpPr>
        <p:spPr>
          <a:xfrm>
            <a:off x="9004554" y="4905755"/>
            <a:ext cx="2690622" cy="34747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客户接待与技术沟通</a:t>
            </a:r>
          </a:p>
        </p:txBody>
      </p:sp>
      <p:sp>
        <p:nvSpPr>
          <p:cNvPr id="34" name="Rounded Rectangle 33"/>
          <p:cNvSpPr/>
          <p:nvPr/>
        </p:nvSpPr>
        <p:spPr>
          <a:xfrm>
            <a:off x="365760" y="5417819"/>
            <a:ext cx="11457432" cy="502920"/>
          </a:xfrm>
          <a:prstGeom prst="roundRect">
            <a:avLst>
              <a:gd name="adj" fmla="val 12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417819"/>
            <a:ext cx="11091672" cy="502920"/>
          </a:xfrm>
          <a:prstGeom prst="rect">
            <a:avLst/>
          </a:prstGeom>
          <a:noFill/>
        </p:spPr>
        <p:txBody>
          <a:bodyPr wrap="square" lIns="54864" tIns="36576" rIns="54864" bIns="36576" anchor="ctr">
            <a:noAutofit/>
          </a:bodyPr>
          <a:lstStyle/>
          <a:p>
            <a:pPr algn="l">
              <a:lnSpc>
                <a:spcPct val="112000"/>
              </a:lnSpc>
              <a:spcAft>
                <a:spcPts val="300"/>
              </a:spcAft>
            </a:pPr>
            <a:r>
              <a:rPr sz="1100" b="1">
                <a:solidFill>
                  <a:srgbClr val="FFFFFF"/>
                </a:solidFill>
              </a:rPr>
              <a:t>管理价值：在“客户提出需求”与“公司正式承诺”之间，持续开展竞争分析、范围评审和交付条件判断。</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东南亚：将应用方案推进到总集边界和采购材料</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目标管理类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21</a:t>
            </a:r>
          </a:p>
        </p:txBody>
      </p:sp>
      <p:sp>
        <p:nvSpPr>
          <p:cNvPr id="6" name="TextBox 5"/>
          <p:cNvSpPr txBox="1"/>
          <p:nvPr/>
        </p:nvSpPr>
        <p:spPr>
          <a:xfrm>
            <a:off x="365760" y="1485899"/>
            <a:ext cx="7955279" cy="310896"/>
          </a:xfrm>
          <a:prstGeom prst="rect">
            <a:avLst/>
          </a:prstGeom>
          <a:noFill/>
        </p:spPr>
        <p:txBody>
          <a:bodyPr wrap="square" lIns="54864" tIns="36576" rIns="54864" bIns="36576" anchor="ctr">
            <a:noAutofit/>
          </a:bodyPr>
          <a:lstStyle/>
          <a:p>
            <a:pPr algn="l">
              <a:lnSpc>
                <a:spcPct val="112000"/>
              </a:lnSpc>
              <a:spcAft>
                <a:spcPts val="0"/>
              </a:spcAft>
            </a:pPr>
            <a:r>
              <a:rPr sz="1200" b="1">
                <a:solidFill>
                  <a:srgbClr val="0A2A5E"/>
                </a:solidFill>
              </a:rPr>
              <a:t>SDEC（东马）阶段推进</a:t>
            </a:r>
          </a:p>
        </p:txBody>
      </p:sp>
      <p:sp>
        <p:nvSpPr>
          <p:cNvPr id="7" name="Rounded Rectangle 6"/>
          <p:cNvSpPr/>
          <p:nvPr/>
        </p:nvSpPr>
        <p:spPr>
          <a:xfrm>
            <a:off x="365760" y="1851659"/>
            <a:ext cx="7955279"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3776" y="2418587"/>
            <a:ext cx="1417320" cy="329184"/>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本人判断与组织</a:t>
            </a:r>
          </a:p>
        </p:txBody>
      </p:sp>
      <p:sp>
        <p:nvSpPr>
          <p:cNvPr id="9" name="TextBox 8"/>
          <p:cNvSpPr txBox="1"/>
          <p:nvPr/>
        </p:nvSpPr>
        <p:spPr>
          <a:xfrm>
            <a:off x="2103120" y="1924811"/>
            <a:ext cx="6080759" cy="133502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华为提出讯飞担任总集并集成其他伙伴产品：提前识别利润与责任风险，讨论总集角色、边界与策略</a:t>
            </a:r>
          </a:p>
          <a:p>
            <a:pPr algn="l" marL="146304" indent="-146304">
              <a:lnSpc>
                <a:spcPct val="112000"/>
              </a:lnSpc>
              <a:spcAft>
                <a:spcPts val="400"/>
              </a:spcAft>
              <a:buClr>
                <a:srgbClr val="0C4BA1"/>
              </a:buClr>
              <a:buSzPct val="100000"/>
              <a:buFont typeface="Arial"/>
              <a:buChar char="•"/>
            </a:pPr>
            <a:r>
              <a:rPr sz="1000" b="0">
                <a:solidFill>
                  <a:srgbClr val="2F3E4F"/>
                </a:solidFill>
              </a:rPr>
              <a:t>识别员工助手方案匹配卡点，推动一网通牵头整体方案整合</a:t>
            </a:r>
          </a:p>
          <a:p>
            <a:pPr algn="l" marL="146304" indent="-146304">
              <a:lnSpc>
                <a:spcPct val="112000"/>
              </a:lnSpc>
              <a:spcAft>
                <a:spcPts val="400"/>
              </a:spcAft>
              <a:buClr>
                <a:srgbClr val="0C4BA1"/>
              </a:buClr>
              <a:buSzPct val="100000"/>
              <a:buFont typeface="Arial"/>
              <a:buChar char="•"/>
            </a:pPr>
            <a:r>
              <a:rPr sz="1000" b="0">
                <a:solidFill>
                  <a:srgbClr val="2F3E4F"/>
                </a:solidFill>
              </a:rPr>
              <a:t>与主责咨询讨论进入策略，组织材料刷新与内部对齐；安排咨询赴现场</a:t>
            </a:r>
          </a:p>
        </p:txBody>
      </p:sp>
      <p:sp>
        <p:nvSpPr>
          <p:cNvPr id="10" name="Rounded Rectangle 9"/>
          <p:cNvSpPr/>
          <p:nvPr/>
        </p:nvSpPr>
        <p:spPr>
          <a:xfrm>
            <a:off x="365760" y="3406139"/>
            <a:ext cx="7955279" cy="868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3776" y="3675887"/>
            <a:ext cx="1417320" cy="329184"/>
          </a:xfrm>
          <a:prstGeom prst="roundRect">
            <a:avLst>
              <a:gd name="adj" fmla="val 50000"/>
            </a:avLst>
          </a:prstGeom>
          <a:solidFill>
            <a:srgbClr val="3F7B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团队与专业产出</a:t>
            </a:r>
          </a:p>
        </p:txBody>
      </p:sp>
      <p:sp>
        <p:nvSpPr>
          <p:cNvPr id="12" name="TextBox 11"/>
          <p:cNvSpPr txBox="1"/>
          <p:nvPr/>
        </p:nvSpPr>
        <p:spPr>
          <a:xfrm>
            <a:off x="2103120" y="3479291"/>
            <a:ext cx="6080759" cy="74066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第二轮方案材料，持续细化农业数字人、员工助手等需求</a:t>
            </a:r>
          </a:p>
          <a:p>
            <a:pPr algn="l" marL="146304" indent="-146304">
              <a:lnSpc>
                <a:spcPct val="112000"/>
              </a:lnSpc>
              <a:spcAft>
                <a:spcPts val="400"/>
              </a:spcAft>
              <a:buClr>
                <a:srgbClr val="0C4BA1"/>
              </a:buClr>
              <a:buSzPct val="100000"/>
              <a:buFont typeface="Arial"/>
              <a:buChar char="•"/>
            </a:pPr>
            <a:r>
              <a:rPr sz="1000" b="0">
                <a:solidFill>
                  <a:srgbClr val="2F3E4F"/>
                </a:solidFill>
              </a:rPr>
              <a:t>HLD编写；SoC、项目范围及报价合理性材料评审</a:t>
            </a:r>
          </a:p>
        </p:txBody>
      </p:sp>
      <p:sp>
        <p:nvSpPr>
          <p:cNvPr id="13" name="Rounded Rectangle 12"/>
          <p:cNvSpPr/>
          <p:nvPr/>
        </p:nvSpPr>
        <p:spPr>
          <a:xfrm>
            <a:off x="365760" y="4366259"/>
            <a:ext cx="7955279" cy="868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3776" y="4636007"/>
            <a:ext cx="1417320" cy="329184"/>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FFFFFF"/>
                </a:solidFill>
              </a:rPr>
              <a:t>已形成的产出 / 状态</a:t>
            </a:r>
          </a:p>
        </p:txBody>
      </p:sp>
      <p:sp>
        <p:nvSpPr>
          <p:cNvPr id="15" name="TextBox 14"/>
          <p:cNvSpPr txBox="1"/>
          <p:nvPr/>
        </p:nvSpPr>
        <p:spPr>
          <a:xfrm>
            <a:off x="2103120" y="4439411"/>
            <a:ext cx="6080759" cy="740664"/>
          </a:xfrm>
          <a:prstGeom prst="rect">
            <a:avLst/>
          </a:prstGeom>
          <a:noFill/>
        </p:spPr>
        <p:txBody>
          <a:bodyPr wrap="square" lIns="54864" tIns="36576" rIns="54864" bIns="36576" anchor="ctr">
            <a:noAutofit/>
          </a:bodyPr>
          <a:lstStyle/>
          <a:p>
            <a:pPr algn="l" marL="146304" indent="-146304">
              <a:lnSpc>
                <a:spcPct val="112000"/>
              </a:lnSpc>
              <a:spcAft>
                <a:spcPts val="400"/>
              </a:spcAft>
              <a:buClr>
                <a:srgbClr val="0C4BA1"/>
              </a:buClr>
              <a:buSzPct val="100000"/>
              <a:buFont typeface="Arial"/>
              <a:buChar char="•"/>
            </a:pPr>
            <a:r>
              <a:rPr sz="1000" b="0">
                <a:solidFill>
                  <a:srgbClr val="2F3E4F"/>
                </a:solidFill>
              </a:rPr>
              <a:t>8月完成细节对齐，拆为5个子项目；相应SoC已发送客户</a:t>
            </a:r>
          </a:p>
          <a:p>
            <a:pPr algn="l" marL="146304" indent="-146304">
              <a:lnSpc>
                <a:spcPct val="112000"/>
              </a:lnSpc>
              <a:spcAft>
                <a:spcPts val="400"/>
              </a:spcAft>
              <a:buClr>
                <a:srgbClr val="0C4BA1"/>
              </a:buClr>
              <a:buSzPct val="100000"/>
              <a:buFont typeface="Arial"/>
              <a:buChar char="•"/>
            </a:pPr>
            <a:r>
              <a:rPr sz="1000" b="0">
                <a:solidFill>
                  <a:srgbClr val="2F3E4F"/>
                </a:solidFill>
              </a:rPr>
              <a:t>等待商务及客户内部流程，不等同签约</a:t>
            </a:r>
          </a:p>
        </p:txBody>
      </p:sp>
      <p:sp>
        <p:nvSpPr>
          <p:cNvPr id="16" name="Rounded Rectangle 15"/>
          <p:cNvSpPr/>
          <p:nvPr/>
        </p:nvSpPr>
        <p:spPr>
          <a:xfrm>
            <a:off x="8577072" y="1485899"/>
            <a:ext cx="3246120" cy="1371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23376" y="1595627"/>
            <a:ext cx="3008376" cy="384048"/>
          </a:xfrm>
          <a:prstGeom prst="rect">
            <a:avLst/>
          </a:prstGeom>
          <a:noFill/>
        </p:spPr>
        <p:txBody>
          <a:bodyPr wrap="square" lIns="18288" tIns="0" rIns="18288" bIns="0" anchor="ctr">
            <a:noAutofit/>
          </a:bodyPr>
          <a:lstStyle/>
          <a:p>
            <a:pPr algn="l">
              <a:lnSpc>
                <a:spcPct val="112000"/>
              </a:lnSpc>
              <a:spcAft>
                <a:spcPts val="0"/>
              </a:spcAft>
            </a:pPr>
            <a:r>
              <a:rPr sz="1150" b="1">
                <a:solidFill>
                  <a:srgbClr val="0A2A5E"/>
                </a:solidFill>
              </a:rPr>
              <a:t>泰国</a:t>
            </a:r>
          </a:p>
        </p:txBody>
      </p:sp>
      <p:sp>
        <p:nvSpPr>
          <p:cNvPr id="18" name="TextBox 17"/>
          <p:cNvSpPr txBox="1"/>
          <p:nvPr/>
        </p:nvSpPr>
        <p:spPr>
          <a:xfrm>
            <a:off x="8686799" y="2034539"/>
            <a:ext cx="3026664" cy="768096"/>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0C4BA1"/>
              </a:buClr>
              <a:buSzPct val="100000"/>
              <a:buFont typeface="Arial"/>
              <a:buChar char="•"/>
            </a:pPr>
            <a:r>
              <a:rPr sz="950" b="0">
                <a:solidFill>
                  <a:srgbClr val="2F3E4F"/>
                </a:solidFill>
              </a:rPr>
              <a:t>根据预算约束调整方案和报价；与华为对齐MaaS、Agent平台及知识转移方向</a:t>
            </a:r>
          </a:p>
        </p:txBody>
      </p:sp>
      <p:sp>
        <p:nvSpPr>
          <p:cNvPr id="19" name="Rounded Rectangle 18"/>
          <p:cNvSpPr/>
          <p:nvPr/>
        </p:nvSpPr>
        <p:spPr>
          <a:xfrm>
            <a:off x="8577072" y="2967227"/>
            <a:ext cx="3246120" cy="11430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23376" y="3076955"/>
            <a:ext cx="3008376" cy="384048"/>
          </a:xfrm>
          <a:prstGeom prst="rect">
            <a:avLst/>
          </a:prstGeom>
          <a:noFill/>
        </p:spPr>
        <p:txBody>
          <a:bodyPr wrap="square" lIns="18288" tIns="0" rIns="18288" bIns="0" anchor="ctr">
            <a:noAutofit/>
          </a:bodyPr>
          <a:lstStyle/>
          <a:p>
            <a:pPr algn="l">
              <a:lnSpc>
                <a:spcPct val="112000"/>
              </a:lnSpc>
              <a:spcAft>
                <a:spcPts val="0"/>
              </a:spcAft>
            </a:pPr>
            <a:r>
              <a:rPr sz="1150" b="1">
                <a:solidFill>
                  <a:srgbClr val="0A2A5E"/>
                </a:solidFill>
              </a:rPr>
              <a:t>斯里兰卡</a:t>
            </a:r>
          </a:p>
        </p:txBody>
      </p:sp>
      <p:sp>
        <p:nvSpPr>
          <p:cNvPr id="21" name="TextBox 20"/>
          <p:cNvSpPr txBox="1"/>
          <p:nvPr/>
        </p:nvSpPr>
        <p:spPr>
          <a:xfrm>
            <a:off x="8686799" y="3515867"/>
            <a:ext cx="3026664" cy="539496"/>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0C4BA1"/>
              </a:buClr>
              <a:buSzPct val="100000"/>
              <a:buFont typeface="Arial"/>
              <a:buChar char="•"/>
            </a:pPr>
            <a:r>
              <a:rPr sz="950" b="0">
                <a:solidFill>
                  <a:srgbClr val="2F3E4F"/>
                </a:solidFill>
              </a:rPr>
              <a:t>完成二期援助方案初版并内部对齐；不等同援助批准或实施</a:t>
            </a:r>
          </a:p>
        </p:txBody>
      </p:sp>
      <p:sp>
        <p:nvSpPr>
          <p:cNvPr id="22" name="Rounded Rectangle 21"/>
          <p:cNvSpPr/>
          <p:nvPr/>
        </p:nvSpPr>
        <p:spPr>
          <a:xfrm>
            <a:off x="8577072" y="4219955"/>
            <a:ext cx="3246120" cy="9144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376" y="4329683"/>
            <a:ext cx="3008376" cy="384048"/>
          </a:xfrm>
          <a:prstGeom prst="rect">
            <a:avLst/>
          </a:prstGeom>
          <a:noFill/>
        </p:spPr>
        <p:txBody>
          <a:bodyPr wrap="square" lIns="18288" tIns="0" rIns="18288" bIns="0" anchor="ctr">
            <a:noAutofit/>
          </a:bodyPr>
          <a:lstStyle/>
          <a:p>
            <a:pPr algn="l">
              <a:lnSpc>
                <a:spcPct val="112000"/>
              </a:lnSpc>
              <a:spcAft>
                <a:spcPts val="0"/>
              </a:spcAft>
            </a:pPr>
            <a:r>
              <a:rPr sz="1150" b="1">
                <a:solidFill>
                  <a:srgbClr val="0A2A5E"/>
                </a:solidFill>
              </a:rPr>
              <a:t>其他线索</a:t>
            </a:r>
          </a:p>
        </p:txBody>
      </p:sp>
      <p:sp>
        <p:nvSpPr>
          <p:cNvPr id="24" name="TextBox 23"/>
          <p:cNvSpPr txBox="1"/>
          <p:nvPr/>
        </p:nvSpPr>
        <p:spPr>
          <a:xfrm>
            <a:off x="8686799" y="4768595"/>
            <a:ext cx="3026664" cy="310896"/>
          </a:xfrm>
          <a:prstGeom prst="rect">
            <a:avLst/>
          </a:prstGeom>
          <a:noFill/>
        </p:spPr>
        <p:txBody>
          <a:bodyPr wrap="square" lIns="54864" tIns="36576" rIns="54864" bIns="36576" anchor="t">
            <a:noAutofit/>
          </a:bodyPr>
          <a:lstStyle/>
          <a:p>
            <a:pPr algn="l" marL="146304" indent="-146304">
              <a:lnSpc>
                <a:spcPct val="112000"/>
              </a:lnSpc>
              <a:spcAft>
                <a:spcPts val="400"/>
              </a:spcAft>
              <a:buClr>
                <a:srgbClr val="0C4BA1"/>
              </a:buClr>
              <a:buSzPct val="100000"/>
              <a:buFont typeface="Arial"/>
              <a:buChar char="•"/>
            </a:pPr>
            <a:r>
              <a:rPr sz="950" b="0">
                <a:solidFill>
                  <a:srgbClr val="2F3E4F"/>
                </a:solidFill>
              </a:rPr>
              <a:t>按需求和预算变化动态跟进，不与成熟采购项目同口径评价</a:t>
            </a:r>
          </a:p>
        </p:txBody>
      </p:sp>
      <p:sp>
        <p:nvSpPr>
          <p:cNvPr id="25" name="Rounded Rectangle 24"/>
          <p:cNvSpPr/>
          <p:nvPr/>
        </p:nvSpPr>
        <p:spPr>
          <a:xfrm>
            <a:off x="365760" y="5399531"/>
            <a:ext cx="11457432" cy="502920"/>
          </a:xfrm>
          <a:prstGeom prst="roundRect">
            <a:avLst>
              <a:gd name="adj" fmla="val 12000"/>
            </a:avLst>
          </a:prstGeom>
          <a:solidFill>
            <a:srgbClr val="0A2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399531"/>
            <a:ext cx="11091672" cy="502920"/>
          </a:xfrm>
          <a:prstGeom prst="rect">
            <a:avLst/>
          </a:prstGeom>
          <a:noFill/>
        </p:spPr>
        <p:txBody>
          <a:bodyPr wrap="square" lIns="54864" tIns="36576" rIns="54864" bIns="36576" anchor="ctr">
            <a:noAutofit/>
          </a:bodyPr>
          <a:lstStyle/>
          <a:p>
            <a:pPr algn="l">
              <a:lnSpc>
                <a:spcPct val="112000"/>
              </a:lnSpc>
              <a:spcAft>
                <a:spcPts val="300"/>
              </a:spcAft>
            </a:pPr>
            <a:r>
              <a:rPr sz="1100" b="1">
                <a:solidFill>
                  <a:srgbClr val="FFFFFF"/>
                </a:solidFill>
              </a:rPr>
              <a:t>公司价值：让应用方案从“功能组合”转为明确范围、合作责任和采购输入，提前暴露总集与利润风险。</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咨询资源配置：按机会成熟度和可实施性作投入取舍</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目标管理类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22</a:t>
            </a:r>
          </a:p>
        </p:txBody>
      </p:sp>
      <p:graphicFrame>
        <p:nvGraphicFramePr>
          <p:cNvPr id="6" name="Table 5"/>
          <p:cNvGraphicFramePr>
            <a:graphicFrameLocks noGrp="1"/>
          </p:cNvGraphicFramePr>
          <p:nvPr/>
        </p:nvGraphicFramePr>
        <p:xfrm>
          <a:off x="365760" y="1463039"/>
          <a:ext cx="11457432" cy="3584448"/>
        </p:xfrm>
        <a:graphic>
          <a:graphicData uri="http://schemas.openxmlformats.org/drawingml/2006/table">
            <a:tbl>
              <a:tblPr firstRow="0" bandRow="0">
                <a:tableStyleId>{2D5ABB26-0587-4C30-8999-92F81FD0307C}</a:tableStyleId>
              </a:tblPr>
              <a:tblGrid>
                <a:gridCol w="2377440"/>
                <a:gridCol w="5486400"/>
                <a:gridCol w="3593592"/>
              </a:tblGrid>
              <a:tr h="384048">
                <a:tc>
                  <a:txBody>
                    <a:bodyPr wrap="square" lIns="64008" tIns="18288" rIns="64008" bIns="18288" anchor="ctr">
                      <a:noAutofit/>
                    </a:bodyPr>
                    <a:lstStyle/>
                    <a:p>
                      <a:pPr algn="l">
                        <a:lnSpc>
                          <a:spcPct val="112000"/>
                        </a:lnSpc>
                        <a:spcAft>
                          <a:spcPts val="0"/>
                        </a:spcAft>
                      </a:pPr>
                      <a:r>
                        <a:rPr sz="1050" b="1">
                          <a:solidFill>
                            <a:srgbClr val="FFFFFF"/>
                          </a:solidFill>
                        </a:rPr>
                        <a:t>管理判断</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实际案例与动作</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对资源和经营的意义</a:t>
                      </a:r>
                    </a:p>
                  </a:txBody>
                  <a:tcPr anchor="ctr">
                    <a:lnL w="0">
                      <a:noFill/>
                    </a:lnL>
                    <a:lnR w="0">
                      <a:noFill/>
                    </a:lnR>
                    <a:lnT w="0">
                      <a:noFill/>
                    </a:lnT>
                    <a:lnB w="0">
                      <a:noFill/>
                    </a:lnB>
                    <a:solidFill>
                      <a:srgbClr val="0C4BA1"/>
                    </a:solidFill>
                  </a:tcPr>
                </a:tc>
              </a:tr>
              <a:tr h="640080">
                <a:tc>
                  <a:txBody>
                    <a:bodyPr wrap="square" lIns="64008" tIns="27432" rIns="64008" bIns="27432" anchor="ctr">
                      <a:noAutofit/>
                    </a:bodyPr>
                    <a:lstStyle/>
                    <a:p>
                      <a:pPr algn="l">
                        <a:lnSpc>
                          <a:spcPct val="108000"/>
                        </a:lnSpc>
                        <a:spcAft>
                          <a:spcPts val="200"/>
                        </a:spcAft>
                      </a:pPr>
                      <a:r>
                        <a:rPr sz="950" b="1">
                          <a:solidFill>
                            <a:srgbClr val="0A2A5E"/>
                          </a:solidFill>
                        </a:rPr>
                        <a:t>无预算或无明确需求，不长期等量投入</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4月周报提出减少无预算、需求不清线索的消耗，聚焦有预算和落地可能的机会；与主责咨询分析乌兹TS AI并提出关闭建议</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为资源优先级提供依据；建议不等同于所有线索已正式关闭</a:t>
                      </a:r>
                    </a:p>
                  </a:txBody>
                  <a:tcPr anchor="ctr">
                    <a:lnL w="0">
                      <a:noFill/>
                    </a:lnL>
                    <a:lnR w="0">
                      <a:noFill/>
                    </a:lnR>
                    <a:lnT w="0">
                      <a:noFill/>
                    </a:lnT>
                    <a:lnB w="9525" cap="flat" cmpd="sng" algn="ctr">
                      <a:solidFill>
                        <a:srgbClr val="D3DCE8"/>
                      </a:solidFill>
                      <a:prstDash val="solid"/>
                    </a:lnB>
                    <a:solidFill>
                      <a:srgbClr val="FFFFFF"/>
                    </a:solidFill>
                  </a:tcPr>
                </a:tc>
              </a:tr>
              <a:tr h="640080">
                <a:tc>
                  <a:txBody>
                    <a:bodyPr wrap="square" lIns="64008" tIns="27432" rIns="64008" bIns="27432" anchor="ctr">
                      <a:noAutofit/>
                    </a:bodyPr>
                    <a:lstStyle/>
                    <a:p>
                      <a:pPr algn="l">
                        <a:lnSpc>
                          <a:spcPct val="108000"/>
                        </a:lnSpc>
                        <a:spcAft>
                          <a:spcPts val="200"/>
                        </a:spcAft>
                      </a:pPr>
                      <a:r>
                        <a:rPr sz="950" b="1">
                          <a:solidFill>
                            <a:srgbClr val="0A2A5E"/>
                          </a:solidFill>
                        </a:rPr>
                        <a:t>大项目条件不足，调整进入路径</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对沙特STC当年模型训练机会不足，提出先以小型应用或人才培训切入</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保留客户关系的同时，讨论与当期条件匹配的推进方式</a:t>
                      </a:r>
                    </a:p>
                  </a:txBody>
                  <a:tcPr anchor="ctr">
                    <a:lnL w="0">
                      <a:noFill/>
                    </a:lnL>
                    <a:lnR w="0">
                      <a:noFill/>
                    </a:lnR>
                    <a:lnT w="0">
                      <a:noFill/>
                    </a:lnT>
                    <a:lnB w="9525" cap="flat" cmpd="sng" algn="ctr">
                      <a:solidFill>
                        <a:srgbClr val="D3DCE8"/>
                      </a:solidFill>
                      <a:prstDash val="solid"/>
                    </a:lnB>
                    <a:solidFill>
                      <a:srgbClr val="F6F8FC"/>
                    </a:solidFill>
                  </a:tcPr>
                </a:tc>
              </a:tr>
              <a:tr h="640080">
                <a:tc>
                  <a:txBody>
                    <a:bodyPr wrap="square" lIns="64008" tIns="27432" rIns="64008" bIns="27432" anchor="ctr">
                      <a:noAutofit/>
                    </a:bodyPr>
                    <a:lstStyle/>
                    <a:p>
                      <a:pPr algn="l">
                        <a:lnSpc>
                          <a:spcPct val="108000"/>
                        </a:lnSpc>
                        <a:spcAft>
                          <a:spcPts val="200"/>
                        </a:spcAft>
                      </a:pPr>
                      <a:r>
                        <a:rPr sz="950" b="1">
                          <a:solidFill>
                            <a:srgbClr val="0A2A5E"/>
                          </a:solidFill>
                        </a:rPr>
                        <a:t>按预算和能力收敛工作范围</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IGNITE讨论最小工作范围；泰国依据预算调整平台和服务方案</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避免以宽泛承诺争取机会后由后端承担不可控投入</a:t>
                      </a:r>
                    </a:p>
                  </a:txBody>
                  <a:tcPr anchor="ctr">
                    <a:lnL w="0">
                      <a:noFill/>
                    </a:lnL>
                    <a:lnR w="0">
                      <a:noFill/>
                    </a:lnR>
                    <a:lnT w="0">
                      <a:noFill/>
                    </a:lnT>
                    <a:lnB w="9525" cap="flat" cmpd="sng" algn="ctr">
                      <a:solidFill>
                        <a:srgbClr val="D3DCE8"/>
                      </a:solidFill>
                      <a:prstDash val="solid"/>
                    </a:lnB>
                    <a:solidFill>
                      <a:srgbClr val="FFFFFF"/>
                    </a:solidFill>
                  </a:tcPr>
                </a:tc>
              </a:tr>
              <a:tr h="640080">
                <a:tc>
                  <a:txBody>
                    <a:bodyPr wrap="square" lIns="64008" tIns="27432" rIns="64008" bIns="27432" anchor="ctr">
                      <a:noAutofit/>
                    </a:bodyPr>
                    <a:lstStyle/>
                    <a:p>
                      <a:pPr algn="l">
                        <a:lnSpc>
                          <a:spcPct val="108000"/>
                        </a:lnSpc>
                        <a:spcAft>
                          <a:spcPts val="200"/>
                        </a:spcAft>
                      </a:pPr>
                      <a:r>
                        <a:rPr sz="950" b="1">
                          <a:solidFill>
                            <a:srgbClr val="0A2A5E"/>
                          </a:solidFill>
                        </a:rPr>
                        <a:t>总集与非标准内容，先审责任和成本</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SDEC总集及伙伴集成、KNG范围差异、埃及合同输入不足等问题进入评审</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将潜在风险前移，支持更清楚的参与和承诺决策</a:t>
                      </a:r>
                    </a:p>
                  </a:txBody>
                  <a:tcPr anchor="ctr">
                    <a:lnL w="0">
                      <a:noFill/>
                    </a:lnL>
                    <a:lnR w="0">
                      <a:noFill/>
                    </a:lnR>
                    <a:lnT w="0">
                      <a:noFill/>
                    </a:lnT>
                    <a:lnB w="9525" cap="flat" cmpd="sng" algn="ctr">
                      <a:solidFill>
                        <a:srgbClr val="D3DCE8"/>
                      </a:solidFill>
                      <a:prstDash val="solid"/>
                    </a:lnB>
                    <a:solidFill>
                      <a:srgbClr val="F6F8FC"/>
                    </a:solidFill>
                  </a:tcPr>
                </a:tc>
              </a:tr>
              <a:tr h="640080">
                <a:tc>
                  <a:txBody>
                    <a:bodyPr wrap="square" lIns="64008" tIns="27432" rIns="64008" bIns="27432" anchor="ctr">
                      <a:noAutofit/>
                    </a:bodyPr>
                    <a:lstStyle/>
                    <a:p>
                      <a:pPr algn="l">
                        <a:lnSpc>
                          <a:spcPct val="108000"/>
                        </a:lnSpc>
                        <a:spcAft>
                          <a:spcPts val="200"/>
                        </a:spcAft>
                      </a:pPr>
                      <a:r>
                        <a:rPr sz="950" b="1">
                          <a:solidFill>
                            <a:srgbClr val="0A2A5E"/>
                          </a:solidFill>
                        </a:rPr>
                        <a:t>有限人员优先保障关键节点</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巴西、埃及驻场和轮换并发时，结合项目阶段调度咨询，必要时本人接续或引入专业支撑</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保持关键任务连续性，并兼顾其他区域的成熟机会</a:t>
                      </a:r>
                    </a:p>
                  </a:txBody>
                  <a:tcPr anchor="ctr">
                    <a:lnL w="0">
                      <a:noFill/>
                    </a:lnL>
                    <a:lnR w="0">
                      <a:noFill/>
                    </a:lnR>
                    <a:lnT w="0">
                      <a:noFill/>
                    </a:lnT>
                    <a:lnB w="9525" cap="flat" cmpd="sng" algn="ctr">
                      <a:solidFill>
                        <a:srgbClr val="D3DCE8"/>
                      </a:solidFill>
                      <a:prstDash val="solid"/>
                    </a:lnB>
                    <a:solidFill>
                      <a:srgbClr val="FFFFFF"/>
                    </a:solidFill>
                  </a:tcPr>
                </a:tc>
              </a:tr>
            </a:tbl>
          </a:graphicData>
        </a:graphic>
      </p:graphicFrame>
      <p:sp>
        <p:nvSpPr>
          <p:cNvPr id="7" name="TextBox 6"/>
          <p:cNvSpPr txBox="1"/>
          <p:nvPr/>
        </p:nvSpPr>
        <p:spPr>
          <a:xfrm>
            <a:off x="365760" y="5212079"/>
            <a:ext cx="2377440" cy="292608"/>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回顾归纳的投入原则</a:t>
            </a:r>
          </a:p>
        </p:txBody>
      </p:sp>
      <p:sp>
        <p:nvSpPr>
          <p:cNvPr id="8" name="Rounded Rectangle 7"/>
          <p:cNvSpPr/>
          <p:nvPr/>
        </p:nvSpPr>
        <p:spPr>
          <a:xfrm>
            <a:off x="2834640" y="5230366"/>
            <a:ext cx="1709927" cy="274320"/>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客户是否明确</a:t>
            </a:r>
          </a:p>
        </p:txBody>
      </p:sp>
      <p:sp>
        <p:nvSpPr>
          <p:cNvPr id="9" name="Rounded Rectangle 8"/>
          <p:cNvSpPr/>
          <p:nvPr/>
        </p:nvSpPr>
        <p:spPr>
          <a:xfrm>
            <a:off x="4654296" y="5230366"/>
            <a:ext cx="1709927" cy="274320"/>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预算与决策是否具备</a:t>
            </a:r>
          </a:p>
        </p:txBody>
      </p:sp>
      <p:sp>
        <p:nvSpPr>
          <p:cNvPr id="10" name="Rounded Rectangle 9"/>
          <p:cNvSpPr/>
          <p:nvPr/>
        </p:nvSpPr>
        <p:spPr>
          <a:xfrm>
            <a:off x="6473952" y="5230366"/>
            <a:ext cx="1709927" cy="274320"/>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我方差异化是否成立</a:t>
            </a:r>
          </a:p>
        </p:txBody>
      </p:sp>
      <p:sp>
        <p:nvSpPr>
          <p:cNvPr id="11" name="Rounded Rectangle 10"/>
          <p:cNvSpPr/>
          <p:nvPr/>
        </p:nvSpPr>
        <p:spPr>
          <a:xfrm>
            <a:off x="8293607" y="5230366"/>
            <a:ext cx="1709927" cy="274320"/>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承诺是否可交付</a:t>
            </a:r>
          </a:p>
        </p:txBody>
      </p:sp>
      <p:sp>
        <p:nvSpPr>
          <p:cNvPr id="12" name="Rounded Rectangle 11"/>
          <p:cNvSpPr/>
          <p:nvPr/>
        </p:nvSpPr>
        <p:spPr>
          <a:xfrm>
            <a:off x="10113263" y="5230366"/>
            <a:ext cx="1709927" cy="274320"/>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0A2A5E"/>
                </a:solidFill>
              </a:rPr>
              <a:t>当前最值得投入的下一步</a:t>
            </a:r>
          </a:p>
        </p:txBody>
      </p:sp>
      <p:sp>
        <p:nvSpPr>
          <p:cNvPr id="13" name="TextBox 12"/>
          <p:cNvSpPr txBox="1"/>
          <p:nvPr/>
        </p:nvSpPr>
        <p:spPr>
          <a:xfrm>
            <a:off x="365760" y="5596127"/>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价值边界：已有记录证明进行了策略与资源判断；尚无统一统计支持投入减少比例、转化率提升或成本节约金额。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方案资产与产品反馈：将项目经验用于其他国家和内部研发讨论</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902952" y="548640"/>
            <a:ext cx="1920240"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运营类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23</a:t>
            </a:r>
          </a:p>
        </p:txBody>
      </p:sp>
      <p:graphicFrame>
        <p:nvGraphicFramePr>
          <p:cNvPr id="6" name="Table 5"/>
          <p:cNvGraphicFramePr>
            <a:graphicFrameLocks noGrp="1"/>
          </p:cNvGraphicFramePr>
          <p:nvPr/>
        </p:nvGraphicFramePr>
        <p:xfrm>
          <a:off x="365760" y="1170432"/>
          <a:ext cx="11457432" cy="4334256"/>
        </p:xfrm>
        <a:graphic>
          <a:graphicData uri="http://schemas.openxmlformats.org/drawingml/2006/table">
            <a:tbl>
              <a:tblPr firstRow="0" bandRow="0">
                <a:tableStyleId>{2D5ABB26-0587-4C30-8999-92F81FD0307C}</a:tableStyleId>
              </a:tblPr>
              <a:tblGrid>
                <a:gridCol w="1828800"/>
                <a:gridCol w="4754880"/>
                <a:gridCol w="3566160"/>
                <a:gridCol w="1307592"/>
              </a:tblGrid>
              <a:tr h="384048">
                <a:tc>
                  <a:txBody>
                    <a:bodyPr wrap="square" lIns="64008" tIns="18288" rIns="64008" bIns="18288" anchor="ctr">
                      <a:noAutofit/>
                    </a:bodyPr>
                    <a:lstStyle/>
                    <a:p>
                      <a:pPr algn="l">
                        <a:lnSpc>
                          <a:spcPct val="112000"/>
                        </a:lnSpc>
                        <a:spcAft>
                          <a:spcPts val="0"/>
                        </a:spcAft>
                      </a:pPr>
                      <a:r>
                        <a:rPr sz="1050" b="1">
                          <a:solidFill>
                            <a:srgbClr val="FFFFFF"/>
                          </a:solidFill>
                        </a:rPr>
                        <a:t>资产 / 输入类型</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已记录的工作与使用</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本人作用</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状态</a:t>
                      </a:r>
                    </a:p>
                  </a:txBody>
                  <a:tcPr anchor="ctr">
                    <a:lnL w="0">
                      <a:noFill/>
                    </a:lnL>
                    <a:lnR w="0">
                      <a:noFill/>
                    </a:lnR>
                    <a:lnT w="0">
                      <a:noFill/>
                    </a:lnT>
                    <a:lnB w="0">
                      <a:noFill/>
                    </a:lnB>
                    <a:solidFill>
                      <a:srgbClr val="0C4BA1"/>
                    </a:solidFill>
                  </a:tcPr>
                </a:tc>
              </a:tr>
              <a:tr h="658368">
                <a:tc>
                  <a:txBody>
                    <a:bodyPr wrap="square" lIns="64008" tIns="27432" rIns="64008" bIns="27432" anchor="ctr">
                      <a:noAutofit/>
                    </a:bodyPr>
                    <a:lstStyle/>
                    <a:p>
                      <a:pPr algn="l">
                        <a:lnSpc>
                          <a:spcPct val="108000"/>
                        </a:lnSpc>
                        <a:spcAft>
                          <a:spcPts val="200"/>
                        </a:spcAft>
                      </a:pPr>
                      <a:r>
                        <a:rPr sz="950" b="1">
                          <a:solidFill>
                            <a:srgbClr val="0A2A5E"/>
                          </a:solidFill>
                        </a:rPr>
                        <a:t>国别定制方案</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巴西、埃塞俄比亚、巴基斯坦、加纳等国别方案，按预算、数据和客户阶段持续迭代</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明确价值逻辑与关键方向，组织产出与评审</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ctr">
                        <a:lnSpc>
                          <a:spcPct val="108000"/>
                        </a:lnSpc>
                        <a:spcAft>
                          <a:spcPts val="200"/>
                        </a:spcAft>
                      </a:pPr>
                      <a:r>
                        <a:rPr sz="950" b="1">
                          <a:solidFill>
                            <a:srgbClr val="1F8F5F"/>
                          </a:solidFill>
                        </a:rPr>
                        <a:t>已有项目使用</a:t>
                      </a:r>
                    </a:p>
                  </a:txBody>
                  <a:tcPr anchor="ctr">
                    <a:lnL w="0">
                      <a:noFill/>
                    </a:lnL>
                    <a:lnR w="0">
                      <a:noFill/>
                    </a:lnR>
                    <a:lnT w="0">
                      <a:noFill/>
                    </a:lnT>
                    <a:lnB w="9525" cap="flat" cmpd="sng" algn="ctr">
                      <a:solidFill>
                        <a:srgbClr val="D3DCE8"/>
                      </a:solidFill>
                      <a:prstDash val="solid"/>
                    </a:lnB>
                    <a:solidFill>
                      <a:srgbClr val="FFFFFF"/>
                    </a:solidFill>
                  </a:tcPr>
                </a:tc>
              </a:tr>
              <a:tr h="658368">
                <a:tc>
                  <a:txBody>
                    <a:bodyPr wrap="square" lIns="64008" tIns="27432" rIns="64008" bIns="27432" anchor="ctr">
                      <a:noAutofit/>
                    </a:bodyPr>
                    <a:lstStyle/>
                    <a:p>
                      <a:pPr algn="l">
                        <a:lnSpc>
                          <a:spcPct val="108000"/>
                        </a:lnSpc>
                        <a:spcAft>
                          <a:spcPts val="200"/>
                        </a:spcAft>
                      </a:pPr>
                      <a:r>
                        <a:rPr sz="950" b="1">
                          <a:solidFill>
                            <a:srgbClr val="0A2A5E"/>
                          </a:solidFill>
                        </a:rPr>
                        <a:t>跨国方案基线</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加纳与巴西方案基线拉通；调用巴西、加纳经验支持IGNITE讨论</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推动不同现场的信息、范围和方法相互参照</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ctr">
                        <a:lnSpc>
                          <a:spcPct val="108000"/>
                        </a:lnSpc>
                        <a:spcAft>
                          <a:spcPts val="200"/>
                        </a:spcAft>
                      </a:pPr>
                      <a:r>
                        <a:rPr sz="950" b="1">
                          <a:solidFill>
                            <a:srgbClr val="1F8F5F"/>
                          </a:solidFill>
                        </a:rPr>
                        <a:t>已有复用</a:t>
                      </a:r>
                    </a:p>
                  </a:txBody>
                  <a:tcPr anchor="ctr">
                    <a:lnL w="0">
                      <a:noFill/>
                    </a:lnL>
                    <a:lnR w="0">
                      <a:noFill/>
                    </a:lnR>
                    <a:lnT w="0">
                      <a:noFill/>
                    </a:lnT>
                    <a:lnB w="9525" cap="flat" cmpd="sng" algn="ctr">
                      <a:solidFill>
                        <a:srgbClr val="D3DCE8"/>
                      </a:solidFill>
                      <a:prstDash val="solid"/>
                    </a:lnB>
                    <a:solidFill>
                      <a:srgbClr val="F6F8FC"/>
                    </a:solidFill>
                  </a:tcPr>
                </a:tc>
              </a:tr>
              <a:tr h="658368">
                <a:tc>
                  <a:txBody>
                    <a:bodyPr wrap="square" lIns="64008" tIns="27432" rIns="64008" bIns="27432" anchor="ctr">
                      <a:noAutofit/>
                    </a:bodyPr>
                    <a:lstStyle/>
                    <a:p>
                      <a:pPr algn="l">
                        <a:lnSpc>
                          <a:spcPct val="108000"/>
                        </a:lnSpc>
                        <a:spcAft>
                          <a:spcPts val="200"/>
                        </a:spcAft>
                      </a:pPr>
                      <a:r>
                        <a:rPr sz="950" b="1">
                          <a:solidFill>
                            <a:srgbClr val="0A2A5E"/>
                          </a:solidFill>
                        </a:rPr>
                        <a:t>模型选型与表达口径</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针对埃及开闭源模型选择等问题，整理现场反馈形成团队口径材料</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复盘关键问题，提炼面向不同客户的表达重点</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ctr">
                        <a:lnSpc>
                          <a:spcPct val="108000"/>
                        </a:lnSpc>
                        <a:spcAft>
                          <a:spcPts val="200"/>
                        </a:spcAft>
                      </a:pPr>
                      <a:r>
                        <a:rPr sz="950" b="1">
                          <a:solidFill>
                            <a:srgbClr val="1F8F5F"/>
                          </a:solidFill>
                        </a:rPr>
                        <a:t>已有复用</a:t>
                      </a:r>
                    </a:p>
                  </a:txBody>
                  <a:tcPr anchor="ctr">
                    <a:lnL w="0">
                      <a:noFill/>
                    </a:lnL>
                    <a:lnR w="0">
                      <a:noFill/>
                    </a:lnR>
                    <a:lnT w="0">
                      <a:noFill/>
                    </a:lnT>
                    <a:lnB w="9525" cap="flat" cmpd="sng" algn="ctr">
                      <a:solidFill>
                        <a:srgbClr val="D3DCE8"/>
                      </a:solidFill>
                      <a:prstDash val="solid"/>
                    </a:lnB>
                    <a:solidFill>
                      <a:srgbClr val="FFFFFF"/>
                    </a:solidFill>
                  </a:tcPr>
                </a:tc>
              </a:tr>
              <a:tr h="658368">
                <a:tc>
                  <a:txBody>
                    <a:bodyPr wrap="square" lIns="64008" tIns="27432" rIns="64008" bIns="27432" anchor="ctr">
                      <a:noAutofit/>
                    </a:bodyPr>
                    <a:lstStyle/>
                    <a:p>
                      <a:pPr algn="l">
                        <a:lnSpc>
                          <a:spcPct val="108000"/>
                        </a:lnSpc>
                        <a:spcAft>
                          <a:spcPts val="200"/>
                        </a:spcAft>
                      </a:pPr>
                      <a:r>
                        <a:rPr sz="950" b="1">
                          <a:solidFill>
                            <a:srgbClr val="0A2A5E"/>
                          </a:solidFill>
                        </a:rPr>
                        <a:t>LTC相关材料经验</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HLD、SoC、RFI、技术建议书、概算、验收及合同范围在各项目持续产出</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评审关键内容，推动材料与客户阶段、交易条件衔接</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ctr">
                        <a:lnSpc>
                          <a:spcPct val="108000"/>
                        </a:lnSpc>
                        <a:spcAft>
                          <a:spcPts val="200"/>
                        </a:spcAft>
                      </a:pPr>
                      <a:r>
                        <a:rPr sz="950" b="1">
                          <a:solidFill>
                            <a:srgbClr val="C57B14"/>
                          </a:solidFill>
                        </a:rPr>
                        <a:t>样例积累</a:t>
                      </a:r>
                    </a:p>
                  </a:txBody>
                  <a:tcPr anchor="ctr">
                    <a:lnL w="0">
                      <a:noFill/>
                    </a:lnL>
                    <a:lnR w="0">
                      <a:noFill/>
                    </a:lnR>
                    <a:lnT w="0">
                      <a:noFill/>
                    </a:lnT>
                    <a:lnB w="9525" cap="flat" cmpd="sng" algn="ctr">
                      <a:solidFill>
                        <a:srgbClr val="D3DCE8"/>
                      </a:solidFill>
                      <a:prstDash val="solid"/>
                    </a:lnB>
                    <a:solidFill>
                      <a:srgbClr val="F6F8FC"/>
                    </a:solidFill>
                  </a:tcPr>
                </a:tc>
              </a:tr>
              <a:tr h="658368">
                <a:tc>
                  <a:txBody>
                    <a:bodyPr wrap="square" lIns="64008" tIns="27432" rIns="64008" bIns="27432" anchor="ctr">
                      <a:noAutofit/>
                    </a:bodyPr>
                    <a:lstStyle/>
                    <a:p>
                      <a:pPr algn="l">
                        <a:lnSpc>
                          <a:spcPct val="108000"/>
                        </a:lnSpc>
                        <a:spcAft>
                          <a:spcPts val="200"/>
                        </a:spcAft>
                      </a:pPr>
                      <a:r>
                        <a:rPr sz="950" b="1">
                          <a:solidFill>
                            <a:srgbClr val="0A2A5E"/>
                          </a:solidFill>
                        </a:rPr>
                        <a:t>产品与研发需求反馈</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参与开源大模型方案研发开工、三大中心国际版研发及相关评审讨论</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将海外客户诉求、竞争与实施约束带入内部讨论</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ctr">
                        <a:lnSpc>
                          <a:spcPct val="108000"/>
                        </a:lnSpc>
                        <a:spcAft>
                          <a:spcPts val="200"/>
                        </a:spcAft>
                      </a:pPr>
                      <a:r>
                        <a:rPr sz="950" b="1">
                          <a:solidFill>
                            <a:srgbClr val="3F7BD6"/>
                          </a:solidFill>
                        </a:rPr>
                        <a:t>研发输入</a:t>
                      </a:r>
                    </a:p>
                  </a:txBody>
                  <a:tcPr anchor="ctr">
                    <a:lnL w="0">
                      <a:noFill/>
                    </a:lnL>
                    <a:lnR w="0">
                      <a:noFill/>
                    </a:lnR>
                    <a:lnT w="0">
                      <a:noFill/>
                    </a:lnT>
                    <a:lnB w="9525" cap="flat" cmpd="sng" algn="ctr">
                      <a:solidFill>
                        <a:srgbClr val="D3DCE8"/>
                      </a:solidFill>
                      <a:prstDash val="solid"/>
                    </a:lnB>
                    <a:solidFill>
                      <a:srgbClr val="FFFFFF"/>
                    </a:solidFill>
                  </a:tcPr>
                </a:tc>
              </a:tr>
              <a:tr h="658368">
                <a:tc>
                  <a:txBody>
                    <a:bodyPr wrap="square" lIns="64008" tIns="27432" rIns="64008" bIns="27432" anchor="ctr">
                      <a:noAutofit/>
                    </a:bodyPr>
                    <a:lstStyle/>
                    <a:p>
                      <a:pPr algn="l">
                        <a:lnSpc>
                          <a:spcPct val="108000"/>
                        </a:lnSpc>
                        <a:spcAft>
                          <a:spcPts val="200"/>
                        </a:spcAft>
                      </a:pPr>
                      <a:r>
                        <a:rPr sz="950" b="1">
                          <a:solidFill>
                            <a:srgbClr val="0A2A5E"/>
                          </a:solidFill>
                        </a:rPr>
                        <a:t>应用演示与新工作方式</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AI辅助场景Demo探索与试点；后续有AI Connection Demo等产出记录</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推动咨询侧尝试更直接的场景验证方式</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ctr">
                        <a:lnSpc>
                          <a:spcPct val="108000"/>
                        </a:lnSpc>
                        <a:spcAft>
                          <a:spcPts val="200"/>
                        </a:spcAft>
                      </a:pPr>
                      <a:r>
                        <a:rPr sz="950" b="1">
                          <a:solidFill>
                            <a:srgbClr val="C57B14"/>
                          </a:solidFill>
                        </a:rPr>
                        <a:t>试点中</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7" name="Rounded Rectangle 6"/>
          <p:cNvSpPr/>
          <p:nvPr/>
        </p:nvSpPr>
        <p:spPr>
          <a:xfrm>
            <a:off x="365760" y="5650992"/>
            <a:ext cx="11457432" cy="566928"/>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650992"/>
            <a:ext cx="11183111" cy="566928"/>
          </a:xfrm>
          <a:prstGeom prst="rect">
            <a:avLst/>
          </a:prstGeom>
          <a:noFill/>
        </p:spPr>
        <p:txBody>
          <a:bodyPr wrap="square" lIns="54864" tIns="36576" rIns="54864" bIns="36576" anchor="ctr">
            <a:noAutofit/>
          </a:bodyPr>
          <a:lstStyle/>
          <a:p>
            <a:pPr algn="l">
              <a:lnSpc>
                <a:spcPct val="112000"/>
              </a:lnSpc>
              <a:spcAft>
                <a:spcPts val="100"/>
              </a:spcAft>
            </a:pPr>
            <a:r>
              <a:rPr sz="950" b="1">
                <a:solidFill>
                  <a:srgbClr val="2F3E4F"/>
                </a:solidFill>
              </a:rPr>
              <a:t>组织价值</a:t>
            </a:r>
            <a:r>
              <a:rPr sz="950" b="0">
                <a:solidFill>
                  <a:srgbClr val="2F3E4F"/>
                </a:solidFill>
              </a:rPr>
              <a:t>　让一次项目投入不仅服务当前客户，也为其他国家的价值呈现、范围讨论和材料准备留下可用经验。</a:t>
            </a:r>
          </a:p>
          <a:p>
            <a:pPr algn="l">
              <a:lnSpc>
                <a:spcPct val="112000"/>
              </a:lnSpc>
              <a:spcAft>
                <a:spcPts val="100"/>
              </a:spcAft>
            </a:pPr>
            <a:r>
              <a:rPr sz="950" b="1">
                <a:solidFill>
                  <a:srgbClr val="2F3E4F"/>
                </a:solidFill>
              </a:rPr>
              <a:t>建设边界</a:t>
            </a:r>
            <a:r>
              <a:rPr sz="950" b="0">
                <a:solidFill>
                  <a:srgbClr val="2F3E4F"/>
                </a:solidFill>
              </a:rPr>
              <a:t>　复用已经发生；完整版本治理、使用反馈和统一知识库仍需继续完善。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伙伴赋能与高层交流：把公司能力转化为客户和伙伴可理解的方案</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610344" y="548640"/>
            <a:ext cx="2212848"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岗位特性类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24</a:t>
            </a:r>
          </a:p>
        </p:txBody>
      </p:sp>
      <p:graphicFrame>
        <p:nvGraphicFramePr>
          <p:cNvPr id="6" name="Table 5"/>
          <p:cNvGraphicFramePr>
            <a:graphicFrameLocks noGrp="1"/>
          </p:cNvGraphicFramePr>
          <p:nvPr/>
        </p:nvGraphicFramePr>
        <p:xfrm>
          <a:off x="365760" y="1380743"/>
          <a:ext cx="11457432" cy="4041648"/>
        </p:xfrm>
        <a:graphic>
          <a:graphicData uri="http://schemas.openxmlformats.org/drawingml/2006/table">
            <a:tbl>
              <a:tblPr firstRow="0" bandRow="0">
                <a:tableStyleId>{2D5ABB26-0587-4C30-8999-92F81FD0307C}</a:tableStyleId>
              </a:tblPr>
              <a:tblGrid>
                <a:gridCol w="1737360"/>
                <a:gridCol w="4206240"/>
                <a:gridCol w="2834640"/>
                <a:gridCol w="2679192"/>
              </a:tblGrid>
              <a:tr h="384048">
                <a:tc>
                  <a:txBody>
                    <a:bodyPr wrap="square" lIns="64008" tIns="18288" rIns="64008" bIns="18288" anchor="ctr">
                      <a:noAutofit/>
                    </a:bodyPr>
                    <a:lstStyle/>
                    <a:p>
                      <a:pPr algn="l">
                        <a:lnSpc>
                          <a:spcPct val="112000"/>
                        </a:lnSpc>
                        <a:spcAft>
                          <a:spcPts val="0"/>
                        </a:spcAft>
                      </a:pPr>
                      <a:r>
                        <a:rPr sz="1050" b="1">
                          <a:solidFill>
                            <a:srgbClr val="FFFFFF"/>
                          </a:solidFill>
                        </a:rPr>
                        <a:t>工作场景</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具体工作与产出</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本人与团队分工</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对业务的作用</a:t>
                      </a:r>
                    </a:p>
                  </a:txBody>
                  <a:tcPr anchor="ctr">
                    <a:lnL w="0">
                      <a:noFill/>
                    </a:lnL>
                    <a:lnR w="0">
                      <a:noFill/>
                    </a:lnR>
                    <a:lnT w="0">
                      <a:noFill/>
                    </a:lnT>
                    <a:lnB w="0">
                      <a:noFill/>
                    </a:lnB>
                    <a:solidFill>
                      <a:srgbClr val="0C4BA1"/>
                    </a:solidFill>
                  </a:tcPr>
                </a:tc>
              </a:tr>
              <a:tr h="731520">
                <a:tc>
                  <a:txBody>
                    <a:bodyPr wrap="square" lIns="64008" tIns="27432" rIns="64008" bIns="27432" anchor="ctr">
                      <a:noAutofit/>
                    </a:bodyPr>
                    <a:lstStyle/>
                    <a:p>
                      <a:pPr algn="l">
                        <a:lnSpc>
                          <a:spcPct val="108000"/>
                        </a:lnSpc>
                        <a:spcAft>
                          <a:spcPts val="200"/>
                        </a:spcAft>
                      </a:pPr>
                      <a:r>
                        <a:rPr sz="950" b="1">
                          <a:solidFill>
                            <a:srgbClr val="0A2A5E"/>
                          </a:solidFill>
                        </a:rPr>
                        <a:t>MWC等行业活动</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完成国家主权大模型圆桌方案分享与相关营销工作</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本人参与价值呈现，团队共同准备材料</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面向目标客户和伙伴的方案表达，不仅宣传单项产品</a:t>
                      </a:r>
                    </a:p>
                  </a:txBody>
                  <a:tcPr anchor="ctr">
                    <a:lnL w="0">
                      <a:noFill/>
                    </a:lnL>
                    <a:lnR w="0">
                      <a:noFill/>
                    </a:lnR>
                    <a:lnT w="0">
                      <a:noFill/>
                    </a:lnT>
                    <a:lnB w="9525" cap="flat" cmpd="sng" algn="ctr">
                      <a:solidFill>
                        <a:srgbClr val="D3DCE8"/>
                      </a:solidFill>
                      <a:prstDash val="solid"/>
                    </a:lnB>
                    <a:solidFill>
                      <a:srgbClr val="FFFFFF"/>
                    </a:solidFill>
                  </a:tcPr>
                </a:tc>
              </a:tr>
              <a:tr h="731520">
                <a:tc>
                  <a:txBody>
                    <a:bodyPr wrap="square" lIns="64008" tIns="27432" rIns="64008" bIns="27432" anchor="ctr">
                      <a:noAutofit/>
                    </a:bodyPr>
                    <a:lstStyle/>
                    <a:p>
                      <a:pPr algn="l">
                        <a:lnSpc>
                          <a:spcPct val="108000"/>
                        </a:lnSpc>
                        <a:spcAft>
                          <a:spcPts val="200"/>
                        </a:spcAft>
                      </a:pPr>
                      <a:r>
                        <a:rPr sz="950" b="1">
                          <a:solidFill>
                            <a:srgbClr val="0A2A5E"/>
                          </a:solidFill>
                        </a:rPr>
                        <a:t>华为区域与代表处赋能</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面向拉美、南部非洲、中亚及相关代表处开展主权AI、平台和场景方案培训；8月完成南部非洲高阶训战；北非智算周材料完成并通过伙伴评审</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本人统筹重点内容和资源，主责咨询承担部分现场分享</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帮助伙伴理解讯飞可承担的价值、场景与实施内容</a:t>
                      </a:r>
                    </a:p>
                  </a:txBody>
                  <a:tcPr anchor="ctr">
                    <a:lnL w="0">
                      <a:noFill/>
                    </a:lnL>
                    <a:lnR w="0">
                      <a:noFill/>
                    </a:lnR>
                    <a:lnT w="0">
                      <a:noFill/>
                    </a:lnT>
                    <a:lnB w="9525" cap="flat" cmpd="sng" algn="ctr">
                      <a:solidFill>
                        <a:srgbClr val="D3DCE8"/>
                      </a:solidFill>
                      <a:prstDash val="solid"/>
                    </a:lnB>
                    <a:solidFill>
                      <a:srgbClr val="F6F8FC"/>
                    </a:solidFill>
                  </a:tcPr>
                </a:tc>
              </a:tr>
              <a:tr h="731520">
                <a:tc>
                  <a:txBody>
                    <a:bodyPr wrap="square" lIns="64008" tIns="27432" rIns="64008" bIns="27432" anchor="ctr">
                      <a:noAutofit/>
                    </a:bodyPr>
                    <a:lstStyle/>
                    <a:p>
                      <a:pPr algn="l">
                        <a:lnSpc>
                          <a:spcPct val="108000"/>
                        </a:lnSpc>
                        <a:spcAft>
                          <a:spcPts val="200"/>
                        </a:spcAft>
                      </a:pPr>
                      <a:r>
                        <a:rPr sz="950" b="1">
                          <a:solidFill>
                            <a:srgbClr val="0A2A5E"/>
                          </a:solidFill>
                        </a:rPr>
                        <a:t>重点客户高层交流</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SERPRO来访及后续深圳交流；MGI高层接待远程协调与谈参准备；其他政企客户方案和技术交流</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根据对象组织背景、目标、方案和演示，各环节由对应人员承担</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将合作兴趣转为可继续对接的业务议题和材料</a:t>
                      </a:r>
                    </a:p>
                  </a:txBody>
                  <a:tcPr anchor="ctr">
                    <a:lnL w="0">
                      <a:noFill/>
                    </a:lnL>
                    <a:lnR w="0">
                      <a:noFill/>
                    </a:lnR>
                    <a:lnT w="0">
                      <a:noFill/>
                    </a:lnT>
                    <a:lnB w="9525" cap="flat" cmpd="sng" algn="ctr">
                      <a:solidFill>
                        <a:srgbClr val="D3DCE8"/>
                      </a:solidFill>
                      <a:prstDash val="solid"/>
                    </a:lnB>
                    <a:solidFill>
                      <a:srgbClr val="FFFFFF"/>
                    </a:solidFill>
                  </a:tcPr>
                </a:tc>
              </a:tr>
              <a:tr h="731520">
                <a:tc>
                  <a:txBody>
                    <a:bodyPr wrap="square" lIns="64008" tIns="27432" rIns="64008" bIns="27432" anchor="ctr">
                      <a:noAutofit/>
                    </a:bodyPr>
                    <a:lstStyle/>
                    <a:p>
                      <a:pPr algn="l">
                        <a:lnSpc>
                          <a:spcPct val="108000"/>
                        </a:lnSpc>
                        <a:spcAft>
                          <a:spcPts val="200"/>
                        </a:spcAft>
                      </a:pPr>
                      <a:r>
                        <a:rPr sz="950" b="1">
                          <a:solidFill>
                            <a:srgbClr val="0A2A5E"/>
                          </a:solidFill>
                        </a:rPr>
                        <a:t>集团级跨产线接待</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金光集团大模型板块接待：拉通工业智能、企业数字化、金融、行业大师等能力，准备展厅演示、汇报材料并现场汇报</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本人承担军团侧总体协调和相关汇报，产线提供专业演示与方案</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把分散能力组织为客户能够理解的整体价值</a:t>
                      </a:r>
                    </a:p>
                  </a:txBody>
                  <a:tcPr anchor="ctr">
                    <a:lnL w="0">
                      <a:noFill/>
                    </a:lnL>
                    <a:lnR w="0">
                      <a:noFill/>
                    </a:lnR>
                    <a:lnT w="0">
                      <a:noFill/>
                    </a:lnT>
                    <a:lnB w="9525" cap="flat" cmpd="sng" algn="ctr">
                      <a:solidFill>
                        <a:srgbClr val="D3DCE8"/>
                      </a:solidFill>
                      <a:prstDash val="solid"/>
                    </a:lnB>
                    <a:solidFill>
                      <a:srgbClr val="F6F8FC"/>
                    </a:solidFill>
                  </a:tcPr>
                </a:tc>
              </a:tr>
              <a:tr h="731520">
                <a:tc>
                  <a:txBody>
                    <a:bodyPr wrap="square" lIns="64008" tIns="27432" rIns="64008" bIns="27432" anchor="ctr">
                      <a:noAutofit/>
                    </a:bodyPr>
                    <a:lstStyle/>
                    <a:p>
                      <a:pPr algn="l">
                        <a:lnSpc>
                          <a:spcPct val="108000"/>
                        </a:lnSpc>
                        <a:spcAft>
                          <a:spcPts val="200"/>
                        </a:spcAft>
                      </a:pPr>
                      <a:r>
                        <a:rPr sz="950" b="1">
                          <a:solidFill>
                            <a:srgbClr val="0A2A5E"/>
                          </a:solidFill>
                        </a:rPr>
                        <a:t>区域行业与应用交流</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阿曼油气、白俄来访、哈萨克斯坦平台等交流形成方案和反馈</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组织咨询与销售、产线协同，团队面向客户交付</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为后续客户需求和项目推进建立信息基础</a:t>
                      </a:r>
                    </a:p>
                  </a:txBody>
                  <a:tcPr anchor="ctr">
                    <a:lnL w="0">
                      <a:noFill/>
                    </a:lnL>
                    <a:lnR w="0">
                      <a:noFill/>
                    </a:lnR>
                    <a:lnT w="0">
                      <a:noFill/>
                    </a:lnT>
                    <a:lnB w="9525" cap="flat" cmpd="sng" algn="ctr">
                      <a:solidFill>
                        <a:srgbClr val="D3DCE8"/>
                      </a:solidFill>
                      <a:prstDash val="solid"/>
                    </a:lnB>
                    <a:solidFill>
                      <a:srgbClr val="FFFFFF"/>
                    </a:solidFill>
                  </a:tcPr>
                </a:tc>
              </a:tr>
            </a:tbl>
          </a:graphicData>
        </a:graphic>
      </p:graphicFrame>
      <p:sp>
        <p:nvSpPr>
          <p:cNvPr id="7" name="TextBox 6"/>
          <p:cNvSpPr txBox="1"/>
          <p:nvPr/>
        </p:nvSpPr>
        <p:spPr>
          <a:xfrm>
            <a:off x="365760" y="5550407"/>
            <a:ext cx="11457432" cy="457200"/>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本人重点：明确每次交流的对象、希望推动的事项、需要呈现的能力和会后动作。成果口径：交流、材料和赋能为已完成工作；商机金额与收入不推算。</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协同机制与工作方法：已开展实践，持续提高稳定性</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9902952" y="548640"/>
            <a:ext cx="1920240"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 ｜ 运营类</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25</a:t>
            </a:r>
          </a:p>
        </p:txBody>
      </p:sp>
      <p:graphicFrame>
        <p:nvGraphicFramePr>
          <p:cNvPr id="6" name="Table 5"/>
          <p:cNvGraphicFramePr>
            <a:graphicFrameLocks noGrp="1"/>
          </p:cNvGraphicFramePr>
          <p:nvPr/>
        </p:nvGraphicFramePr>
        <p:xfrm>
          <a:off x="365760" y="1426463"/>
          <a:ext cx="11457432" cy="3950208"/>
        </p:xfrm>
        <a:graphic>
          <a:graphicData uri="http://schemas.openxmlformats.org/drawingml/2006/table">
            <a:tbl>
              <a:tblPr firstRow="0" bandRow="0">
                <a:tableStyleId>{2D5ABB26-0587-4C30-8999-92F81FD0307C}</a:tableStyleId>
              </a:tblPr>
              <a:tblGrid>
                <a:gridCol w="1645920"/>
                <a:gridCol w="4206240"/>
                <a:gridCol w="2926080"/>
                <a:gridCol w="2679192"/>
              </a:tblGrid>
              <a:tr h="384048">
                <a:tc>
                  <a:txBody>
                    <a:bodyPr wrap="square" lIns="64008" tIns="18288" rIns="64008" bIns="18288" anchor="ctr">
                      <a:noAutofit/>
                    </a:bodyPr>
                    <a:lstStyle/>
                    <a:p>
                      <a:pPr algn="l">
                        <a:lnSpc>
                          <a:spcPct val="112000"/>
                        </a:lnSpc>
                        <a:spcAft>
                          <a:spcPts val="0"/>
                        </a:spcAft>
                      </a:pPr>
                      <a:r>
                        <a:rPr sz="1050" b="1">
                          <a:solidFill>
                            <a:srgbClr val="FFFFFF"/>
                          </a:solidFill>
                        </a:rPr>
                        <a:t>已开展实践</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具体记录与做法</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形成的作用</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后续需要完善</a:t>
                      </a:r>
                    </a:p>
                  </a:txBody>
                  <a:tcPr anchor="ctr">
                    <a:lnL w="0">
                      <a:noFill/>
                    </a:lnL>
                    <a:lnR w="0">
                      <a:noFill/>
                    </a:lnR>
                    <a:lnT w="0">
                      <a:noFill/>
                    </a:lnT>
                    <a:lnB w="0">
                      <a:noFill/>
                    </a:lnB>
                    <a:solidFill>
                      <a:srgbClr val="0C4BA1"/>
                    </a:solidFill>
                  </a:tcPr>
                </a:tc>
              </a:tr>
              <a:tr h="713232">
                <a:tc>
                  <a:txBody>
                    <a:bodyPr wrap="square" lIns="64008" tIns="27432" rIns="64008" bIns="27432" anchor="ctr">
                      <a:noAutofit/>
                    </a:bodyPr>
                    <a:lstStyle/>
                    <a:p>
                      <a:pPr algn="l">
                        <a:lnSpc>
                          <a:spcPct val="108000"/>
                        </a:lnSpc>
                        <a:spcAft>
                          <a:spcPts val="200"/>
                        </a:spcAft>
                      </a:pPr>
                      <a:r>
                        <a:rPr sz="950" b="1">
                          <a:solidFill>
                            <a:srgbClr val="0A2A5E"/>
                          </a:solidFill>
                        </a:rPr>
                        <a:t>集中办公与辅导</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合肥3次集中办公共18天、广州骨干集中办公4天及常态化辅导；5月北京集中办公开展具体项目评审</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将问题讨论、方案打磨和带教结合，不只做一般培训</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把关键案例和复盘结论形成可复用记录</a:t>
                      </a:r>
                    </a:p>
                  </a:txBody>
                  <a:tcPr anchor="ctr">
                    <a:lnL w="0">
                      <a:noFill/>
                    </a:lnL>
                    <a:lnR w="0">
                      <a:noFill/>
                    </a:lnR>
                    <a:lnT w="0">
                      <a:noFill/>
                    </a:lnT>
                    <a:lnB w="9525" cap="flat" cmpd="sng" algn="ctr">
                      <a:solidFill>
                        <a:srgbClr val="D3DCE8"/>
                      </a:solidFill>
                      <a:prstDash val="solid"/>
                    </a:lnB>
                    <a:solidFill>
                      <a:srgbClr val="FFFFFF"/>
                    </a:solidFill>
                  </a:tcPr>
                </a:tc>
              </a:tr>
              <a:tr h="713232">
                <a:tc>
                  <a:txBody>
                    <a:bodyPr wrap="square" lIns="64008" tIns="27432" rIns="64008" bIns="27432" anchor="ctr">
                      <a:noAutofit/>
                    </a:bodyPr>
                    <a:lstStyle/>
                    <a:p>
                      <a:pPr algn="l">
                        <a:lnSpc>
                          <a:spcPct val="108000"/>
                        </a:lnSpc>
                        <a:spcAft>
                          <a:spcPts val="200"/>
                        </a:spcAft>
                      </a:pPr>
                      <a:r>
                        <a:rPr sz="950" b="1">
                          <a:solidFill>
                            <a:srgbClr val="0A2A5E"/>
                          </a:solidFill>
                        </a:rPr>
                        <a:t>前后场协同接口</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识别销售与咨询协同、跨过咨询直接调用后端等问题并推动处理</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减少信息分散，需求与资源通过更清楚的接口组织</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明确各类项目的主责、协同和升级安排</a:t>
                      </a:r>
                    </a:p>
                  </a:txBody>
                  <a:tcPr anchor="ctr">
                    <a:lnL w="0">
                      <a:noFill/>
                    </a:lnL>
                    <a:lnR w="0">
                      <a:noFill/>
                    </a:lnR>
                    <a:lnT w="0">
                      <a:noFill/>
                    </a:lnT>
                    <a:lnB w="9525" cap="flat" cmpd="sng" algn="ctr">
                      <a:solidFill>
                        <a:srgbClr val="D3DCE8"/>
                      </a:solidFill>
                      <a:prstDash val="solid"/>
                    </a:lnB>
                    <a:solidFill>
                      <a:srgbClr val="F6F8FC"/>
                    </a:solidFill>
                  </a:tcPr>
                </a:tc>
              </a:tr>
              <a:tr h="713232">
                <a:tc>
                  <a:txBody>
                    <a:bodyPr wrap="square" lIns="64008" tIns="27432" rIns="64008" bIns="27432" anchor="ctr">
                      <a:noAutofit/>
                    </a:bodyPr>
                    <a:lstStyle/>
                    <a:p>
                      <a:pPr algn="l">
                        <a:lnSpc>
                          <a:spcPct val="108000"/>
                        </a:lnSpc>
                        <a:spcAft>
                          <a:spcPts val="200"/>
                        </a:spcAft>
                      </a:pPr>
                      <a:r>
                        <a:rPr sz="950" b="1">
                          <a:solidFill>
                            <a:srgbClr val="0A2A5E"/>
                          </a:solidFill>
                        </a:rPr>
                        <a:t>LTC工作梳理</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参与国际系统部LTC协同机制和作战地图梳理，从咨询侧提出诉求并参与宣贯</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将实际协作问题转为共同工作讨论</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执行效果、责任更新和例外处理持续跟踪</a:t>
                      </a:r>
                    </a:p>
                  </a:txBody>
                  <a:tcPr anchor="ctr">
                    <a:lnL w="0">
                      <a:noFill/>
                    </a:lnL>
                    <a:lnR w="0">
                      <a:noFill/>
                    </a:lnR>
                    <a:lnT w="0">
                      <a:noFill/>
                    </a:lnT>
                    <a:lnB w="9525" cap="flat" cmpd="sng" algn="ctr">
                      <a:solidFill>
                        <a:srgbClr val="D3DCE8"/>
                      </a:solidFill>
                      <a:prstDash val="solid"/>
                    </a:lnB>
                    <a:solidFill>
                      <a:srgbClr val="FFFFFF"/>
                    </a:solidFill>
                  </a:tcPr>
                </a:tc>
              </a:tr>
              <a:tr h="713232">
                <a:tc>
                  <a:txBody>
                    <a:bodyPr wrap="square" lIns="64008" tIns="27432" rIns="64008" bIns="27432" anchor="ctr">
                      <a:noAutofit/>
                    </a:bodyPr>
                    <a:lstStyle/>
                    <a:p>
                      <a:pPr algn="l">
                        <a:lnSpc>
                          <a:spcPct val="108000"/>
                        </a:lnSpc>
                        <a:spcAft>
                          <a:spcPts val="200"/>
                        </a:spcAft>
                      </a:pPr>
                      <a:r>
                        <a:rPr sz="950" b="1">
                          <a:solidFill>
                            <a:srgbClr val="0A2A5E"/>
                          </a:solidFill>
                        </a:rPr>
                        <a:t>关键材料复核</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对国别方案、SoC、标书、报价及合同范围进行评审，发现风险后组织产线、法财或服务介入</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把质量与承诺问题前移</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形成统一的评审触发条件和状态留痕</a:t>
                      </a:r>
                    </a:p>
                  </a:txBody>
                  <a:tcPr anchor="ctr">
                    <a:lnL w="0">
                      <a:noFill/>
                    </a:lnL>
                    <a:lnR w="0">
                      <a:noFill/>
                    </a:lnR>
                    <a:lnT w="0">
                      <a:noFill/>
                    </a:lnT>
                    <a:lnB w="9525" cap="flat" cmpd="sng" algn="ctr">
                      <a:solidFill>
                        <a:srgbClr val="D3DCE8"/>
                      </a:solidFill>
                      <a:prstDash val="solid"/>
                    </a:lnB>
                    <a:solidFill>
                      <a:srgbClr val="F6F8FC"/>
                    </a:solidFill>
                  </a:tcPr>
                </a:tc>
              </a:tr>
              <a:tr h="713232">
                <a:tc>
                  <a:txBody>
                    <a:bodyPr wrap="square" lIns="64008" tIns="27432" rIns="64008" bIns="27432" anchor="ctr">
                      <a:noAutofit/>
                    </a:bodyPr>
                    <a:lstStyle/>
                    <a:p>
                      <a:pPr algn="l">
                        <a:lnSpc>
                          <a:spcPct val="108000"/>
                        </a:lnSpc>
                        <a:spcAft>
                          <a:spcPts val="200"/>
                        </a:spcAft>
                      </a:pPr>
                      <a:r>
                        <a:rPr sz="950" b="1">
                          <a:solidFill>
                            <a:srgbClr val="0A2A5E"/>
                          </a:solidFill>
                        </a:rPr>
                        <a:t>AI辅助Demo探索</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5月底开展快速构建Demo研究，6月进行咨询侧试点与推广</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尝试让咨询更直接地展示和验证场景</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继续验证适用范围、交付质量及实际投入效果</a:t>
                      </a:r>
                    </a:p>
                  </a:txBody>
                  <a:tcPr anchor="ctr">
                    <a:lnL w="0">
                      <a:noFill/>
                    </a:lnL>
                    <a:lnR w="0">
                      <a:noFill/>
                    </a:lnR>
                    <a:lnT w="0">
                      <a:noFill/>
                    </a:lnT>
                    <a:lnB w="9525" cap="flat" cmpd="sng" algn="ctr">
                      <a:solidFill>
                        <a:srgbClr val="D3DCE8"/>
                      </a:solidFill>
                      <a:prstDash val="solid"/>
                    </a:lnB>
                    <a:solidFill>
                      <a:srgbClr val="FFFFFF"/>
                    </a:solidFill>
                  </a:tcPr>
                </a:tc>
              </a:tr>
            </a:tbl>
          </a:graphicData>
        </a:graphic>
      </p:graphicFrame>
      <p:sp>
        <p:nvSpPr>
          <p:cNvPr id="7" name="TextBox 6"/>
          <p:cNvSpPr txBox="1"/>
          <p:nvPr/>
        </p:nvSpPr>
        <p:spPr>
          <a:xfrm>
            <a:off x="365760" y="5504687"/>
            <a:ext cx="11457432" cy="457200"/>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管理价值：让经验不仅留在个人处理问题的过程里，也逐步进入团队可理解、可复用的工作方式。阶段判断：已有实践不等于全部制度化，提效探索不等于已量化。</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各项展开述职：四类角色的完成情况与可完善之处</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1-管理角色澄清</a:t>
            </a:r>
          </a:p>
        </p:txBody>
      </p:sp>
      <p:sp>
        <p:nvSpPr>
          <p:cNvPr id="4" name="Rounded Rectangle 3"/>
          <p:cNvSpPr/>
          <p:nvPr/>
        </p:nvSpPr>
        <p:spPr>
          <a:xfrm>
            <a:off x="10780776" y="548640"/>
            <a:ext cx="1042416"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承上启下</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26</a:t>
            </a:r>
          </a:p>
        </p:txBody>
      </p:sp>
      <p:graphicFrame>
        <p:nvGraphicFramePr>
          <p:cNvPr id="6" name="Table 5"/>
          <p:cNvGraphicFramePr>
            <a:graphicFrameLocks noGrp="1"/>
          </p:cNvGraphicFramePr>
          <p:nvPr/>
        </p:nvGraphicFramePr>
        <p:xfrm>
          <a:off x="365760" y="1353311"/>
          <a:ext cx="11457432" cy="3675888"/>
        </p:xfrm>
        <a:graphic>
          <a:graphicData uri="http://schemas.openxmlformats.org/drawingml/2006/table">
            <a:tbl>
              <a:tblPr firstRow="0" bandRow="0">
                <a:tableStyleId>{2D5ABB26-0587-4C30-8999-92F81FD0307C}</a:tableStyleId>
              </a:tblPr>
              <a:tblGrid>
                <a:gridCol w="1554480"/>
                <a:gridCol w="5029200"/>
                <a:gridCol w="3200400"/>
                <a:gridCol w="1673352"/>
              </a:tblGrid>
              <a:tr h="384048">
                <a:tc>
                  <a:txBody>
                    <a:bodyPr wrap="square" lIns="64008" tIns="18288" rIns="64008" bIns="18288" anchor="ctr">
                      <a:noAutofit/>
                    </a:bodyPr>
                    <a:lstStyle/>
                    <a:p>
                      <a:pPr algn="l">
                        <a:lnSpc>
                          <a:spcPct val="112000"/>
                        </a:lnSpc>
                        <a:spcAft>
                          <a:spcPts val="0"/>
                        </a:spcAft>
                      </a:pPr>
                      <a:r>
                        <a:rPr sz="1050" b="1">
                          <a:solidFill>
                            <a:srgbClr val="FFFFFF"/>
                          </a:solidFill>
                        </a:rPr>
                        <a:t>管理角色</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完成较好之处与关键举措</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可完善之处</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自评</a:t>
                      </a:r>
                    </a:p>
                  </a:txBody>
                  <a:tcPr anchor="ctr">
                    <a:lnL w="0">
                      <a:noFill/>
                    </a:lnL>
                    <a:lnR w="0">
                      <a:noFill/>
                    </a:lnR>
                    <a:lnT w="0">
                      <a:noFill/>
                    </a:lnT>
                    <a:lnB w="0">
                      <a:noFill/>
                    </a:lnB>
                    <a:solidFill>
                      <a:srgbClr val="0C4BA1"/>
                    </a:solidFill>
                  </a:tcPr>
                </a:tc>
              </a:tr>
              <a:tr h="822960">
                <a:tc>
                  <a:txBody>
                    <a:bodyPr wrap="square" lIns="64008" tIns="27432" rIns="64008" bIns="27432" anchor="ctr">
                      <a:noAutofit/>
                    </a:bodyPr>
                    <a:lstStyle/>
                    <a:p>
                      <a:pPr algn="l">
                        <a:lnSpc>
                          <a:spcPct val="108000"/>
                        </a:lnSpc>
                        <a:spcAft>
                          <a:spcPts val="200"/>
                        </a:spcAft>
                      </a:pPr>
                      <a:r>
                        <a:rPr sz="1050" b="1">
                          <a:solidFill>
                            <a:srgbClr val="0A2A5E"/>
                          </a:solidFill>
                        </a:rPr>
                        <a:t>岗位特性类</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50" b="0">
                          <a:solidFill>
                            <a:srgbClr val="2F3E4F"/>
                          </a:solidFill>
                        </a:rPr>
                        <a:t>关键咨询亲自上场；技术路线获认可并进入TR；多国国别方案形成（P8—P10、P19）</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50" b="0">
                          <a:solidFill>
                            <a:srgbClr val="2F3E4F"/>
                          </a:solidFill>
                        </a:rPr>
                        <a:t>标准口径材料覆盖不全，部分判断仍依赖本人</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ctr">
                        <a:lnSpc>
                          <a:spcPct val="108000"/>
                        </a:lnSpc>
                        <a:spcAft>
                          <a:spcPts val="200"/>
                        </a:spcAft>
                      </a:pPr>
                      <a:r>
                        <a:rPr sz="1050" b="1">
                          <a:solidFill>
                            <a:srgbClr val="1F8F5F"/>
                          </a:solidFill>
                        </a:rPr>
                        <a:t>已形成</a:t>
                      </a:r>
                    </a:p>
                  </a:txBody>
                  <a:tcPr anchor="ctr">
                    <a:lnL w="0">
                      <a:noFill/>
                    </a:lnL>
                    <a:lnR w="0">
                      <a:noFill/>
                    </a:lnR>
                    <a:lnT w="0">
                      <a:noFill/>
                    </a:lnT>
                    <a:lnB w="9525" cap="flat" cmpd="sng" algn="ctr">
                      <a:solidFill>
                        <a:srgbClr val="D3DCE8"/>
                      </a:solidFill>
                      <a:prstDash val="solid"/>
                    </a:lnB>
                    <a:solidFill>
                      <a:srgbClr val="FFFFFF"/>
                    </a:solidFill>
                  </a:tcPr>
                </a:tc>
              </a:tr>
              <a:tr h="822960">
                <a:tc>
                  <a:txBody>
                    <a:bodyPr wrap="square" lIns="64008" tIns="27432" rIns="64008" bIns="27432" anchor="ctr">
                      <a:noAutofit/>
                    </a:bodyPr>
                    <a:lstStyle/>
                    <a:p>
                      <a:pPr algn="l">
                        <a:lnSpc>
                          <a:spcPct val="108000"/>
                        </a:lnSpc>
                        <a:spcAft>
                          <a:spcPts val="200"/>
                        </a:spcAft>
                      </a:pPr>
                      <a:r>
                        <a:rPr sz="1050" b="1">
                          <a:solidFill>
                            <a:srgbClr val="0A2A5E"/>
                          </a:solidFill>
                        </a:rPr>
                        <a:t>目标管理类</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50" b="0">
                          <a:solidFill>
                            <a:srgbClr val="2F3E4F"/>
                          </a:solidFill>
                        </a:rPr>
                        <a:t>政府间文件推进、交易与采购准备、SERPRO PoC、商机取舍（P7、P11—P15、P22）</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50" b="0">
                          <a:solidFill>
                            <a:srgbClr val="2F3E4F"/>
                          </a:solidFill>
                        </a:rPr>
                        <a:t>商业闭环未完成；前置事项可更早明确</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ctr">
                        <a:lnSpc>
                          <a:spcPct val="108000"/>
                        </a:lnSpc>
                        <a:spcAft>
                          <a:spcPts val="200"/>
                        </a:spcAft>
                      </a:pPr>
                      <a:r>
                        <a:rPr sz="1050" b="1">
                          <a:solidFill>
                            <a:srgbClr val="C57B14"/>
                          </a:solidFill>
                        </a:rPr>
                        <a:t>推进中</a:t>
                      </a:r>
                    </a:p>
                  </a:txBody>
                  <a:tcPr anchor="ctr">
                    <a:lnL w="0">
                      <a:noFill/>
                    </a:lnL>
                    <a:lnR w="0">
                      <a:noFill/>
                    </a:lnR>
                    <a:lnT w="0">
                      <a:noFill/>
                    </a:lnT>
                    <a:lnB w="9525" cap="flat" cmpd="sng" algn="ctr">
                      <a:solidFill>
                        <a:srgbClr val="D3DCE8"/>
                      </a:solidFill>
                      <a:prstDash val="solid"/>
                    </a:lnB>
                    <a:solidFill>
                      <a:srgbClr val="F6F8FC"/>
                    </a:solidFill>
                  </a:tcPr>
                </a:tc>
              </a:tr>
              <a:tr h="822960">
                <a:tc>
                  <a:txBody>
                    <a:bodyPr wrap="square" lIns="64008" tIns="27432" rIns="64008" bIns="27432" anchor="ctr">
                      <a:noAutofit/>
                    </a:bodyPr>
                    <a:lstStyle/>
                    <a:p>
                      <a:pPr algn="l">
                        <a:lnSpc>
                          <a:spcPct val="108000"/>
                        </a:lnSpc>
                        <a:spcAft>
                          <a:spcPts val="200"/>
                        </a:spcAft>
                      </a:pPr>
                      <a:r>
                        <a:rPr sz="1050" b="1">
                          <a:solidFill>
                            <a:srgbClr val="0A2A5E"/>
                          </a:solidFill>
                        </a:rPr>
                        <a:t>人与团队类</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50" b="0">
                          <a:solidFill>
                            <a:srgbClr val="2F3E4F"/>
                          </a:solidFill>
                        </a:rPr>
                        <a:t>区域主责配置、骨干承接、销售导入（P16、P17）</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50" b="0">
                          <a:solidFill>
                            <a:srgbClr val="2F3E4F"/>
                          </a:solidFill>
                        </a:rPr>
                        <a:t>单点依赖仍在；主备机制待完善</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ctr">
                        <a:lnSpc>
                          <a:spcPct val="108000"/>
                        </a:lnSpc>
                        <a:spcAft>
                          <a:spcPts val="200"/>
                        </a:spcAft>
                      </a:pPr>
                      <a:r>
                        <a:rPr sz="1050" b="1">
                          <a:solidFill>
                            <a:srgbClr val="C57B14"/>
                          </a:solidFill>
                        </a:rPr>
                        <a:t>推进中</a:t>
                      </a:r>
                    </a:p>
                  </a:txBody>
                  <a:tcPr anchor="ctr">
                    <a:lnL w="0">
                      <a:noFill/>
                    </a:lnL>
                    <a:lnR w="0">
                      <a:noFill/>
                    </a:lnR>
                    <a:lnT w="0">
                      <a:noFill/>
                    </a:lnT>
                    <a:lnB w="9525" cap="flat" cmpd="sng" algn="ctr">
                      <a:solidFill>
                        <a:srgbClr val="D3DCE8"/>
                      </a:solidFill>
                      <a:prstDash val="solid"/>
                    </a:lnB>
                    <a:solidFill>
                      <a:srgbClr val="FFFFFF"/>
                    </a:solidFill>
                  </a:tcPr>
                </a:tc>
              </a:tr>
              <a:tr h="822960">
                <a:tc>
                  <a:txBody>
                    <a:bodyPr wrap="square" lIns="64008" tIns="27432" rIns="64008" bIns="27432" anchor="ctr">
                      <a:noAutofit/>
                    </a:bodyPr>
                    <a:lstStyle/>
                    <a:p>
                      <a:pPr algn="l">
                        <a:lnSpc>
                          <a:spcPct val="108000"/>
                        </a:lnSpc>
                        <a:spcAft>
                          <a:spcPts val="200"/>
                        </a:spcAft>
                      </a:pPr>
                      <a:r>
                        <a:rPr sz="1050" b="1">
                          <a:solidFill>
                            <a:srgbClr val="0A2A5E"/>
                          </a:solidFill>
                        </a:rPr>
                        <a:t>运营类</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50" b="0">
                          <a:solidFill>
                            <a:srgbClr val="2F3E4F"/>
                          </a:solidFill>
                        </a:rPr>
                        <a:t>采购与合同书面化、本地承接矛盾处理、SoC与合同评审、机制建设（P12、P13、P18、P25）</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50" b="0">
                          <a:solidFill>
                            <a:srgbClr val="2F3E4F"/>
                          </a:solidFill>
                        </a:rPr>
                        <a:t>标准化与资产管理不足</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ctr">
                        <a:lnSpc>
                          <a:spcPct val="108000"/>
                        </a:lnSpc>
                        <a:spcAft>
                          <a:spcPts val="200"/>
                        </a:spcAft>
                      </a:pPr>
                      <a:r>
                        <a:rPr sz="1050" b="1">
                          <a:solidFill>
                            <a:srgbClr val="1F8F5F"/>
                          </a:solidFill>
                        </a:rPr>
                        <a:t>已形成</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7" name="Rounded Rectangle 6"/>
          <p:cNvSpPr/>
          <p:nvPr/>
        </p:nvSpPr>
        <p:spPr>
          <a:xfrm>
            <a:off x="365760" y="5303519"/>
            <a:ext cx="2727198" cy="731520"/>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5349238"/>
            <a:ext cx="2507741" cy="29260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C4BA1"/>
                </a:solidFill>
              </a:rPr>
              <a:t>看定位</a:t>
            </a:r>
          </a:p>
        </p:txBody>
      </p:sp>
      <p:sp>
        <p:nvSpPr>
          <p:cNvPr id="9" name="TextBox 8"/>
          <p:cNvSpPr txBox="1"/>
          <p:nvPr/>
        </p:nvSpPr>
        <p:spPr>
          <a:xfrm>
            <a:off x="475488" y="5641847"/>
            <a:ext cx="2507741" cy="36576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是否准确 → P4 角色表、P2 总览</a:t>
            </a:r>
          </a:p>
        </p:txBody>
      </p:sp>
      <p:sp>
        <p:nvSpPr>
          <p:cNvPr id="10" name="Rounded Rectangle 9"/>
          <p:cNvSpPr/>
          <p:nvPr/>
        </p:nvSpPr>
        <p:spPr>
          <a:xfrm>
            <a:off x="3275838" y="5303519"/>
            <a:ext cx="2727198" cy="731520"/>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5566" y="5349238"/>
            <a:ext cx="2507741" cy="29260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C4BA1"/>
                </a:solidFill>
              </a:rPr>
              <a:t>看结果</a:t>
            </a:r>
          </a:p>
        </p:txBody>
      </p:sp>
      <p:sp>
        <p:nvSpPr>
          <p:cNvPr id="12" name="TextBox 11"/>
          <p:cNvSpPr txBox="1"/>
          <p:nvPr/>
        </p:nvSpPr>
        <p:spPr>
          <a:xfrm>
            <a:off x="3385566" y="5641847"/>
            <a:ext cx="2507741" cy="36576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是否达到预期 → P6 巴西全景、P16 组织建设</a:t>
            </a:r>
          </a:p>
        </p:txBody>
      </p:sp>
      <p:sp>
        <p:nvSpPr>
          <p:cNvPr id="13" name="Rounded Rectangle 12"/>
          <p:cNvSpPr/>
          <p:nvPr/>
        </p:nvSpPr>
        <p:spPr>
          <a:xfrm>
            <a:off x="6185916" y="5303519"/>
            <a:ext cx="2727198" cy="731520"/>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5644" y="5349238"/>
            <a:ext cx="2507741" cy="29260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C4BA1"/>
                </a:solidFill>
              </a:rPr>
              <a:t>看过程动作</a:t>
            </a:r>
          </a:p>
        </p:txBody>
      </p:sp>
      <p:sp>
        <p:nvSpPr>
          <p:cNvPr id="15" name="TextBox 14"/>
          <p:cNvSpPr txBox="1"/>
          <p:nvPr/>
        </p:nvSpPr>
        <p:spPr>
          <a:xfrm>
            <a:off x="6295644" y="5641847"/>
            <a:ext cx="2507741" cy="36576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是否扎实到位 → P7、P9、P13 案例</a:t>
            </a:r>
          </a:p>
        </p:txBody>
      </p:sp>
      <p:sp>
        <p:nvSpPr>
          <p:cNvPr id="16" name="Rounded Rectangle 15"/>
          <p:cNvSpPr/>
          <p:nvPr/>
        </p:nvSpPr>
        <p:spPr>
          <a:xfrm>
            <a:off x="9095994" y="5303519"/>
            <a:ext cx="2727198" cy="731520"/>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05722" y="5349238"/>
            <a:ext cx="2507741" cy="29260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C4BA1"/>
                </a:solidFill>
              </a:rPr>
              <a:t>看时间精力</a:t>
            </a:r>
          </a:p>
        </p:txBody>
      </p:sp>
      <p:sp>
        <p:nvSpPr>
          <p:cNvPr id="18" name="TextBox 17"/>
          <p:cNvSpPr txBox="1"/>
          <p:nvPr/>
        </p:nvSpPr>
        <p:spPr>
          <a:xfrm>
            <a:off x="9205722" y="5641847"/>
            <a:ext cx="2507741" cy="365760"/>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是否充分保障 → P5 同期投入</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不足与改进：经营闭环、主备承接与成果口径仍需加强</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2-不足分析与改进</a:t>
            </a:r>
          </a:p>
        </p:txBody>
      </p:sp>
      <p:sp>
        <p:nvSpPr>
          <p:cNvPr id="4" name="TextBox 3"/>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27</a:t>
            </a:r>
          </a:p>
        </p:txBody>
      </p:sp>
      <p:sp>
        <p:nvSpPr>
          <p:cNvPr id="5" name="TextBox 4"/>
          <p:cNvSpPr txBox="1"/>
          <p:nvPr/>
        </p:nvSpPr>
        <p:spPr>
          <a:xfrm>
            <a:off x="365760" y="1170432"/>
            <a:ext cx="5486400" cy="29260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1. 当前经营状态与本人改进责任</a:t>
            </a:r>
          </a:p>
        </p:txBody>
      </p:sp>
      <p:graphicFrame>
        <p:nvGraphicFramePr>
          <p:cNvPr id="6" name="Table 5"/>
          <p:cNvGraphicFramePr>
            <a:graphicFrameLocks noGrp="1"/>
          </p:cNvGraphicFramePr>
          <p:nvPr/>
        </p:nvGraphicFramePr>
        <p:xfrm>
          <a:off x="365760" y="1499616"/>
          <a:ext cx="11457431" cy="1737360"/>
        </p:xfrm>
        <a:graphic>
          <a:graphicData uri="http://schemas.openxmlformats.org/drawingml/2006/table">
            <a:tbl>
              <a:tblPr firstRow="0" bandRow="0">
                <a:tableStyleId>{2D5ABB26-0587-4C30-8999-92F81FD0307C}</a:tableStyleId>
              </a:tblPr>
              <a:tblGrid>
                <a:gridCol w="1463040"/>
                <a:gridCol w="3200400"/>
                <a:gridCol w="3749039"/>
                <a:gridCol w="3044952"/>
              </a:tblGrid>
              <a:tr h="384048">
                <a:tc>
                  <a:txBody>
                    <a:bodyPr wrap="square" lIns="64008" tIns="18288" rIns="64008" bIns="18288" anchor="ctr">
                      <a:noAutofit/>
                    </a:bodyPr>
                    <a:lstStyle/>
                    <a:p>
                      <a:pPr algn="l">
                        <a:lnSpc>
                          <a:spcPct val="112000"/>
                        </a:lnSpc>
                        <a:spcAft>
                          <a:spcPts val="0"/>
                        </a:spcAft>
                      </a:pPr>
                      <a:r>
                        <a:rPr sz="1050" b="1">
                          <a:solidFill>
                            <a:srgbClr val="FFFFFF"/>
                          </a:solidFill>
                        </a:rPr>
                        <a:t>事项</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当前状态 / 客观依赖</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本人能够进一步改进的工作</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检验方式</a:t>
                      </a:r>
                    </a:p>
                  </a:txBody>
                  <a:tcPr anchor="ctr">
                    <a:lnL w="0">
                      <a:noFill/>
                    </a:lnL>
                    <a:lnR w="0">
                      <a:noFill/>
                    </a:lnR>
                    <a:lnT w="0">
                      <a:noFill/>
                    </a:lnT>
                    <a:lnB w="0">
                      <a:noFill/>
                    </a:lnB>
                    <a:solidFill>
                      <a:srgbClr val="0C4BA1"/>
                    </a:solidFill>
                  </a:tcPr>
                </a:tc>
              </a:tr>
              <a:tr h="676656">
                <a:tc>
                  <a:txBody>
                    <a:bodyPr wrap="square" lIns="64008" tIns="27432" rIns="64008" bIns="27432" anchor="ctr">
                      <a:noAutofit/>
                    </a:bodyPr>
                    <a:lstStyle/>
                    <a:p>
                      <a:pPr algn="l">
                        <a:lnSpc>
                          <a:spcPct val="108000"/>
                        </a:lnSpc>
                        <a:spcAft>
                          <a:spcPts val="200"/>
                        </a:spcAft>
                      </a:pPr>
                      <a:r>
                        <a:rPr sz="950" b="1">
                          <a:solidFill>
                            <a:srgbClr val="0A2A5E"/>
                          </a:solidFill>
                        </a:rPr>
                        <a:t>RNP商业闭环</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正式合同、资金及客户内部流程尚未全部完成，部分事项依赖巴方与伙伴</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更早明确我方签约条件、关键文件状态和责任人；对外部依赖及时升级并保持备选安排</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关键事项是否逐项明确；我方材料与专业条件是否及时具备；未决问题是否透明</a:t>
                      </a:r>
                    </a:p>
                  </a:txBody>
                  <a:tcPr anchor="ctr">
                    <a:lnL w="0">
                      <a:noFill/>
                    </a:lnL>
                    <a:lnR w="0">
                      <a:noFill/>
                    </a:lnR>
                    <a:lnT w="0">
                      <a:noFill/>
                    </a:lnT>
                    <a:lnB w="9525" cap="flat" cmpd="sng" algn="ctr">
                      <a:solidFill>
                        <a:srgbClr val="D3DCE8"/>
                      </a:solidFill>
                      <a:prstDash val="solid"/>
                    </a:lnB>
                    <a:solidFill>
                      <a:srgbClr val="FFFFFF"/>
                    </a:solidFill>
                  </a:tcPr>
                </a:tc>
              </a:tr>
              <a:tr h="676656">
                <a:tc>
                  <a:txBody>
                    <a:bodyPr wrap="square" lIns="64008" tIns="27432" rIns="64008" bIns="27432" anchor="ctr">
                      <a:noAutofit/>
                    </a:bodyPr>
                    <a:lstStyle/>
                    <a:p>
                      <a:pPr algn="l">
                        <a:lnSpc>
                          <a:spcPct val="108000"/>
                        </a:lnSpc>
                        <a:spcAft>
                          <a:spcPts val="200"/>
                        </a:spcAft>
                      </a:pPr>
                      <a:r>
                        <a:rPr sz="950" b="1">
                          <a:solidFill>
                            <a:srgbClr val="0A2A5E"/>
                          </a:solidFill>
                        </a:rPr>
                        <a:t>SERPRO应用转化</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开发成果与最终客户确认、资源、验收和采购之间仍有距离</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将业务确认、测试、部署、预算和采购路径同步管理，而非只跟技术进度</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验收依据是否明确；关键资源和合同条件是否有责任与状态</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7" name="TextBox 6"/>
          <p:cNvSpPr txBox="1"/>
          <p:nvPr/>
        </p:nvSpPr>
        <p:spPr>
          <a:xfrm>
            <a:off x="365760" y="3438144"/>
            <a:ext cx="5486400" cy="292608"/>
          </a:xfrm>
          <a:prstGeom prst="rect">
            <a:avLst/>
          </a:prstGeom>
          <a:noFill/>
        </p:spPr>
        <p:txBody>
          <a:bodyPr wrap="square" lIns="54864" tIns="36576" rIns="54864" bIns="36576" anchor="ctr">
            <a:noAutofit/>
          </a:bodyPr>
          <a:lstStyle/>
          <a:p>
            <a:pPr algn="l">
              <a:lnSpc>
                <a:spcPct val="112000"/>
              </a:lnSpc>
              <a:spcAft>
                <a:spcPts val="0"/>
              </a:spcAft>
            </a:pPr>
            <a:r>
              <a:rPr sz="1100" b="1">
                <a:solidFill>
                  <a:srgbClr val="0A2A5E"/>
                </a:solidFill>
              </a:rPr>
              <a:t>2. 组织能力仍需提升的方面</a:t>
            </a:r>
          </a:p>
        </p:txBody>
      </p:sp>
      <p:graphicFrame>
        <p:nvGraphicFramePr>
          <p:cNvPr id="8" name="Table 7"/>
          <p:cNvGraphicFramePr>
            <a:graphicFrameLocks noGrp="1"/>
          </p:cNvGraphicFramePr>
          <p:nvPr/>
        </p:nvGraphicFramePr>
        <p:xfrm>
          <a:off x="365760" y="3767328"/>
          <a:ext cx="11457432" cy="2432304"/>
        </p:xfrm>
        <a:graphic>
          <a:graphicData uri="http://schemas.openxmlformats.org/drawingml/2006/table">
            <a:tbl>
              <a:tblPr firstRow="0" bandRow="0">
                <a:tableStyleId>{2D5ABB26-0587-4C30-8999-92F81FD0307C}</a:tableStyleId>
              </a:tblPr>
              <a:tblGrid>
                <a:gridCol w="1737360"/>
                <a:gridCol w="4663440"/>
                <a:gridCol w="5056632"/>
              </a:tblGrid>
              <a:tr h="384048">
                <a:tc>
                  <a:txBody>
                    <a:bodyPr wrap="square" lIns="64008" tIns="18288" rIns="64008" bIns="18288" anchor="ctr">
                      <a:noAutofit/>
                    </a:bodyPr>
                    <a:lstStyle/>
                    <a:p>
                      <a:pPr algn="l">
                        <a:lnSpc>
                          <a:spcPct val="112000"/>
                        </a:lnSpc>
                        <a:spcAft>
                          <a:spcPts val="0"/>
                        </a:spcAft>
                      </a:pPr>
                      <a:r>
                        <a:rPr sz="1050" b="1">
                          <a:solidFill>
                            <a:srgbClr val="FFFFFF"/>
                          </a:solidFill>
                        </a:rPr>
                        <a:t>改进方向</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当前表现</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下一阶段举措</a:t>
                      </a:r>
                    </a:p>
                  </a:txBody>
                  <a:tcPr anchor="ctr">
                    <a:lnL w="0">
                      <a:noFill/>
                    </a:lnL>
                    <a:lnR w="0">
                      <a:noFill/>
                    </a:lnR>
                    <a:lnT w="0">
                      <a:noFill/>
                    </a:lnT>
                    <a:lnB w="0">
                      <a:noFill/>
                    </a:lnB>
                    <a:solidFill>
                      <a:srgbClr val="0C4BA1"/>
                    </a:solidFill>
                  </a:tcPr>
                </a:tc>
              </a:tr>
              <a:tr h="512064">
                <a:tc>
                  <a:txBody>
                    <a:bodyPr wrap="square" lIns="64008" tIns="27432" rIns="64008" bIns="27432" anchor="ctr">
                      <a:noAutofit/>
                    </a:bodyPr>
                    <a:lstStyle/>
                    <a:p>
                      <a:pPr algn="l">
                        <a:lnSpc>
                          <a:spcPct val="108000"/>
                        </a:lnSpc>
                        <a:spcAft>
                          <a:spcPts val="200"/>
                        </a:spcAft>
                      </a:pPr>
                      <a:r>
                        <a:rPr sz="950" b="1">
                          <a:solidFill>
                            <a:srgbClr val="0A2A5E"/>
                          </a:solidFill>
                        </a:rPr>
                        <a:t>关键知识与主备</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部分项目完整背景和重大判断集中在本人及少数骨干</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明确主备、背景交接和关键承诺升级机制，逐步提高骨干独立承接</a:t>
                      </a:r>
                    </a:p>
                  </a:txBody>
                  <a:tcPr anchor="ctr">
                    <a:lnL w="0">
                      <a:noFill/>
                    </a:lnL>
                    <a:lnR w="0">
                      <a:noFill/>
                    </a:lnR>
                    <a:lnT w="0">
                      <a:noFill/>
                    </a:lnT>
                    <a:lnB w="9525" cap="flat" cmpd="sng" algn="ctr">
                      <a:solidFill>
                        <a:srgbClr val="D3DCE8"/>
                      </a:solidFill>
                      <a:prstDash val="solid"/>
                    </a:lnB>
                    <a:solidFill>
                      <a:srgbClr val="FFFFFF"/>
                    </a:solidFill>
                  </a:tcPr>
                </a:tc>
              </a:tr>
              <a:tr h="512064">
                <a:tc>
                  <a:txBody>
                    <a:bodyPr wrap="square" lIns="64008" tIns="27432" rIns="64008" bIns="27432" anchor="ctr">
                      <a:noAutofit/>
                    </a:bodyPr>
                    <a:lstStyle/>
                    <a:p>
                      <a:pPr algn="l">
                        <a:lnSpc>
                          <a:spcPct val="108000"/>
                        </a:lnSpc>
                        <a:spcAft>
                          <a:spcPts val="200"/>
                        </a:spcAft>
                      </a:pPr>
                      <a:r>
                        <a:rPr sz="950" b="1">
                          <a:solidFill>
                            <a:srgbClr val="0A2A5E"/>
                          </a:solidFill>
                        </a:rPr>
                        <a:t>成果与投入跟踪</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各区域材料、客户反馈和阶段状态需要更统一的口径，便于比较投入效果</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建立项目级成果记录，区分已完成产出、客户确认、商业结果与待决事项</a:t>
                      </a:r>
                    </a:p>
                  </a:txBody>
                  <a:tcPr anchor="ctr">
                    <a:lnL w="0">
                      <a:noFill/>
                    </a:lnL>
                    <a:lnR w="0">
                      <a:noFill/>
                    </a:lnR>
                    <a:lnT w="0">
                      <a:noFill/>
                    </a:lnT>
                    <a:lnB w="9525" cap="flat" cmpd="sng" algn="ctr">
                      <a:solidFill>
                        <a:srgbClr val="D3DCE8"/>
                      </a:solidFill>
                      <a:prstDash val="solid"/>
                    </a:lnB>
                    <a:solidFill>
                      <a:srgbClr val="F6F8FC"/>
                    </a:solidFill>
                  </a:tcPr>
                </a:tc>
              </a:tr>
              <a:tr h="512064">
                <a:tc>
                  <a:txBody>
                    <a:bodyPr wrap="square" lIns="64008" tIns="27432" rIns="64008" bIns="27432" anchor="ctr">
                      <a:noAutofit/>
                    </a:bodyPr>
                    <a:lstStyle/>
                    <a:p>
                      <a:pPr algn="l">
                        <a:lnSpc>
                          <a:spcPct val="108000"/>
                        </a:lnSpc>
                        <a:spcAft>
                          <a:spcPts val="200"/>
                        </a:spcAft>
                      </a:pPr>
                      <a:r>
                        <a:rPr sz="950" b="1">
                          <a:solidFill>
                            <a:srgbClr val="0A2A5E"/>
                          </a:solidFill>
                        </a:rPr>
                        <a:t>经验复用与版本管理</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已有跨项目复用，但部分仍依赖人员主动交流和临时组织</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50" b="0">
                          <a:solidFill>
                            <a:srgbClr val="2F3E4F"/>
                          </a:solidFill>
                        </a:rPr>
                        <a:t>明确基线材料责任、适用条件、版本更新与复用反馈</a:t>
                      </a:r>
                    </a:p>
                  </a:txBody>
                  <a:tcPr anchor="ctr">
                    <a:lnL w="0">
                      <a:noFill/>
                    </a:lnL>
                    <a:lnR w="0">
                      <a:noFill/>
                    </a:lnR>
                    <a:lnT w="0">
                      <a:noFill/>
                    </a:lnT>
                    <a:lnB w="9525" cap="flat" cmpd="sng" algn="ctr">
                      <a:solidFill>
                        <a:srgbClr val="D3DCE8"/>
                      </a:solidFill>
                      <a:prstDash val="solid"/>
                    </a:lnB>
                    <a:solidFill>
                      <a:srgbClr val="FFFFFF"/>
                    </a:solidFill>
                  </a:tcPr>
                </a:tc>
              </a:tr>
              <a:tr h="512064">
                <a:tc>
                  <a:txBody>
                    <a:bodyPr wrap="square" lIns="64008" tIns="27432" rIns="64008" bIns="27432" anchor="ctr">
                      <a:noAutofit/>
                    </a:bodyPr>
                    <a:lstStyle/>
                    <a:p>
                      <a:pPr algn="l">
                        <a:lnSpc>
                          <a:spcPct val="108000"/>
                        </a:lnSpc>
                        <a:spcAft>
                          <a:spcPts val="200"/>
                        </a:spcAft>
                      </a:pPr>
                      <a:r>
                        <a:rPr sz="950" b="1">
                          <a:solidFill>
                            <a:srgbClr val="0A2A5E"/>
                          </a:solidFill>
                        </a:rPr>
                        <a:t>授权和节奏</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亲自补位有助于当前任务，但可能挤占组织建设时间</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50" b="0">
                          <a:solidFill>
                            <a:srgbClr val="2F3E4F"/>
                          </a:solidFill>
                        </a:rPr>
                        <a:t>将必须本人介入的事项与骨干可自主处理的事项分层，固定关键评审与复盘节点</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9" name="TextBox 8"/>
          <p:cNvSpPr txBox="1"/>
          <p:nvPr/>
        </p:nvSpPr>
        <p:spPr>
          <a:xfrm>
            <a:off x="365760" y="6291072"/>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改进原则：不以外部依赖取消自身责任，也不以个人持续超额投入替代组织能力建设。</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巴西下一阶段：围绕合同、应用验收和本地承接推进</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3-工作规划与路径</a:t>
            </a:r>
          </a:p>
        </p:txBody>
      </p:sp>
      <p:sp>
        <p:nvSpPr>
          <p:cNvPr id="4" name="Rounded Rectangle 3"/>
          <p:cNvSpPr/>
          <p:nvPr/>
        </p:nvSpPr>
        <p:spPr>
          <a:xfrm>
            <a:off x="10780776" y="548640"/>
            <a:ext cx="1042416"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战略专项</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28</a:t>
            </a:r>
          </a:p>
        </p:txBody>
      </p:sp>
      <p:graphicFrame>
        <p:nvGraphicFramePr>
          <p:cNvPr id="6" name="Table 5"/>
          <p:cNvGraphicFramePr>
            <a:graphicFrameLocks noGrp="1"/>
          </p:cNvGraphicFramePr>
          <p:nvPr/>
        </p:nvGraphicFramePr>
        <p:xfrm>
          <a:off x="365760" y="1170432"/>
          <a:ext cx="11457432" cy="4005072"/>
        </p:xfrm>
        <a:graphic>
          <a:graphicData uri="http://schemas.openxmlformats.org/drawingml/2006/table">
            <a:tbl>
              <a:tblPr firstRow="0" bandRow="0">
                <a:tableStyleId>{2D5ABB26-0587-4C30-8999-92F81FD0307C}</a:tableStyleId>
              </a:tblPr>
              <a:tblGrid>
                <a:gridCol w="1463040"/>
                <a:gridCol w="2651760"/>
                <a:gridCol w="3840480"/>
                <a:gridCol w="2404872"/>
                <a:gridCol w="1097280"/>
              </a:tblGrid>
              <a:tr h="384048">
                <a:tc>
                  <a:txBody>
                    <a:bodyPr wrap="square" lIns="64008" tIns="18288" rIns="64008" bIns="18288" anchor="ctr">
                      <a:noAutofit/>
                    </a:bodyPr>
                    <a:lstStyle/>
                    <a:p>
                      <a:pPr algn="l">
                        <a:lnSpc>
                          <a:spcPct val="112000"/>
                        </a:lnSpc>
                        <a:spcAft>
                          <a:spcPts val="0"/>
                        </a:spcAft>
                      </a:pPr>
                      <a:r>
                        <a:rPr sz="950" b="1">
                          <a:solidFill>
                            <a:srgbClr val="FFFFFF"/>
                          </a:solidFill>
                        </a:rPr>
                        <a:t>工作方向</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目标结果</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关键动作与交付物</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主要依赖 / 资源</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责任属性</a:t>
                      </a:r>
                    </a:p>
                  </a:txBody>
                  <a:tcPr anchor="ctr">
                    <a:lnL w="0">
                      <a:noFill/>
                    </a:lnL>
                    <a:lnR w="0">
                      <a:noFill/>
                    </a:lnR>
                    <a:lnT w="0">
                      <a:noFill/>
                    </a:lnT>
                    <a:lnB w="0">
                      <a:noFill/>
                    </a:lnB>
                    <a:solidFill>
                      <a:srgbClr val="0C4BA1"/>
                    </a:solidFill>
                  </a:tcPr>
                </a:tc>
              </a:tr>
              <a:tr h="603504">
                <a:tc>
                  <a:txBody>
                    <a:bodyPr wrap="square" lIns="64008" tIns="27432" rIns="64008" bIns="27432" anchor="ctr">
                      <a:noAutofit/>
                    </a:bodyPr>
                    <a:lstStyle/>
                    <a:p>
                      <a:pPr algn="l">
                        <a:lnSpc>
                          <a:spcPct val="108000"/>
                        </a:lnSpc>
                        <a:spcAft>
                          <a:spcPts val="200"/>
                        </a:spcAft>
                      </a:pPr>
                      <a:r>
                        <a:rPr sz="900" b="1">
                          <a:solidFill>
                            <a:srgbClr val="0A2A5E"/>
                          </a:solidFill>
                        </a:rPr>
                        <a:t>RNP签约条件收口</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我方合同材料和必要主体条件具备，客户可按其程序推进正式采购与签署</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统一TR应答、SOW、BoQ、验收、责任、实施计划及付款安排；形成未决事项清单和各专业确认记录</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RNP采购与审批、伙伴范围和材料、法务财务及方案服务支持</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1">
                          <a:solidFill>
                            <a:srgbClr val="0C4BA1"/>
                          </a:solidFill>
                        </a:rPr>
                        <a:t>本人统筹</a:t>
                      </a:r>
                    </a:p>
                    <a:p>
                      <a:pPr algn="l">
                        <a:lnSpc>
                          <a:spcPct val="108000"/>
                        </a:lnSpc>
                        <a:spcAft>
                          <a:spcPts val="200"/>
                        </a:spcAft>
                      </a:pPr>
                      <a:r>
                        <a:rPr sz="900" b="1">
                          <a:solidFill>
                            <a:srgbClr val="3F7BD6"/>
                          </a:solidFill>
                        </a:rPr>
                        <a:t>专业确认</a:t>
                      </a:r>
                    </a:p>
                  </a:txBody>
                  <a:tcPr anchor="ctr">
                    <a:lnL w="0">
                      <a:noFill/>
                    </a:lnL>
                    <a:lnR w="0">
                      <a:noFill/>
                    </a:lnR>
                    <a:lnT w="0">
                      <a:noFill/>
                    </a:lnT>
                    <a:lnB w="9525" cap="flat" cmpd="sng" algn="ctr">
                      <a:solidFill>
                        <a:srgbClr val="D3DCE8"/>
                      </a:solidFill>
                      <a:prstDash val="solid"/>
                    </a:lnB>
                    <a:solidFill>
                      <a:srgbClr val="FFFFFF"/>
                    </a:solidFill>
                  </a:tcPr>
                </a:tc>
              </a:tr>
              <a:tr h="603504">
                <a:tc>
                  <a:txBody>
                    <a:bodyPr wrap="square" lIns="64008" tIns="27432" rIns="64008" bIns="27432" anchor="ctr">
                      <a:noAutofit/>
                    </a:bodyPr>
                    <a:lstStyle/>
                    <a:p>
                      <a:pPr algn="l">
                        <a:lnSpc>
                          <a:spcPct val="108000"/>
                        </a:lnSpc>
                        <a:spcAft>
                          <a:spcPts val="200"/>
                        </a:spcAft>
                      </a:pPr>
                      <a:r>
                        <a:rPr sz="900" b="1">
                          <a:solidFill>
                            <a:srgbClr val="0A2A5E"/>
                          </a:solidFill>
                        </a:rPr>
                        <a:t>政府合作与预算事项</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支持文件、授权和资金相关状态持续明确，不成为信息盲区</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配合集团与伙伴提供所需材料，跟踪文本和审批进展，及时报告对签约节奏的影响</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政府部门、使馆与客户内部程序</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1">
                          <a:solidFill>
                            <a:srgbClr val="0C4BA1"/>
                          </a:solidFill>
                        </a:rPr>
                        <a:t>本人统筹</a:t>
                      </a:r>
                    </a:p>
                    <a:p>
                      <a:pPr algn="l">
                        <a:lnSpc>
                          <a:spcPct val="108000"/>
                        </a:lnSpc>
                        <a:spcAft>
                          <a:spcPts val="200"/>
                        </a:spcAft>
                      </a:pPr>
                      <a:r>
                        <a:rPr sz="900" b="1">
                          <a:solidFill>
                            <a:srgbClr val="7A8898"/>
                          </a:solidFill>
                        </a:rPr>
                        <a:t>外部决定</a:t>
                      </a:r>
                    </a:p>
                  </a:txBody>
                  <a:tcPr anchor="ctr">
                    <a:lnL w="0">
                      <a:noFill/>
                    </a:lnL>
                    <a:lnR w="0">
                      <a:noFill/>
                    </a:lnR>
                    <a:lnT w="0">
                      <a:noFill/>
                    </a:lnT>
                    <a:lnB w="9525" cap="flat" cmpd="sng" algn="ctr">
                      <a:solidFill>
                        <a:srgbClr val="D3DCE8"/>
                      </a:solidFill>
                      <a:prstDash val="solid"/>
                    </a:lnB>
                    <a:solidFill>
                      <a:srgbClr val="F6F8FC"/>
                    </a:solidFill>
                  </a:tcPr>
                </a:tc>
              </a:tr>
              <a:tr h="603504">
                <a:tc>
                  <a:txBody>
                    <a:bodyPr wrap="square" lIns="64008" tIns="27432" rIns="64008" bIns="27432" anchor="ctr">
                      <a:noAutofit/>
                    </a:bodyPr>
                    <a:lstStyle/>
                    <a:p>
                      <a:pPr algn="l">
                        <a:lnSpc>
                          <a:spcPct val="108000"/>
                        </a:lnSpc>
                        <a:spcAft>
                          <a:spcPts val="200"/>
                        </a:spcAft>
                      </a:pPr>
                      <a:r>
                        <a:rPr sz="900" b="1">
                          <a:solidFill>
                            <a:srgbClr val="0A2A5E"/>
                          </a:solidFill>
                        </a:rPr>
                        <a:t>本地实体及供应商准入</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满足本地签约和后续开票、支持所需条件</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跟进注册、CNPJ、经营范围与服务分类、准入材料、本地专业服务及行政接口</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财务、法务、律所、会计师和登记程序</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1">
                          <a:solidFill>
                            <a:srgbClr val="3F7BD6"/>
                          </a:solidFill>
                        </a:rPr>
                        <a:t>专业确认</a:t>
                      </a:r>
                    </a:p>
                    <a:p>
                      <a:pPr algn="l">
                        <a:lnSpc>
                          <a:spcPct val="108000"/>
                        </a:lnSpc>
                        <a:spcAft>
                          <a:spcPts val="200"/>
                        </a:spcAft>
                      </a:pPr>
                      <a:r>
                        <a:rPr sz="900" b="1">
                          <a:solidFill>
                            <a:srgbClr val="7A8898"/>
                          </a:solidFill>
                        </a:rPr>
                        <a:t>外部决定</a:t>
                      </a:r>
                    </a:p>
                  </a:txBody>
                  <a:tcPr anchor="ctr">
                    <a:lnL w="0">
                      <a:noFill/>
                    </a:lnL>
                    <a:lnR w="0">
                      <a:noFill/>
                    </a:lnR>
                    <a:lnT w="0">
                      <a:noFill/>
                    </a:lnT>
                    <a:lnB w="9525" cap="flat" cmpd="sng" algn="ctr">
                      <a:solidFill>
                        <a:srgbClr val="D3DCE8"/>
                      </a:solidFill>
                      <a:prstDash val="solid"/>
                    </a:lnB>
                    <a:solidFill>
                      <a:srgbClr val="FFFFFF"/>
                    </a:solidFill>
                  </a:tcPr>
                </a:tc>
              </a:tr>
              <a:tr h="603504">
                <a:tc>
                  <a:txBody>
                    <a:bodyPr wrap="square" lIns="64008" tIns="27432" rIns="64008" bIns="27432" anchor="ctr">
                      <a:noAutofit/>
                    </a:bodyPr>
                    <a:lstStyle/>
                    <a:p>
                      <a:pPr algn="l">
                        <a:lnSpc>
                          <a:spcPct val="108000"/>
                        </a:lnSpc>
                        <a:spcAft>
                          <a:spcPts val="200"/>
                        </a:spcAft>
                      </a:pPr>
                      <a:r>
                        <a:rPr sz="900" b="1">
                          <a:solidFill>
                            <a:srgbClr val="0A2A5E"/>
                          </a:solidFill>
                        </a:rPr>
                        <a:t>合同与交付衔接</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签约后可按已确认范围开展工作</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形成交付基线、客户配合条件、数据算力及人员安排、培训目标、变更和升级机制</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客户数据、算力、专家及受训人员，内部研发和服务团队</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1">
                          <a:solidFill>
                            <a:srgbClr val="0C4BA1"/>
                          </a:solidFill>
                        </a:rPr>
                        <a:t>本人统筹</a:t>
                      </a:r>
                    </a:p>
                    <a:p>
                      <a:pPr algn="l">
                        <a:lnSpc>
                          <a:spcPct val="108000"/>
                        </a:lnSpc>
                        <a:spcAft>
                          <a:spcPts val="200"/>
                        </a:spcAft>
                      </a:pPr>
                      <a:r>
                        <a:rPr sz="900" b="1">
                          <a:solidFill>
                            <a:srgbClr val="3F7BD6"/>
                          </a:solidFill>
                        </a:rPr>
                        <a:t>专业确认</a:t>
                      </a:r>
                    </a:p>
                  </a:txBody>
                  <a:tcPr anchor="ctr">
                    <a:lnL w="0">
                      <a:noFill/>
                    </a:lnL>
                    <a:lnR w="0">
                      <a:noFill/>
                    </a:lnR>
                    <a:lnT w="0">
                      <a:noFill/>
                    </a:lnT>
                    <a:lnB w="9525" cap="flat" cmpd="sng" algn="ctr">
                      <a:solidFill>
                        <a:srgbClr val="D3DCE8"/>
                      </a:solidFill>
                      <a:prstDash val="solid"/>
                    </a:lnB>
                    <a:solidFill>
                      <a:srgbClr val="F6F8FC"/>
                    </a:solidFill>
                  </a:tcPr>
                </a:tc>
              </a:tr>
              <a:tr h="603504">
                <a:tc>
                  <a:txBody>
                    <a:bodyPr wrap="square" lIns="64008" tIns="27432" rIns="64008" bIns="27432" anchor="ctr">
                      <a:noAutofit/>
                    </a:bodyPr>
                    <a:lstStyle/>
                    <a:p>
                      <a:pPr algn="l">
                        <a:lnSpc>
                          <a:spcPct val="108000"/>
                        </a:lnSpc>
                        <a:spcAft>
                          <a:spcPts val="200"/>
                        </a:spcAft>
                      </a:pPr>
                      <a:r>
                        <a:rPr sz="900" b="1">
                          <a:solidFill>
                            <a:srgbClr val="0A2A5E"/>
                          </a:solidFill>
                        </a:rPr>
                        <a:t>SERPRO应用转化</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完成最终业务确认、部署测试和PoC验收，并进入明确的采购讨论</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确认函、测试及验收清单、部署环境、预算与上架主体方案、商业条款输入</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MGI-SGP、SERPRO、华为云及内部产品研发和商务支持</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1">
                          <a:solidFill>
                            <a:srgbClr val="0C4BA1"/>
                          </a:solidFill>
                        </a:rPr>
                        <a:t>本人统筹</a:t>
                      </a:r>
                    </a:p>
                    <a:p>
                      <a:pPr algn="l">
                        <a:lnSpc>
                          <a:spcPct val="108000"/>
                        </a:lnSpc>
                        <a:spcAft>
                          <a:spcPts val="200"/>
                        </a:spcAft>
                      </a:pPr>
                      <a:r>
                        <a:rPr sz="900" b="1">
                          <a:solidFill>
                            <a:srgbClr val="7A8898"/>
                          </a:solidFill>
                        </a:rPr>
                        <a:t>外部决定</a:t>
                      </a:r>
                    </a:p>
                  </a:txBody>
                  <a:tcPr anchor="ctr">
                    <a:lnL w="0">
                      <a:noFill/>
                    </a:lnL>
                    <a:lnR w="0">
                      <a:noFill/>
                    </a:lnR>
                    <a:lnT w="0">
                      <a:noFill/>
                    </a:lnT>
                    <a:lnB w="9525" cap="flat" cmpd="sng" algn="ctr">
                      <a:solidFill>
                        <a:srgbClr val="D3DCE8"/>
                      </a:solidFill>
                      <a:prstDash val="solid"/>
                    </a:lnB>
                    <a:solidFill>
                      <a:srgbClr val="FFFFFF"/>
                    </a:solidFill>
                  </a:tcPr>
                </a:tc>
              </a:tr>
              <a:tr h="603504">
                <a:tc>
                  <a:txBody>
                    <a:bodyPr wrap="square" lIns="64008" tIns="27432" rIns="64008" bIns="27432" anchor="ctr">
                      <a:noAutofit/>
                    </a:bodyPr>
                    <a:lstStyle/>
                    <a:p>
                      <a:pPr algn="l">
                        <a:lnSpc>
                          <a:spcPct val="108000"/>
                        </a:lnSpc>
                        <a:spcAft>
                          <a:spcPts val="200"/>
                        </a:spcAft>
                      </a:pPr>
                      <a:r>
                        <a:rPr sz="900" b="1">
                          <a:solidFill>
                            <a:srgbClr val="0A2A5E"/>
                          </a:solidFill>
                        </a:rPr>
                        <a:t>后续经营基础</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在现有项目范围内建立可持续承接安排</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明确本地人员与总部支持分工，评估后续客户机会，不在现有能力外无边界扩张</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组织授权、人员预算和专业支持</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1">
                          <a:solidFill>
                            <a:srgbClr val="0C4BA1"/>
                          </a:solidFill>
                        </a:rPr>
                        <a:t>本人统筹</a:t>
                      </a:r>
                    </a:p>
                    <a:p>
                      <a:pPr algn="l">
                        <a:lnSpc>
                          <a:spcPct val="108000"/>
                        </a:lnSpc>
                        <a:spcAft>
                          <a:spcPts val="200"/>
                        </a:spcAft>
                      </a:pPr>
                      <a:r>
                        <a:rPr sz="900" b="1">
                          <a:solidFill>
                            <a:srgbClr val="3F7BD6"/>
                          </a:solidFill>
                        </a:rPr>
                        <a:t>专业确认</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7" name="Rounded Rectangle 6"/>
          <p:cNvSpPr/>
          <p:nvPr/>
        </p:nvSpPr>
        <p:spPr>
          <a:xfrm>
            <a:off x="365760" y="5303520"/>
            <a:ext cx="11457432" cy="640080"/>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303520"/>
            <a:ext cx="11183111" cy="640080"/>
          </a:xfrm>
          <a:prstGeom prst="rect">
            <a:avLst/>
          </a:prstGeom>
          <a:noFill/>
        </p:spPr>
        <p:txBody>
          <a:bodyPr wrap="square" lIns="54864" tIns="36576" rIns="54864" bIns="36576" anchor="ctr">
            <a:noAutofit/>
          </a:bodyPr>
          <a:lstStyle/>
          <a:p>
            <a:pPr algn="l">
              <a:lnSpc>
                <a:spcPct val="112000"/>
              </a:lnSpc>
              <a:spcAft>
                <a:spcPts val="100"/>
              </a:spcAft>
            </a:pPr>
            <a:r>
              <a:rPr sz="950" b="1">
                <a:solidFill>
                  <a:srgbClr val="2F3E4F"/>
                </a:solidFill>
              </a:rPr>
              <a:t>节奏原则</a:t>
            </a:r>
            <a:r>
              <a:rPr sz="950" b="0">
                <a:solidFill>
                  <a:srgbClr val="2F3E4F"/>
                </a:solidFill>
              </a:rPr>
              <a:t>　以签约前、签约后和PoC验收前后分别管理里程碑；外部条件变化时及时调整计划，保持我方可控事项准备程度。</a:t>
            </a:r>
          </a:p>
          <a:p>
            <a:pPr algn="l">
              <a:lnSpc>
                <a:spcPct val="112000"/>
              </a:lnSpc>
              <a:spcAft>
                <a:spcPts val="100"/>
              </a:spcAft>
            </a:pPr>
            <a:r>
              <a:rPr sz="950" b="1">
                <a:solidFill>
                  <a:srgbClr val="2F3E4F"/>
                </a:solidFill>
              </a:rPr>
              <a:t>需要组织支持</a:t>
            </a:r>
            <a:r>
              <a:rPr sz="950" b="0">
                <a:solidFill>
                  <a:srgbClr val="2F3E4F"/>
                </a:solidFill>
              </a:rPr>
              <a:t>　关键节点集中投入的商法财与交付资源、现场主备和跨专业决策接口。</a:t>
            </a:r>
          </a:p>
        </p:txBody>
      </p:sp>
      <p:sp>
        <p:nvSpPr>
          <p:cNvPr id="9" name="TextBox 8"/>
          <p:cNvSpPr txBox="1"/>
          <p:nvPr/>
        </p:nvSpPr>
        <p:spPr>
          <a:xfrm>
            <a:off x="365760" y="5998464"/>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本页为拟推进计划；所列交付物为拟形成结果，不代表均已形成或已获客户确认；角色分工与授权待组织确认。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国际咨询下一阶段：提高骨干独立性、重点机会推进和经验复用</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3-工作规划与路径</a:t>
            </a:r>
          </a:p>
        </p:txBody>
      </p:sp>
      <p:sp>
        <p:nvSpPr>
          <p:cNvPr id="4" name="Rounded Rectangle 3"/>
          <p:cNvSpPr/>
          <p:nvPr/>
        </p:nvSpPr>
        <p:spPr>
          <a:xfrm>
            <a:off x="10780776" y="548640"/>
            <a:ext cx="1042416" cy="329184"/>
          </a:xfrm>
          <a:prstGeom prst="roundRect">
            <a:avLst>
              <a:gd name="adj" fmla="val 50000"/>
            </a:avLst>
          </a:prstGeom>
          <a:solidFill>
            <a:srgbClr val="FFFFFF"/>
          </a:solidFill>
          <a:ln w="9525">
            <a:solidFill>
              <a:srgbClr val="0C4BA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1000" b="1">
                <a:solidFill>
                  <a:srgbClr val="0C4BA1"/>
                </a:solidFill>
              </a:rPr>
              <a:t>岗位本职</a:t>
            </a:r>
          </a:p>
        </p:txBody>
      </p:sp>
      <p:sp>
        <p:nvSpPr>
          <p:cNvPr id="5" name="TextBox 4"/>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29</a:t>
            </a:r>
          </a:p>
        </p:txBody>
      </p:sp>
      <p:graphicFrame>
        <p:nvGraphicFramePr>
          <p:cNvPr id="6" name="Table 5"/>
          <p:cNvGraphicFramePr>
            <a:graphicFrameLocks noGrp="1"/>
          </p:cNvGraphicFramePr>
          <p:nvPr/>
        </p:nvGraphicFramePr>
        <p:xfrm>
          <a:off x="365760" y="1170432"/>
          <a:ext cx="11457432" cy="4114800"/>
        </p:xfrm>
        <a:graphic>
          <a:graphicData uri="http://schemas.openxmlformats.org/drawingml/2006/table">
            <a:tbl>
              <a:tblPr firstRow="0" bandRow="0">
                <a:tableStyleId>{2D5ABB26-0587-4C30-8999-92F81FD0307C}</a:tableStyleId>
              </a:tblPr>
              <a:tblGrid>
                <a:gridCol w="1737360"/>
                <a:gridCol w="2926080"/>
                <a:gridCol w="3931920"/>
                <a:gridCol w="2862072"/>
              </a:tblGrid>
              <a:tr h="384048">
                <a:tc>
                  <a:txBody>
                    <a:bodyPr wrap="square" lIns="64008" tIns="18288" rIns="64008" bIns="18288" anchor="ctr">
                      <a:noAutofit/>
                    </a:bodyPr>
                    <a:lstStyle/>
                    <a:p>
                      <a:pPr algn="l">
                        <a:lnSpc>
                          <a:spcPct val="112000"/>
                        </a:lnSpc>
                        <a:spcAft>
                          <a:spcPts val="0"/>
                        </a:spcAft>
                      </a:pPr>
                      <a:r>
                        <a:rPr sz="950" b="1">
                          <a:solidFill>
                            <a:srgbClr val="FFFFFF"/>
                          </a:solidFill>
                        </a:rPr>
                        <a:t>工作模块</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拟达成的结果</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关键举措与交付物</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950" b="1">
                          <a:solidFill>
                            <a:srgbClr val="FFFFFF"/>
                          </a:solidFill>
                        </a:rPr>
                        <a:t>建议检验方式</a:t>
                      </a:r>
                    </a:p>
                  </a:txBody>
                  <a:tcPr anchor="ctr">
                    <a:lnL w="0">
                      <a:noFill/>
                    </a:lnL>
                    <a:lnR w="0">
                      <a:noFill/>
                    </a:lnR>
                    <a:lnT w="0">
                      <a:noFill/>
                    </a:lnT>
                    <a:lnB w="0">
                      <a:noFill/>
                    </a:lnB>
                    <a:solidFill>
                      <a:srgbClr val="0C4BA1"/>
                    </a:solidFill>
                  </a:tcPr>
                </a:tc>
              </a:tr>
              <a:tr h="621792">
                <a:tc>
                  <a:txBody>
                    <a:bodyPr wrap="square" lIns="64008" tIns="27432" rIns="64008" bIns="27432" anchor="ctr">
                      <a:noAutofit/>
                    </a:bodyPr>
                    <a:lstStyle/>
                    <a:p>
                      <a:pPr algn="l">
                        <a:lnSpc>
                          <a:spcPct val="108000"/>
                        </a:lnSpc>
                        <a:spcAft>
                          <a:spcPts val="200"/>
                        </a:spcAft>
                      </a:pPr>
                      <a:r>
                        <a:rPr sz="850" b="1">
                          <a:solidFill>
                            <a:srgbClr val="0C4BA1"/>
                          </a:solidFill>
                        </a:rPr>
                        <a:t>近期保障</a:t>
                      </a:r>
                    </a:p>
                    <a:p>
                      <a:pPr algn="l">
                        <a:lnSpc>
                          <a:spcPct val="108000"/>
                        </a:lnSpc>
                        <a:spcAft>
                          <a:spcPts val="200"/>
                        </a:spcAft>
                      </a:pPr>
                      <a:r>
                        <a:rPr sz="1000" b="1">
                          <a:solidFill>
                            <a:srgbClr val="0A2A5E"/>
                          </a:solidFill>
                        </a:rPr>
                        <a:t>主责与备份</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重点项目有明确主责、备份和关键事项升级安排</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核对区域与项目名册；形成客户背景交接、当前问题及材料清单；开展带教与复核</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主责离场后是否有明确接续；骨干可以独立完成哪些任务</a:t>
                      </a:r>
                    </a:p>
                  </a:txBody>
                  <a:tcPr anchor="ctr">
                    <a:lnL w="0">
                      <a:noFill/>
                    </a:lnL>
                    <a:lnR w="0">
                      <a:noFill/>
                    </a:lnR>
                    <a:lnT w="0">
                      <a:noFill/>
                    </a:lnT>
                    <a:lnB w="9525" cap="flat" cmpd="sng" algn="ctr">
                      <a:solidFill>
                        <a:srgbClr val="D3DCE8"/>
                      </a:solidFill>
                      <a:prstDash val="solid"/>
                    </a:lnB>
                    <a:solidFill>
                      <a:srgbClr val="FFFFFF"/>
                    </a:solidFill>
                  </a:tcPr>
                </a:tc>
              </a:tr>
              <a:tr h="621792">
                <a:tc>
                  <a:txBody>
                    <a:bodyPr wrap="square" lIns="64008" tIns="27432" rIns="64008" bIns="27432" anchor="ctr">
                      <a:noAutofit/>
                    </a:bodyPr>
                    <a:lstStyle/>
                    <a:p>
                      <a:pPr algn="l">
                        <a:lnSpc>
                          <a:spcPct val="108000"/>
                        </a:lnSpc>
                        <a:spcAft>
                          <a:spcPts val="200"/>
                        </a:spcAft>
                      </a:pPr>
                      <a:r>
                        <a:rPr sz="850" b="1">
                          <a:solidFill>
                            <a:srgbClr val="0C4BA1"/>
                          </a:solidFill>
                        </a:rPr>
                        <a:t>近期保障</a:t>
                      </a:r>
                    </a:p>
                    <a:p>
                      <a:pPr algn="l">
                        <a:lnSpc>
                          <a:spcPct val="108000"/>
                        </a:lnSpc>
                        <a:spcAft>
                          <a:spcPts val="200"/>
                        </a:spcAft>
                      </a:pPr>
                      <a:r>
                        <a:rPr sz="1000" b="1">
                          <a:solidFill>
                            <a:srgbClr val="0A2A5E"/>
                          </a:solidFill>
                        </a:rPr>
                        <a:t>重点机会分级投入</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咨询资源与客户预算、决策阶段、我方能力和当期里程碑匹配</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对重点机会定期复核继续、调整或停止；明确下一步最有价值的产出</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是否减少重复无效讨论；客户需求、材料和阶段变化是否清楚</a:t>
                      </a:r>
                    </a:p>
                  </a:txBody>
                  <a:tcPr anchor="ctr">
                    <a:lnL w="0">
                      <a:noFill/>
                    </a:lnL>
                    <a:lnR w="0">
                      <a:noFill/>
                    </a:lnR>
                    <a:lnT w="0">
                      <a:noFill/>
                    </a:lnT>
                    <a:lnB w="9525" cap="flat" cmpd="sng" algn="ctr">
                      <a:solidFill>
                        <a:srgbClr val="D3DCE8"/>
                      </a:solidFill>
                      <a:prstDash val="solid"/>
                    </a:lnB>
                    <a:solidFill>
                      <a:srgbClr val="F6F8FC"/>
                    </a:solidFill>
                  </a:tcPr>
                </a:tc>
              </a:tr>
              <a:tr h="621792">
                <a:tc>
                  <a:txBody>
                    <a:bodyPr wrap="square" lIns="64008" tIns="27432" rIns="64008" bIns="27432" anchor="ctr">
                      <a:noAutofit/>
                    </a:bodyPr>
                    <a:lstStyle/>
                    <a:p>
                      <a:pPr algn="l">
                        <a:lnSpc>
                          <a:spcPct val="108000"/>
                        </a:lnSpc>
                        <a:spcAft>
                          <a:spcPts val="200"/>
                        </a:spcAft>
                      </a:pPr>
                      <a:r>
                        <a:rPr sz="850" b="1">
                          <a:solidFill>
                            <a:srgbClr val="0C4BA1"/>
                          </a:solidFill>
                        </a:rPr>
                        <a:t>近期保障</a:t>
                      </a:r>
                    </a:p>
                    <a:p>
                      <a:pPr algn="l">
                        <a:lnSpc>
                          <a:spcPct val="108000"/>
                        </a:lnSpc>
                        <a:spcAft>
                          <a:spcPts val="200"/>
                        </a:spcAft>
                      </a:pPr>
                      <a:r>
                        <a:rPr sz="1000" b="1">
                          <a:solidFill>
                            <a:srgbClr val="0A2A5E"/>
                          </a:solidFill>
                        </a:rPr>
                        <a:t>方案与承诺评审</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非标准、总集、模型训练、私有化及重大权利承诺在对外前得到专业确认</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与方案、产品、服务、法财建立必要评审入口，保留结论及未决事项</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是否在报价或合同前识别并处理重大范围、成本和交付风险</a:t>
                      </a:r>
                    </a:p>
                  </a:txBody>
                  <a:tcPr anchor="ctr">
                    <a:lnL w="0">
                      <a:noFill/>
                    </a:lnL>
                    <a:lnR w="0">
                      <a:noFill/>
                    </a:lnR>
                    <a:lnT w="0">
                      <a:noFill/>
                    </a:lnT>
                    <a:lnB w="9525" cap="flat" cmpd="sng" algn="ctr">
                      <a:solidFill>
                        <a:srgbClr val="D3DCE8"/>
                      </a:solidFill>
                      <a:prstDash val="solid"/>
                    </a:lnB>
                    <a:solidFill>
                      <a:srgbClr val="FFFFFF"/>
                    </a:solidFill>
                  </a:tcPr>
                </a:tc>
              </a:tr>
              <a:tr h="621792">
                <a:tc>
                  <a:txBody>
                    <a:bodyPr wrap="square" lIns="64008" tIns="27432" rIns="64008" bIns="27432" anchor="ctr">
                      <a:noAutofit/>
                    </a:bodyPr>
                    <a:lstStyle/>
                    <a:p>
                      <a:pPr algn="l">
                        <a:lnSpc>
                          <a:spcPct val="108000"/>
                        </a:lnSpc>
                        <a:spcAft>
                          <a:spcPts val="200"/>
                        </a:spcAft>
                      </a:pPr>
                      <a:r>
                        <a:rPr sz="850" b="1">
                          <a:solidFill>
                            <a:srgbClr val="1F8F5F"/>
                          </a:solidFill>
                        </a:rPr>
                        <a:t>组织效率</a:t>
                      </a:r>
                    </a:p>
                    <a:p>
                      <a:pPr algn="l">
                        <a:lnSpc>
                          <a:spcPct val="108000"/>
                        </a:lnSpc>
                        <a:spcAft>
                          <a:spcPts val="200"/>
                        </a:spcAft>
                      </a:pPr>
                      <a:r>
                        <a:rPr sz="1000" b="1">
                          <a:solidFill>
                            <a:srgbClr val="0A2A5E"/>
                          </a:solidFill>
                        </a:rPr>
                        <a:t>案例与版本沉淀</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形成可检索、可维护、可复用的关键材料和案例</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建立国别方案、技术问答、SoC、验收与合同问题样例；明确版本责任人和适用前提</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实际复用项目、采用反馈和更新记录，而非仅统计上传数量</a:t>
                      </a:r>
                    </a:p>
                  </a:txBody>
                  <a:tcPr anchor="ctr">
                    <a:lnL w="0">
                      <a:noFill/>
                    </a:lnL>
                    <a:lnR w="0">
                      <a:noFill/>
                    </a:lnR>
                    <a:lnT w="0">
                      <a:noFill/>
                    </a:lnT>
                    <a:lnB w="9525" cap="flat" cmpd="sng" algn="ctr">
                      <a:solidFill>
                        <a:srgbClr val="D3DCE8"/>
                      </a:solidFill>
                      <a:prstDash val="solid"/>
                    </a:lnB>
                    <a:solidFill>
                      <a:srgbClr val="F6F8FC"/>
                    </a:solidFill>
                  </a:tcPr>
                </a:tc>
              </a:tr>
              <a:tr h="621792">
                <a:tc>
                  <a:txBody>
                    <a:bodyPr wrap="square" lIns="64008" tIns="27432" rIns="64008" bIns="27432" anchor="ctr">
                      <a:noAutofit/>
                    </a:bodyPr>
                    <a:lstStyle/>
                    <a:p>
                      <a:pPr algn="l">
                        <a:lnSpc>
                          <a:spcPct val="108000"/>
                        </a:lnSpc>
                        <a:spcAft>
                          <a:spcPts val="200"/>
                        </a:spcAft>
                      </a:pPr>
                      <a:r>
                        <a:rPr sz="850" b="1">
                          <a:solidFill>
                            <a:srgbClr val="1F8F5F"/>
                          </a:solidFill>
                        </a:rPr>
                        <a:t>组织效率</a:t>
                      </a:r>
                    </a:p>
                    <a:p>
                      <a:pPr algn="l">
                        <a:lnSpc>
                          <a:spcPct val="108000"/>
                        </a:lnSpc>
                        <a:spcAft>
                          <a:spcPts val="200"/>
                        </a:spcAft>
                      </a:pPr>
                      <a:r>
                        <a:rPr sz="1000" b="1">
                          <a:solidFill>
                            <a:srgbClr val="0A2A5E"/>
                          </a:solidFill>
                        </a:rPr>
                        <a:t>客户与伙伴表达</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伙伴更清楚讯飞的方案价值和实施边界，客户交流更有明确目的</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按对象维护高层版、业务版、技术版材料；交流后记录需求、反馈与下一步</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900" b="0">
                          <a:solidFill>
                            <a:srgbClr val="2F3E4F"/>
                          </a:solidFill>
                        </a:rPr>
                        <a:t>交流是否形成具体后续事项，关键材料是否进入客户讨论或需求</a:t>
                      </a:r>
                    </a:p>
                  </a:txBody>
                  <a:tcPr anchor="ctr">
                    <a:lnL w="0">
                      <a:noFill/>
                    </a:lnL>
                    <a:lnR w="0">
                      <a:noFill/>
                    </a:lnR>
                    <a:lnT w="0">
                      <a:noFill/>
                    </a:lnT>
                    <a:lnB w="9525" cap="flat" cmpd="sng" algn="ctr">
                      <a:solidFill>
                        <a:srgbClr val="D3DCE8"/>
                      </a:solidFill>
                      <a:prstDash val="solid"/>
                    </a:lnB>
                    <a:solidFill>
                      <a:srgbClr val="FFFFFF"/>
                    </a:solidFill>
                  </a:tcPr>
                </a:tc>
              </a:tr>
              <a:tr h="621792">
                <a:tc>
                  <a:txBody>
                    <a:bodyPr wrap="square" lIns="64008" tIns="27432" rIns="64008" bIns="27432" anchor="ctr">
                      <a:noAutofit/>
                    </a:bodyPr>
                    <a:lstStyle/>
                    <a:p>
                      <a:pPr algn="l">
                        <a:lnSpc>
                          <a:spcPct val="108000"/>
                        </a:lnSpc>
                        <a:spcAft>
                          <a:spcPts val="200"/>
                        </a:spcAft>
                      </a:pPr>
                      <a:r>
                        <a:rPr sz="850" b="1">
                          <a:solidFill>
                            <a:srgbClr val="1F8F5F"/>
                          </a:solidFill>
                        </a:rPr>
                        <a:t>组织效率</a:t>
                      </a:r>
                    </a:p>
                    <a:p>
                      <a:pPr algn="l">
                        <a:lnSpc>
                          <a:spcPct val="108000"/>
                        </a:lnSpc>
                        <a:spcAft>
                          <a:spcPts val="200"/>
                        </a:spcAft>
                      </a:pPr>
                      <a:r>
                        <a:rPr sz="1000" b="1">
                          <a:solidFill>
                            <a:srgbClr val="0A2A5E"/>
                          </a:solidFill>
                        </a:rPr>
                        <a:t>管理效果跟踪</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对咨询工作形成统一但不过度复杂的成果口径</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区分本人、团队与专业部门贡献；记录产出、客户确认、商业阶段及当前风险</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900" b="0">
                          <a:solidFill>
                            <a:srgbClr val="2F3E4F"/>
                          </a:solidFill>
                        </a:rPr>
                        <a:t>用真实阶段推进评价支撑，不把文件数量直接等同收入</a:t>
                      </a:r>
                    </a:p>
                  </a:txBody>
                  <a:tcPr anchor="ctr">
                    <a:lnL w="0">
                      <a:noFill/>
                    </a:lnL>
                    <a:lnR w="0">
                      <a:noFill/>
                    </a:lnR>
                    <a:lnT w="0">
                      <a:noFill/>
                    </a:lnT>
                    <a:lnB w="9525" cap="flat" cmpd="sng" algn="ctr">
                      <a:solidFill>
                        <a:srgbClr val="D3DCE8"/>
                      </a:solidFill>
                      <a:prstDash val="solid"/>
                    </a:lnB>
                    <a:solidFill>
                      <a:srgbClr val="F6F8FC"/>
                    </a:solidFill>
                  </a:tcPr>
                </a:tc>
              </a:tr>
            </a:tbl>
          </a:graphicData>
        </a:graphic>
      </p:graphicFrame>
      <p:sp>
        <p:nvSpPr>
          <p:cNvPr id="7" name="Rounded Rectangle 6"/>
          <p:cNvSpPr/>
          <p:nvPr/>
        </p:nvSpPr>
        <p:spPr>
          <a:xfrm>
            <a:off x="365760" y="5413248"/>
            <a:ext cx="11457432" cy="548640"/>
          </a:xfrm>
          <a:prstGeom prst="roundRect">
            <a:avLst>
              <a:gd name="adj" fmla="val 5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13248"/>
            <a:ext cx="11183111" cy="548640"/>
          </a:xfrm>
          <a:prstGeom prst="rect">
            <a:avLst/>
          </a:prstGeom>
          <a:noFill/>
        </p:spPr>
        <p:txBody>
          <a:bodyPr wrap="square" lIns="54864" tIns="36576" rIns="54864" bIns="36576" anchor="ctr">
            <a:noAutofit/>
          </a:bodyPr>
          <a:lstStyle/>
          <a:p>
            <a:pPr algn="l">
              <a:lnSpc>
                <a:spcPct val="112000"/>
              </a:lnSpc>
              <a:spcAft>
                <a:spcPts val="0"/>
              </a:spcAft>
            </a:pPr>
            <a:r>
              <a:rPr sz="950" b="1">
                <a:solidFill>
                  <a:srgbClr val="2F3E4F"/>
                </a:solidFill>
              </a:rPr>
              <a:t>实施节奏</a:t>
            </a:r>
            <a:r>
              <a:rPr sz="950" b="0">
                <a:solidFill>
                  <a:srgbClr val="2F3E4F"/>
                </a:solidFill>
              </a:rPr>
              <a:t>　先完成重点项目与人员主备梳理，再选择高价值案例试运行统一记录和评审，随后按反馈扩大复用。具体周期与数量目标由部门确定。</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自我发展：经营判断、授权育人与跨组织协同</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4-自我发展</a:t>
            </a:r>
          </a:p>
        </p:txBody>
      </p:sp>
      <p:sp>
        <p:nvSpPr>
          <p:cNvPr id="4" name="TextBox 3"/>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30</a:t>
            </a:r>
          </a:p>
        </p:txBody>
      </p:sp>
      <p:sp>
        <p:nvSpPr>
          <p:cNvPr id="5" name="Rounded Rectangle 4"/>
          <p:cNvSpPr/>
          <p:nvPr/>
        </p:nvSpPr>
        <p:spPr>
          <a:xfrm>
            <a:off x="365760" y="1403603"/>
            <a:ext cx="3660647" cy="41605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12064" y="1549907"/>
            <a:ext cx="329184" cy="329184"/>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100" b="1">
                <a:solidFill>
                  <a:srgbClr val="FFFFFF"/>
                </a:solidFill>
              </a:rPr>
              <a:t>1</a:t>
            </a:r>
          </a:p>
        </p:txBody>
      </p:sp>
      <p:sp>
        <p:nvSpPr>
          <p:cNvPr id="7" name="TextBox 6"/>
          <p:cNvSpPr txBox="1"/>
          <p:nvPr/>
        </p:nvSpPr>
        <p:spPr>
          <a:xfrm>
            <a:off x="932688" y="1531619"/>
            <a:ext cx="2983991" cy="365760"/>
          </a:xfrm>
          <a:prstGeom prst="rect">
            <a:avLst/>
          </a:prstGeom>
          <a:noFill/>
        </p:spPr>
        <p:txBody>
          <a:bodyPr wrap="square" lIns="54864" tIns="36576" rIns="54864" bIns="36576" anchor="ctr">
            <a:noAutofit/>
          </a:bodyPr>
          <a:lstStyle/>
          <a:p>
            <a:pPr algn="l">
              <a:lnSpc>
                <a:spcPct val="112000"/>
              </a:lnSpc>
              <a:spcAft>
                <a:spcPts val="0"/>
              </a:spcAft>
            </a:pPr>
            <a:r>
              <a:rPr sz="1300" b="1">
                <a:solidFill>
                  <a:srgbClr val="0A2A5E"/>
                </a:solidFill>
              </a:rPr>
              <a:t>经营判断</a:t>
            </a:r>
          </a:p>
        </p:txBody>
      </p:sp>
      <p:sp>
        <p:nvSpPr>
          <p:cNvPr id="8" name="Rounded Rectangle 7"/>
          <p:cNvSpPr/>
          <p:nvPr/>
        </p:nvSpPr>
        <p:spPr>
          <a:xfrm>
            <a:off x="512064" y="2061971"/>
            <a:ext cx="868680" cy="256032"/>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需提升之处</a:t>
            </a:r>
          </a:p>
        </p:txBody>
      </p:sp>
      <p:sp>
        <p:nvSpPr>
          <p:cNvPr id="9" name="TextBox 8"/>
          <p:cNvSpPr txBox="1"/>
          <p:nvPr/>
        </p:nvSpPr>
        <p:spPr>
          <a:xfrm>
            <a:off x="512064" y="2336291"/>
            <a:ext cx="3368040" cy="576071"/>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将技术方案、客户价值、工作范围、成本、付款和风险更系统地放在同一判断框架内</a:t>
            </a:r>
          </a:p>
        </p:txBody>
      </p:sp>
      <p:sp>
        <p:nvSpPr>
          <p:cNvPr id="10" name="Rounded Rectangle 9"/>
          <p:cNvSpPr/>
          <p:nvPr/>
        </p:nvSpPr>
        <p:spPr>
          <a:xfrm>
            <a:off x="512064" y="3040379"/>
            <a:ext cx="868680" cy="256032"/>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关键行动</a:t>
            </a:r>
          </a:p>
        </p:txBody>
      </p:sp>
      <p:sp>
        <p:nvSpPr>
          <p:cNvPr id="11" name="TextBox 10"/>
          <p:cNvSpPr txBox="1"/>
          <p:nvPr/>
        </p:nvSpPr>
        <p:spPr>
          <a:xfrm>
            <a:off x="512064" y="3314699"/>
            <a:ext cx="3368040" cy="85039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深入参与重点项目报价与合同复盘；与商务、财务和服务共同检验关键假设；对重大方案明确收入、资源与责任关系</a:t>
            </a:r>
          </a:p>
        </p:txBody>
      </p:sp>
      <p:sp>
        <p:nvSpPr>
          <p:cNvPr id="12" name="Rounded Rectangle 11"/>
          <p:cNvSpPr/>
          <p:nvPr/>
        </p:nvSpPr>
        <p:spPr>
          <a:xfrm>
            <a:off x="512064" y="4293107"/>
            <a:ext cx="868680" cy="256032"/>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检验方式</a:t>
            </a:r>
          </a:p>
        </p:txBody>
      </p:sp>
      <p:sp>
        <p:nvSpPr>
          <p:cNvPr id="13" name="TextBox 12"/>
          <p:cNvSpPr txBox="1"/>
          <p:nvPr/>
        </p:nvSpPr>
        <p:spPr>
          <a:xfrm>
            <a:off x="512064" y="4567427"/>
            <a:ext cx="3368040" cy="62179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对重大机会能形成清楚的方案选择依据、前提条件和风险建议，而不只给出技术判断</a:t>
            </a:r>
          </a:p>
        </p:txBody>
      </p:sp>
      <p:sp>
        <p:nvSpPr>
          <p:cNvPr id="14" name="Rounded Rectangle 13"/>
          <p:cNvSpPr/>
          <p:nvPr/>
        </p:nvSpPr>
        <p:spPr>
          <a:xfrm>
            <a:off x="4264152" y="1403603"/>
            <a:ext cx="3660647" cy="41605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10456" y="1549907"/>
            <a:ext cx="329184" cy="329184"/>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100" b="1">
                <a:solidFill>
                  <a:srgbClr val="FFFFFF"/>
                </a:solidFill>
              </a:rPr>
              <a:t>2</a:t>
            </a:r>
          </a:p>
        </p:txBody>
      </p:sp>
      <p:sp>
        <p:nvSpPr>
          <p:cNvPr id="16" name="TextBox 15"/>
          <p:cNvSpPr txBox="1"/>
          <p:nvPr/>
        </p:nvSpPr>
        <p:spPr>
          <a:xfrm>
            <a:off x="4831080" y="1531619"/>
            <a:ext cx="2983991" cy="365760"/>
          </a:xfrm>
          <a:prstGeom prst="rect">
            <a:avLst/>
          </a:prstGeom>
          <a:noFill/>
        </p:spPr>
        <p:txBody>
          <a:bodyPr wrap="square" lIns="54864" tIns="36576" rIns="54864" bIns="36576" anchor="ctr">
            <a:noAutofit/>
          </a:bodyPr>
          <a:lstStyle/>
          <a:p>
            <a:pPr algn="l">
              <a:lnSpc>
                <a:spcPct val="112000"/>
              </a:lnSpc>
              <a:spcAft>
                <a:spcPts val="0"/>
              </a:spcAft>
            </a:pPr>
            <a:r>
              <a:rPr sz="1300" b="1">
                <a:solidFill>
                  <a:srgbClr val="0A2A5E"/>
                </a:solidFill>
              </a:rPr>
              <a:t>授权与育人</a:t>
            </a:r>
          </a:p>
        </p:txBody>
      </p:sp>
      <p:sp>
        <p:nvSpPr>
          <p:cNvPr id="17" name="Rounded Rectangle 16"/>
          <p:cNvSpPr/>
          <p:nvPr/>
        </p:nvSpPr>
        <p:spPr>
          <a:xfrm>
            <a:off x="4410456" y="2061971"/>
            <a:ext cx="868680" cy="256032"/>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需提升之处</a:t>
            </a:r>
          </a:p>
        </p:txBody>
      </p:sp>
      <p:sp>
        <p:nvSpPr>
          <p:cNvPr id="18" name="TextBox 17"/>
          <p:cNvSpPr txBox="1"/>
          <p:nvPr/>
        </p:nvSpPr>
        <p:spPr>
          <a:xfrm>
            <a:off x="4410456" y="2336291"/>
            <a:ext cx="3368040" cy="576071"/>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从本人多处补位，进一步转向骨干主责、必要复核和明确升级</a:t>
            </a:r>
          </a:p>
        </p:txBody>
      </p:sp>
      <p:sp>
        <p:nvSpPr>
          <p:cNvPr id="19" name="Rounded Rectangle 18"/>
          <p:cNvSpPr/>
          <p:nvPr/>
        </p:nvSpPr>
        <p:spPr>
          <a:xfrm>
            <a:off x="4410456" y="3040379"/>
            <a:ext cx="868680" cy="256032"/>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关键行动</a:t>
            </a:r>
          </a:p>
        </p:txBody>
      </p:sp>
      <p:sp>
        <p:nvSpPr>
          <p:cNvPr id="20" name="TextBox 19"/>
          <p:cNvSpPr txBox="1"/>
          <p:nvPr/>
        </p:nvSpPr>
        <p:spPr>
          <a:xfrm>
            <a:off x="4410456" y="3314699"/>
            <a:ext cx="3368040" cy="85039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按事项重要性和成熟度分层授权；选择真实客户与项目任务带教；建立主备交接和关键评审节点</a:t>
            </a:r>
          </a:p>
        </p:txBody>
      </p:sp>
      <p:sp>
        <p:nvSpPr>
          <p:cNvPr id="21" name="Rounded Rectangle 20"/>
          <p:cNvSpPr/>
          <p:nvPr/>
        </p:nvSpPr>
        <p:spPr>
          <a:xfrm>
            <a:off x="4410456" y="4293107"/>
            <a:ext cx="868680" cy="256032"/>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检验方式</a:t>
            </a:r>
          </a:p>
        </p:txBody>
      </p:sp>
      <p:sp>
        <p:nvSpPr>
          <p:cNvPr id="22" name="TextBox 21"/>
          <p:cNvSpPr txBox="1"/>
          <p:nvPr/>
        </p:nvSpPr>
        <p:spPr>
          <a:xfrm>
            <a:off x="4410456" y="4567427"/>
            <a:ext cx="3368040" cy="62179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骨干独立承担任务的范围扩大，关键节点质量可保持，本人能投入更多总体判断和组织建设</a:t>
            </a:r>
          </a:p>
        </p:txBody>
      </p:sp>
      <p:sp>
        <p:nvSpPr>
          <p:cNvPr id="23" name="Rounded Rectangle 22"/>
          <p:cNvSpPr/>
          <p:nvPr/>
        </p:nvSpPr>
        <p:spPr>
          <a:xfrm>
            <a:off x="8162543" y="1403603"/>
            <a:ext cx="3660647" cy="41605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08847" y="1549907"/>
            <a:ext cx="329184" cy="329184"/>
          </a:xfrm>
          <a:prstGeom prst="ellipse">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2000"/>
              </a:lnSpc>
              <a:spcAft>
                <a:spcPts val="0"/>
              </a:spcAft>
            </a:pPr>
            <a:r>
              <a:rPr sz="1100" b="1">
                <a:solidFill>
                  <a:srgbClr val="FFFFFF"/>
                </a:solidFill>
              </a:rPr>
              <a:t>3</a:t>
            </a:r>
          </a:p>
        </p:txBody>
      </p:sp>
      <p:sp>
        <p:nvSpPr>
          <p:cNvPr id="25" name="TextBox 24"/>
          <p:cNvSpPr txBox="1"/>
          <p:nvPr/>
        </p:nvSpPr>
        <p:spPr>
          <a:xfrm>
            <a:off x="8729471" y="1531619"/>
            <a:ext cx="2983991" cy="365760"/>
          </a:xfrm>
          <a:prstGeom prst="rect">
            <a:avLst/>
          </a:prstGeom>
          <a:noFill/>
        </p:spPr>
        <p:txBody>
          <a:bodyPr wrap="square" lIns="54864" tIns="36576" rIns="54864" bIns="36576" anchor="ctr">
            <a:noAutofit/>
          </a:bodyPr>
          <a:lstStyle/>
          <a:p>
            <a:pPr algn="l">
              <a:lnSpc>
                <a:spcPct val="112000"/>
              </a:lnSpc>
              <a:spcAft>
                <a:spcPts val="0"/>
              </a:spcAft>
            </a:pPr>
            <a:r>
              <a:rPr sz="1300" b="1">
                <a:solidFill>
                  <a:srgbClr val="0A2A5E"/>
                </a:solidFill>
              </a:rPr>
              <a:t>跨组织协同</a:t>
            </a:r>
          </a:p>
        </p:txBody>
      </p:sp>
      <p:sp>
        <p:nvSpPr>
          <p:cNvPr id="26" name="Rounded Rectangle 25"/>
          <p:cNvSpPr/>
          <p:nvPr/>
        </p:nvSpPr>
        <p:spPr>
          <a:xfrm>
            <a:off x="8308847" y="2061971"/>
            <a:ext cx="868680" cy="256032"/>
          </a:xfrm>
          <a:prstGeom prst="roundRect">
            <a:avLst>
              <a:gd name="adj" fmla="val 50000"/>
            </a:avLst>
          </a:prstGeom>
          <a:solidFill>
            <a:srgbClr val="7A88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需提升之处</a:t>
            </a:r>
          </a:p>
        </p:txBody>
      </p:sp>
      <p:sp>
        <p:nvSpPr>
          <p:cNvPr id="27" name="TextBox 26"/>
          <p:cNvSpPr txBox="1"/>
          <p:nvPr/>
        </p:nvSpPr>
        <p:spPr>
          <a:xfrm>
            <a:off x="8308847" y="2336291"/>
            <a:ext cx="3368040" cy="576071"/>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降低对反复临时沟通的依赖，提高问题处理的可追踪性与决策效率</a:t>
            </a:r>
          </a:p>
        </p:txBody>
      </p:sp>
      <p:sp>
        <p:nvSpPr>
          <p:cNvPr id="28" name="Rounded Rectangle 27"/>
          <p:cNvSpPr/>
          <p:nvPr/>
        </p:nvSpPr>
        <p:spPr>
          <a:xfrm>
            <a:off x="8308847" y="3040379"/>
            <a:ext cx="868680" cy="256032"/>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关键行动</a:t>
            </a:r>
          </a:p>
        </p:txBody>
      </p:sp>
      <p:sp>
        <p:nvSpPr>
          <p:cNvPr id="29" name="TextBox 28"/>
          <p:cNvSpPr txBox="1"/>
          <p:nvPr/>
        </p:nvSpPr>
        <p:spPr>
          <a:xfrm>
            <a:off x="8308847" y="3314699"/>
            <a:ext cx="3368040" cy="85039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把重复出现的问题整理成书面输入、责任接口和升级安排；持续复盘政府、伙伴、客户与内部协作方式</a:t>
            </a:r>
          </a:p>
        </p:txBody>
      </p:sp>
      <p:sp>
        <p:nvSpPr>
          <p:cNvPr id="30" name="Rounded Rectangle 29"/>
          <p:cNvSpPr/>
          <p:nvPr/>
        </p:nvSpPr>
        <p:spPr>
          <a:xfrm>
            <a:off x="8308847" y="4293107"/>
            <a:ext cx="868680" cy="256032"/>
          </a:xfrm>
          <a:prstGeom prst="roundRect">
            <a:avLst>
              <a:gd name="adj" fmla="val 50000"/>
            </a:avLst>
          </a:prstGeom>
          <a:solidFill>
            <a:srgbClr val="1F8F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00" b="1">
                <a:solidFill>
                  <a:srgbClr val="FFFFFF"/>
                </a:solidFill>
              </a:rPr>
              <a:t>检验方式</a:t>
            </a:r>
          </a:p>
        </p:txBody>
      </p:sp>
      <p:sp>
        <p:nvSpPr>
          <p:cNvPr id="31" name="TextBox 30"/>
          <p:cNvSpPr txBox="1"/>
          <p:nvPr/>
        </p:nvSpPr>
        <p:spPr>
          <a:xfrm>
            <a:off x="8308847" y="4567427"/>
            <a:ext cx="3368040" cy="621792"/>
          </a:xfrm>
          <a:prstGeom prst="rect">
            <a:avLst/>
          </a:prstGeom>
          <a:noFill/>
        </p:spPr>
        <p:txBody>
          <a:bodyPr wrap="square" lIns="54864" tIns="36576" rIns="54864" bIns="36576" anchor="t">
            <a:noAutofit/>
          </a:bodyPr>
          <a:lstStyle/>
          <a:p>
            <a:pPr algn="l">
              <a:lnSpc>
                <a:spcPct val="112000"/>
              </a:lnSpc>
              <a:spcAft>
                <a:spcPts val="0"/>
              </a:spcAft>
            </a:pPr>
            <a:r>
              <a:rPr sz="950" b="0">
                <a:solidFill>
                  <a:srgbClr val="2F3E4F"/>
                </a:solidFill>
              </a:rPr>
              <a:t>关键问题有明确责任、状态和下一步，信息不因人员变化而丢失</a:t>
            </a:r>
          </a:p>
        </p:txBody>
      </p:sp>
      <p:sp>
        <p:nvSpPr>
          <p:cNvPr id="32" name="TextBox 31"/>
          <p:cNvSpPr txBox="1"/>
          <p:nvPr/>
        </p:nvSpPr>
        <p:spPr>
          <a:xfrm>
            <a:off x="365760" y="5655563"/>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发展方向：保留关键问题亲自攻坚的能力，同时提升以经营结果为导向的判断、授权和组织协同水平。</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课程学习自检</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5-课程学习自检</a:t>
            </a:r>
          </a:p>
        </p:txBody>
      </p:sp>
      <p:sp>
        <p:nvSpPr>
          <p:cNvPr id="4" name="TextBox 3"/>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31</a:t>
            </a:r>
          </a:p>
        </p:txBody>
      </p:sp>
      <p:sp>
        <p:nvSpPr>
          <p:cNvPr id="5" name="TextBox 4"/>
          <p:cNvSpPr txBox="1"/>
          <p:nvPr/>
        </p:nvSpPr>
        <p:spPr>
          <a:xfrm>
            <a:off x="365760" y="1828799"/>
            <a:ext cx="11457432" cy="365760"/>
          </a:xfrm>
          <a:prstGeom prst="rect">
            <a:avLst/>
          </a:prstGeom>
          <a:noFill/>
        </p:spPr>
        <p:txBody>
          <a:bodyPr wrap="square" lIns="54864" tIns="36576" rIns="54864" bIns="36576" anchor="ctr">
            <a:noAutofit/>
          </a:bodyPr>
          <a:lstStyle/>
          <a:p>
            <a:pPr algn="l">
              <a:lnSpc>
                <a:spcPct val="112000"/>
              </a:lnSpc>
              <a:spcAft>
                <a:spcPts val="0"/>
              </a:spcAft>
            </a:pPr>
            <a:r>
              <a:rPr sz="1100" b="0">
                <a:solidFill>
                  <a:srgbClr val="0A2A5E"/>
                </a:solidFill>
              </a:rPr>
              <a:t>以干部学习平台和考试记录为准，逐项确认必修课程及补齐安排。</a:t>
            </a:r>
          </a:p>
        </p:txBody>
      </p:sp>
      <p:graphicFrame>
        <p:nvGraphicFramePr>
          <p:cNvPr id="6" name="Table 5"/>
          <p:cNvGraphicFramePr>
            <a:graphicFrameLocks noGrp="1"/>
          </p:cNvGraphicFramePr>
          <p:nvPr/>
        </p:nvGraphicFramePr>
        <p:xfrm>
          <a:off x="914400" y="2377439"/>
          <a:ext cx="10360152" cy="2670048"/>
        </p:xfrm>
        <a:graphic>
          <a:graphicData uri="http://schemas.openxmlformats.org/drawingml/2006/table">
            <a:tbl>
              <a:tblPr firstRow="0" bandRow="0">
                <a:tableStyleId>{2D5ABB26-0587-4C30-8999-92F81FD0307C}</a:tableStyleId>
              </a:tblPr>
              <a:tblGrid>
                <a:gridCol w="3291840"/>
                <a:gridCol w="1463040"/>
                <a:gridCol w="1828800"/>
                <a:gridCol w="2194560"/>
                <a:gridCol w="1581912"/>
              </a:tblGrid>
              <a:tr h="384048">
                <a:tc>
                  <a:txBody>
                    <a:bodyPr wrap="square" lIns="64008" tIns="18288" rIns="64008" bIns="18288" anchor="ctr">
                      <a:noAutofit/>
                    </a:bodyPr>
                    <a:lstStyle/>
                    <a:p>
                      <a:pPr algn="l">
                        <a:lnSpc>
                          <a:spcPct val="112000"/>
                        </a:lnSpc>
                        <a:spcAft>
                          <a:spcPts val="0"/>
                        </a:spcAft>
                      </a:pPr>
                      <a:r>
                        <a:rPr sz="1050" b="1">
                          <a:solidFill>
                            <a:srgbClr val="FFFFFF"/>
                          </a:solidFill>
                        </a:rPr>
                        <a:t>课程名称</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课程类型</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学习完成时间</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考试 / 考核结果</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需补齐事项</a:t>
                      </a:r>
                    </a:p>
                  </a:txBody>
                  <a:tcPr anchor="ctr">
                    <a:lnL w="0">
                      <a:noFill/>
                    </a:lnL>
                    <a:lnR w="0">
                      <a:noFill/>
                    </a:lnR>
                    <a:lnT w="0">
                      <a:noFill/>
                    </a:lnT>
                    <a:lnB w="0">
                      <a:noFill/>
                    </a:lnB>
                    <a:solidFill>
                      <a:srgbClr val="0C4BA1"/>
                    </a:solidFill>
                  </a:tcPr>
                </a:tc>
              </a:tr>
              <a:tr h="457200">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r>
              <a:tr h="457200">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r>
              <a:tr h="457200">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r>
              <a:tr h="457200">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6F8FC"/>
                    </a:solidFill>
                  </a:tcPr>
                </a:tc>
              </a:tr>
              <a:tr h="457200">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p>
                  </a:txBody>
                  <a:tcPr anchor="ctr">
                    <a:lnL w="0">
                      <a:noFill/>
                    </a:lnL>
                    <a:lnR w="0">
                      <a:noFill/>
                    </a:lnR>
                    <a:lnT w="0">
                      <a:noFill/>
                    </a:lnT>
                    <a:lnB w="9525" cap="flat" cmpd="sng" algn="ctr">
                      <a:solidFill>
                        <a:srgbClr val="D3DCE8"/>
                      </a:solidFill>
                      <a:prstDash val="solid"/>
                    </a:lnB>
                    <a:solidFill>
                      <a:srgbClr val="FFFFFF"/>
                    </a:solidFill>
                  </a:tcPr>
                </a:tc>
              </a:tr>
            </a:tbl>
          </a:graphicData>
        </a:graphic>
      </p:graphicFrame>
      <p:sp>
        <p:nvSpPr>
          <p:cNvPr id="7" name="TextBox 6"/>
          <p:cNvSpPr txBox="1"/>
          <p:nvPr/>
        </p:nvSpPr>
        <p:spPr>
          <a:xfrm>
            <a:off x="365760" y="5230367"/>
            <a:ext cx="11457432" cy="329184"/>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当前材料已记录参与集团干部培训，但尚不足以确认全部应知应会课程的学习与考试结果；正式提交前按平台记录补齐，未完成项如实列示。</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45720" tIns="0" rIns="45720" bIns="0" anchor="ctr">
            <a:noAutofit/>
          </a:bodyPr>
          <a:lstStyle/>
          <a:p>
            <a:pPr algn="l">
              <a:lnSpc>
                <a:spcPct val="112000"/>
              </a:lnSpc>
              <a:spcAft>
                <a:spcPts val="0"/>
              </a:spcAft>
            </a:pPr>
            <a:r>
              <a:rPr sz="2000" b="1">
                <a:solidFill>
                  <a:srgbClr val="0C4BA1"/>
                </a:solidFill>
              </a:rPr>
              <a:t>对公司和部门的建议：完善战略项目责任与出海专业支撑</a:t>
            </a:r>
          </a:p>
        </p:txBody>
      </p:sp>
      <p:sp>
        <p:nvSpPr>
          <p:cNvPr id="3" name="Text Placeholder 2"/>
          <p:cNvSpPr>
            <a:spLocks noGrp="1"/>
          </p:cNvSpPr>
          <p:nvPr>
            <p:ph type="body" idx="10" sz="quarter"/>
          </p:nvPr>
        </p:nvSpPr>
        <p:spPr/>
        <p:txBody>
          <a:bodyPr wrap="square" tIns="0" rIns="45720" bIns="0" anchor="ctr">
            <a:noAutofit/>
          </a:bodyPr>
          <a:lstStyle/>
          <a:p>
            <a:pPr algn="l">
              <a:lnSpc>
                <a:spcPct val="112000"/>
              </a:lnSpc>
              <a:spcAft>
                <a:spcPts val="0"/>
              </a:spcAft>
            </a:pPr>
            <a:r>
              <a:rPr sz="1400" b="1">
                <a:solidFill>
                  <a:srgbClr val="FFFFFF"/>
                </a:solidFill>
              </a:rPr>
              <a:t>6-其他建议</a:t>
            </a:r>
          </a:p>
        </p:txBody>
      </p:sp>
      <p:sp>
        <p:nvSpPr>
          <p:cNvPr id="4" name="TextBox 3"/>
          <p:cNvSpPr txBox="1"/>
          <p:nvPr/>
        </p:nvSpPr>
        <p:spPr>
          <a:xfrm>
            <a:off x="10972800" y="6419088"/>
            <a:ext cx="868680" cy="274320"/>
          </a:xfrm>
          <a:prstGeom prst="rect">
            <a:avLst/>
          </a:prstGeom>
          <a:noFill/>
        </p:spPr>
        <p:txBody>
          <a:bodyPr wrap="square" lIns="0" tIns="0" rIns="45720" bIns="0" anchor="ctr">
            <a:noAutofit/>
          </a:bodyPr>
          <a:lstStyle/>
          <a:p>
            <a:pPr algn="r">
              <a:lnSpc>
                <a:spcPct val="112000"/>
              </a:lnSpc>
              <a:spcAft>
                <a:spcPts val="0"/>
              </a:spcAft>
            </a:pPr>
            <a:r>
              <a:rPr sz="900" b="0">
                <a:solidFill>
                  <a:srgbClr val="6F7E8F"/>
                </a:solidFill>
              </a:rPr>
              <a:t>32</a:t>
            </a:r>
          </a:p>
        </p:txBody>
      </p:sp>
      <p:sp>
        <p:nvSpPr>
          <p:cNvPr id="5" name="Rounded Rectangle 4"/>
          <p:cNvSpPr/>
          <p:nvPr/>
        </p:nvSpPr>
        <p:spPr>
          <a:xfrm>
            <a:off x="365760" y="1335023"/>
            <a:ext cx="11457432" cy="457200"/>
          </a:xfrm>
          <a:prstGeom prst="roundRect">
            <a:avLst>
              <a:gd name="adj" fmla="val 30000"/>
            </a:avLst>
          </a:prstGeom>
          <a:solidFill>
            <a:srgbClr val="DC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5488" y="1417319"/>
            <a:ext cx="914400" cy="292608"/>
          </a:xfrm>
          <a:prstGeom prst="roundRect">
            <a:avLst>
              <a:gd name="adj" fmla="val 50000"/>
            </a:avLst>
          </a:prstGeom>
          <a:solidFill>
            <a:srgbClr val="0C4B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2000"/>
              </a:lnSpc>
              <a:spcAft>
                <a:spcPts val="0"/>
              </a:spcAft>
            </a:pPr>
            <a:r>
              <a:rPr sz="950" b="1">
                <a:solidFill>
                  <a:srgbClr val="FFFFFF"/>
                </a:solidFill>
              </a:rPr>
              <a:t>建议目标</a:t>
            </a:r>
          </a:p>
        </p:txBody>
      </p:sp>
      <p:sp>
        <p:nvSpPr>
          <p:cNvPr id="7" name="TextBox 6"/>
          <p:cNvSpPr txBox="1"/>
          <p:nvPr/>
        </p:nvSpPr>
        <p:spPr>
          <a:xfrm>
            <a:off x="1481328" y="1335023"/>
            <a:ext cx="10222992" cy="457200"/>
          </a:xfrm>
          <a:prstGeom prst="rect">
            <a:avLst/>
          </a:prstGeom>
          <a:noFill/>
        </p:spPr>
        <p:txBody>
          <a:bodyPr wrap="square" lIns="54864" tIns="36576" rIns="54864" bIns="36576" anchor="ctr">
            <a:noAutofit/>
          </a:bodyPr>
          <a:lstStyle/>
          <a:p>
            <a:pPr algn="l">
              <a:lnSpc>
                <a:spcPct val="112000"/>
              </a:lnSpc>
              <a:spcAft>
                <a:spcPts val="0"/>
              </a:spcAft>
            </a:pPr>
            <a:r>
              <a:rPr sz="1050" b="1">
                <a:solidFill>
                  <a:srgbClr val="0A2A5E"/>
                </a:solidFill>
              </a:rPr>
              <a:t>让重大海外项目既有持续的总体责任，又有清晰的专业接口和必要资源；减少每个项目反复依赖临时补位。</a:t>
            </a:r>
          </a:p>
        </p:txBody>
      </p:sp>
      <p:graphicFrame>
        <p:nvGraphicFramePr>
          <p:cNvPr id="8" name="Table 7"/>
          <p:cNvGraphicFramePr>
            <a:graphicFrameLocks noGrp="1"/>
          </p:cNvGraphicFramePr>
          <p:nvPr/>
        </p:nvGraphicFramePr>
        <p:xfrm>
          <a:off x="365760" y="1920239"/>
          <a:ext cx="11457432" cy="3538728"/>
        </p:xfrm>
        <a:graphic>
          <a:graphicData uri="http://schemas.openxmlformats.org/drawingml/2006/table">
            <a:tbl>
              <a:tblPr firstRow="0" bandRow="0">
                <a:tableStyleId>{2D5ABB26-0587-4C30-8999-92F81FD0307C}</a:tableStyleId>
              </a:tblPr>
              <a:tblGrid>
                <a:gridCol w="1828800"/>
                <a:gridCol w="3291840"/>
                <a:gridCol w="3840480"/>
                <a:gridCol w="2496312"/>
              </a:tblGrid>
              <a:tr h="384048">
                <a:tc>
                  <a:txBody>
                    <a:bodyPr wrap="square" lIns="64008" tIns="18288" rIns="64008" bIns="18288" anchor="ctr">
                      <a:noAutofit/>
                    </a:bodyPr>
                    <a:lstStyle/>
                    <a:p>
                      <a:pPr algn="l">
                        <a:lnSpc>
                          <a:spcPct val="112000"/>
                        </a:lnSpc>
                        <a:spcAft>
                          <a:spcPts val="0"/>
                        </a:spcAft>
                      </a:pPr>
                      <a:r>
                        <a:rPr sz="1050" b="1">
                          <a:solidFill>
                            <a:srgbClr val="FFFFFF"/>
                          </a:solidFill>
                        </a:rPr>
                        <a:t>建议</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来自实战的共性问题</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建议采取的组织安排</a:t>
                      </a:r>
                    </a:p>
                  </a:txBody>
                  <a:tcPr anchor="ctr">
                    <a:lnL w="0">
                      <a:noFill/>
                    </a:lnL>
                    <a:lnR w="0">
                      <a:noFill/>
                    </a:lnR>
                    <a:lnT w="0">
                      <a:noFill/>
                    </a:lnT>
                    <a:lnB w="0">
                      <a:noFill/>
                    </a:lnB>
                    <a:solidFill>
                      <a:srgbClr val="0C4BA1"/>
                    </a:solidFill>
                  </a:tcPr>
                </a:tc>
                <a:tc>
                  <a:txBody>
                    <a:bodyPr wrap="square" lIns="64008" tIns="18288" rIns="64008" bIns="18288" anchor="ctr">
                      <a:noAutofit/>
                    </a:bodyPr>
                    <a:lstStyle/>
                    <a:p>
                      <a:pPr algn="l">
                        <a:lnSpc>
                          <a:spcPct val="112000"/>
                        </a:lnSpc>
                        <a:spcAft>
                          <a:spcPts val="0"/>
                        </a:spcAft>
                      </a:pPr>
                      <a:r>
                        <a:rPr sz="1050" b="1">
                          <a:solidFill>
                            <a:srgbClr val="FFFFFF"/>
                          </a:solidFill>
                        </a:rPr>
                        <a:t>预期价值</a:t>
                      </a:r>
                    </a:p>
                  </a:txBody>
                  <a:tcPr anchor="ctr">
                    <a:lnL w="0">
                      <a:noFill/>
                    </a:lnL>
                    <a:lnR w="0">
                      <a:noFill/>
                    </a:lnR>
                    <a:lnT w="0">
                      <a:noFill/>
                    </a:lnT>
                    <a:lnB w="0">
                      <a:noFill/>
                    </a:lnB>
                    <a:solidFill>
                      <a:srgbClr val="0C4BA1"/>
                    </a:solidFill>
                  </a:tcPr>
                </a:tc>
              </a:tr>
              <a:tr h="1051560">
                <a:tc>
                  <a:txBody>
                    <a:bodyPr wrap="square" lIns="64008" tIns="27432" rIns="64008" bIns="27432" anchor="ctr">
                      <a:noAutofit/>
                    </a:bodyPr>
                    <a:lstStyle/>
                    <a:p>
                      <a:pPr algn="l">
                        <a:lnSpc>
                          <a:spcPct val="108000"/>
                        </a:lnSpc>
                        <a:spcAft>
                          <a:spcPts val="200"/>
                        </a:spcAft>
                      </a:pPr>
                      <a:r>
                        <a:rPr sz="1000" b="1">
                          <a:solidFill>
                            <a:srgbClr val="0A2A5E"/>
                          </a:solidFill>
                        </a:rPr>
                        <a:t>明确战略项目总体责任与决策接口</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项目横跨销售、咨询、方案、服务、法财及伙伴，部分关键问题没有单一专业部门可以独立关闭</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明确总体负责人、客户接口、各专业责任人及重大承诺决策链；责任与必要协调权限相匹配</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让问题有承接、决策有依据、对外口径一致，避免名义负责与实际责任脱节</a:t>
                      </a:r>
                    </a:p>
                  </a:txBody>
                  <a:tcPr anchor="ctr">
                    <a:lnL w="0">
                      <a:noFill/>
                    </a:lnL>
                    <a:lnR w="0">
                      <a:noFill/>
                    </a:lnR>
                    <a:lnT w="0">
                      <a:noFill/>
                    </a:lnT>
                    <a:lnB w="9525" cap="flat" cmpd="sng" algn="ctr">
                      <a:solidFill>
                        <a:srgbClr val="D3DCE8"/>
                      </a:solidFill>
                      <a:prstDash val="solid"/>
                    </a:lnB>
                    <a:solidFill>
                      <a:srgbClr val="FFFFFF"/>
                    </a:solidFill>
                  </a:tcPr>
                </a:tc>
              </a:tr>
              <a:tr h="1051560">
                <a:tc>
                  <a:txBody>
                    <a:bodyPr wrap="square" lIns="64008" tIns="27432" rIns="64008" bIns="27432" anchor="ctr">
                      <a:noAutofit/>
                    </a:bodyPr>
                    <a:lstStyle/>
                    <a:p>
                      <a:pPr algn="l">
                        <a:lnSpc>
                          <a:spcPct val="108000"/>
                        </a:lnSpc>
                        <a:spcAft>
                          <a:spcPts val="200"/>
                        </a:spcAft>
                      </a:pPr>
                      <a:r>
                        <a:rPr sz="1000" b="1">
                          <a:solidFill>
                            <a:srgbClr val="0A2A5E"/>
                          </a:solidFill>
                        </a:rPr>
                        <a:t>前置出海专业支撑</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本地签约主体、税务开票、用工、软件权利和伙伴合同等问题往往在临近签约时集中出现</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在重大机会达到相应成熟度时，组织法财、服务和本地顾问前置介入，沉淀可复用问题清单与材料样例</a:t>
                      </a:r>
                    </a:p>
                  </a:txBody>
                  <a:tcPr anchor="ctr">
                    <a:lnL w="0">
                      <a:noFill/>
                    </a:lnL>
                    <a:lnR w="0">
                      <a:noFill/>
                    </a:lnR>
                    <a:lnT w="0">
                      <a:noFill/>
                    </a:lnT>
                    <a:lnB w="9525" cap="flat" cmpd="sng" algn="ctr">
                      <a:solidFill>
                        <a:srgbClr val="D3DCE8"/>
                      </a:solidFill>
                      <a:prstDash val="solid"/>
                    </a:lnB>
                    <a:solidFill>
                      <a:srgbClr val="F6F8FC"/>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提高交易准备效率，减少每个国家重复探索与后期返工</a:t>
                      </a:r>
                    </a:p>
                  </a:txBody>
                  <a:tcPr anchor="ctr">
                    <a:lnL w="0">
                      <a:noFill/>
                    </a:lnL>
                    <a:lnR w="0">
                      <a:noFill/>
                    </a:lnR>
                    <a:lnT w="0">
                      <a:noFill/>
                    </a:lnT>
                    <a:lnB w="9525" cap="flat" cmpd="sng" algn="ctr">
                      <a:solidFill>
                        <a:srgbClr val="D3DCE8"/>
                      </a:solidFill>
                      <a:prstDash val="solid"/>
                    </a:lnB>
                    <a:solidFill>
                      <a:srgbClr val="F6F8FC"/>
                    </a:solidFill>
                  </a:tcPr>
                </a:tc>
              </a:tr>
              <a:tr h="1051560">
                <a:tc>
                  <a:txBody>
                    <a:bodyPr wrap="square" lIns="64008" tIns="27432" rIns="64008" bIns="27432" anchor="ctr">
                      <a:noAutofit/>
                    </a:bodyPr>
                    <a:lstStyle/>
                    <a:p>
                      <a:pPr algn="l">
                        <a:lnSpc>
                          <a:spcPct val="108000"/>
                        </a:lnSpc>
                        <a:spcAft>
                          <a:spcPts val="200"/>
                        </a:spcAft>
                      </a:pPr>
                      <a:r>
                        <a:rPr sz="1000" b="1">
                          <a:solidFill>
                            <a:srgbClr val="0A2A5E"/>
                          </a:solidFill>
                        </a:rPr>
                        <a:t>将咨询资源与机会成熟度匹配</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重大项目驻场与多个区域小颗粒需求并发，队伍容易受到低成熟度机会消耗</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完善重点商机投入、跨区支援、轮换和主备安排；对长周期驻外及跨时区工作给予匹配保障</a:t>
                      </a:r>
                    </a:p>
                  </a:txBody>
                  <a:tcPr anchor="ctr">
                    <a:lnL w="0">
                      <a:noFill/>
                    </a:lnL>
                    <a:lnR w="0">
                      <a:noFill/>
                    </a:lnR>
                    <a:lnT w="0">
                      <a:noFill/>
                    </a:lnT>
                    <a:lnB w="9525" cap="flat" cmpd="sng" algn="ctr">
                      <a:solidFill>
                        <a:srgbClr val="D3DCE8"/>
                      </a:solidFill>
                      <a:prstDash val="solid"/>
                    </a:lnB>
                    <a:solidFill>
                      <a:srgbClr val="FFFFFF"/>
                    </a:solidFill>
                  </a:tcPr>
                </a:tc>
                <a:tc>
                  <a:txBody>
                    <a:bodyPr wrap="square" lIns="64008" tIns="27432" rIns="64008" bIns="27432" anchor="ctr">
                      <a:noAutofit/>
                    </a:bodyPr>
                    <a:lstStyle/>
                    <a:p>
                      <a:pPr algn="l">
                        <a:lnSpc>
                          <a:spcPct val="108000"/>
                        </a:lnSpc>
                        <a:spcAft>
                          <a:spcPts val="200"/>
                        </a:spcAft>
                      </a:pPr>
                      <a:r>
                        <a:rPr sz="1000" b="0">
                          <a:solidFill>
                            <a:srgbClr val="2F3E4F"/>
                          </a:solidFill>
                        </a:rPr>
                        <a:t>稳定关键现场承接，提高资源使用针对性与人员可持续投入</a:t>
                      </a:r>
                    </a:p>
                  </a:txBody>
                  <a:tcPr anchor="ctr">
                    <a:lnL w="0">
                      <a:noFill/>
                    </a:lnL>
                    <a:lnR w="0">
                      <a:noFill/>
                    </a:lnR>
                    <a:lnT w="0">
                      <a:noFill/>
                    </a:lnT>
                    <a:lnB w="9525" cap="flat" cmpd="sng" algn="ctr">
                      <a:solidFill>
                        <a:srgbClr val="D3DCE8"/>
                      </a:solidFill>
                      <a:prstDash val="solid"/>
                    </a:lnB>
                    <a:solidFill>
                      <a:srgbClr val="FFFFFF"/>
                    </a:solidFill>
                  </a:tcPr>
                </a:tc>
              </a:tr>
            </a:tbl>
          </a:graphicData>
        </a:graphic>
      </p:graphicFrame>
      <p:sp>
        <p:nvSpPr>
          <p:cNvPr id="9" name="TextBox 8"/>
          <p:cNvSpPr txBox="1"/>
          <p:nvPr/>
        </p:nvSpPr>
        <p:spPr>
          <a:xfrm>
            <a:off x="365760" y="5596127"/>
            <a:ext cx="11457432" cy="457200"/>
          </a:xfrm>
          <a:prstGeom prst="rect">
            <a:avLst/>
          </a:prstGeom>
          <a:noFill/>
        </p:spPr>
        <p:txBody>
          <a:bodyPr wrap="square" lIns="54864" tIns="36576" rIns="54864" bIns="36576" anchor="ctr">
            <a:noAutofit/>
          </a:bodyPr>
          <a:lstStyle/>
          <a:p>
            <a:pPr algn="l">
              <a:lnSpc>
                <a:spcPct val="112000"/>
              </a:lnSpc>
              <a:spcAft>
                <a:spcPts val="300"/>
              </a:spcAft>
            </a:pPr>
            <a:r>
              <a:rPr sz="950" b="0">
                <a:solidFill>
                  <a:srgbClr val="6F7E8F"/>
                </a:solidFill>
              </a:rPr>
              <a:t>建议实施方式：先在重点项目中明确责任和专业介入节点，再复盘形成部门级可复用安排，不一次性增加过重流程。以上为组织建议，不是已批准制度或本人新增授权。</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llM2IyZDNlOWQwZGIwZDE4YTE0YTI0YzgzOWRmMTgifQ=="/>
</p:tagLst>
</file>

<file path=ppt/theme/theme1.xml><?xml version="1.0" encoding="utf-8"?>
<a:theme xmlns:a="http://schemas.openxmlformats.org/drawingml/2006/main" name="iFlytek_蓝色2016">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solidFill>
        <a:scene3d>
          <a:camera prst="orthographicFront">
            <a:rot lat="0" lon="0" rev="0"/>
          </a:camera>
          <a:lightRig rig="threePt" dir="t">
            <a:rot lat="0" lon="0" rev="1200000"/>
          </a:lightRig>
        </a:scene3d>
      </a:spPr>
      <a:bodyPr lIns="95500" tIns="47750" rIns="95500" bIns="47750" rtlCol="0" anchor="ctr"/>
      <a:lstStyle>
        <a:defPPr marL="0" indent="1270" algn="ctr">
          <a:lnSpc>
            <a:spcPct val="150000"/>
          </a:lnSpc>
          <a:defRPr kumimoji="1" sz="2200" dirty="0">
            <a:solidFill>
              <a:srgbClr val="FFFFFF"/>
            </a:solidFill>
            <a:latin typeface="+mn-ea"/>
          </a:defRPr>
        </a:defPPr>
      </a:lstStyle>
      <a:style>
        <a:lnRef idx="0">
          <a:schemeClr val="accent2"/>
        </a:lnRef>
        <a:fillRef idx="3">
          <a:schemeClr val="accent2"/>
        </a:fillRef>
        <a:effectRef idx="3">
          <a:schemeClr val="accent2"/>
        </a:effectRef>
        <a:fontRef idx="minor">
          <a:schemeClr val="lt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55675" rtl="0" eaLnBrk="1" fontAlgn="base" latinLnBrk="0" hangingPunct="1">
          <a:lnSpc>
            <a:spcPct val="100000"/>
          </a:lnSpc>
          <a:spcBef>
            <a:spcPct val="0"/>
          </a:spcBef>
          <a:spcAft>
            <a:spcPct val="0"/>
          </a:spcAft>
          <a:buClrTx/>
          <a:buSzTx/>
          <a:buFontTx/>
          <a:buNone/>
          <a:defRPr kumimoji="0" lang="zh-CN" altLang="en-US" sz="19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txDef>
      <a:spPr bwMode="auto">
        <a:noFill/>
        <a:ln>
          <a:noFill/>
        </a:ln>
      </a:spPr>
      <a:bodyPr vert="horz" wrap="none" lIns="61529" tIns="0" rIns="0" bIns="0" numCol="1" anchor="ctr" anchorCtr="0" compatLnSpc="1">
        <a:noAutofit/>
      </a:bodyPr>
      <a:lstStyle>
        <a:defPPr>
          <a:defRPr sz="2000" dirty="0" smtClean="0">
            <a:latin typeface="黑体" panose="02010609060101010101" charset="-122"/>
            <a:ea typeface="黑体" panose="02010609060101010101" charset="-122"/>
            <a:cs typeface="黑体" panose="02010609060101010101" charset="-122"/>
          </a:defRPr>
        </a:defPPr>
      </a:lstStyle>
    </a:txDef>
  </a:objectDefaults>
  <a:extraClrSchemeLst>
    <a:extraClrScheme>
      <a:clrScheme name="讯飞ppt3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讯飞ppt3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讯飞ppt3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讯飞ppt3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讯飞ppt3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讯飞ppt3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讯飞ppt3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467</Words>
  <Application>Microsoft Office PowerPoint</Application>
  <PresentationFormat>宽屏</PresentationFormat>
  <Paragraphs>113</Paragraphs>
  <Slides>10</Slides>
  <Notes>10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Microsoft YaHei Light</vt:lpstr>
      <vt:lpstr>DengXian</vt:lpstr>
      <vt:lpstr>方正大黑简体</vt:lpstr>
      <vt:lpstr>黑体</vt:lpstr>
      <vt:lpstr>楷体</vt:lpstr>
      <vt:lpstr>宋体</vt:lpstr>
      <vt:lpstr>微软雅黑</vt:lpstr>
      <vt:lpstr>Arial</vt:lpstr>
      <vt:lpstr>Times New Roman</vt:lpstr>
      <vt:lpstr>iFlytek_蓝色2016</vt:lpstr>
      <vt:lpstr>PowerPoint 演示文稿</vt:lpstr>
      <vt:lpstr>目录</vt:lpstr>
      <vt:lpstr>管理角色回顾与自评</vt:lpstr>
      <vt:lpstr>各项展开述职</vt:lpstr>
      <vt:lpstr>不足分析与改进</vt:lpstr>
      <vt:lpstr>工作规划与路径</vt:lpstr>
      <vt:lpstr>自我发展</vt:lpstr>
      <vt:lpstr>课程学习自检</vt:lpstr>
      <vt:lpstr>对公司和部门的建议</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宋瑞锋</dc:creator>
  <cp:lastModifiedBy>孙征宇</cp:lastModifiedBy>
  <cp:revision>6035</cp:revision>
  <dcterms:created xsi:type="dcterms:W3CDTF">2016-04-22T01:40:00Z</dcterms:created>
  <dcterms:modified xsi:type="dcterms:W3CDTF">2023-06-12T09:46:19Z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BDBD654E2826431ABE1507CD8D171DF7</vt:lpwstr>
  </property>
  <property fmtid="{D5CDD505-2E9C-101B-9397-08002B2CF9AE}" pid="3" name="KSOProductBuildVer">
    <vt:lpwstr>2052-11.1.0.12302</vt:lpwstr>
  </property>
  <property fmtid="{D5CDD505-2E9C-101B-9397-08002B2CF9AE}" pid="4" name="CWM9ed9e410fd6811ee8000017900000179">
    <vt:lpwstr>CWMgK4Q7bIIxmv656NnoCYFoXwLTBoN+4XNgMI1K0rBRs/FQB3psQ2nNVBBAg0IDQhe7PTP/jo7si9Du5o8H6s0yw==</vt:lpwstr>
  </property>
</Properties>
</file>