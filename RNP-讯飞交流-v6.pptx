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7863840" cy="868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75895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= 待确认，实施前双方共同确定的数字或范围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黑色文字 = 已写入工作范围（SOW）或讯飞技术方案的做法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792224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1600200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0" y="2670048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2478024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3547872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928" y="3355848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4425696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4233672"/>
            <a:ext cx="19019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领域模型 DLM ×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AI 能力中心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9846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41014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8213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3659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0859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59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5138" y="1005840"/>
            <a:ext cx="2626614" cy="2651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6306" y="1207008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3506" y="1170432"/>
            <a:ext cx="1803654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6306" y="1783080"/>
            <a:ext cx="2224278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6306" y="2926080"/>
            <a:ext cx="2224278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8678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941063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小时、约 74 个工作日，RNP 核心团队从跟岗到独立操作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626864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581144"/>
            <a:ext cx="949147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现场陪伴 12 个月 + 远程支持 60 个月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1081735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本材料用到的术语：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文本大模型（NLP）处理文字的理解与生成；语音识别（ASR）将语音转为文字；语音合成（TTS）将文字转为语音；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Token 是模型计量文本的单位，约等于一个词或词的一部分；Stage 1 / Stage 2 是两批算力对应的两个建设阶段。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四项成果的完整表格见附录 A0，可单独转发。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四个模块，各对应 RNP 的一支团队，本次逐一演示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8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语料构建中心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615184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108960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529584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导入葡语文本，看清洗与质量统计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2988" y="2029968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9292" y="2615184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3108960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9292" y="3529584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提交一个小训练任务，运行一次评测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029968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AI 应用创新中心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15184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29584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调用一次 API，用葡语版 APP 提问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4564" y="2029968"/>
            <a:ext cx="2647188" cy="19385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76272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39696"/>
            <a:ext cx="200710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安全审核平台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0868" y="2615184"/>
            <a:ext cx="23545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3108960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0868" y="3529584"/>
            <a:ext cx="23545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演示：</a:t>
            </a: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查看一条被拦截的内容和策略配置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425696"/>
            <a:ext cx="5500116" cy="896112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4988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09744"/>
            <a:ext cx="50429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1636" y="4425696"/>
            <a:ext cx="5500116" cy="896112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44988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0236" y="4809744"/>
            <a:ext cx="50429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验收后自主管理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6811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8698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522976"/>
            <a:ext cx="930859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本次演示的每一步，都是跟岗和实操阶段 RNP 人员要自己完成的操作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06247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演示约 10 分钟；平台容量与验收见附录 A1。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语料准备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生产葡语语料；讯飞提供规范、工具、试批和抽样质检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在讯飞已有的基础模型上，用葡语语料继续训练；训练次数和里程碑实施前确定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测试集、指标与通过规则双方确定；讯飞出评测报告，RNP 专家评审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本地交付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部署在巴西环境，交付权重；之后 12 个月内文本模型升级 3 次、语音模型各 1 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05656"/>
            <a:ext cx="5500116" cy="1005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89704"/>
            <a:ext cx="504291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105656"/>
            <a:ext cx="5500116" cy="1005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489704"/>
            <a:ext cx="504291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葡语语料与授权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专家评审、验收与发布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681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5838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第一阶段工作量最大的是语料，约 500 亿 Token 的葡语文本；数据团队和葡语专家需最早到位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模型规格与升级次数见附录 A2；语料各项数量见附录 A3。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5087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明确需求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7955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508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本地化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7955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葡语界面，采用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508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系统集成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7955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提供本地系统接口、账号凭证与搜索等第三方服务，讯飞完成集成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5087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7955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14215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873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398264"/>
            <a:ext cx="5042916" cy="630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交付应用软件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接通接口、配置平台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014215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0873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398264"/>
            <a:ext cx="5042916" cy="630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内容、品牌与接口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审批用户、日常运营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57799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22391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1266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容量按 1,000 路并发问答配置并实测；上线后需要 RNP 的产品、运营和审核团队承接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89319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APP 演示已在第 3 页平台演示中安排；服务、容量与接口见附录 A4。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个固定场景；讯飞交付可行性分析、方案、指导记录和分析报告，模型权重由 RNP 训练产生、归 RNP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实施步骤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明确用户、输入输出和边界，签署确认书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2988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准备数据与路线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9292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准备训练、验证与独立评测数据和环境；训练路线双方共同确定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训练与评测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在训练中心训练；讯飞给参数建议、看训练日志、协助分析问题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4564" y="2048256"/>
            <a:ext cx="2647188" cy="16002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服务验收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双方共同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0868" y="2670048"/>
            <a:ext cx="2354580" cy="886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的实际结果完成分析，核对指导记录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05656"/>
            <a:ext cx="5500116" cy="1005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89704"/>
            <a:ext cx="504291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可行性分析与方案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过程指导与结果分析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105656"/>
            <a:ext cx="5500116" cy="1005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1788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489704"/>
            <a:ext cx="504291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场景、数据与环境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681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35838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这是 RNP 首次独立训练模型，需要自己的算法工程师和领域专家；跟岗和指导实操正是为此设计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范围、投入与服务验收见附录 A5。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4356201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0818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9433" y="960120"/>
            <a:ext cx="6662318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6593" y="960120"/>
            <a:ext cx="63879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050084" cy="2011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9362" y="1591056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93392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40864"/>
            <a:ext cx="17757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部署平台，启动语料生产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77576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80944"/>
            <a:ext cx="177576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平台验收，语料试批合格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34716" y="2176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63316" y="1463040"/>
            <a:ext cx="2050084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5479" y="1591056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6468" y="1993392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476" y="2340864"/>
            <a:ext cx="17757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训练国家模型并评测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0476" y="2651760"/>
            <a:ext cx="177576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0476" y="2980944"/>
            <a:ext cx="177576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文本与语音模型评测通过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0833" y="2176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9433" y="1463040"/>
            <a:ext cx="2050084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11596" y="1591056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2585" y="1993392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6593" y="2340864"/>
            <a:ext cx="17757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APP 上线，DLM 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6593" y="2651760"/>
            <a:ext cx="177576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1 →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6593" y="2980944"/>
            <a:ext cx="177576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APP Stage 1 交付；DLM 确认书签署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46950" y="2176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75550" y="1463040"/>
            <a:ext cx="2050084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17712" y="1591056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702" y="1993392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2710" y="2340864"/>
            <a:ext cx="17757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分项、分阶段验收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2710" y="2651760"/>
            <a:ext cx="177576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每个 Stage 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2710" y="2980944"/>
            <a:ext cx="177576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分项验收报告签署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53067" y="2176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81667" y="1463040"/>
            <a:ext cx="2050084" cy="20116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23829" y="1591056"/>
            <a:ext cx="365760" cy="365760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4819" y="1993392"/>
            <a:ext cx="19037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8827" y="2340864"/>
            <a:ext cx="17757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移交资产，进入支持期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18827" y="2651760"/>
            <a:ext cx="177576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Stage 2 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8827" y="2980944"/>
            <a:ext cx="177576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移交确认签署，进入陪伴运维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6118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三方分工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22776"/>
            <a:ext cx="3575304" cy="69494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11480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977639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算力、机房、网络与基础环境（RNP 协调）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06824" y="3922776"/>
            <a:ext cx="3575304" cy="69494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411480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1224" y="3977639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6448" y="3922776"/>
            <a:ext cx="3575304" cy="69494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4114800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3977639"/>
            <a:ext cx="2478024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语料、DLM 训练、验收与日常运营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74573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2803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1680" y="4800600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四阶段贯穿五个步骤；正式移交在陪伴运维结束前至少 3 个月启动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330952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413248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交接与运营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5385816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现场陪伴 12 个月 + 远程支持 60 个月；移交后 RNP 主导运营，讯飞远程支持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89788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T0 = 第一批算力就绪；各步骤月份实施前双方确定，RNP 据此编制人力计划。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291840" cy="3246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SOW 规定由 RNP 承担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2889504" cy="2651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自主训练和评测 DLM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审批用户，运营 APP</a:t>
            </a:r>
          </a:p>
          <a:p>
            <a:pPr algn="l" marL="164592" indent="-164592">
              <a:lnSpc>
                <a:spcPct val="115000"/>
              </a:lnSpc>
              <a:spcAft>
                <a:spcPts val="9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协调华为算力和环境，组织验收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59" y="960120"/>
          <a:ext cx="7708392" cy="32369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2926080"/>
                <a:gridCol w="2286000"/>
                <a:gridCol w="112471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此时要做什么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参考人数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1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数据团队、葡语专家、合规审核、项目统筹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采集、标注、质检语料并取得授权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53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2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算法与测试工程师、业务领域专家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参与国家模型训练评测，随后自主训练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25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3 批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应用开发与运营、平台运维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 APP 运营、用户审批与平台运维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约 33 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3484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599431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489703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首批组建数据团队与葡语专家，其次配置算法工程师，应用运营团队第三批到位；知识转移的 30 名核心学员从三批人员中指定，名额另计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八类岗位明细见附录 A7。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知识转移的四个阶段：578 小时、约 74 个工作日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47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RNP 获得什么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149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一支核心团队，移交后能独立完成约定的平台运维、训练提交、模型部署与发布；30 人建立基础，10 人深入到独立操作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四个阶段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48256"/>
            <a:ext cx="2647188" cy="17373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奠基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4268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2354580" cy="658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38328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30 小时 · 5 工作日 · 30 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32988" y="2048256"/>
            <a:ext cx="2647188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9292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3339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跟岗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0056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9292" y="2670048"/>
            <a:ext cx="2354580" cy="658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数据集管理、训练任务、资源配置、评测、发布与基础运维，跟随真实交付任务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9292" y="338328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360 小时 · 45 工作日 · 10 人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2048256"/>
            <a:ext cx="2647188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指导实操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95844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670048"/>
            <a:ext cx="2354580" cy="658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执行数据处理、训练提交、模型部署、监控与故障处理；双方签实操记录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20 小时 · 3 工作日 · 10 人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84564" y="2048256"/>
            <a:ext cx="2647188" cy="17373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30868" y="2194560"/>
            <a:ext cx="310896" cy="31089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4916" y="2157984"/>
            <a:ext cx="12024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正式移交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71632" y="220370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0868" y="2670048"/>
            <a:ext cx="2354580" cy="6583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移交资产、许可、配置、接口文档与运行手册；验证独立操作，双方签确认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0868" y="3383280"/>
            <a:ext cx="23545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168 小时 · 21 工作日 · 10 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319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职责分工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242816"/>
            <a:ext cx="5500116" cy="868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159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26864"/>
            <a:ext cx="5042916" cy="4480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4242816"/>
            <a:ext cx="5500116" cy="868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0236" y="43159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RNP 负责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0236" y="4626864"/>
            <a:ext cx="5042916" cy="4480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安排时间，参与真实任务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0352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468112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358384"/>
            <a:ext cx="93085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74 个工作日是培训活动天数，分散在实施期内，不是连续工期；正式移交至少在陪伴运维结束前 3 个月启动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03504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阶段学员可重合，不要求从 30 人中固定选出 10 人；四阶段明细见附录 A8。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454396" cy="288036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能力层 · 学到什么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B7A1A"/>
                </a:solidFill>
                <a:latin typeface="微软雅黑"/>
                <a:ea typeface="微软雅黑"/>
              </a:rPr>
              <a:t>12 项课程主题、4 个方向：学完能做什么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4905756" cy="1691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模型与数据评测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：能比较训练路线、检查数据质量、按约定基线评测模型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软件栈与生命周期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：能规划环境、管理依赖与版本、定位故障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规模化训练与推理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：能定位算力瓶颈，在效果、时延、吞吐与成本间权衡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检索、智能体与安全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：能设计带来源核验和风险控制的知识服务与研究助手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960120"/>
            <a:ext cx="5454396" cy="288036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6" y="118872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资产层 · 获得什么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6" y="1618488"/>
            <a:ext cx="49057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B35400"/>
                </a:solidFill>
                <a:latin typeface="微软雅黑"/>
                <a:ea typeface="微软雅黑"/>
              </a:rPr>
              <a:t>权重、平台、文档、支持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075688"/>
            <a:ext cx="4905756" cy="1691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05072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33087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谁来教、怎么教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059935"/>
            <a:ext cx="9079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讲师是参与本项目交付的讯飞工程师与方案架构师；研讨在交付的平台和模型上进行，使用批准的样本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0016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28031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对 Capacity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54879"/>
            <a:ext cx="86227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研讨课程在批准的课程计划内；</a:t>
            </a:r>
            <a:r>
              <a:rPr sz="1200" b="0">
                <a:solidFill>
                  <a:srgbClr val="0070C0"/>
                </a:solidFill>
                <a:latin typeface="微软雅黑"/>
                <a:ea typeface="微软雅黑"/>
              </a:rPr>
              <a:t>赴华参访、专家交流、战略圆桌为建议增加，另行约定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课程主题与交流形式见附录 A9；六类岗位的学习任务见附录 A10；许可与支持条件见附录 A6。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B7A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1416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B35400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960120"/>
            <a:ext cx="3575304" cy="146304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38074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51760"/>
          <a:ext cx="11274552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2194560"/>
                <a:gridCol w="578815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确认事项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资产、交付与许可矩阵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确定版本、数量、权利与费用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模型与容量验收规则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确定测试集、通过规则与负载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三项 DLM 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逐项确定场景、数据、路线，签署确认书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资源与实施计划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/ 华为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确定两批环境到位时间与里程碑月份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培训与移交计划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确定课时、学员名单、语言与日程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SOW 待对齐条款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+ 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待确认：是否本次讨论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7150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会中记录结论，会后形成双方行动清单；新增需求按书面变更处理。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附录：技术口径明细，按需查阅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840480" cy="4617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表格“口径”列的三种标记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SOW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：已写入工作范围的内容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方案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：讯飞技术方案的做法，SOW 未逐条规定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：实施前双方共同确定的数字或范围，蓝字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附录每页右上角标注了这页回答的问题。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会后可整理为技术口径文档提供 RNP。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005840"/>
          <a:ext cx="7159752" cy="4590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931920"/>
                <a:gridCol w="25877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总览表：四项成果、怎么建、谁来做、关键数字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能否提供一页总览？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能力中心：容量与验收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平台容量多大、如何验收？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国家模型：规格与升级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模型多大、之后如何升级？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语料：规模、质量与数据控制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语料需要多少、谁提供、存放在哪？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应用：服务、容量与接口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APP 谁能用、能接入什么？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DLM：范围、投入与服务验收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由谁做、做到哪一步？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交接、许可与运营支持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是否会被锁定、后续有哪些费用？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人员配置明细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每类人员多少、何时到位？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知识转移：四阶段明细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每个阶段做什么、多少天、如何签认？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知识转移：课程主题与交流形式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具体学什么、有哪些形式？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知识转移：岗位学习路径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每类岗位学什么？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总览表：四项成果，怎么建、谁来做、关键数字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小时、约 74 个工作日：奠基 30、跟岗 360、指导实操 20、正式移交 168 小时；核心学员 30 / 10 / 10 / 10 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人员配置明细：按职能归组、分三批到位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931920"/>
                <a:gridCol w="1417320"/>
                <a:gridCol w="141732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课时 / 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核心学员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课时跨主题只计一次；阶段日期按批准的知识转移计划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578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74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30/10/10/10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74 个工作日是培训活动天数之和，不是连续工期；百分比是合格核心学员的培养目标，不是验收阈值；正式移交至少在一年陪伴运维结束前 3 个月启动，不等于 168 小时从该时点开始。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学员安排不要求从 30 人中固定选出 10 人或各阶段同一批人，由 RNP 指定稳定且具备基础的学员；口径：SOW。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1B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