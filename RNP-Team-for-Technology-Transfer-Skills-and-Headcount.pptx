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【内部说明，发送前处理】
1. 本稿只回答 Iara 9 月 13 日 WhatsApp 的两问：技能、人数。一张表：团队 / 岗位 / 人数 / 必须会做什么。内容按 9 月 9 日英文 PPT 填（第 13 页与附录 A3、A7、A10）。
2. 人数口径要二选一：PPT 第 13 页写三批约 30 / 20 / 30 人，附录 A7 按岗位合计 53 / 25 / 33 人、总计 111。本稿按 A7 明细填。第 2 页右上角黄色标签是提醒，定稿后删除。
3. 发送前导出 PDF；备注不会进入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371600"/>
            <a:ext cx="7863840" cy="365760"/>
          </a:xfrm>
          <a:prstGeom prst="rect">
            <a:avLst/>
          </a:prstGeom>
          <a:noFill/>
          <a:ln/>
        </p:spPr>
        <p:txBody>
          <a:bodyPr wrap="square" lIns="0" tIns="0" rIns="0" bIns="0" rtlCol="0" anchor="ctr"/>
          <a:lstStyle/>
          <a:p>
            <a:pPr indent="0" marL="0">
              <a:buNone/>
            </a:pPr>
            <a:r>
              <a:rPr lang="en-US" sz="1400" b="1" dirty="0">
                <a:solidFill>
                  <a:srgbClr val="666666"/>
                </a:solidFill>
                <a:latin typeface="Calibri" pitchFamily="34" charset="0"/>
                <a:ea typeface="Calibri" pitchFamily="34" charset="-122"/>
                <a:cs typeface="Calibri" pitchFamily="34" charset="-120"/>
              </a:rPr>
              <a:t>RNP × iFLYTEK · Follow-up to the Technical Exchange of 9 September</a:t>
            </a:r>
            <a:endParaRPr lang="en-US" sz="1400" dirty="0"/>
          </a:p>
        </p:txBody>
      </p:sp>
      <p:sp>
        <p:nvSpPr>
          <p:cNvPr id="3" name="Text 1"/>
          <p:cNvSpPr txBox="1"/>
          <p:nvPr/>
        </p:nvSpPr>
        <p:spPr>
          <a:xfrm>
            <a:off x="731520" y="1810512"/>
            <a:ext cx="7863840" cy="1188720"/>
          </a:xfrm>
          <a:prstGeom prst="rect">
            <a:avLst/>
          </a:prstGeom>
          <a:noFill/>
          <a:ln/>
        </p:spPr>
        <p:txBody>
          <a:bodyPr wrap="square" lIns="0" tIns="0" rIns="0" bIns="0" rtlCol="0" anchor="t"/>
          <a:lstStyle/>
          <a:p>
            <a:pPr indent="0" marL="0">
              <a:buNone/>
            </a:pPr>
            <a:r>
              <a:rPr lang="en-US" sz="2700" b="1" dirty="0">
                <a:solidFill>
                  <a:srgbClr val="C00000"/>
                </a:solidFill>
                <a:latin typeface="Calibri" pitchFamily="34" charset="0"/>
                <a:ea typeface="Calibri" pitchFamily="34" charset="-122"/>
                <a:cs typeface="Calibri" pitchFamily="34" charset="-120"/>
              </a:rPr>
              <a:t>RNP Team for the Technology Transfer: Skills and Headcount</a:t>
            </a:r>
            <a:endParaRPr lang="en-US" sz="2700" dirty="0"/>
          </a:p>
        </p:txBody>
      </p:sp>
      <p:sp>
        <p:nvSpPr>
          <p:cNvPr id="4" name="Text 2"/>
          <p:cNvSpPr txBox="1"/>
          <p:nvPr/>
        </p:nvSpPr>
        <p:spPr>
          <a:xfrm>
            <a:off x="731520" y="2971800"/>
            <a:ext cx="7863840" cy="548640"/>
          </a:xfrm>
          <a:prstGeom prst="rect">
            <a:avLst/>
          </a:prstGeom>
          <a:noFill/>
          <a:ln/>
        </p:spPr>
        <p:txBody>
          <a:bodyPr wrap="square" lIns="0" tIns="0" rIns="0" bIns="0" rtlCol="0" anchor="t"/>
          <a:lstStyle/>
          <a:p>
            <a:pPr indent="0" marL="0">
              <a:buNone/>
            </a:pPr>
            <a:r>
              <a:rPr lang="en-US" sz="1500" b="1" dirty="0">
                <a:solidFill>
                  <a:srgbClr val="1D1D1A"/>
                </a:solidFill>
                <a:latin typeface="Calibri" pitchFamily="34" charset="0"/>
                <a:ea typeface="Calibri" pitchFamily="34" charset="-122"/>
                <a:cs typeface="Calibri" pitchFamily="34" charset="-120"/>
              </a:rPr>
              <a:t>The roles RNP needs on its side, what each must be able to do, and how many people</a:t>
            </a:r>
            <a:endParaRPr lang="en-US" sz="1500" dirty="0"/>
          </a:p>
        </p:txBody>
      </p:sp>
      <p:sp>
        <p:nvSpPr>
          <p:cNvPr id="5" name="Text 3"/>
          <p:cNvSpPr txBox="1"/>
          <p:nvPr/>
        </p:nvSpPr>
        <p:spPr>
          <a:xfrm>
            <a:off x="731520" y="3749040"/>
            <a:ext cx="7863840" cy="1188720"/>
          </a:xfrm>
          <a:prstGeom prst="rect">
            <a:avLst/>
          </a:prstGeom>
          <a:noFill/>
          <a:ln/>
        </p:spPr>
        <p:txBody>
          <a:bodyPr wrap="square" lIns="0" tIns="0" rIns="0" bIns="0" rtlCol="0" anchor="t"/>
          <a:lstStyle/>
          <a:p>
            <a:pPr indent="0" marL="0">
              <a:spcAft>
                <a:spcPts val="400"/>
              </a:spcAft>
              <a:buNone/>
            </a:pPr>
            <a:r>
              <a:rPr lang="en-US" sz="1300" dirty="0">
                <a:solidFill>
                  <a:srgbClr val="333333"/>
                </a:solidFill>
                <a:latin typeface="Calibri" pitchFamily="34" charset="0"/>
                <a:ea typeface="Calibri" pitchFamily="34" charset="-122"/>
                <a:cs typeface="Calibri" pitchFamily="34" charset="-120"/>
              </a:rPr>
              <a:t>Prepared for RNP at Iara's request of 13 September 2026</a:t>
            </a:r>
            <a:endParaRPr lang="en-US" sz="1300" dirty="0"/>
          </a:p>
          <a:p>
            <a:pPr indent="0" marL="0">
              <a:spcAft>
                <a:spcPts val="400"/>
              </a:spcAft>
              <a:buNone/>
            </a:pPr>
            <a:r>
              <a:rPr lang="en-US" sz="1300" dirty="0">
                <a:solidFill>
                  <a:srgbClr val="333333"/>
                </a:solidFill>
                <a:latin typeface="Calibri" pitchFamily="34" charset="0"/>
                <a:ea typeface="Calibri" pitchFamily="34" charset="-122"/>
                <a:cs typeface="Calibri" pitchFamily="34" charset="-120"/>
              </a:rPr>
              <a:t>Draws on the presentation of 9 September 2026 and its appendices A3, A7 and A10</a:t>
            </a:r>
            <a:endParaRPr lang="en-US" sz="1300" dirty="0"/>
          </a:p>
          <a:p>
            <a:pPr indent="0" marL="0">
              <a:spcAft>
                <a:spcPts val="400"/>
              </a:spcAft>
              <a:buNone/>
            </a:pPr>
            <a:r>
              <a:rPr lang="en-US" sz="1300" dirty="0">
                <a:solidFill>
                  <a:srgbClr val="333333"/>
                </a:solidFill>
                <a:latin typeface="Calibri" pitchFamily="34" charset="0"/>
                <a:ea typeface="Calibri" pitchFamily="34" charset="-122"/>
                <a:cs typeface="Calibri" pitchFamily="34" charset="-120"/>
              </a:rPr>
              <a:t>iFLYTEK · Draft v0.1 · 14 September 2026</a:t>
            </a:r>
            <a:endParaRPr lang="en-US" sz="1300" dirty="0"/>
          </a:p>
        </p:txBody>
      </p:sp>
      <p:sp>
        <p:nvSpPr>
          <p:cNvPr id="6" name="Shape 4"/>
          <p:cNvSpPr/>
          <p:nvPr/>
        </p:nvSpPr>
        <p:spPr>
          <a:xfrm>
            <a:off x="9052560" y="1600200"/>
            <a:ext cx="2651760" cy="1828800"/>
          </a:xfrm>
          <a:prstGeom prst="roundRect">
            <a:avLst>
              <a:gd name="adj" fmla="val 3000"/>
            </a:avLst>
          </a:prstGeom>
          <a:solidFill>
            <a:srgbClr val="F2F2F2"/>
          </a:solidFill>
          <a:ln w="12700">
            <a:solidFill>
              <a:srgbClr val="F2F2F2"/>
            </a:solidFill>
            <a:prstDash val="solid"/>
          </a:ln>
        </p:spPr>
      </p:sp>
      <p:sp>
        <p:nvSpPr>
          <p:cNvPr id="7" name="Text 5"/>
          <p:cNvSpPr txBox="1"/>
          <p:nvPr/>
        </p:nvSpPr>
        <p:spPr>
          <a:xfrm>
            <a:off x="9281160" y="1691640"/>
            <a:ext cx="2240280" cy="320040"/>
          </a:xfrm>
          <a:prstGeom prst="rect">
            <a:avLst/>
          </a:prstGeom>
          <a:noFill/>
          <a:ln/>
        </p:spPr>
        <p:txBody>
          <a:bodyPr wrap="square" lIns="0" tIns="0" rIns="0" bIns="0" rtlCol="0" anchor="ctr"/>
          <a:lstStyle/>
          <a:p>
            <a:pPr indent="0" marL="0">
              <a:buNone/>
            </a:pPr>
            <a:r>
              <a:rPr lang="en-US" sz="1150" b="1" dirty="0">
                <a:solidFill>
                  <a:srgbClr val="1F4E79"/>
                </a:solidFill>
                <a:latin typeface="Calibri" pitchFamily="34" charset="0"/>
                <a:ea typeface="Calibri" pitchFamily="34" charset="-122"/>
                <a:cs typeface="Calibri" pitchFamily="34" charset="-120"/>
              </a:rPr>
              <a:t>Your request, 13 September</a:t>
            </a:r>
            <a:endParaRPr lang="en-US" sz="1150" dirty="0"/>
          </a:p>
        </p:txBody>
      </p:sp>
      <p:sp>
        <p:nvSpPr>
          <p:cNvPr id="8" name="Text 6"/>
          <p:cNvSpPr txBox="1"/>
          <p:nvPr/>
        </p:nvSpPr>
        <p:spPr>
          <a:xfrm>
            <a:off x="9281160" y="2029968"/>
            <a:ext cx="2240280" cy="1325880"/>
          </a:xfrm>
          <a:prstGeom prst="rect">
            <a:avLst/>
          </a:prstGeom>
          <a:noFill/>
          <a:ln/>
        </p:spPr>
        <p:txBody>
          <a:bodyPr wrap="square" lIns="0" tIns="0" rIns="0" bIns="0" rtlCol="0" anchor="t"/>
          <a:lstStyle/>
          <a:p>
            <a:pPr indent="0" marL="0">
              <a:buNone/>
            </a:pPr>
            <a:r>
              <a:rPr lang="en-US" sz="1000" i="1" dirty="0">
                <a:solidFill>
                  <a:srgbClr val="333333"/>
                </a:solidFill>
                <a:latin typeface="Calibri" pitchFamily="34" charset="0"/>
                <a:ea typeface="Calibri" pitchFamily="34" charset="-122"/>
                <a:cs typeface="Calibri" pitchFamily="34" charset="-120"/>
              </a:rPr>
              <a:t>“We are organizing RNP's side to receive the technology transfer and prepare to work together with you. Any important information about the skills we need on our side, the number of people, will be welcome.”</a:t>
            </a:r>
            <a:endParaRPr lang="en-US" sz="1000" dirty="0"/>
          </a:p>
        </p:txBody>
      </p:sp>
      <p:sp>
        <p:nvSpPr>
          <p:cNvPr id="9" name="Shape 7"/>
          <p:cNvSpPr/>
          <p:nvPr/>
        </p:nvSpPr>
        <p:spPr>
          <a:xfrm>
            <a:off x="9052560" y="3611880"/>
            <a:ext cx="2651760" cy="658368"/>
          </a:xfrm>
          <a:prstGeom prst="roundRect">
            <a:avLst>
              <a:gd name="adj" fmla="val 8333"/>
            </a:avLst>
          </a:prstGeom>
          <a:solidFill>
            <a:srgbClr val="C00000"/>
          </a:solidFill>
          <a:ln w="12700">
            <a:solidFill>
              <a:srgbClr val="C00000"/>
            </a:solidFill>
            <a:prstDash val="solid"/>
          </a:ln>
        </p:spPr>
      </p:sp>
      <p:sp>
        <p:nvSpPr>
          <p:cNvPr id="10" name="Text 8"/>
          <p:cNvSpPr txBox="1"/>
          <p:nvPr/>
        </p:nvSpPr>
        <p:spPr>
          <a:xfrm>
            <a:off x="9281160" y="3611880"/>
            <a:ext cx="2377440" cy="6583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One table: 8 teams, 19 roles, 111 people at peak</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75488" y="146304"/>
            <a:ext cx="7315200" cy="457200"/>
          </a:xfrm>
          <a:prstGeom prst="rect">
            <a:avLst/>
          </a:prstGeom>
          <a:noFill/>
          <a:ln/>
        </p:spPr>
        <p:txBody>
          <a:bodyPr wrap="square" lIns="0" tIns="0" rIns="0" bIns="0" rtlCol="0" anchor="ctr"/>
          <a:lstStyle/>
          <a:p>
            <a:pPr indent="0" marL="0">
              <a:buNone/>
            </a:pPr>
            <a:r>
              <a:rPr lang="en-US" sz="1800" b="1" dirty="0">
                <a:solidFill>
                  <a:srgbClr val="C00000"/>
                </a:solidFill>
                <a:latin typeface="Calibri" pitchFamily="34" charset="0"/>
                <a:ea typeface="Calibri" pitchFamily="34" charset="-122"/>
                <a:cs typeface="Calibri" pitchFamily="34" charset="-120"/>
              </a:rPr>
              <a:t>RNP team for the technology transfer: 8 teams, 19 roles, 111 people at peak</a:t>
            </a:r>
            <a:endParaRPr lang="en-US" sz="1800" dirty="0"/>
          </a:p>
        </p:txBody>
      </p:sp>
      <p:sp>
        <p:nvSpPr>
          <p:cNvPr id="3" name="Text 1"/>
          <p:cNvSpPr txBox="1"/>
          <p:nvPr/>
        </p:nvSpPr>
        <p:spPr>
          <a:xfrm>
            <a:off x="457200" y="640080"/>
            <a:ext cx="11274552" cy="365760"/>
          </a:xfrm>
          <a:prstGeom prst="rect">
            <a:avLst/>
          </a:prstGeom>
          <a:noFill/>
          <a:ln/>
        </p:spPr>
        <p:txBody>
          <a:bodyPr wrap="square" lIns="0" tIns="0" rIns="0" bIns="0" rtlCol="0" anchor="t"/>
          <a:lstStyle/>
          <a:p>
            <a:pPr indent="0" marL="0">
              <a:buNone/>
            </a:pPr>
            <a:r>
              <a:rPr lang="en-US" sz="1050" dirty="0">
                <a:solidFill>
                  <a:srgbClr val="1D1D1A"/>
                </a:solidFill>
                <a:latin typeface="Calibri" pitchFamily="34" charset="0"/>
                <a:ea typeface="Calibri" pitchFamily="34" charset="-122"/>
                <a:cs typeface="Calibri" pitchFamily="34" charset="-120"/>
              </a:rPr>
              <a:t>What each role must be able to do, and how many people. Headcounts are peaks per function, reusable across activities, not people on site at once. Source: presentation of 9 September, p.13 and Appendices A3, A7, A10.</a:t>
            </a:r>
            <a:endParaRPr lang="en-US" sz="1050" dirty="0"/>
          </a:p>
        </p:txBody>
      </p:sp>
      <p:sp>
        <p:nvSpPr>
          <p:cNvPr id="4" name="Shape 2"/>
          <p:cNvSpPr/>
          <p:nvPr/>
        </p:nvSpPr>
        <p:spPr>
          <a:xfrm>
            <a:off x="7955280" y="155448"/>
            <a:ext cx="3794760" cy="420624"/>
          </a:xfrm>
          <a:prstGeom prst="roundRect">
            <a:avLst>
              <a:gd name="adj" fmla="val 10870"/>
            </a:avLst>
          </a:prstGeom>
          <a:solidFill>
            <a:srgbClr val="FFFF00"/>
          </a:solidFill>
          <a:ln w="12700">
            <a:solidFill>
              <a:srgbClr val="FFC000"/>
            </a:solidFill>
            <a:prstDash val="solid"/>
          </a:ln>
        </p:spPr>
      </p:sp>
      <p:sp>
        <p:nvSpPr>
          <p:cNvPr id="5" name="Text 3"/>
          <p:cNvSpPr txBox="1"/>
          <p:nvPr/>
        </p:nvSpPr>
        <p:spPr>
          <a:xfrm>
            <a:off x="8019288" y="155448"/>
            <a:ext cx="3685032" cy="420624"/>
          </a:xfrm>
          <a:prstGeom prst="rect">
            <a:avLst/>
          </a:prstGeom>
          <a:noFill/>
          <a:ln/>
        </p:spPr>
        <p:txBody>
          <a:bodyPr wrap="square" lIns="0" tIns="0" rIns="0" bIns="0" rtlCol="0" anchor="ctr"/>
          <a:lstStyle/>
          <a:p>
            <a:pPr indent="0" marL="0">
              <a:buNone/>
            </a:pPr>
            <a:r>
              <a:rPr lang="en-US" sz="800" b="1" dirty="0">
                <a:solidFill>
                  <a:srgbClr val="C00000"/>
                </a:solidFill>
                <a:latin typeface="Calibri" pitchFamily="34" charset="0"/>
                <a:ea typeface="Calibri" pitchFamily="34" charset="-122"/>
                <a:cs typeface="Calibri" pitchFamily="34" charset="-120"/>
              </a:rPr>
              <a:t>TBC before sending: p.13 says about 30 / 20 / 30 per intake; A7 detail sums to 53 / 25 / 33. Confirm one set.</a:t>
            </a:r>
            <a:endParaRPr lang="en-US" sz="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11274552" cy="914400"/>
        </p:xfrm>
        <a:graphic>
          <a:graphicData uri="http://schemas.openxmlformats.org/drawingml/2006/table">
            <a:tbl>
              <a:tblPr/>
              <a:tblGrid>
                <a:gridCol w="1874520"/>
                <a:gridCol w="1691640"/>
                <a:gridCol w="640080"/>
                <a:gridCol w="7068312"/>
              </a:tblGrid>
              <a:tr h="251460">
                <a:tc>
                  <a:txBody>
                    <a:bodyPr/>
                    <a:lstStyle/>
                    <a:p>
                      <a:pPr indent="0" marL="0">
                        <a:buNone/>
                      </a:pPr>
                      <a:r>
                        <a:rPr lang="en-US" sz="900" b="1" dirty="0">
                          <a:solidFill>
                            <a:srgbClr val="1D1D1A"/>
                          </a:solidFill>
                          <a:latin typeface="Calibri" pitchFamily="34" charset="0"/>
                          <a:ea typeface="Calibri" pitchFamily="34" charset="-122"/>
                          <a:cs typeface="Calibri" pitchFamily="34" charset="-120"/>
                        </a:rPr>
                        <a:t>Team</a:t>
                      </a:r>
                      <a:endParaRPr lang="en-US" sz="90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900" b="1" dirty="0">
                          <a:solidFill>
                            <a:srgbClr val="1D1D1A"/>
                          </a:solidFill>
                          <a:latin typeface="Calibri" pitchFamily="34" charset="0"/>
                          <a:ea typeface="Calibri" pitchFamily="34" charset="-122"/>
                          <a:cs typeface="Calibri" pitchFamily="34" charset="-120"/>
                        </a:rPr>
                        <a:t>Role</a:t>
                      </a:r>
                      <a:endParaRPr lang="en-US" sz="90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D1D1A"/>
                          </a:solidFill>
                          <a:latin typeface="Calibri" pitchFamily="34" charset="0"/>
                          <a:ea typeface="Calibri" pitchFamily="34" charset="-122"/>
                          <a:cs typeface="Calibri" pitchFamily="34" charset="-120"/>
                        </a:rPr>
                        <a:t>People</a:t>
                      </a:r>
                      <a:endParaRPr lang="en-US" sz="90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900" b="1" dirty="0">
                          <a:solidFill>
                            <a:srgbClr val="1D1D1A"/>
                          </a:solidFill>
                          <a:latin typeface="Calibri" pitchFamily="34" charset="0"/>
                          <a:ea typeface="Calibri" pitchFamily="34" charset="-122"/>
                          <a:cs typeface="Calibri" pitchFamily="34" charset="-120"/>
                        </a:rPr>
                        <a:t>Must be able to</a:t>
                      </a:r>
                      <a:endParaRPr lang="en-US" sz="90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r>
              <a:tr h="251460">
                <a:tc rowSpan="3">
                  <a:txBody>
                    <a:bodyPr/>
                    <a:lstStyle/>
                    <a:p>
                      <a:pPr indent="0" marL="0">
                        <a:buNone/>
                      </a:pPr>
                      <a:r>
                        <a:rPr lang="en-US" sz="900" b="1" dirty="0">
                          <a:solidFill>
                            <a:srgbClr val="1F4E79"/>
                          </a:solidFill>
                          <a:latin typeface="Calibri" pitchFamily="34" charset="0"/>
                          <a:ea typeface="Calibri" pitchFamily="34" charset="-122"/>
                          <a:cs typeface="Calibri" pitchFamily="34" charset="-120"/>
                        </a:rPr>
                        <a:t>1  Project and product</a:t>
                      </a:r>
                      <a:endParaRPr lang="en-US" sz="900" dirty="0">
                        <a:latin typeface="Calibri" charset="0"/>
                        <a:ea typeface="Calibri" charset="0"/>
                        <a:cs typeface="Calibri" charset="0"/>
                      </a:endParaRPr>
                    </a:p>
                    <a:p>
                      <a:pPr indent="0" marL="0">
                        <a:buNone/>
                      </a:pPr>
                      <a:r>
                        <a:rPr lang="en-US" sz="900" b="1" dirty="0">
                          <a:solidFill>
                            <a:srgbClr val="0070C0"/>
                          </a:solidFill>
                          <a:latin typeface="Calibri" pitchFamily="34" charset="0"/>
                          <a:ea typeface="Calibri" pitchFamily="34" charset="-122"/>
                          <a:cs typeface="Calibri" pitchFamily="34" charset="-120"/>
                        </a:rPr>
                        <a:t>9 people</a:t>
                      </a:r>
                      <a:endParaRPr lang="en-US" sz="90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8F0FA"/>
                    </a:solidFill>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Project manager</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Run the five-step schedule with iFLYTEK and Huawei; manage resources, risks and delivery; organise acceptance</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vMerge="1">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Product manager</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Define the National AI Application with iFLYTEK: functions, user scope, content rules, Brazilian content, roadmap</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vMerge="1">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PMO / data-centre expert</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Coordinate Huawei compute, facilities, network and base environment; track T0 and the compute batches</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rowSpan="3">
                  <a:txBody>
                    <a:bodyPr/>
                    <a:lstStyle/>
                    <a:p>
                      <a:pPr indent="0" marL="0">
                        <a:buNone/>
                      </a:pPr>
                      <a:r>
                        <a:rPr lang="en-US" sz="900" b="1" dirty="0">
                          <a:solidFill>
                            <a:srgbClr val="1F4E79"/>
                          </a:solidFill>
                          <a:latin typeface="Calibri" pitchFamily="34" charset="0"/>
                          <a:ea typeface="Calibri" pitchFamily="34" charset="-122"/>
                          <a:cs typeface="Calibri" pitchFamily="34" charset="-120"/>
                        </a:rPr>
                        <a:t>2  Corpus and data</a:t>
                      </a:r>
                      <a:endParaRPr lang="en-US" sz="900" dirty="0">
                        <a:latin typeface="Calibri" charset="0"/>
                        <a:ea typeface="Calibri" charset="0"/>
                        <a:cs typeface="Calibri" charset="0"/>
                      </a:endParaRPr>
                    </a:p>
                    <a:p>
                      <a:pPr indent="0" marL="0">
                        <a:buNone/>
                      </a:pPr>
                      <a:r>
                        <a:rPr lang="en-US" sz="900" b="1" dirty="0">
                          <a:solidFill>
                            <a:srgbClr val="0070C0"/>
                          </a:solidFill>
                          <a:latin typeface="Calibri" pitchFamily="34" charset="0"/>
                          <a:ea typeface="Calibri" pitchFamily="34" charset="-122"/>
                          <a:cs typeface="Calibri" pitchFamily="34" charset="-120"/>
                        </a:rPr>
                        <a:t>32 people</a:t>
                      </a:r>
                      <a:endParaRPr lang="en-US" sz="90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8F0FA"/>
                    </a:solidFill>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Data resource engineer</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Identify data sources, secure licences and permitted use, organise acquisition; keep data in RNP's Brazilian environment</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vMerge="1">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Data quality engineer</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Apply the agreed sampling, quality-threshold and re-check rules; run the pilot batch; operate the Corpus Construction Center</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vMerge="1">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Annotator</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Annotate to the agreed standards: 200,000 supervised and 20,000 safety samples; transcribe 10,000 hours of speech</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a:txBody>
                    <a:bodyPr/>
                    <a:lstStyle/>
                    <a:p>
                      <a:pPr indent="0" marL="0">
                        <a:buNone/>
                      </a:pPr>
                      <a:r>
                        <a:rPr lang="en-US" sz="900" b="1" dirty="0">
                          <a:solidFill>
                            <a:srgbClr val="1F4E79"/>
                          </a:solidFill>
                          <a:latin typeface="Calibri" pitchFamily="34" charset="0"/>
                          <a:ea typeface="Calibri" pitchFamily="34" charset="-122"/>
                          <a:cs typeface="Calibri" pitchFamily="34" charset="-120"/>
                        </a:rPr>
                        <a:t>3  Portuguese language experts</a:t>
                      </a:r>
                      <a:endParaRPr lang="en-US" sz="900" dirty="0">
                        <a:latin typeface="Calibri" charset="0"/>
                        <a:ea typeface="Calibri" charset="0"/>
                        <a:cs typeface="Calibri" charset="0"/>
                      </a:endParaRPr>
                    </a:p>
                    <a:p>
                      <a:pPr indent="0" marL="0">
                        <a:buNone/>
                      </a:pPr>
                      <a:r>
                        <a:rPr lang="en-US" sz="900" b="1" dirty="0">
                          <a:solidFill>
                            <a:srgbClr val="0070C0"/>
                          </a:solidFill>
                          <a:latin typeface="Calibri" pitchFamily="34" charset="0"/>
                          <a:ea typeface="Calibri" pitchFamily="34" charset="-122"/>
                          <a:cs typeface="Calibri" pitchFamily="34" charset="-120"/>
                        </a:rPr>
                        <a:t>6 people</a:t>
                      </a:r>
                      <a:endParaRPr lang="en-US" sz="90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8F0FA"/>
                    </a:solidFill>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Language expert</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Set Brazilian Portuguese quality, annotation, safety-label and speech (ASR/TTS) standards; analyse samples with iFLYTEK</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rowSpan="3">
                  <a:txBody>
                    <a:bodyPr/>
                    <a:lstStyle/>
                    <a:p>
                      <a:pPr indent="0" marL="0">
                        <a:buNone/>
                      </a:pPr>
                      <a:r>
                        <a:rPr lang="en-US" sz="900" b="1" dirty="0">
                          <a:solidFill>
                            <a:srgbClr val="1F4E79"/>
                          </a:solidFill>
                          <a:latin typeface="Calibri" pitchFamily="34" charset="0"/>
                          <a:ea typeface="Calibri" pitchFamily="34" charset="-122"/>
                          <a:cs typeface="Calibri" pitchFamily="34" charset="-120"/>
                        </a:rPr>
                        <a:t>4  Compliance and review</a:t>
                      </a:r>
                      <a:endParaRPr lang="en-US" sz="900" dirty="0">
                        <a:latin typeface="Calibri" charset="0"/>
                        <a:ea typeface="Calibri" charset="0"/>
                        <a:cs typeface="Calibri" charset="0"/>
                      </a:endParaRPr>
                    </a:p>
                    <a:p>
                      <a:pPr indent="0" marL="0">
                        <a:buNone/>
                      </a:pPr>
                      <a:r>
                        <a:rPr lang="en-US" sz="900" b="1" dirty="0">
                          <a:solidFill>
                            <a:srgbClr val="0070C0"/>
                          </a:solidFill>
                          <a:latin typeface="Calibri" pitchFamily="34" charset="0"/>
                          <a:ea typeface="Calibri" pitchFamily="34" charset="-122"/>
                          <a:cs typeface="Calibri" pitchFamily="34" charset="-120"/>
                        </a:rPr>
                        <a:t>6 people</a:t>
                      </a:r>
                      <a:endParaRPr lang="en-US" sz="90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8F0FA"/>
                    </a:solidFill>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Review expert</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Define review policies, sensitive lexicons and risk samples on the Content Safety Review Platform; review content</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vMerge="1">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Legal expert</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Clear data licences and permitted use; legal compliance of corpus, models and application</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vMerge="1">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Review lead</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Own the review process and its records; escalate and approve</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rowSpan="3">
                  <a:txBody>
                    <a:bodyPr/>
                    <a:lstStyle/>
                    <a:p>
                      <a:pPr indent="0" marL="0">
                        <a:buNone/>
                      </a:pPr>
                      <a:r>
                        <a:rPr lang="en-US" sz="900" b="1" dirty="0">
                          <a:solidFill>
                            <a:srgbClr val="1F4E79"/>
                          </a:solidFill>
                          <a:latin typeface="Calibri" pitchFamily="34" charset="0"/>
                          <a:ea typeface="Calibri" pitchFamily="34" charset="-122"/>
                          <a:cs typeface="Calibri" pitchFamily="34" charset="-120"/>
                        </a:rPr>
                        <a:t>5  Business and domain experts</a:t>
                      </a:r>
                      <a:endParaRPr lang="en-US" sz="900" dirty="0">
                        <a:latin typeface="Calibri" charset="0"/>
                        <a:ea typeface="Calibri" charset="0"/>
                        <a:cs typeface="Calibri" charset="0"/>
                      </a:endParaRPr>
                    </a:p>
                    <a:p>
                      <a:pPr indent="0" marL="0">
                        <a:buNone/>
                      </a:pPr>
                      <a:r>
                        <a:rPr lang="en-US" sz="900" b="1" dirty="0">
                          <a:solidFill>
                            <a:srgbClr val="0070C0"/>
                          </a:solidFill>
                          <a:latin typeface="Calibri" pitchFamily="34" charset="0"/>
                          <a:ea typeface="Calibri" pitchFamily="34" charset="-122"/>
                          <a:cs typeface="Calibri" pitchFamily="34" charset="-120"/>
                        </a:rPr>
                        <a:t>7 people</a:t>
                      </a:r>
                      <a:endParaRPr lang="en-US" sz="90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8F0FA"/>
                    </a:solidFill>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Business requirements</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Define the business scenario for each of the three DLM services; confirm inputs and service acceptance</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vMerge="1">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Domain requirements</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Specify domain data and expected results; read evaluation reports; set content boundaries</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vMerge="1">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Domain expert</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Assess model results in the domain; take part in evaluation exercises with iFLYTEK</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rowSpan="2">
                  <a:txBody>
                    <a:bodyPr/>
                    <a:lstStyle/>
                    <a:p>
                      <a:pPr indent="0" marL="0">
                        <a:buNone/>
                      </a:pPr>
                      <a:r>
                        <a:rPr lang="en-US" sz="900" b="1" dirty="0">
                          <a:solidFill>
                            <a:srgbClr val="1F4E79"/>
                          </a:solidFill>
                          <a:latin typeface="Calibri" pitchFamily="34" charset="0"/>
                          <a:ea typeface="Calibri" pitchFamily="34" charset="-122"/>
                          <a:cs typeface="Calibri" pitchFamily="34" charset="-120"/>
                        </a:rPr>
                        <a:t>6  Model and test engineering</a:t>
                      </a:r>
                      <a:endParaRPr lang="en-US" sz="900" dirty="0">
                        <a:latin typeface="Calibri" charset="0"/>
                        <a:ea typeface="Calibri" charset="0"/>
                        <a:cs typeface="Calibri" charset="0"/>
                      </a:endParaRPr>
                    </a:p>
                    <a:p>
                      <a:pPr indent="0" marL="0">
                        <a:buNone/>
                      </a:pPr>
                      <a:r>
                        <a:rPr lang="en-US" sz="900" b="1" dirty="0">
                          <a:solidFill>
                            <a:srgbClr val="0070C0"/>
                          </a:solidFill>
                          <a:latin typeface="Calibri" pitchFamily="34" charset="0"/>
                          <a:ea typeface="Calibri" pitchFamily="34" charset="-122"/>
                          <a:cs typeface="Calibri" pitchFamily="34" charset="-120"/>
                        </a:rPr>
                        <a:t>18 people</a:t>
                      </a:r>
                      <a:endParaRPr lang="en-US" sz="90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8F0FA"/>
                    </a:solidFill>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Algorithm engineer</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Prepare datasets, run training jobs, read logs and evaluations, release models; train the DLMs with iFLYTEK advising</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vMerge="1">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Test engineer</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Run model evaluation and technical validation against the agreed rules; document results for acceptance</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rowSpan="3">
                  <a:txBody>
                    <a:bodyPr/>
                    <a:lstStyle/>
                    <a:p>
                      <a:pPr indent="0" marL="0">
                        <a:buNone/>
                      </a:pPr>
                      <a:r>
                        <a:rPr lang="en-US" sz="900" b="1" dirty="0">
                          <a:solidFill>
                            <a:srgbClr val="1F4E79"/>
                          </a:solidFill>
                          <a:latin typeface="Calibri" pitchFamily="34" charset="0"/>
                          <a:ea typeface="Calibri" pitchFamily="34" charset="-122"/>
                          <a:cs typeface="Calibri" pitchFamily="34" charset="-120"/>
                        </a:rPr>
                        <a:t>7  Application and operations</a:t>
                      </a:r>
                      <a:endParaRPr lang="en-US" sz="900" dirty="0">
                        <a:latin typeface="Calibri" charset="0"/>
                        <a:ea typeface="Calibri" charset="0"/>
                        <a:cs typeface="Calibri" charset="0"/>
                      </a:endParaRPr>
                    </a:p>
                    <a:p>
                      <a:pPr indent="0" marL="0">
                        <a:buNone/>
                      </a:pPr>
                      <a:r>
                        <a:rPr lang="en-US" sz="900" b="1" dirty="0">
                          <a:solidFill>
                            <a:srgbClr val="0070C0"/>
                          </a:solidFill>
                          <a:latin typeface="Calibri" pitchFamily="34" charset="0"/>
                          <a:ea typeface="Calibri" pitchFamily="34" charset="-122"/>
                          <a:cs typeface="Calibri" pitchFamily="34" charset="-120"/>
                        </a:rPr>
                        <a:t>27 people</a:t>
                      </a:r>
                      <a:endParaRPr lang="en-US" sz="90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8F0FA"/>
                    </a:solidFill>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Software developer</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Integrate the app (mobile, desktop, web) with RNP systems; build Brazilian content and features on the baseline; use the APIs</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vMerge="1">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Operations engineer</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Operate the application: configuration, user approval and permissions, API credentials and limits, usage analytics</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vMerge="1">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Architect</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Own application architecture and its integration with RNP systems and the platform</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a:txBody>
                    <a:bodyPr/>
                    <a:lstStyle/>
                    <a:p>
                      <a:pPr indent="0" marL="0">
                        <a:buNone/>
                      </a:pPr>
                      <a:r>
                        <a:rPr lang="en-US" sz="900" b="1" dirty="0">
                          <a:solidFill>
                            <a:srgbClr val="1F4E79"/>
                          </a:solidFill>
                          <a:latin typeface="Calibri" pitchFamily="34" charset="0"/>
                          <a:ea typeface="Calibri" pitchFamily="34" charset="-122"/>
                          <a:cs typeface="Calibri" pitchFamily="34" charset="-120"/>
                        </a:rPr>
                        <a:t>8  Platform O&amp;M</a:t>
                      </a:r>
                      <a:endParaRPr lang="en-US" sz="900" dirty="0">
                        <a:latin typeface="Calibri" charset="0"/>
                        <a:ea typeface="Calibri" charset="0"/>
                        <a:cs typeface="Calibri" charset="0"/>
                      </a:endParaRPr>
                    </a:p>
                    <a:p>
                      <a:pPr indent="0" marL="0">
                        <a:buNone/>
                      </a:pPr>
                      <a:r>
                        <a:rPr lang="en-US" sz="900" b="1" dirty="0">
                          <a:solidFill>
                            <a:srgbClr val="0070C0"/>
                          </a:solidFill>
                          <a:latin typeface="Calibri" pitchFamily="34" charset="0"/>
                          <a:ea typeface="Calibri" pitchFamily="34" charset="-122"/>
                          <a:cs typeface="Calibri" pitchFamily="34" charset="-120"/>
                        </a:rPr>
                        <a:t>6 people</a:t>
                      </a:r>
                      <a:endParaRPr lang="en-US" sz="90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8F0FA"/>
                    </a:solidFill>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O&amp;M engineer</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Monitor platform and cluster; handle incidents, changes, faults, deployments and escalation; run the platform after handover</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gridSpan="2">
                  <a:txBody>
                    <a:bodyPr/>
                    <a:lstStyle/>
                    <a:p>
                      <a:pPr indent="0" marL="0">
                        <a:buNone/>
                      </a:pPr>
                      <a:r>
                        <a:rPr lang="en-US" sz="900" b="1" dirty="0">
                          <a:solidFill>
                            <a:srgbClr val="1F4E79"/>
                          </a:solidFill>
                          <a:latin typeface="Calibri" pitchFamily="34" charset="0"/>
                          <a:ea typeface="Calibri" pitchFamily="34" charset="-122"/>
                          <a:cs typeface="Calibri" pitchFamily="34" charset="-120"/>
                        </a:rPr>
                        <a:t>Total, peak per function</a:t>
                      </a:r>
                      <a:endParaRPr lang="en-US" sz="90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8F0FA"/>
                    </a:solidFill>
                  </a:tcPr>
                </a:tc>
                <a:tc hMerge="1">
                  <a:tcPr/>
                </a:tc>
                <a:tc>
                  <a:txBody>
                    <a:bodyPr/>
                    <a:lstStyle/>
                    <a:p>
                      <a:pPr algn="ctr" indent="0" marL="0">
                        <a:buNone/>
                      </a:pPr>
                      <a:r>
                        <a:rPr lang="en-US" sz="1000" b="1" dirty="0">
                          <a:solidFill>
                            <a:srgbClr val="0070C0"/>
                          </a:solidFill>
                          <a:latin typeface="Calibri" pitchFamily="34" charset="0"/>
                          <a:ea typeface="Calibri" pitchFamily="34" charset="-122"/>
                          <a:cs typeface="Calibri" pitchFamily="34" charset="-120"/>
                        </a:rPr>
                        <a:t>111</a:t>
                      </a:r>
                      <a:endParaRPr lang="en-US" sz="100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8F0FA"/>
                    </a:solidFill>
                  </a:tcPr>
                </a:tc>
                <a:tc>
                  <a:txBody>
                    <a:bodyPr/>
                    <a:lstStyle/>
                    <a:p>
                      <a:pPr indent="0" marL="0">
                        <a:buNone/>
                      </a:pP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8F0FA"/>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RNP Team for the Technology Transfer: Skills and Headcount</dc:title>
  <dc:subject>PptxGenJS Presentation</dc:subject>
  <dc:creator>PptxGenJS</dc:creator>
  <cp:lastModifiedBy>PptxGenJS</cp:lastModifiedBy>
  <cp:revision>1</cp:revision>
  <dcterms:created xsi:type="dcterms:W3CDTF">2026-09-14T21:36:14Z</dcterms:created>
  <dcterms:modified xsi:type="dcterms:W3CDTF">2026-09-14T21:36:14Z</dcterms:modified>
</cp:coreProperties>
</file>