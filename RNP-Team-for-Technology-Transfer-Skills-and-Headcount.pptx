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【内部说明，发送前处理】
1. 本稿只回答 Iara 9 月 13 日 WhatsApp 的两问：技能、人数。第 2 页概览按 9 月 9 日 PPT 第 13 页的三批次布局，第 3 页岗位画像一张表。内容按 PPT 第 13 页与附录 A3、A7、A10 填。
2. 人数口径要二选一：PPT 第 13 页写三批约 30 / 20 / 30 人，附录 A7 按岗位合计 53 / 25 / 33 人、总计 111。本稿按 A7 明细填。第 2 页右上角黄色标签是提醒，定稿后删除。
3. 发送前导出 PDF；备注不会进入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71600"/>
            <a:ext cx="7863840" cy="365760"/>
          </a:xfrm>
          <a:prstGeom prst="rect">
            <a:avLst/>
          </a:prstGeom>
          <a:noFill/>
          <a:ln/>
        </p:spPr>
        <p:txBody>
          <a:bodyPr wrap="square" lIns="0" tIns="0" rIns="0" bIns="0" rtlCol="0" anchor="ctr"/>
          <a:lstStyle/>
          <a:p>
            <a:pPr indent="0" marL="0">
              <a:buNone/>
            </a:pPr>
            <a:r>
              <a:rPr lang="en-US" sz="1400" b="1" dirty="0">
                <a:solidFill>
                  <a:srgbClr val="666666"/>
                </a:solidFill>
                <a:latin typeface="Calibri" pitchFamily="34" charset="0"/>
                <a:ea typeface="Calibri" pitchFamily="34" charset="-122"/>
                <a:cs typeface="Calibri" pitchFamily="34" charset="-120"/>
              </a:rPr>
              <a:t>RNP × iFLYTEK · Follow-up to the Technical Exchange of 9 September</a:t>
            </a:r>
            <a:endParaRPr lang="en-US" sz="1400" dirty="0"/>
          </a:p>
        </p:txBody>
      </p:sp>
      <p:sp>
        <p:nvSpPr>
          <p:cNvPr id="3" name="Text 1"/>
          <p:cNvSpPr txBox="1"/>
          <p:nvPr/>
        </p:nvSpPr>
        <p:spPr>
          <a:xfrm>
            <a:off x="731520" y="1810512"/>
            <a:ext cx="7863840" cy="1188720"/>
          </a:xfrm>
          <a:prstGeom prst="rect">
            <a:avLst/>
          </a:prstGeom>
          <a:noFill/>
          <a:ln/>
        </p:spPr>
        <p:txBody>
          <a:bodyPr wrap="square" lIns="0" tIns="0" rIns="0" bIns="0" rtlCol="0" anchor="t"/>
          <a:lstStyle/>
          <a:p>
            <a:pPr indent="0" marL="0">
              <a:buNone/>
            </a:pPr>
            <a:r>
              <a:rPr lang="en-US" sz="2700" b="1" dirty="0">
                <a:solidFill>
                  <a:srgbClr val="C00000"/>
                </a:solidFill>
                <a:latin typeface="Calibri" pitchFamily="34" charset="0"/>
                <a:ea typeface="Calibri" pitchFamily="34" charset="-122"/>
                <a:cs typeface="Calibri" pitchFamily="34" charset="-120"/>
              </a:rPr>
              <a:t>RNP Team for the Technology Transfer: Skills and Headcount</a:t>
            </a:r>
            <a:endParaRPr lang="en-US" sz="2700" dirty="0"/>
          </a:p>
        </p:txBody>
      </p:sp>
      <p:sp>
        <p:nvSpPr>
          <p:cNvPr id="4" name="Text 2"/>
          <p:cNvSpPr txBox="1"/>
          <p:nvPr/>
        </p:nvSpPr>
        <p:spPr>
          <a:xfrm>
            <a:off x="731520" y="2971800"/>
            <a:ext cx="7863840" cy="548640"/>
          </a:xfrm>
          <a:prstGeom prst="rect">
            <a:avLst/>
          </a:prstGeom>
          <a:noFill/>
          <a:ln/>
        </p:spPr>
        <p:txBody>
          <a:bodyPr wrap="square" lIns="0" tIns="0" rIns="0" bIns="0" rtlCol="0" anchor="t"/>
          <a:lstStyle/>
          <a:p>
            <a:pPr indent="0" marL="0">
              <a:buNone/>
            </a:pPr>
            <a:r>
              <a:rPr lang="en-US" sz="1500" b="1" dirty="0">
                <a:solidFill>
                  <a:srgbClr val="1D1D1A"/>
                </a:solidFill>
                <a:latin typeface="Calibri" pitchFamily="34" charset="0"/>
                <a:ea typeface="Calibri" pitchFamily="34" charset="-122"/>
                <a:cs typeface="Calibri" pitchFamily="34" charset="-120"/>
              </a:rPr>
              <a:t>The teams and roles RNP needs on its side, how each works with iFLYTEK, and how many people</a:t>
            </a:r>
            <a:endParaRPr lang="en-US" sz="1500" dirty="0"/>
          </a:p>
        </p:txBody>
      </p:sp>
      <p:sp>
        <p:nvSpPr>
          <p:cNvPr id="5" name="Text 3"/>
          <p:cNvSpPr txBox="1"/>
          <p:nvPr/>
        </p:nvSpPr>
        <p:spPr>
          <a:xfrm>
            <a:off x="731520" y="3749040"/>
            <a:ext cx="7863840" cy="1188720"/>
          </a:xfrm>
          <a:prstGeom prst="rect">
            <a:avLst/>
          </a:prstGeom>
          <a:noFill/>
          <a:ln/>
        </p:spPr>
        <p:txBody>
          <a:bodyPr wrap="square" lIns="0" tIns="0" rIns="0" bIns="0" rtlCol="0" anchor="t"/>
          <a:lstStyle/>
          <a:p>
            <a:pPr indent="0" marL="0">
              <a:spcAft>
                <a:spcPts val="400"/>
              </a:spcAft>
              <a:buNone/>
            </a:pPr>
            <a:r>
              <a:rPr lang="en-US" sz="1300" dirty="0">
                <a:solidFill>
                  <a:srgbClr val="333333"/>
                </a:solidFill>
                <a:latin typeface="Calibri" pitchFamily="34" charset="0"/>
                <a:ea typeface="Calibri" pitchFamily="34" charset="-122"/>
                <a:cs typeface="Calibri" pitchFamily="34" charset="-120"/>
              </a:rPr>
              <a:t>Prepared for RNP at Iara's request of 13 September 2026</a:t>
            </a:r>
            <a:endParaRPr lang="en-US" sz="1300" dirty="0"/>
          </a:p>
          <a:p>
            <a:pPr indent="0" marL="0">
              <a:spcAft>
                <a:spcPts val="400"/>
              </a:spcAft>
              <a:buNone/>
            </a:pPr>
            <a:r>
              <a:rPr lang="en-US" sz="1300" dirty="0">
                <a:solidFill>
                  <a:srgbClr val="333333"/>
                </a:solidFill>
                <a:latin typeface="Calibri" pitchFamily="34" charset="0"/>
                <a:ea typeface="Calibri" pitchFamily="34" charset="-122"/>
                <a:cs typeface="Calibri" pitchFamily="34" charset="-120"/>
              </a:rPr>
              <a:t>Draws on the presentation of 9 September 2026 and its appendices A3, A7 and A10</a:t>
            </a:r>
            <a:endParaRPr lang="en-US" sz="1300" dirty="0"/>
          </a:p>
          <a:p>
            <a:pPr indent="0" marL="0">
              <a:spcAft>
                <a:spcPts val="400"/>
              </a:spcAft>
              <a:buNone/>
            </a:pPr>
            <a:r>
              <a:rPr lang="en-US" sz="1300" dirty="0">
                <a:solidFill>
                  <a:srgbClr val="333333"/>
                </a:solidFill>
                <a:latin typeface="Calibri" pitchFamily="34" charset="0"/>
                <a:ea typeface="Calibri" pitchFamily="34" charset="-122"/>
                <a:cs typeface="Calibri" pitchFamily="34" charset="-120"/>
              </a:rPr>
              <a:t>iFLYTEK · Draft v0.1 · 14 September 2026</a:t>
            </a:r>
            <a:endParaRPr lang="en-US" sz="1300" dirty="0"/>
          </a:p>
        </p:txBody>
      </p:sp>
      <p:sp>
        <p:nvSpPr>
          <p:cNvPr id="6" name="Shape 4"/>
          <p:cNvSpPr/>
          <p:nvPr/>
        </p:nvSpPr>
        <p:spPr>
          <a:xfrm>
            <a:off x="9052560" y="1600200"/>
            <a:ext cx="2651760" cy="1828800"/>
          </a:xfrm>
          <a:prstGeom prst="roundRect">
            <a:avLst>
              <a:gd name="adj" fmla="val 3000"/>
            </a:avLst>
          </a:prstGeom>
          <a:solidFill>
            <a:srgbClr val="F2F2F2"/>
          </a:solidFill>
          <a:ln w="12700">
            <a:solidFill>
              <a:srgbClr val="F2F2F2"/>
            </a:solidFill>
            <a:prstDash val="solid"/>
          </a:ln>
        </p:spPr>
      </p:sp>
      <p:sp>
        <p:nvSpPr>
          <p:cNvPr id="7" name="Text 5"/>
          <p:cNvSpPr txBox="1"/>
          <p:nvPr/>
        </p:nvSpPr>
        <p:spPr>
          <a:xfrm>
            <a:off x="9281160" y="1691640"/>
            <a:ext cx="2240280" cy="320040"/>
          </a:xfrm>
          <a:prstGeom prst="rect">
            <a:avLst/>
          </a:prstGeom>
          <a:noFill/>
          <a:ln/>
        </p:spPr>
        <p:txBody>
          <a:bodyPr wrap="square" lIns="0" tIns="0" rIns="0" bIns="0" rtlCol="0" anchor="ctr"/>
          <a:lstStyle/>
          <a:p>
            <a:pPr indent="0" marL="0">
              <a:buNone/>
            </a:pPr>
            <a:r>
              <a:rPr lang="en-US" sz="1150" b="1" dirty="0">
                <a:solidFill>
                  <a:srgbClr val="1F4E79"/>
                </a:solidFill>
                <a:latin typeface="Calibri" pitchFamily="34" charset="0"/>
                <a:ea typeface="Calibri" pitchFamily="34" charset="-122"/>
                <a:cs typeface="Calibri" pitchFamily="34" charset="-120"/>
              </a:rPr>
              <a:t>Your request, 13 September</a:t>
            </a:r>
            <a:endParaRPr lang="en-US" sz="1150" dirty="0"/>
          </a:p>
        </p:txBody>
      </p:sp>
      <p:sp>
        <p:nvSpPr>
          <p:cNvPr id="8" name="Text 6"/>
          <p:cNvSpPr txBox="1"/>
          <p:nvPr/>
        </p:nvSpPr>
        <p:spPr>
          <a:xfrm>
            <a:off x="9281160" y="2029968"/>
            <a:ext cx="2240280" cy="1325880"/>
          </a:xfrm>
          <a:prstGeom prst="rect">
            <a:avLst/>
          </a:prstGeom>
          <a:noFill/>
          <a:ln/>
        </p:spPr>
        <p:txBody>
          <a:bodyPr wrap="square" lIns="0" tIns="0" rIns="0" bIns="0" rtlCol="0" anchor="t"/>
          <a:lstStyle/>
          <a:p>
            <a:pPr indent="0" marL="0">
              <a:buNone/>
            </a:pPr>
            <a:r>
              <a:rPr lang="en-US" sz="1000" i="1" dirty="0">
                <a:solidFill>
                  <a:srgbClr val="333333"/>
                </a:solidFill>
                <a:latin typeface="Calibri" pitchFamily="34" charset="0"/>
                <a:ea typeface="Calibri" pitchFamily="34" charset="-122"/>
                <a:cs typeface="Calibri" pitchFamily="34" charset="-120"/>
              </a:rPr>
              <a:t>“We are organizing RNP's side to receive the technology transfer and prepare to work together with you. Any important information about the skills we need on our side, the number of people, will be welcome.”</a:t>
            </a:r>
            <a:endParaRPr lang="en-US" sz="1000" dirty="0"/>
          </a:p>
        </p:txBody>
      </p:sp>
      <p:sp>
        <p:nvSpPr>
          <p:cNvPr id="9" name="Shape 7"/>
          <p:cNvSpPr/>
          <p:nvPr/>
        </p:nvSpPr>
        <p:spPr>
          <a:xfrm>
            <a:off x="9052560" y="3611880"/>
            <a:ext cx="2651760" cy="658368"/>
          </a:xfrm>
          <a:prstGeom prst="roundRect">
            <a:avLst>
              <a:gd name="adj" fmla="val 8333"/>
            </a:avLst>
          </a:prstGeom>
          <a:solidFill>
            <a:srgbClr val="E8F0FA"/>
          </a:solidFill>
          <a:ln w="12700">
            <a:solidFill>
              <a:srgbClr val="E8F0FA"/>
            </a:solidFill>
            <a:prstDash val="solid"/>
          </a:ln>
        </p:spPr>
      </p:sp>
      <p:sp>
        <p:nvSpPr>
          <p:cNvPr id="10" name="Text 8"/>
          <p:cNvSpPr txBox="1"/>
          <p:nvPr/>
        </p:nvSpPr>
        <p:spPr>
          <a:xfrm>
            <a:off x="9281160" y="3611880"/>
            <a:ext cx="2377440" cy="658368"/>
          </a:xfrm>
          <a:prstGeom prst="rect">
            <a:avLst/>
          </a:prstGeom>
          <a:noFill/>
          <a:ln/>
        </p:spPr>
        <p:txBody>
          <a:bodyPr wrap="square" lIns="0" tIns="0" rIns="0" bIns="0" rtlCol="0" anchor="ctr"/>
          <a:lstStyle/>
          <a:p>
            <a:pPr indent="0" marL="0">
              <a:buNone/>
            </a:pPr>
            <a:r>
              <a:rPr lang="en-US" sz="1050" b="1" dirty="0">
                <a:solidFill>
                  <a:srgbClr val="1F4E79"/>
                </a:solidFill>
                <a:latin typeface="Calibri" pitchFamily="34" charset="0"/>
                <a:ea typeface="Calibri" pitchFamily="34" charset="-122"/>
                <a:cs typeface="Calibri" pitchFamily="34" charset="-120"/>
              </a:rPr>
              <a:t>Overview  ·  8 teams, 111 people at peak</a:t>
            </a:r>
            <a:endParaRPr lang="en-US" sz="1050" dirty="0"/>
          </a:p>
        </p:txBody>
      </p:sp>
      <p:sp>
        <p:nvSpPr>
          <p:cNvPr id="11" name="Shape 9"/>
          <p:cNvSpPr/>
          <p:nvPr/>
        </p:nvSpPr>
        <p:spPr>
          <a:xfrm>
            <a:off x="9052560" y="4361688"/>
            <a:ext cx="2651760" cy="658368"/>
          </a:xfrm>
          <a:prstGeom prst="roundRect">
            <a:avLst>
              <a:gd name="adj" fmla="val 8333"/>
            </a:avLst>
          </a:prstGeom>
          <a:solidFill>
            <a:srgbClr val="C00000"/>
          </a:solidFill>
          <a:ln w="12700">
            <a:solidFill>
              <a:srgbClr val="C00000"/>
            </a:solidFill>
            <a:prstDash val="solid"/>
          </a:ln>
        </p:spPr>
      </p:sp>
      <p:sp>
        <p:nvSpPr>
          <p:cNvPr id="12" name="Text 10"/>
          <p:cNvSpPr txBox="1"/>
          <p:nvPr/>
        </p:nvSpPr>
        <p:spPr>
          <a:xfrm>
            <a:off x="9281160" y="4361688"/>
            <a:ext cx="2377440"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Role profiles  ·  19 roles, how each works with iFLYTEK</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75488" y="146304"/>
            <a:ext cx="7315200" cy="457200"/>
          </a:xfrm>
          <a:prstGeom prst="rect">
            <a:avLst/>
          </a:prstGeom>
          <a:noFill/>
          <a:ln/>
        </p:spPr>
        <p:txBody>
          <a:bodyPr wrap="square" lIns="0" tIns="0" rIns="0" bIns="0" rtlCol="0" anchor="ctr"/>
          <a:lstStyle/>
          <a:p>
            <a:pPr indent="0" marL="0">
              <a:buNone/>
            </a:pPr>
            <a:r>
              <a:rPr lang="en-US" sz="1800" b="1" dirty="0">
                <a:solidFill>
                  <a:srgbClr val="C00000"/>
                </a:solidFill>
                <a:latin typeface="Calibri" pitchFamily="34" charset="0"/>
                <a:ea typeface="Calibri" pitchFamily="34" charset="-122"/>
                <a:cs typeface="Calibri" pitchFamily="34" charset="-120"/>
              </a:rPr>
              <a:t>The RNP team at a glance: 8 teams in 3 intakes, 111 people at peak</a:t>
            </a:r>
            <a:endParaRPr lang="en-US" sz="1800" dirty="0"/>
          </a:p>
        </p:txBody>
      </p:sp>
      <p:sp>
        <p:nvSpPr>
          <p:cNvPr id="3" name="Text 1"/>
          <p:cNvSpPr txBox="1"/>
          <p:nvPr/>
        </p:nvSpPr>
        <p:spPr>
          <a:xfrm>
            <a:off x="457200" y="640080"/>
            <a:ext cx="11274552" cy="365760"/>
          </a:xfrm>
          <a:prstGeom prst="rect">
            <a:avLst/>
          </a:prstGeom>
          <a:noFill/>
          <a:ln/>
        </p:spPr>
        <p:txBody>
          <a:bodyPr wrap="square" lIns="0" tIns="0" rIns="0" bIns="0" rtlCol="0" anchor="t"/>
          <a:lstStyle/>
          <a:p>
            <a:pPr indent="0" marL="0">
              <a:buNone/>
            </a:pPr>
            <a:r>
              <a:rPr lang="en-US" sz="1050" dirty="0">
                <a:solidFill>
                  <a:srgbClr val="1D1D1A"/>
                </a:solidFill>
                <a:latin typeface="Calibri" pitchFamily="34" charset="0"/>
                <a:ea typeface="Calibri" pitchFamily="34" charset="-122"/>
                <a:cs typeface="Calibri" pitchFamily="34" charset="-120"/>
              </a:rPr>
              <a:t>Teams grouped as in the presentation of 9 September (p.13). Headcounts are peaks per function, reusable across activities, not people on site at once. Source: p.13 and Appendix A7.</a:t>
            </a:r>
            <a:endParaRPr lang="en-US" sz="1050" dirty="0"/>
          </a:p>
        </p:txBody>
      </p:sp>
      <p:sp>
        <p:nvSpPr>
          <p:cNvPr id="4" name="Shape 2"/>
          <p:cNvSpPr/>
          <p:nvPr/>
        </p:nvSpPr>
        <p:spPr>
          <a:xfrm>
            <a:off x="7955280" y="155448"/>
            <a:ext cx="3794760" cy="420624"/>
          </a:xfrm>
          <a:prstGeom prst="roundRect">
            <a:avLst>
              <a:gd name="adj" fmla="val 10870"/>
            </a:avLst>
          </a:prstGeom>
          <a:solidFill>
            <a:srgbClr val="FFFF00"/>
          </a:solidFill>
          <a:ln w="12700">
            <a:solidFill>
              <a:srgbClr val="FFC000"/>
            </a:solidFill>
            <a:prstDash val="solid"/>
          </a:ln>
        </p:spPr>
      </p:sp>
      <p:sp>
        <p:nvSpPr>
          <p:cNvPr id="5" name="Text 3"/>
          <p:cNvSpPr txBox="1"/>
          <p:nvPr/>
        </p:nvSpPr>
        <p:spPr>
          <a:xfrm>
            <a:off x="8019288" y="155448"/>
            <a:ext cx="3685032" cy="420624"/>
          </a:xfrm>
          <a:prstGeom prst="rect">
            <a:avLst/>
          </a:prstGeom>
          <a:noFill/>
          <a:ln/>
        </p:spPr>
        <p:txBody>
          <a:bodyPr wrap="square" lIns="0" tIns="0" rIns="0" bIns="0" rtlCol="0" anchor="ctr"/>
          <a:lstStyle/>
          <a:p>
            <a:pPr indent="0" marL="0">
              <a:buNone/>
            </a:pPr>
            <a:r>
              <a:rPr lang="en-US" sz="800" b="1" dirty="0">
                <a:solidFill>
                  <a:srgbClr val="C00000"/>
                </a:solidFill>
                <a:latin typeface="Calibri" pitchFamily="34" charset="0"/>
                <a:ea typeface="Calibri" pitchFamily="34" charset="-122"/>
                <a:cs typeface="Calibri" pitchFamily="34" charset="-120"/>
              </a:rPr>
              <a:t>TBC before sending: p.13 says about 30 / 20 / 30 per intake; A7 detail sums to 53 / 25 / 33. Confirm one set.</a:t>
            </a:r>
            <a:endParaRPr lang="en-US" sz="800" dirty="0"/>
          </a:p>
        </p:txBody>
      </p:sp>
      <p:sp>
        <p:nvSpPr>
          <p:cNvPr id="6" name="Shape 4"/>
          <p:cNvSpPr/>
          <p:nvPr/>
        </p:nvSpPr>
        <p:spPr>
          <a:xfrm>
            <a:off x="457200" y="1143000"/>
            <a:ext cx="3575304" cy="4434840"/>
          </a:xfrm>
          <a:prstGeom prst="roundRect">
            <a:avLst>
              <a:gd name="adj" fmla="val 1535"/>
            </a:avLst>
          </a:prstGeom>
          <a:solidFill>
            <a:srgbClr val="E8F0FA"/>
          </a:solidFill>
          <a:ln w="12700">
            <a:solidFill>
              <a:srgbClr val="E8F0FA"/>
            </a:solidFill>
            <a:prstDash val="solid"/>
          </a:ln>
        </p:spPr>
      </p:sp>
      <p:sp>
        <p:nvSpPr>
          <p:cNvPr id="7" name="Text 5"/>
          <p:cNvSpPr txBox="1"/>
          <p:nvPr/>
        </p:nvSpPr>
        <p:spPr>
          <a:xfrm>
            <a:off x="640080" y="1234440"/>
            <a:ext cx="2514600" cy="457200"/>
          </a:xfrm>
          <a:prstGeom prst="rect">
            <a:avLst/>
          </a:prstGeom>
          <a:noFill/>
          <a:ln/>
        </p:spPr>
        <p:txBody>
          <a:bodyPr wrap="square" lIns="0" tIns="0" rIns="0" bIns="0" rtlCol="0" anchor="ctr"/>
          <a:lstStyle/>
          <a:p>
            <a:pPr indent="0" marL="0">
              <a:buNone/>
            </a:pPr>
            <a:r>
              <a:rPr lang="en-US" sz="1150" b="1" dirty="0">
                <a:solidFill>
                  <a:srgbClr val="1F4E79"/>
                </a:solidFill>
                <a:latin typeface="Calibri" pitchFamily="34" charset="0"/>
                <a:ea typeface="Calibri" pitchFamily="34" charset="-122"/>
                <a:cs typeface="Calibri" pitchFamily="34" charset="-120"/>
              </a:rPr>
              <a:t>Intake 1 · Platform and corpus</a:t>
            </a:r>
            <a:endParaRPr lang="en-US" sz="1150" dirty="0"/>
          </a:p>
        </p:txBody>
      </p:sp>
      <p:sp>
        <p:nvSpPr>
          <p:cNvPr id="8" name="Text 6"/>
          <p:cNvSpPr txBox="1"/>
          <p:nvPr/>
        </p:nvSpPr>
        <p:spPr>
          <a:xfrm>
            <a:off x="3072384" y="1216152"/>
            <a:ext cx="777240" cy="457200"/>
          </a:xfrm>
          <a:prstGeom prst="rect">
            <a:avLst/>
          </a:prstGeom>
          <a:noFill/>
          <a:ln/>
        </p:spPr>
        <p:txBody>
          <a:bodyPr wrap="square" lIns="0" tIns="0" rIns="0" bIns="0" rtlCol="0" anchor="ctr"/>
          <a:lstStyle/>
          <a:p>
            <a:pPr algn="r" indent="0" marL="0">
              <a:buNone/>
            </a:pPr>
            <a:r>
              <a:rPr lang="en-US" sz="2000" b="1" dirty="0">
                <a:solidFill>
                  <a:srgbClr val="0070C0"/>
                </a:solidFill>
                <a:latin typeface="Calibri" pitchFamily="34" charset="0"/>
                <a:ea typeface="Calibri" pitchFamily="34" charset="-122"/>
                <a:cs typeface="Calibri" pitchFamily="34" charset="-120"/>
              </a:rPr>
              <a:t>53</a:t>
            </a:r>
            <a:endParaRPr lang="en-US" sz="2000" dirty="0"/>
          </a:p>
        </p:txBody>
      </p:sp>
      <p:sp>
        <p:nvSpPr>
          <p:cNvPr id="9" name="Shape 7"/>
          <p:cNvSpPr/>
          <p:nvPr/>
        </p:nvSpPr>
        <p:spPr>
          <a:xfrm>
            <a:off x="603504" y="1755648"/>
            <a:ext cx="3282696" cy="877824"/>
          </a:xfrm>
          <a:prstGeom prst="roundRect">
            <a:avLst>
              <a:gd name="adj" fmla="val 5208"/>
            </a:avLst>
          </a:prstGeom>
          <a:solidFill>
            <a:srgbClr val="FFFFFF"/>
          </a:solidFill>
          <a:ln w="9525">
            <a:solidFill>
              <a:srgbClr val="D9D9D9"/>
            </a:solidFill>
            <a:prstDash val="solid"/>
          </a:ln>
        </p:spPr>
      </p:sp>
      <p:sp>
        <p:nvSpPr>
          <p:cNvPr id="10" name="Text 8"/>
          <p:cNvSpPr txBox="1"/>
          <p:nvPr/>
        </p:nvSpPr>
        <p:spPr>
          <a:xfrm>
            <a:off x="731520" y="1810512"/>
            <a:ext cx="2459736" cy="274320"/>
          </a:xfrm>
          <a:prstGeom prst="rect">
            <a:avLst/>
          </a:prstGeom>
          <a:noFill/>
          <a:ln/>
        </p:spPr>
        <p:txBody>
          <a:bodyPr wrap="square" lIns="0" tIns="0" rIns="0" bIns="0" rtlCol="0" anchor="ctr"/>
          <a:lstStyle/>
          <a:p>
            <a:pPr indent="0" marL="0">
              <a:buNone/>
            </a:pPr>
            <a:r>
              <a:rPr lang="en-US" sz="1050" b="1" dirty="0">
                <a:solidFill>
                  <a:srgbClr val="1D1D1A"/>
                </a:solidFill>
                <a:latin typeface="Calibri" pitchFamily="34" charset="0"/>
                <a:ea typeface="Calibri" pitchFamily="34" charset="-122"/>
                <a:cs typeface="Calibri" pitchFamily="34" charset="-120"/>
              </a:rPr>
              <a:t>1  Project and product</a:t>
            </a:r>
            <a:endParaRPr lang="en-US" sz="1050" dirty="0"/>
          </a:p>
        </p:txBody>
      </p:sp>
      <p:sp>
        <p:nvSpPr>
          <p:cNvPr id="11" name="Text 9"/>
          <p:cNvSpPr txBox="1"/>
          <p:nvPr/>
        </p:nvSpPr>
        <p:spPr>
          <a:xfrm>
            <a:off x="3154680" y="1792224"/>
            <a:ext cx="603504" cy="310896"/>
          </a:xfrm>
          <a:prstGeom prst="rect">
            <a:avLst/>
          </a:prstGeom>
          <a:noFill/>
          <a:ln/>
        </p:spPr>
        <p:txBody>
          <a:bodyPr wrap="square" lIns="0" tIns="0" rIns="0" bIns="0" rtlCol="0" anchor="ctr"/>
          <a:lstStyle/>
          <a:p>
            <a:pPr algn="r" indent="0" marL="0">
              <a:buNone/>
            </a:pPr>
            <a:r>
              <a:rPr lang="en-US" sz="1600" b="1" dirty="0">
                <a:solidFill>
                  <a:srgbClr val="0070C0"/>
                </a:solidFill>
                <a:latin typeface="Calibri" pitchFamily="34" charset="0"/>
                <a:ea typeface="Calibri" pitchFamily="34" charset="-122"/>
                <a:cs typeface="Calibri" pitchFamily="34" charset="-120"/>
              </a:rPr>
              <a:t>9</a:t>
            </a:r>
            <a:endParaRPr lang="en-US" sz="1600" dirty="0"/>
          </a:p>
        </p:txBody>
      </p:sp>
      <p:sp>
        <p:nvSpPr>
          <p:cNvPr id="12" name="Text 10"/>
          <p:cNvSpPr txBox="1"/>
          <p:nvPr/>
        </p:nvSpPr>
        <p:spPr>
          <a:xfrm>
            <a:off x="731520" y="2103120"/>
            <a:ext cx="3026664" cy="256032"/>
          </a:xfrm>
          <a:prstGeom prst="rect">
            <a:avLst/>
          </a:prstGeom>
          <a:noFill/>
          <a:ln/>
        </p:spPr>
        <p:txBody>
          <a:bodyPr wrap="square" lIns="0" tIns="0" rIns="0" bIns="0" rtlCol="0" anchor="t"/>
          <a:lstStyle/>
          <a:p>
            <a:pPr indent="0" marL="0">
              <a:buNone/>
            </a:pPr>
            <a:r>
              <a:rPr lang="en-US" sz="900" dirty="0">
                <a:solidFill>
                  <a:srgbClr val="333333"/>
                </a:solidFill>
                <a:latin typeface="Calibri" pitchFamily="34" charset="0"/>
                <a:ea typeface="Calibri" pitchFamily="34" charset="-122"/>
                <a:cs typeface="Calibri" pitchFamily="34" charset="-120"/>
              </a:rPr>
              <a:t>Schedule, resources and acceptance; app definition with iFLYTEK</a:t>
            </a:r>
            <a:endParaRPr lang="en-US" sz="900" dirty="0"/>
          </a:p>
        </p:txBody>
      </p:sp>
      <p:sp>
        <p:nvSpPr>
          <p:cNvPr id="13" name="Text 11"/>
          <p:cNvSpPr txBox="1"/>
          <p:nvPr/>
        </p:nvSpPr>
        <p:spPr>
          <a:xfrm>
            <a:off x="731520" y="2377440"/>
            <a:ext cx="3026664" cy="237744"/>
          </a:xfrm>
          <a:prstGeom prst="rect">
            <a:avLst/>
          </a:prstGeom>
          <a:noFill/>
          <a:ln/>
        </p:spPr>
        <p:txBody>
          <a:bodyPr wrap="square" lIns="0" tIns="0" rIns="0" bIns="0" rtlCol="0" anchor="t"/>
          <a:lstStyle/>
          <a:p>
            <a:pPr indent="0" marL="0">
              <a:buNone/>
            </a:pPr>
            <a:r>
              <a:rPr lang="en-US" sz="850" b="1" dirty="0">
                <a:solidFill>
                  <a:srgbClr val="666666"/>
                </a:solidFill>
                <a:latin typeface="Calibri" pitchFamily="34" charset="0"/>
                <a:ea typeface="Calibri" pitchFamily="34" charset="-122"/>
                <a:cs typeface="Calibri" pitchFamily="34" charset="-120"/>
              </a:rPr>
              <a:t>Project managers 2 · Product managers 4 · PMO / data-centre 3</a:t>
            </a:r>
            <a:endParaRPr lang="en-US" sz="850" dirty="0"/>
          </a:p>
        </p:txBody>
      </p:sp>
      <p:sp>
        <p:nvSpPr>
          <p:cNvPr id="14" name="Shape 12"/>
          <p:cNvSpPr/>
          <p:nvPr/>
        </p:nvSpPr>
        <p:spPr>
          <a:xfrm>
            <a:off x="603504" y="2706624"/>
            <a:ext cx="3282696" cy="877824"/>
          </a:xfrm>
          <a:prstGeom prst="roundRect">
            <a:avLst>
              <a:gd name="adj" fmla="val 5208"/>
            </a:avLst>
          </a:prstGeom>
          <a:solidFill>
            <a:srgbClr val="FFFFFF"/>
          </a:solidFill>
          <a:ln w="9525">
            <a:solidFill>
              <a:srgbClr val="D9D9D9"/>
            </a:solidFill>
            <a:prstDash val="solid"/>
          </a:ln>
        </p:spPr>
      </p:sp>
      <p:sp>
        <p:nvSpPr>
          <p:cNvPr id="15" name="Text 13"/>
          <p:cNvSpPr txBox="1"/>
          <p:nvPr/>
        </p:nvSpPr>
        <p:spPr>
          <a:xfrm>
            <a:off x="731520" y="2761488"/>
            <a:ext cx="2459736" cy="274320"/>
          </a:xfrm>
          <a:prstGeom prst="rect">
            <a:avLst/>
          </a:prstGeom>
          <a:noFill/>
          <a:ln/>
        </p:spPr>
        <p:txBody>
          <a:bodyPr wrap="square" lIns="0" tIns="0" rIns="0" bIns="0" rtlCol="0" anchor="ctr"/>
          <a:lstStyle/>
          <a:p>
            <a:pPr indent="0" marL="0">
              <a:buNone/>
            </a:pPr>
            <a:r>
              <a:rPr lang="en-US" sz="1050" b="1" dirty="0">
                <a:solidFill>
                  <a:srgbClr val="1D1D1A"/>
                </a:solidFill>
                <a:latin typeface="Calibri" pitchFamily="34" charset="0"/>
                <a:ea typeface="Calibri" pitchFamily="34" charset="-122"/>
                <a:cs typeface="Calibri" pitchFamily="34" charset="-120"/>
              </a:rPr>
              <a:t>2  Corpus and data</a:t>
            </a:r>
            <a:endParaRPr lang="en-US" sz="1050" dirty="0"/>
          </a:p>
        </p:txBody>
      </p:sp>
      <p:sp>
        <p:nvSpPr>
          <p:cNvPr id="16" name="Text 14"/>
          <p:cNvSpPr txBox="1"/>
          <p:nvPr/>
        </p:nvSpPr>
        <p:spPr>
          <a:xfrm>
            <a:off x="3154680" y="2743200"/>
            <a:ext cx="603504" cy="310896"/>
          </a:xfrm>
          <a:prstGeom prst="rect">
            <a:avLst/>
          </a:prstGeom>
          <a:noFill/>
          <a:ln/>
        </p:spPr>
        <p:txBody>
          <a:bodyPr wrap="square" lIns="0" tIns="0" rIns="0" bIns="0" rtlCol="0" anchor="ctr"/>
          <a:lstStyle/>
          <a:p>
            <a:pPr algn="r" indent="0" marL="0">
              <a:buNone/>
            </a:pPr>
            <a:r>
              <a:rPr lang="en-US" sz="1600" b="1" dirty="0">
                <a:solidFill>
                  <a:srgbClr val="0070C0"/>
                </a:solidFill>
                <a:latin typeface="Calibri" pitchFamily="34" charset="0"/>
                <a:ea typeface="Calibri" pitchFamily="34" charset="-122"/>
                <a:cs typeface="Calibri" pitchFamily="34" charset="-120"/>
              </a:rPr>
              <a:t>32</a:t>
            </a:r>
            <a:endParaRPr lang="en-US" sz="1600" dirty="0"/>
          </a:p>
        </p:txBody>
      </p:sp>
      <p:sp>
        <p:nvSpPr>
          <p:cNvPr id="17" name="Text 15"/>
          <p:cNvSpPr txBox="1"/>
          <p:nvPr/>
        </p:nvSpPr>
        <p:spPr>
          <a:xfrm>
            <a:off x="731520" y="3054096"/>
            <a:ext cx="3026664" cy="256032"/>
          </a:xfrm>
          <a:prstGeom prst="rect">
            <a:avLst/>
          </a:prstGeom>
          <a:noFill/>
          <a:ln/>
        </p:spPr>
        <p:txBody>
          <a:bodyPr wrap="square" lIns="0" tIns="0" rIns="0" bIns="0" rtlCol="0" anchor="t"/>
          <a:lstStyle/>
          <a:p>
            <a:pPr indent="0" marL="0">
              <a:buNone/>
            </a:pPr>
            <a:r>
              <a:rPr lang="en-US" sz="900" dirty="0">
                <a:solidFill>
                  <a:srgbClr val="333333"/>
                </a:solidFill>
                <a:latin typeface="Calibri" pitchFamily="34" charset="0"/>
                <a:ea typeface="Calibri" pitchFamily="34" charset="-122"/>
                <a:cs typeface="Calibri" pitchFamily="34" charset="-120"/>
              </a:rPr>
              <a:t>Sources, licenses and produces the corpus to iFLYTEK's specs</a:t>
            </a:r>
            <a:endParaRPr lang="en-US" sz="900" dirty="0"/>
          </a:p>
        </p:txBody>
      </p:sp>
      <p:sp>
        <p:nvSpPr>
          <p:cNvPr id="18" name="Text 16"/>
          <p:cNvSpPr txBox="1"/>
          <p:nvPr/>
        </p:nvSpPr>
        <p:spPr>
          <a:xfrm>
            <a:off x="731520" y="3328416"/>
            <a:ext cx="3026664" cy="237744"/>
          </a:xfrm>
          <a:prstGeom prst="rect">
            <a:avLst/>
          </a:prstGeom>
          <a:noFill/>
          <a:ln/>
        </p:spPr>
        <p:txBody>
          <a:bodyPr wrap="square" lIns="0" tIns="0" rIns="0" bIns="0" rtlCol="0" anchor="t"/>
          <a:lstStyle/>
          <a:p>
            <a:pPr indent="0" marL="0">
              <a:buNone/>
            </a:pPr>
            <a:r>
              <a:rPr lang="en-US" sz="850" b="1" dirty="0">
                <a:solidFill>
                  <a:srgbClr val="666666"/>
                </a:solidFill>
                <a:latin typeface="Calibri" pitchFamily="34" charset="0"/>
                <a:ea typeface="Calibri" pitchFamily="34" charset="-122"/>
                <a:cs typeface="Calibri" pitchFamily="34" charset="-120"/>
              </a:rPr>
              <a:t>Data resource 6 · Data quality 6 · Annotators 20</a:t>
            </a:r>
            <a:endParaRPr lang="en-US" sz="850" dirty="0"/>
          </a:p>
        </p:txBody>
      </p:sp>
      <p:sp>
        <p:nvSpPr>
          <p:cNvPr id="19" name="Shape 17"/>
          <p:cNvSpPr/>
          <p:nvPr/>
        </p:nvSpPr>
        <p:spPr>
          <a:xfrm>
            <a:off x="603504" y="3657600"/>
            <a:ext cx="3282696" cy="877824"/>
          </a:xfrm>
          <a:prstGeom prst="roundRect">
            <a:avLst>
              <a:gd name="adj" fmla="val 5208"/>
            </a:avLst>
          </a:prstGeom>
          <a:solidFill>
            <a:srgbClr val="FFFFFF"/>
          </a:solidFill>
          <a:ln w="9525">
            <a:solidFill>
              <a:srgbClr val="D9D9D9"/>
            </a:solidFill>
            <a:prstDash val="solid"/>
          </a:ln>
        </p:spPr>
      </p:sp>
      <p:sp>
        <p:nvSpPr>
          <p:cNvPr id="20" name="Text 18"/>
          <p:cNvSpPr txBox="1"/>
          <p:nvPr/>
        </p:nvSpPr>
        <p:spPr>
          <a:xfrm>
            <a:off x="731520" y="3712464"/>
            <a:ext cx="2459736" cy="274320"/>
          </a:xfrm>
          <a:prstGeom prst="rect">
            <a:avLst/>
          </a:prstGeom>
          <a:noFill/>
          <a:ln/>
        </p:spPr>
        <p:txBody>
          <a:bodyPr wrap="square" lIns="0" tIns="0" rIns="0" bIns="0" rtlCol="0" anchor="ctr"/>
          <a:lstStyle/>
          <a:p>
            <a:pPr indent="0" marL="0">
              <a:buNone/>
            </a:pPr>
            <a:r>
              <a:rPr lang="en-US" sz="1050" b="1" dirty="0">
                <a:solidFill>
                  <a:srgbClr val="1D1D1A"/>
                </a:solidFill>
                <a:latin typeface="Calibri" pitchFamily="34" charset="0"/>
                <a:ea typeface="Calibri" pitchFamily="34" charset="-122"/>
                <a:cs typeface="Calibri" pitchFamily="34" charset="-120"/>
              </a:rPr>
              <a:t>3  Portuguese language experts</a:t>
            </a:r>
            <a:endParaRPr lang="en-US" sz="1050" dirty="0"/>
          </a:p>
        </p:txBody>
      </p:sp>
      <p:sp>
        <p:nvSpPr>
          <p:cNvPr id="21" name="Text 19"/>
          <p:cNvSpPr txBox="1"/>
          <p:nvPr/>
        </p:nvSpPr>
        <p:spPr>
          <a:xfrm>
            <a:off x="3154680" y="3694176"/>
            <a:ext cx="603504" cy="310896"/>
          </a:xfrm>
          <a:prstGeom prst="rect">
            <a:avLst/>
          </a:prstGeom>
          <a:noFill/>
          <a:ln/>
        </p:spPr>
        <p:txBody>
          <a:bodyPr wrap="square" lIns="0" tIns="0" rIns="0" bIns="0" rtlCol="0" anchor="ctr"/>
          <a:lstStyle/>
          <a:p>
            <a:pPr algn="r" indent="0" marL="0">
              <a:buNone/>
            </a:pPr>
            <a:r>
              <a:rPr lang="en-US" sz="1600" b="1" dirty="0">
                <a:solidFill>
                  <a:srgbClr val="0070C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731520" y="4005072"/>
            <a:ext cx="3026664" cy="256032"/>
          </a:xfrm>
          <a:prstGeom prst="rect">
            <a:avLst/>
          </a:prstGeom>
          <a:noFill/>
          <a:ln/>
        </p:spPr>
        <p:txBody>
          <a:bodyPr wrap="square" lIns="0" tIns="0" rIns="0" bIns="0" rtlCol="0" anchor="t"/>
          <a:lstStyle/>
          <a:p>
            <a:pPr indent="0" marL="0">
              <a:buNone/>
            </a:pPr>
            <a:r>
              <a:rPr lang="en-US" sz="900" dirty="0">
                <a:solidFill>
                  <a:srgbClr val="333333"/>
                </a:solidFill>
                <a:latin typeface="Calibri" pitchFamily="34" charset="0"/>
                <a:ea typeface="Calibri" pitchFamily="34" charset="-122"/>
                <a:cs typeface="Calibri" pitchFamily="34" charset="-120"/>
              </a:rPr>
              <a:t>Sets Portuguese quality and annotation standards with iFLYTEK</a:t>
            </a:r>
            <a:endParaRPr lang="en-US" sz="900" dirty="0"/>
          </a:p>
        </p:txBody>
      </p:sp>
      <p:sp>
        <p:nvSpPr>
          <p:cNvPr id="23" name="Text 21"/>
          <p:cNvSpPr txBox="1"/>
          <p:nvPr/>
        </p:nvSpPr>
        <p:spPr>
          <a:xfrm>
            <a:off x="731520" y="4279392"/>
            <a:ext cx="3026664" cy="237744"/>
          </a:xfrm>
          <a:prstGeom prst="rect">
            <a:avLst/>
          </a:prstGeom>
          <a:noFill/>
          <a:ln/>
        </p:spPr>
        <p:txBody>
          <a:bodyPr wrap="square" lIns="0" tIns="0" rIns="0" bIns="0" rtlCol="0" anchor="t"/>
          <a:lstStyle/>
          <a:p>
            <a:pPr indent="0" marL="0">
              <a:buNone/>
            </a:pPr>
            <a:r>
              <a:rPr lang="en-US" sz="850" b="1" dirty="0">
                <a:solidFill>
                  <a:srgbClr val="666666"/>
                </a:solidFill>
                <a:latin typeface="Calibri" pitchFamily="34" charset="0"/>
                <a:ea typeface="Calibri" pitchFamily="34" charset="-122"/>
                <a:cs typeface="Calibri" pitchFamily="34" charset="-120"/>
              </a:rPr>
              <a:t>Language experts 6</a:t>
            </a:r>
            <a:endParaRPr lang="en-US" sz="850" dirty="0"/>
          </a:p>
        </p:txBody>
      </p:sp>
      <p:sp>
        <p:nvSpPr>
          <p:cNvPr id="24" name="Shape 22"/>
          <p:cNvSpPr/>
          <p:nvPr/>
        </p:nvSpPr>
        <p:spPr>
          <a:xfrm>
            <a:off x="603504" y="4608576"/>
            <a:ext cx="3282696" cy="877824"/>
          </a:xfrm>
          <a:prstGeom prst="roundRect">
            <a:avLst>
              <a:gd name="adj" fmla="val 5208"/>
            </a:avLst>
          </a:prstGeom>
          <a:solidFill>
            <a:srgbClr val="FFFFFF"/>
          </a:solidFill>
          <a:ln w="9525">
            <a:solidFill>
              <a:srgbClr val="D9D9D9"/>
            </a:solidFill>
            <a:prstDash val="solid"/>
          </a:ln>
        </p:spPr>
      </p:sp>
      <p:sp>
        <p:nvSpPr>
          <p:cNvPr id="25" name="Text 23"/>
          <p:cNvSpPr txBox="1"/>
          <p:nvPr/>
        </p:nvSpPr>
        <p:spPr>
          <a:xfrm>
            <a:off x="731520" y="4663440"/>
            <a:ext cx="2459736" cy="274320"/>
          </a:xfrm>
          <a:prstGeom prst="rect">
            <a:avLst/>
          </a:prstGeom>
          <a:noFill/>
          <a:ln/>
        </p:spPr>
        <p:txBody>
          <a:bodyPr wrap="square" lIns="0" tIns="0" rIns="0" bIns="0" rtlCol="0" anchor="ctr"/>
          <a:lstStyle/>
          <a:p>
            <a:pPr indent="0" marL="0">
              <a:buNone/>
            </a:pPr>
            <a:r>
              <a:rPr lang="en-US" sz="1050" b="1" dirty="0">
                <a:solidFill>
                  <a:srgbClr val="1D1D1A"/>
                </a:solidFill>
                <a:latin typeface="Calibri" pitchFamily="34" charset="0"/>
                <a:ea typeface="Calibri" pitchFamily="34" charset="-122"/>
                <a:cs typeface="Calibri" pitchFamily="34" charset="-120"/>
              </a:rPr>
              <a:t>4  Compliance and review</a:t>
            </a:r>
            <a:endParaRPr lang="en-US" sz="1050" dirty="0"/>
          </a:p>
        </p:txBody>
      </p:sp>
      <p:sp>
        <p:nvSpPr>
          <p:cNvPr id="26" name="Text 24"/>
          <p:cNvSpPr txBox="1"/>
          <p:nvPr/>
        </p:nvSpPr>
        <p:spPr>
          <a:xfrm>
            <a:off x="3154680" y="4645152"/>
            <a:ext cx="603504" cy="310896"/>
          </a:xfrm>
          <a:prstGeom prst="rect">
            <a:avLst/>
          </a:prstGeom>
          <a:noFill/>
          <a:ln/>
        </p:spPr>
        <p:txBody>
          <a:bodyPr wrap="square" lIns="0" tIns="0" rIns="0" bIns="0" rtlCol="0" anchor="ctr"/>
          <a:lstStyle/>
          <a:p>
            <a:pPr algn="r" indent="0" marL="0">
              <a:buNone/>
            </a:pPr>
            <a:r>
              <a:rPr lang="en-US" sz="1600" b="1" dirty="0">
                <a:solidFill>
                  <a:srgbClr val="0070C0"/>
                </a:solidFill>
                <a:latin typeface="Calibri" pitchFamily="34" charset="0"/>
                <a:ea typeface="Calibri" pitchFamily="34" charset="-122"/>
                <a:cs typeface="Calibri" pitchFamily="34" charset="-120"/>
              </a:rPr>
              <a:t>6</a:t>
            </a:r>
            <a:endParaRPr lang="en-US" sz="1600" dirty="0"/>
          </a:p>
        </p:txBody>
      </p:sp>
      <p:sp>
        <p:nvSpPr>
          <p:cNvPr id="27" name="Text 25"/>
          <p:cNvSpPr txBox="1"/>
          <p:nvPr/>
        </p:nvSpPr>
        <p:spPr>
          <a:xfrm>
            <a:off x="731520" y="4956048"/>
            <a:ext cx="3026664" cy="256032"/>
          </a:xfrm>
          <a:prstGeom prst="rect">
            <a:avLst/>
          </a:prstGeom>
          <a:noFill/>
          <a:ln/>
        </p:spPr>
        <p:txBody>
          <a:bodyPr wrap="square" lIns="0" tIns="0" rIns="0" bIns="0" rtlCol="0" anchor="t"/>
          <a:lstStyle/>
          <a:p>
            <a:pPr indent="0" marL="0">
              <a:buNone/>
            </a:pPr>
            <a:r>
              <a:rPr lang="en-US" sz="900" dirty="0">
                <a:solidFill>
                  <a:srgbClr val="333333"/>
                </a:solidFill>
                <a:latin typeface="Calibri" pitchFamily="34" charset="0"/>
                <a:ea typeface="Calibri" pitchFamily="34" charset="-122"/>
                <a:cs typeface="Calibri" pitchFamily="34" charset="-120"/>
              </a:rPr>
              <a:t>Content, safety and legal review; corpus licences</a:t>
            </a:r>
            <a:endParaRPr lang="en-US" sz="900" dirty="0"/>
          </a:p>
        </p:txBody>
      </p:sp>
      <p:sp>
        <p:nvSpPr>
          <p:cNvPr id="28" name="Text 26"/>
          <p:cNvSpPr txBox="1"/>
          <p:nvPr/>
        </p:nvSpPr>
        <p:spPr>
          <a:xfrm>
            <a:off x="731520" y="5230368"/>
            <a:ext cx="3026664" cy="237744"/>
          </a:xfrm>
          <a:prstGeom prst="rect">
            <a:avLst/>
          </a:prstGeom>
          <a:noFill/>
          <a:ln/>
        </p:spPr>
        <p:txBody>
          <a:bodyPr wrap="square" lIns="0" tIns="0" rIns="0" bIns="0" rtlCol="0" anchor="t"/>
          <a:lstStyle/>
          <a:p>
            <a:pPr indent="0" marL="0">
              <a:buNone/>
            </a:pPr>
            <a:r>
              <a:rPr lang="en-US" sz="850" b="1" dirty="0">
                <a:solidFill>
                  <a:srgbClr val="666666"/>
                </a:solidFill>
                <a:latin typeface="Calibri" pitchFamily="34" charset="0"/>
                <a:ea typeface="Calibri" pitchFamily="34" charset="-122"/>
                <a:cs typeface="Calibri" pitchFamily="34" charset="-120"/>
              </a:rPr>
              <a:t>Review experts 2 · Legal experts 2 · Review leads 2</a:t>
            </a:r>
            <a:endParaRPr lang="en-US" sz="850" dirty="0"/>
          </a:p>
        </p:txBody>
      </p:sp>
      <p:sp>
        <p:nvSpPr>
          <p:cNvPr id="29" name="Shape 27"/>
          <p:cNvSpPr/>
          <p:nvPr/>
        </p:nvSpPr>
        <p:spPr>
          <a:xfrm>
            <a:off x="4306824" y="1143000"/>
            <a:ext cx="3575304" cy="4434840"/>
          </a:xfrm>
          <a:prstGeom prst="roundRect">
            <a:avLst>
              <a:gd name="adj" fmla="val 1535"/>
            </a:avLst>
          </a:prstGeom>
          <a:solidFill>
            <a:srgbClr val="E8F0FA"/>
          </a:solidFill>
          <a:ln w="12700">
            <a:solidFill>
              <a:srgbClr val="E8F0FA"/>
            </a:solidFill>
            <a:prstDash val="solid"/>
          </a:ln>
        </p:spPr>
      </p:sp>
      <p:sp>
        <p:nvSpPr>
          <p:cNvPr id="30" name="Text 28"/>
          <p:cNvSpPr txBox="1"/>
          <p:nvPr/>
        </p:nvSpPr>
        <p:spPr>
          <a:xfrm>
            <a:off x="4489704" y="1234440"/>
            <a:ext cx="2514600" cy="457200"/>
          </a:xfrm>
          <a:prstGeom prst="rect">
            <a:avLst/>
          </a:prstGeom>
          <a:noFill/>
          <a:ln/>
        </p:spPr>
        <p:txBody>
          <a:bodyPr wrap="square" lIns="0" tIns="0" rIns="0" bIns="0" rtlCol="0" anchor="ctr"/>
          <a:lstStyle/>
          <a:p>
            <a:pPr indent="0" marL="0">
              <a:buNone/>
            </a:pPr>
            <a:r>
              <a:rPr lang="en-US" sz="1150" b="1" dirty="0">
                <a:solidFill>
                  <a:srgbClr val="1F4E79"/>
                </a:solidFill>
                <a:latin typeface="Calibri" pitchFamily="34" charset="0"/>
                <a:ea typeface="Calibri" pitchFamily="34" charset="-122"/>
                <a:cs typeface="Calibri" pitchFamily="34" charset="-120"/>
              </a:rPr>
              <a:t>Intake 2 · Model training and evaluation</a:t>
            </a:r>
            <a:endParaRPr lang="en-US" sz="1150" dirty="0"/>
          </a:p>
        </p:txBody>
      </p:sp>
      <p:sp>
        <p:nvSpPr>
          <p:cNvPr id="31" name="Text 29"/>
          <p:cNvSpPr txBox="1"/>
          <p:nvPr/>
        </p:nvSpPr>
        <p:spPr>
          <a:xfrm>
            <a:off x="6922008" y="1216152"/>
            <a:ext cx="777240" cy="457200"/>
          </a:xfrm>
          <a:prstGeom prst="rect">
            <a:avLst/>
          </a:prstGeom>
          <a:noFill/>
          <a:ln/>
        </p:spPr>
        <p:txBody>
          <a:bodyPr wrap="square" lIns="0" tIns="0" rIns="0" bIns="0" rtlCol="0" anchor="ctr"/>
          <a:lstStyle/>
          <a:p>
            <a:pPr algn="r" indent="0" marL="0">
              <a:buNone/>
            </a:pPr>
            <a:r>
              <a:rPr lang="en-US" sz="2000" b="1" dirty="0">
                <a:solidFill>
                  <a:srgbClr val="0070C0"/>
                </a:solidFill>
                <a:latin typeface="Calibri" pitchFamily="34" charset="0"/>
                <a:ea typeface="Calibri" pitchFamily="34" charset="-122"/>
                <a:cs typeface="Calibri" pitchFamily="34" charset="-120"/>
              </a:rPr>
              <a:t>25</a:t>
            </a:r>
            <a:endParaRPr lang="en-US" sz="2000" dirty="0"/>
          </a:p>
        </p:txBody>
      </p:sp>
      <p:sp>
        <p:nvSpPr>
          <p:cNvPr id="32" name="Shape 30"/>
          <p:cNvSpPr/>
          <p:nvPr/>
        </p:nvSpPr>
        <p:spPr>
          <a:xfrm>
            <a:off x="4453128" y="1755648"/>
            <a:ext cx="3282696" cy="1828800"/>
          </a:xfrm>
          <a:prstGeom prst="roundRect">
            <a:avLst>
              <a:gd name="adj" fmla="val 2500"/>
            </a:avLst>
          </a:prstGeom>
          <a:solidFill>
            <a:srgbClr val="FFFFFF"/>
          </a:solidFill>
          <a:ln w="9525">
            <a:solidFill>
              <a:srgbClr val="D9D9D9"/>
            </a:solidFill>
            <a:prstDash val="solid"/>
          </a:ln>
        </p:spPr>
      </p:sp>
      <p:sp>
        <p:nvSpPr>
          <p:cNvPr id="33" name="Text 31"/>
          <p:cNvSpPr txBox="1"/>
          <p:nvPr/>
        </p:nvSpPr>
        <p:spPr>
          <a:xfrm>
            <a:off x="4581144" y="1810512"/>
            <a:ext cx="2459736" cy="274320"/>
          </a:xfrm>
          <a:prstGeom prst="rect">
            <a:avLst/>
          </a:prstGeom>
          <a:noFill/>
          <a:ln/>
        </p:spPr>
        <p:txBody>
          <a:bodyPr wrap="square" lIns="0" tIns="0" rIns="0" bIns="0" rtlCol="0" anchor="ctr"/>
          <a:lstStyle/>
          <a:p>
            <a:pPr indent="0" marL="0">
              <a:buNone/>
            </a:pPr>
            <a:r>
              <a:rPr lang="en-US" sz="1050" b="1" dirty="0">
                <a:solidFill>
                  <a:srgbClr val="1D1D1A"/>
                </a:solidFill>
                <a:latin typeface="Calibri" pitchFamily="34" charset="0"/>
                <a:ea typeface="Calibri" pitchFamily="34" charset="-122"/>
                <a:cs typeface="Calibri" pitchFamily="34" charset="-120"/>
              </a:rPr>
              <a:t>5  Business and domain experts</a:t>
            </a:r>
            <a:endParaRPr lang="en-US" sz="1050" dirty="0"/>
          </a:p>
        </p:txBody>
      </p:sp>
      <p:sp>
        <p:nvSpPr>
          <p:cNvPr id="34" name="Text 32"/>
          <p:cNvSpPr txBox="1"/>
          <p:nvPr/>
        </p:nvSpPr>
        <p:spPr>
          <a:xfrm>
            <a:off x="7004304" y="1792224"/>
            <a:ext cx="603504" cy="310896"/>
          </a:xfrm>
          <a:prstGeom prst="rect">
            <a:avLst/>
          </a:prstGeom>
          <a:noFill/>
          <a:ln/>
        </p:spPr>
        <p:txBody>
          <a:bodyPr wrap="square" lIns="0" tIns="0" rIns="0" bIns="0" rtlCol="0" anchor="ctr"/>
          <a:lstStyle/>
          <a:p>
            <a:pPr algn="r" indent="0" marL="0">
              <a:buNone/>
            </a:pPr>
            <a:r>
              <a:rPr lang="en-US" sz="1600" b="1" dirty="0">
                <a:solidFill>
                  <a:srgbClr val="0070C0"/>
                </a:solidFill>
                <a:latin typeface="Calibri" pitchFamily="34" charset="0"/>
                <a:ea typeface="Calibri" pitchFamily="34" charset="-122"/>
                <a:cs typeface="Calibri" pitchFamily="34" charset="-120"/>
              </a:rPr>
              <a:t>7</a:t>
            </a:r>
            <a:endParaRPr lang="en-US" sz="1600" dirty="0"/>
          </a:p>
        </p:txBody>
      </p:sp>
      <p:sp>
        <p:nvSpPr>
          <p:cNvPr id="35" name="Text 33"/>
          <p:cNvSpPr txBox="1"/>
          <p:nvPr/>
        </p:nvSpPr>
        <p:spPr>
          <a:xfrm>
            <a:off x="4581144" y="2103120"/>
            <a:ext cx="3026664" cy="566928"/>
          </a:xfrm>
          <a:prstGeom prst="rect">
            <a:avLst/>
          </a:prstGeom>
          <a:noFill/>
          <a:ln/>
        </p:spPr>
        <p:txBody>
          <a:bodyPr wrap="square" lIns="0" tIns="0" rIns="0" bIns="0" rtlCol="0" anchor="t"/>
          <a:lstStyle/>
          <a:p>
            <a:pPr indent="0" marL="0">
              <a:buNone/>
            </a:pPr>
            <a:r>
              <a:rPr lang="en-US" sz="900" dirty="0">
                <a:solidFill>
                  <a:srgbClr val="333333"/>
                </a:solidFill>
                <a:latin typeface="Calibri" pitchFamily="34" charset="0"/>
                <a:ea typeface="Calibri" pitchFamily="34" charset="-122"/>
                <a:cs typeface="Calibri" pitchFamily="34" charset="-120"/>
              </a:rPr>
              <a:t>Confirms the scenarios for the three Domain Large Models and assesses domain results with iFLYTEK</a:t>
            </a:r>
            <a:endParaRPr lang="en-US" sz="900" dirty="0"/>
          </a:p>
        </p:txBody>
      </p:sp>
      <p:sp>
        <p:nvSpPr>
          <p:cNvPr id="36" name="Text 34"/>
          <p:cNvSpPr txBox="1"/>
          <p:nvPr/>
        </p:nvSpPr>
        <p:spPr>
          <a:xfrm>
            <a:off x="4581144" y="2651760"/>
            <a:ext cx="3026664" cy="457200"/>
          </a:xfrm>
          <a:prstGeom prst="rect">
            <a:avLst/>
          </a:prstGeom>
          <a:noFill/>
          <a:ln/>
        </p:spPr>
        <p:txBody>
          <a:bodyPr wrap="square" lIns="0" tIns="0" rIns="0" bIns="0" rtlCol="0" anchor="t"/>
          <a:lstStyle/>
          <a:p>
            <a:pPr indent="0" marL="0">
              <a:buNone/>
            </a:pPr>
            <a:r>
              <a:rPr lang="en-US" sz="850" b="1" dirty="0">
                <a:solidFill>
                  <a:srgbClr val="666666"/>
                </a:solidFill>
                <a:latin typeface="Calibri" pitchFamily="34" charset="0"/>
                <a:ea typeface="Calibri" pitchFamily="34" charset="-122"/>
                <a:cs typeface="Calibri" pitchFamily="34" charset="-120"/>
              </a:rPr>
              <a:t>Business requirements 3 · Domain requirements 2 · Domain experts 2</a:t>
            </a:r>
            <a:endParaRPr lang="en-US" sz="850" dirty="0"/>
          </a:p>
        </p:txBody>
      </p:sp>
      <p:sp>
        <p:nvSpPr>
          <p:cNvPr id="37" name="Shape 35"/>
          <p:cNvSpPr/>
          <p:nvPr/>
        </p:nvSpPr>
        <p:spPr>
          <a:xfrm>
            <a:off x="4453128" y="3657600"/>
            <a:ext cx="3282696" cy="1828800"/>
          </a:xfrm>
          <a:prstGeom prst="roundRect">
            <a:avLst>
              <a:gd name="adj" fmla="val 2500"/>
            </a:avLst>
          </a:prstGeom>
          <a:solidFill>
            <a:srgbClr val="FFFFFF"/>
          </a:solidFill>
          <a:ln w="9525">
            <a:solidFill>
              <a:srgbClr val="D9D9D9"/>
            </a:solidFill>
            <a:prstDash val="solid"/>
          </a:ln>
        </p:spPr>
      </p:sp>
      <p:sp>
        <p:nvSpPr>
          <p:cNvPr id="38" name="Text 36"/>
          <p:cNvSpPr txBox="1"/>
          <p:nvPr/>
        </p:nvSpPr>
        <p:spPr>
          <a:xfrm>
            <a:off x="4581144" y="3712464"/>
            <a:ext cx="2459736" cy="274320"/>
          </a:xfrm>
          <a:prstGeom prst="rect">
            <a:avLst/>
          </a:prstGeom>
          <a:noFill/>
          <a:ln/>
        </p:spPr>
        <p:txBody>
          <a:bodyPr wrap="square" lIns="0" tIns="0" rIns="0" bIns="0" rtlCol="0" anchor="ctr"/>
          <a:lstStyle/>
          <a:p>
            <a:pPr indent="0" marL="0">
              <a:buNone/>
            </a:pPr>
            <a:r>
              <a:rPr lang="en-US" sz="1050" b="1" dirty="0">
                <a:solidFill>
                  <a:srgbClr val="1D1D1A"/>
                </a:solidFill>
                <a:latin typeface="Calibri" pitchFamily="34" charset="0"/>
                <a:ea typeface="Calibri" pitchFamily="34" charset="-122"/>
                <a:cs typeface="Calibri" pitchFamily="34" charset="-120"/>
              </a:rPr>
              <a:t>6  Model and test engineering</a:t>
            </a:r>
            <a:endParaRPr lang="en-US" sz="1050" dirty="0"/>
          </a:p>
        </p:txBody>
      </p:sp>
      <p:sp>
        <p:nvSpPr>
          <p:cNvPr id="39" name="Text 37"/>
          <p:cNvSpPr txBox="1"/>
          <p:nvPr/>
        </p:nvSpPr>
        <p:spPr>
          <a:xfrm>
            <a:off x="7004304" y="3694176"/>
            <a:ext cx="603504" cy="310896"/>
          </a:xfrm>
          <a:prstGeom prst="rect">
            <a:avLst/>
          </a:prstGeom>
          <a:noFill/>
          <a:ln/>
        </p:spPr>
        <p:txBody>
          <a:bodyPr wrap="square" lIns="0" tIns="0" rIns="0" bIns="0" rtlCol="0" anchor="ctr"/>
          <a:lstStyle/>
          <a:p>
            <a:pPr algn="r" indent="0" marL="0">
              <a:buNone/>
            </a:pPr>
            <a:r>
              <a:rPr lang="en-US" sz="1600" b="1" dirty="0">
                <a:solidFill>
                  <a:srgbClr val="0070C0"/>
                </a:solidFill>
                <a:latin typeface="Calibri" pitchFamily="34" charset="0"/>
                <a:ea typeface="Calibri" pitchFamily="34" charset="-122"/>
                <a:cs typeface="Calibri" pitchFamily="34" charset="-120"/>
              </a:rPr>
              <a:t>18</a:t>
            </a:r>
            <a:endParaRPr lang="en-US" sz="1600" dirty="0"/>
          </a:p>
        </p:txBody>
      </p:sp>
      <p:sp>
        <p:nvSpPr>
          <p:cNvPr id="40" name="Text 38"/>
          <p:cNvSpPr txBox="1"/>
          <p:nvPr/>
        </p:nvSpPr>
        <p:spPr>
          <a:xfrm>
            <a:off x="4581144" y="4005072"/>
            <a:ext cx="3026664" cy="566928"/>
          </a:xfrm>
          <a:prstGeom prst="rect">
            <a:avLst/>
          </a:prstGeom>
          <a:noFill/>
          <a:ln/>
        </p:spPr>
        <p:txBody>
          <a:bodyPr wrap="square" lIns="0" tIns="0" rIns="0" bIns="0" rtlCol="0" anchor="t"/>
          <a:lstStyle/>
          <a:p>
            <a:pPr indent="0" marL="0">
              <a:buNone/>
            </a:pPr>
            <a:r>
              <a:rPr lang="en-US" sz="900" dirty="0">
                <a:solidFill>
                  <a:srgbClr val="333333"/>
                </a:solidFill>
                <a:latin typeface="Calibri" pitchFamily="34" charset="0"/>
                <a:ea typeface="Calibri" pitchFamily="34" charset="-122"/>
                <a:cs typeface="Calibri" pitchFamily="34" charset="-120"/>
              </a:rPr>
              <a:t>Trains and evaluates the national model with iFLYTEK's engineers, then trains the DLMs with iFLYTEK advising</a:t>
            </a:r>
            <a:endParaRPr lang="en-US" sz="900" dirty="0"/>
          </a:p>
        </p:txBody>
      </p:sp>
      <p:sp>
        <p:nvSpPr>
          <p:cNvPr id="41" name="Text 39"/>
          <p:cNvSpPr txBox="1"/>
          <p:nvPr/>
        </p:nvSpPr>
        <p:spPr>
          <a:xfrm>
            <a:off x="4581144" y="4553712"/>
            <a:ext cx="3026664" cy="457200"/>
          </a:xfrm>
          <a:prstGeom prst="rect">
            <a:avLst/>
          </a:prstGeom>
          <a:noFill/>
          <a:ln/>
        </p:spPr>
        <p:txBody>
          <a:bodyPr wrap="square" lIns="0" tIns="0" rIns="0" bIns="0" rtlCol="0" anchor="t"/>
          <a:lstStyle/>
          <a:p>
            <a:pPr indent="0" marL="0">
              <a:buNone/>
            </a:pPr>
            <a:r>
              <a:rPr lang="en-US" sz="850" b="1" dirty="0">
                <a:solidFill>
                  <a:srgbClr val="666666"/>
                </a:solidFill>
                <a:latin typeface="Calibri" pitchFamily="34" charset="0"/>
                <a:ea typeface="Calibri" pitchFamily="34" charset="-122"/>
                <a:cs typeface="Calibri" pitchFamily="34" charset="-120"/>
              </a:rPr>
              <a:t>Algorithm engineers 12 · Test engineers 6</a:t>
            </a:r>
            <a:endParaRPr lang="en-US" sz="850" dirty="0"/>
          </a:p>
        </p:txBody>
      </p:sp>
      <p:sp>
        <p:nvSpPr>
          <p:cNvPr id="42" name="Shape 40"/>
          <p:cNvSpPr/>
          <p:nvPr/>
        </p:nvSpPr>
        <p:spPr>
          <a:xfrm>
            <a:off x="8156448" y="1143000"/>
            <a:ext cx="3575304" cy="4434840"/>
          </a:xfrm>
          <a:prstGeom prst="roundRect">
            <a:avLst>
              <a:gd name="adj" fmla="val 1535"/>
            </a:avLst>
          </a:prstGeom>
          <a:solidFill>
            <a:srgbClr val="E8F0FA"/>
          </a:solidFill>
          <a:ln w="12700">
            <a:solidFill>
              <a:srgbClr val="E8F0FA"/>
            </a:solidFill>
            <a:prstDash val="solid"/>
          </a:ln>
        </p:spPr>
      </p:sp>
      <p:sp>
        <p:nvSpPr>
          <p:cNvPr id="43" name="Text 41"/>
          <p:cNvSpPr txBox="1"/>
          <p:nvPr/>
        </p:nvSpPr>
        <p:spPr>
          <a:xfrm>
            <a:off x="8339328" y="1234440"/>
            <a:ext cx="2514600" cy="457200"/>
          </a:xfrm>
          <a:prstGeom prst="rect">
            <a:avLst/>
          </a:prstGeom>
          <a:noFill/>
          <a:ln/>
        </p:spPr>
        <p:txBody>
          <a:bodyPr wrap="square" lIns="0" tIns="0" rIns="0" bIns="0" rtlCol="0" anchor="ctr"/>
          <a:lstStyle/>
          <a:p>
            <a:pPr indent="0" marL="0">
              <a:buNone/>
            </a:pPr>
            <a:r>
              <a:rPr lang="en-US" sz="1150" b="1" dirty="0">
                <a:solidFill>
                  <a:srgbClr val="1F4E79"/>
                </a:solidFill>
                <a:latin typeface="Calibri" pitchFamily="34" charset="0"/>
                <a:ea typeface="Calibri" pitchFamily="34" charset="-122"/>
                <a:cs typeface="Calibri" pitchFamily="34" charset="-120"/>
              </a:rPr>
              <a:t>Intake 3 · Application and DLM</a:t>
            </a:r>
            <a:endParaRPr lang="en-US" sz="1150" dirty="0"/>
          </a:p>
        </p:txBody>
      </p:sp>
      <p:sp>
        <p:nvSpPr>
          <p:cNvPr id="44" name="Text 42"/>
          <p:cNvSpPr txBox="1"/>
          <p:nvPr/>
        </p:nvSpPr>
        <p:spPr>
          <a:xfrm>
            <a:off x="10771632" y="1216152"/>
            <a:ext cx="777240" cy="457200"/>
          </a:xfrm>
          <a:prstGeom prst="rect">
            <a:avLst/>
          </a:prstGeom>
          <a:noFill/>
          <a:ln/>
        </p:spPr>
        <p:txBody>
          <a:bodyPr wrap="square" lIns="0" tIns="0" rIns="0" bIns="0" rtlCol="0" anchor="ctr"/>
          <a:lstStyle/>
          <a:p>
            <a:pPr algn="r" indent="0" marL="0">
              <a:buNone/>
            </a:pPr>
            <a:r>
              <a:rPr lang="en-US" sz="2000" b="1" dirty="0">
                <a:solidFill>
                  <a:srgbClr val="0070C0"/>
                </a:solidFill>
                <a:latin typeface="Calibri" pitchFamily="34" charset="0"/>
                <a:ea typeface="Calibri" pitchFamily="34" charset="-122"/>
                <a:cs typeface="Calibri" pitchFamily="34" charset="-120"/>
              </a:rPr>
              <a:t>33</a:t>
            </a:r>
            <a:endParaRPr lang="en-US" sz="2000" dirty="0"/>
          </a:p>
        </p:txBody>
      </p:sp>
      <p:sp>
        <p:nvSpPr>
          <p:cNvPr id="45" name="Shape 43"/>
          <p:cNvSpPr/>
          <p:nvPr/>
        </p:nvSpPr>
        <p:spPr>
          <a:xfrm>
            <a:off x="8302752" y="1755648"/>
            <a:ext cx="3282696" cy="1828800"/>
          </a:xfrm>
          <a:prstGeom prst="roundRect">
            <a:avLst>
              <a:gd name="adj" fmla="val 2500"/>
            </a:avLst>
          </a:prstGeom>
          <a:solidFill>
            <a:srgbClr val="FFFFFF"/>
          </a:solidFill>
          <a:ln w="9525">
            <a:solidFill>
              <a:srgbClr val="D9D9D9"/>
            </a:solidFill>
            <a:prstDash val="solid"/>
          </a:ln>
        </p:spPr>
      </p:sp>
      <p:sp>
        <p:nvSpPr>
          <p:cNvPr id="46" name="Text 44"/>
          <p:cNvSpPr txBox="1"/>
          <p:nvPr/>
        </p:nvSpPr>
        <p:spPr>
          <a:xfrm>
            <a:off x="8430768" y="1810512"/>
            <a:ext cx="2459736" cy="274320"/>
          </a:xfrm>
          <a:prstGeom prst="rect">
            <a:avLst/>
          </a:prstGeom>
          <a:noFill/>
          <a:ln/>
        </p:spPr>
        <p:txBody>
          <a:bodyPr wrap="square" lIns="0" tIns="0" rIns="0" bIns="0" rtlCol="0" anchor="ctr"/>
          <a:lstStyle/>
          <a:p>
            <a:pPr indent="0" marL="0">
              <a:buNone/>
            </a:pPr>
            <a:r>
              <a:rPr lang="en-US" sz="1050" b="1" dirty="0">
                <a:solidFill>
                  <a:srgbClr val="1D1D1A"/>
                </a:solidFill>
                <a:latin typeface="Calibri" pitchFamily="34" charset="0"/>
                <a:ea typeface="Calibri" pitchFamily="34" charset="-122"/>
                <a:cs typeface="Calibri" pitchFamily="34" charset="-120"/>
              </a:rPr>
              <a:t>7  Application and operations</a:t>
            </a:r>
            <a:endParaRPr lang="en-US" sz="1050" dirty="0"/>
          </a:p>
        </p:txBody>
      </p:sp>
      <p:sp>
        <p:nvSpPr>
          <p:cNvPr id="47" name="Text 45"/>
          <p:cNvSpPr txBox="1"/>
          <p:nvPr/>
        </p:nvSpPr>
        <p:spPr>
          <a:xfrm>
            <a:off x="10853928" y="1792224"/>
            <a:ext cx="603504" cy="310896"/>
          </a:xfrm>
          <a:prstGeom prst="rect">
            <a:avLst/>
          </a:prstGeom>
          <a:noFill/>
          <a:ln/>
        </p:spPr>
        <p:txBody>
          <a:bodyPr wrap="square" lIns="0" tIns="0" rIns="0" bIns="0" rtlCol="0" anchor="ctr"/>
          <a:lstStyle/>
          <a:p>
            <a:pPr algn="r" indent="0" marL="0">
              <a:buNone/>
            </a:pPr>
            <a:r>
              <a:rPr lang="en-US" sz="1600" b="1" dirty="0">
                <a:solidFill>
                  <a:srgbClr val="0070C0"/>
                </a:solidFill>
                <a:latin typeface="Calibri" pitchFamily="34" charset="0"/>
                <a:ea typeface="Calibri" pitchFamily="34" charset="-122"/>
                <a:cs typeface="Calibri" pitchFamily="34" charset="-120"/>
              </a:rPr>
              <a:t>27</a:t>
            </a:r>
            <a:endParaRPr lang="en-US" sz="1600" dirty="0"/>
          </a:p>
        </p:txBody>
      </p:sp>
      <p:sp>
        <p:nvSpPr>
          <p:cNvPr id="48" name="Text 46"/>
          <p:cNvSpPr txBox="1"/>
          <p:nvPr/>
        </p:nvSpPr>
        <p:spPr>
          <a:xfrm>
            <a:off x="8430768" y="2103120"/>
            <a:ext cx="3026664" cy="566928"/>
          </a:xfrm>
          <a:prstGeom prst="rect">
            <a:avLst/>
          </a:prstGeom>
          <a:noFill/>
          <a:ln/>
        </p:spPr>
        <p:txBody>
          <a:bodyPr wrap="square" lIns="0" tIns="0" rIns="0" bIns="0" rtlCol="0" anchor="t"/>
          <a:lstStyle/>
          <a:p>
            <a:pPr indent="0" marL="0">
              <a:buNone/>
            </a:pPr>
            <a:r>
              <a:rPr lang="en-US" sz="900" dirty="0">
                <a:solidFill>
                  <a:srgbClr val="333333"/>
                </a:solidFill>
                <a:latin typeface="Calibri" pitchFamily="34" charset="0"/>
                <a:ea typeface="Calibri" pitchFamily="34" charset="-122"/>
                <a:cs typeface="Calibri" pitchFamily="34" charset="-120"/>
              </a:rPr>
              <a:t>Takes over the National AI Application from iFLYTEK: architecture, integration, user approval, content and operations</a:t>
            </a:r>
            <a:endParaRPr lang="en-US" sz="900" dirty="0"/>
          </a:p>
        </p:txBody>
      </p:sp>
      <p:sp>
        <p:nvSpPr>
          <p:cNvPr id="49" name="Text 47"/>
          <p:cNvSpPr txBox="1"/>
          <p:nvPr/>
        </p:nvSpPr>
        <p:spPr>
          <a:xfrm>
            <a:off x="8430768" y="2651760"/>
            <a:ext cx="3026664" cy="457200"/>
          </a:xfrm>
          <a:prstGeom prst="rect">
            <a:avLst/>
          </a:prstGeom>
          <a:noFill/>
          <a:ln/>
        </p:spPr>
        <p:txBody>
          <a:bodyPr wrap="square" lIns="0" tIns="0" rIns="0" bIns="0" rtlCol="0" anchor="t"/>
          <a:lstStyle/>
          <a:p>
            <a:pPr indent="0" marL="0">
              <a:buNone/>
            </a:pPr>
            <a:r>
              <a:rPr lang="en-US" sz="850" b="1" dirty="0">
                <a:solidFill>
                  <a:srgbClr val="666666"/>
                </a:solidFill>
                <a:latin typeface="Calibri" pitchFamily="34" charset="0"/>
                <a:ea typeface="Calibri" pitchFamily="34" charset="-122"/>
                <a:cs typeface="Calibri" pitchFamily="34" charset="-120"/>
              </a:rPr>
              <a:t>Software developers 15 · Operations engineers 10 · Architects 2</a:t>
            </a:r>
            <a:endParaRPr lang="en-US" sz="850" dirty="0"/>
          </a:p>
        </p:txBody>
      </p:sp>
      <p:sp>
        <p:nvSpPr>
          <p:cNvPr id="50" name="Shape 48"/>
          <p:cNvSpPr/>
          <p:nvPr/>
        </p:nvSpPr>
        <p:spPr>
          <a:xfrm>
            <a:off x="8302752" y="3657600"/>
            <a:ext cx="3282696" cy="1828800"/>
          </a:xfrm>
          <a:prstGeom prst="roundRect">
            <a:avLst>
              <a:gd name="adj" fmla="val 2500"/>
            </a:avLst>
          </a:prstGeom>
          <a:solidFill>
            <a:srgbClr val="FFFFFF"/>
          </a:solidFill>
          <a:ln w="9525">
            <a:solidFill>
              <a:srgbClr val="D9D9D9"/>
            </a:solidFill>
            <a:prstDash val="solid"/>
          </a:ln>
        </p:spPr>
      </p:sp>
      <p:sp>
        <p:nvSpPr>
          <p:cNvPr id="51" name="Text 49"/>
          <p:cNvSpPr txBox="1"/>
          <p:nvPr/>
        </p:nvSpPr>
        <p:spPr>
          <a:xfrm>
            <a:off x="8430768" y="3712464"/>
            <a:ext cx="2459736" cy="274320"/>
          </a:xfrm>
          <a:prstGeom prst="rect">
            <a:avLst/>
          </a:prstGeom>
          <a:noFill/>
          <a:ln/>
        </p:spPr>
        <p:txBody>
          <a:bodyPr wrap="square" lIns="0" tIns="0" rIns="0" bIns="0" rtlCol="0" anchor="ctr"/>
          <a:lstStyle/>
          <a:p>
            <a:pPr indent="0" marL="0">
              <a:buNone/>
            </a:pPr>
            <a:r>
              <a:rPr lang="en-US" sz="1050" b="1" dirty="0">
                <a:solidFill>
                  <a:srgbClr val="1D1D1A"/>
                </a:solidFill>
                <a:latin typeface="Calibri" pitchFamily="34" charset="0"/>
                <a:ea typeface="Calibri" pitchFamily="34" charset="-122"/>
                <a:cs typeface="Calibri" pitchFamily="34" charset="-120"/>
              </a:rPr>
              <a:t>8  Platform O&amp;M</a:t>
            </a:r>
            <a:endParaRPr lang="en-US" sz="1050" dirty="0"/>
          </a:p>
        </p:txBody>
      </p:sp>
      <p:sp>
        <p:nvSpPr>
          <p:cNvPr id="52" name="Text 50"/>
          <p:cNvSpPr txBox="1"/>
          <p:nvPr/>
        </p:nvSpPr>
        <p:spPr>
          <a:xfrm>
            <a:off x="10853928" y="3694176"/>
            <a:ext cx="603504" cy="310896"/>
          </a:xfrm>
          <a:prstGeom prst="rect">
            <a:avLst/>
          </a:prstGeom>
          <a:noFill/>
          <a:ln/>
        </p:spPr>
        <p:txBody>
          <a:bodyPr wrap="square" lIns="0" tIns="0" rIns="0" bIns="0" rtlCol="0" anchor="ctr"/>
          <a:lstStyle/>
          <a:p>
            <a:pPr algn="r" indent="0" marL="0">
              <a:buNone/>
            </a:pPr>
            <a:r>
              <a:rPr lang="en-US" sz="1600" b="1" dirty="0">
                <a:solidFill>
                  <a:srgbClr val="0070C0"/>
                </a:solidFill>
                <a:latin typeface="Calibri" pitchFamily="34" charset="0"/>
                <a:ea typeface="Calibri" pitchFamily="34" charset="-122"/>
                <a:cs typeface="Calibri" pitchFamily="34" charset="-120"/>
              </a:rPr>
              <a:t>6</a:t>
            </a:r>
            <a:endParaRPr lang="en-US" sz="1600" dirty="0"/>
          </a:p>
        </p:txBody>
      </p:sp>
      <p:sp>
        <p:nvSpPr>
          <p:cNvPr id="53" name="Text 51"/>
          <p:cNvSpPr txBox="1"/>
          <p:nvPr/>
        </p:nvSpPr>
        <p:spPr>
          <a:xfrm>
            <a:off x="8430768" y="4005072"/>
            <a:ext cx="3026664" cy="566928"/>
          </a:xfrm>
          <a:prstGeom prst="rect">
            <a:avLst/>
          </a:prstGeom>
          <a:noFill/>
          <a:ln/>
        </p:spPr>
        <p:txBody>
          <a:bodyPr wrap="square" lIns="0" tIns="0" rIns="0" bIns="0" rtlCol="0" anchor="t"/>
          <a:lstStyle/>
          <a:p>
            <a:pPr indent="0" marL="0">
              <a:buNone/>
            </a:pPr>
            <a:r>
              <a:rPr lang="en-US" sz="900" dirty="0">
                <a:solidFill>
                  <a:srgbClr val="333333"/>
                </a:solidFill>
                <a:latin typeface="Calibri" pitchFamily="34" charset="0"/>
                <a:ea typeface="Calibri" pitchFamily="34" charset="-122"/>
                <a:cs typeface="Calibri" pitchFamily="34" charset="-120"/>
              </a:rPr>
              <a:t>Runs the platform with iFLYTEK during 12 months of assisted O&amp;M, then independently</a:t>
            </a:r>
            <a:endParaRPr lang="en-US" sz="900" dirty="0"/>
          </a:p>
        </p:txBody>
      </p:sp>
      <p:sp>
        <p:nvSpPr>
          <p:cNvPr id="54" name="Text 52"/>
          <p:cNvSpPr txBox="1"/>
          <p:nvPr/>
        </p:nvSpPr>
        <p:spPr>
          <a:xfrm>
            <a:off x="8430768" y="4553712"/>
            <a:ext cx="3026664" cy="457200"/>
          </a:xfrm>
          <a:prstGeom prst="rect">
            <a:avLst/>
          </a:prstGeom>
          <a:noFill/>
          <a:ln/>
        </p:spPr>
        <p:txBody>
          <a:bodyPr wrap="square" lIns="0" tIns="0" rIns="0" bIns="0" rtlCol="0" anchor="t"/>
          <a:lstStyle/>
          <a:p>
            <a:pPr indent="0" marL="0">
              <a:buNone/>
            </a:pPr>
            <a:r>
              <a:rPr lang="en-US" sz="850" b="1" dirty="0">
                <a:solidFill>
                  <a:srgbClr val="666666"/>
                </a:solidFill>
                <a:latin typeface="Calibri" pitchFamily="34" charset="0"/>
                <a:ea typeface="Calibri" pitchFamily="34" charset="-122"/>
                <a:cs typeface="Calibri" pitchFamily="34" charset="-120"/>
              </a:rPr>
              <a:t>O&amp;M engineers 6</a:t>
            </a:r>
            <a:endParaRPr lang="en-US" sz="850" dirty="0"/>
          </a:p>
        </p:txBody>
      </p:sp>
      <p:sp>
        <p:nvSpPr>
          <p:cNvPr id="55" name="Shape 53"/>
          <p:cNvSpPr/>
          <p:nvPr/>
        </p:nvSpPr>
        <p:spPr>
          <a:xfrm>
            <a:off x="457200" y="5742432"/>
            <a:ext cx="11274552" cy="502920"/>
          </a:xfrm>
          <a:prstGeom prst="roundRect">
            <a:avLst>
              <a:gd name="adj" fmla="val 10909"/>
            </a:avLst>
          </a:prstGeom>
          <a:solidFill>
            <a:srgbClr val="FFFFFF"/>
          </a:solidFill>
          <a:ln w="9525">
            <a:solidFill>
              <a:srgbClr val="1F4E79"/>
            </a:solidFill>
            <a:prstDash val="solid"/>
          </a:ln>
        </p:spPr>
      </p:sp>
      <p:sp>
        <p:nvSpPr>
          <p:cNvPr id="56" name="Text 54"/>
          <p:cNvSpPr txBox="1"/>
          <p:nvPr/>
        </p:nvSpPr>
        <p:spPr>
          <a:xfrm>
            <a:off x="685800" y="5760720"/>
            <a:ext cx="10817352" cy="457200"/>
          </a:xfrm>
          <a:prstGeom prst="rect">
            <a:avLst/>
          </a:prstGeom>
          <a:noFill/>
          <a:ln/>
        </p:spPr>
        <p:txBody>
          <a:bodyPr wrap="square" lIns="0" tIns="0" rIns="0" bIns="0" rtlCol="0" anchor="ctr"/>
          <a:lstStyle/>
          <a:p>
            <a:pPr indent="0" marL="0">
              <a:buNone/>
            </a:pPr>
            <a:r>
              <a:rPr lang="en-US" sz="1100" b="1" dirty="0">
                <a:solidFill>
                  <a:srgbClr val="1F4E79"/>
                </a:solidFill>
                <a:latin typeface="Calibri" pitchFamily="34" charset="0"/>
                <a:ea typeface="Calibri" pitchFamily="34" charset="-122"/>
                <a:cs typeface="Calibri" pitchFamily="34" charset="-120"/>
              </a:rPr>
              <a:t>Total, peak per function   </a:t>
            </a:r>
            <a:pPr indent="0" marL="0">
              <a:buNone/>
            </a:pPr>
            <a:r>
              <a:rPr lang="en-US" sz="1400" b="1" dirty="0">
                <a:solidFill>
                  <a:srgbClr val="0070C0"/>
                </a:solidFill>
                <a:latin typeface="Calibri" pitchFamily="34" charset="0"/>
                <a:ea typeface="Calibri" pitchFamily="34" charset="-122"/>
                <a:cs typeface="Calibri" pitchFamily="34" charset="-120"/>
              </a:rPr>
              <a:t>111 people</a:t>
            </a:r>
            <a:pPr indent="0" marL="0">
              <a:buNone/>
            </a:pPr>
            <a:r>
              <a:rPr lang="en-US" sz="1100" dirty="0">
                <a:solidFill>
                  <a:srgbClr val="1D1D1A"/>
                </a:solidFill>
                <a:latin typeface="Calibri" pitchFamily="34" charset="0"/>
                <a:ea typeface="Calibri" pitchFamily="34" charset="-122"/>
                <a:cs typeface="Calibri" pitchFamily="34" charset="-120"/>
              </a:rPr>
              <a:t>     across 8 teams and 19 roles; the roles are profiled on the next page.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75488" y="146304"/>
            <a:ext cx="11247120" cy="457200"/>
          </a:xfrm>
          <a:prstGeom prst="rect">
            <a:avLst/>
          </a:prstGeom>
          <a:noFill/>
          <a:ln/>
        </p:spPr>
        <p:txBody>
          <a:bodyPr wrap="square" lIns="0" tIns="0" rIns="0" bIns="0" rtlCol="0" anchor="ctr"/>
          <a:lstStyle/>
          <a:p>
            <a:pPr indent="0" marL="0">
              <a:buNone/>
            </a:pPr>
            <a:r>
              <a:rPr lang="en-US" sz="1800" b="1" dirty="0">
                <a:solidFill>
                  <a:srgbClr val="C00000"/>
                </a:solidFill>
                <a:latin typeface="Calibri" pitchFamily="34" charset="0"/>
                <a:ea typeface="Calibri" pitchFamily="34" charset="-122"/>
                <a:cs typeface="Calibri" pitchFamily="34" charset="-120"/>
              </a:rPr>
              <a:t>Role profiles: 19 roles, how each works with iFLYTEK, and how many people</a:t>
            </a:r>
            <a:endParaRPr lang="en-US" sz="1800" dirty="0"/>
          </a:p>
        </p:txBody>
      </p:sp>
      <p:sp>
        <p:nvSpPr>
          <p:cNvPr id="3" name="Text 1"/>
          <p:cNvSpPr txBox="1"/>
          <p:nvPr/>
        </p:nvSpPr>
        <p:spPr>
          <a:xfrm>
            <a:off x="457200" y="640080"/>
            <a:ext cx="11274552" cy="365760"/>
          </a:xfrm>
          <a:prstGeom prst="rect">
            <a:avLst/>
          </a:prstGeom>
          <a:noFill/>
          <a:ln/>
        </p:spPr>
        <p:txBody>
          <a:bodyPr wrap="square" lIns="0" tIns="0" rIns="0" bIns="0" rtlCol="0" anchor="t"/>
          <a:lstStyle/>
          <a:p>
            <a:pPr indent="0" marL="0">
              <a:buNone/>
            </a:pPr>
            <a:r>
              <a:rPr lang="en-US" sz="1050" dirty="0">
                <a:solidFill>
                  <a:srgbClr val="1D1D1A"/>
                </a:solidFill>
                <a:latin typeface="Calibri" pitchFamily="34" charset="0"/>
                <a:ea typeface="Calibri" pitchFamily="34" charset="-122"/>
                <a:cs typeface="Calibri" pitchFamily="34" charset="-120"/>
              </a:rPr>
              <a:t>Role composition from Appendix A7; joint work from Appendices A10 and A3. Headcounts are peaks per function.</a:t>
            </a:r>
            <a:endParaRPr lang="en-US" sz="10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1874520"/>
                <a:gridCol w="1691640"/>
                <a:gridCol w="640080"/>
                <a:gridCol w="7068312"/>
              </a:tblGrid>
              <a:tr h="251460">
                <a:tc>
                  <a:txBody>
                    <a:bodyPr/>
                    <a:lstStyle/>
                    <a:p>
                      <a:pPr indent="0" marL="0">
                        <a:buNone/>
                      </a:pPr>
                      <a:r>
                        <a:rPr lang="en-US" sz="900" b="1" dirty="0">
                          <a:solidFill>
                            <a:srgbClr val="1D1D1A"/>
                          </a:solidFill>
                          <a:latin typeface="Calibri" pitchFamily="34" charset="0"/>
                          <a:ea typeface="Calibri" pitchFamily="34" charset="-122"/>
                          <a:cs typeface="Calibri" pitchFamily="34" charset="-120"/>
                        </a:rPr>
                        <a:t>Team</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900" b="1" dirty="0">
                          <a:solidFill>
                            <a:srgbClr val="1D1D1A"/>
                          </a:solidFill>
                          <a:latin typeface="Calibri" pitchFamily="34" charset="0"/>
                          <a:ea typeface="Calibri" pitchFamily="34" charset="-122"/>
                          <a:cs typeface="Calibri" pitchFamily="34" charset="-120"/>
                        </a:rPr>
                        <a:t>Role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D1D1A"/>
                          </a:solidFill>
                          <a:latin typeface="Calibri" pitchFamily="34" charset="0"/>
                          <a:ea typeface="Calibri" pitchFamily="34" charset="-122"/>
                          <a:cs typeface="Calibri" pitchFamily="34" charset="-120"/>
                        </a:rPr>
                        <a:t>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900" b="1" dirty="0">
                          <a:solidFill>
                            <a:srgbClr val="1D1D1A"/>
                          </a:solidFill>
                          <a:latin typeface="Calibri" pitchFamily="34" charset="0"/>
                          <a:ea typeface="Calibri" pitchFamily="34" charset="-122"/>
                          <a:cs typeface="Calibri" pitchFamily="34" charset="-120"/>
                        </a:rPr>
                        <a:t>How the role works with iFLYTEK</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r>
              <a:tr h="251460">
                <a:tc rowSpan="3">
                  <a:txBody>
                    <a:bodyPr/>
                    <a:lstStyle/>
                    <a:p>
                      <a:pPr indent="0" marL="0">
                        <a:buNone/>
                      </a:pPr>
                      <a:r>
                        <a:rPr lang="en-US" sz="900" b="1" dirty="0">
                          <a:solidFill>
                            <a:srgbClr val="1F4E79"/>
                          </a:solidFill>
                          <a:latin typeface="Calibri" pitchFamily="34" charset="0"/>
                          <a:ea typeface="Calibri" pitchFamily="34" charset="-122"/>
                          <a:cs typeface="Calibri" pitchFamily="34" charset="-120"/>
                        </a:rPr>
                        <a:t>1  Project and product</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9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Project manager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Runs the joint schedule with iFLYTEK's project team; aligns milestones, resources and acceptance at each of the five steps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Product manager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Defines the National AI Application with iFLYTEK's product team: functions, user scope, content rules, Brazilian content, roadmap</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PMO / data-centre expert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Coordinates Huawei compute and environment readiness with iFLYTEK's deployment team; tracks T0 and the compute batches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rowSpan="3">
                  <a:txBody>
                    <a:bodyPr/>
                    <a:lstStyle/>
                    <a:p>
                      <a:pPr indent="0" marL="0">
                        <a:buNone/>
                      </a:pPr>
                      <a:r>
                        <a:rPr lang="en-US" sz="900" b="1" dirty="0">
                          <a:solidFill>
                            <a:srgbClr val="1F4E79"/>
                          </a:solidFill>
                          <a:latin typeface="Calibri" pitchFamily="34" charset="0"/>
                          <a:ea typeface="Calibri" pitchFamily="34" charset="-122"/>
                          <a:cs typeface="Calibri" pitchFamily="34" charset="-120"/>
                        </a:rPr>
                        <a:t>2  Corpus and data</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32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Data resource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Sources and licenses Portuguese data to iFLYTEK's corpus specifications; agrees sources and permitted use with iFLYTEK</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Data quality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Runs the pilot batch and full-volume production on the Corpus Construction Center with iFLYTEK's sampling checks and guidance</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Annotator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Annotates supervised, safety and speech data to standards agreed with iFLYTEK; iFLYTEK checks samples and feeds back</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a:txBody>
                    <a:bodyPr/>
                    <a:lstStyle/>
                    <a:p>
                      <a:pPr indent="0" marL="0">
                        <a:buNone/>
                      </a:pPr>
                      <a:r>
                        <a:rPr lang="en-US" sz="900" b="1" dirty="0">
                          <a:solidFill>
                            <a:srgbClr val="1F4E79"/>
                          </a:solidFill>
                          <a:latin typeface="Calibri" pitchFamily="34" charset="0"/>
                          <a:ea typeface="Calibri" pitchFamily="34" charset="-122"/>
                          <a:cs typeface="Calibri" pitchFamily="34" charset="-120"/>
                        </a:rPr>
                        <a:t>3  Portuguese language experts</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6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Language expert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Sets Brazilian Portuguese quality, annotation, safety-label and speech standards with iFLYTEK; confirms rules on samples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rowSpan="3">
                  <a:txBody>
                    <a:bodyPr/>
                    <a:lstStyle/>
                    <a:p>
                      <a:pPr indent="0" marL="0">
                        <a:buNone/>
                      </a:pPr>
                      <a:r>
                        <a:rPr lang="en-US" sz="900" b="1" dirty="0">
                          <a:solidFill>
                            <a:srgbClr val="1F4E79"/>
                          </a:solidFill>
                          <a:latin typeface="Calibri" pitchFamily="34" charset="0"/>
                          <a:ea typeface="Calibri" pitchFamily="34" charset="-122"/>
                          <a:cs typeface="Calibri" pitchFamily="34" charset="-120"/>
                        </a:rPr>
                        <a:t>4  Compliance and review</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6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Review expert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Builds review policies, lexicons and risk samples on the Content Safety Review Platform with iFLYTEK's safety team</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Legal expert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Clears data licences and permitted use with iFLYTEK's data team; reviews legal compliance of corpus, models and application</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Review lead</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Owns the review process; agrees escalation and approval rules with iFLYTEK</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rowSpan="3">
                  <a:txBody>
                    <a:bodyPr/>
                    <a:lstStyle/>
                    <a:p>
                      <a:pPr indent="0" marL="0">
                        <a:buNone/>
                      </a:pPr>
                      <a:r>
                        <a:rPr lang="en-US" sz="900" b="1" dirty="0">
                          <a:solidFill>
                            <a:srgbClr val="1F4E79"/>
                          </a:solidFill>
                          <a:latin typeface="Calibri" pitchFamily="34" charset="0"/>
                          <a:ea typeface="Calibri" pitchFamily="34" charset="-122"/>
                          <a:cs typeface="Calibri" pitchFamily="34" charset="-120"/>
                        </a:rPr>
                        <a:t>5  Business and domain experts</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7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Business requirements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Defines the scenario for each of the three DLM services with iFLYTEK's DLM advisors; confirms inputs and service acceptance</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Domain requirements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Specifies domain data and expected results; reviews evaluation reports with iFLYTEK and sets content boundaries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Domain expert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Assesses DLM results in the domain in joint evaluation exercises with iFLYTEK</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rowSpan="2">
                  <a:txBody>
                    <a:bodyPr/>
                    <a:lstStyle/>
                    <a:p>
                      <a:pPr indent="0" marL="0">
                        <a:buNone/>
                      </a:pPr>
                      <a:r>
                        <a:rPr lang="en-US" sz="900" b="1" dirty="0">
                          <a:solidFill>
                            <a:srgbClr val="1F4E79"/>
                          </a:solidFill>
                          <a:latin typeface="Calibri" pitchFamily="34" charset="0"/>
                          <a:ea typeface="Calibri" pitchFamily="34" charset="-122"/>
                          <a:cs typeface="Calibri" pitchFamily="34" charset="-120"/>
                        </a:rPr>
                        <a:t>6  Model and test engineering</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18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Algorithm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Trains and evaluates models on the Model Training Center with iFLYTEK's engineers; then trains the DLMs with iFLYTEK advising</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Test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Runs evaluation and validation against the rules agreed with iFLYTEK; documents results for acceptance</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rowSpan="3">
                  <a:txBody>
                    <a:bodyPr/>
                    <a:lstStyle/>
                    <a:p>
                      <a:pPr indent="0" marL="0">
                        <a:buNone/>
                      </a:pPr>
                      <a:r>
                        <a:rPr lang="en-US" sz="900" b="1" dirty="0">
                          <a:solidFill>
                            <a:srgbClr val="1F4E79"/>
                          </a:solidFill>
                          <a:latin typeface="Calibri" pitchFamily="34" charset="0"/>
                          <a:ea typeface="Calibri" pitchFamily="34" charset="-122"/>
                          <a:cs typeface="Calibri" pitchFamily="34" charset="-120"/>
                        </a:rPr>
                        <a:t>7  Application and operations</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27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Software developer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Integrates the National AI Application with RNP systems; builds Brazilian content and features with iFLYTEK's app team</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Operations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Takes over application operations from iFLYTEK: configuration, user approval, API credentials and limits, usage analytics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vMerge="1">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Architect</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Agrees application architecture and integration points with iFLYTEK's architects</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a:txBody>
                    <a:bodyPr/>
                    <a:lstStyle/>
                    <a:p>
                      <a:pPr indent="0" marL="0">
                        <a:buNone/>
                      </a:pPr>
                      <a:r>
                        <a:rPr lang="en-US" sz="900" b="1" dirty="0">
                          <a:solidFill>
                            <a:srgbClr val="1F4E79"/>
                          </a:solidFill>
                          <a:latin typeface="Calibri" pitchFamily="34" charset="0"/>
                          <a:ea typeface="Calibri" pitchFamily="34" charset="-122"/>
                          <a:cs typeface="Calibri" pitchFamily="34" charset="-120"/>
                        </a:rPr>
                        <a:t>8  Platform O&amp;M</a:t>
                      </a:r>
                      <a:endParaRPr lang="en-US" sz="900" dirty="0">
                        <a:latin typeface="Calibri" charset="0"/>
                        <a:ea typeface="Calibri" charset="0"/>
                        <a:cs typeface="Calibri" charset="0"/>
                      </a:endParaRPr>
                    </a:p>
                    <a:p>
                      <a:pPr indent="0" marL="0">
                        <a:buNone/>
                      </a:pPr>
                      <a:r>
                        <a:rPr lang="en-US" sz="900" b="1" dirty="0">
                          <a:solidFill>
                            <a:srgbClr val="0070C0"/>
                          </a:solidFill>
                          <a:latin typeface="Calibri" pitchFamily="34" charset="0"/>
                          <a:ea typeface="Calibri" pitchFamily="34" charset="-122"/>
                          <a:cs typeface="Calibri" pitchFamily="34" charset="-120"/>
                        </a:rPr>
                        <a:t>6 people</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r>
                        <a:rPr lang="en-US" sz="850" b="1" dirty="0">
                          <a:solidFill>
                            <a:srgbClr val="1D1D1A"/>
                          </a:solidFill>
                          <a:latin typeface="Calibri" pitchFamily="34" charset="0"/>
                          <a:ea typeface="Calibri" pitchFamily="34" charset="-122"/>
                          <a:cs typeface="Calibri" pitchFamily="34" charset="-120"/>
                        </a:rPr>
                        <a:t>O&amp;M engineer</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0070C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850" dirty="0">
                          <a:solidFill>
                            <a:srgbClr val="333333"/>
                          </a:solidFill>
                          <a:latin typeface="Calibri" pitchFamily="34" charset="0"/>
                          <a:ea typeface="Calibri" pitchFamily="34" charset="-122"/>
                          <a:cs typeface="Calibri" pitchFamily="34" charset="-120"/>
                        </a:rPr>
                        <a:t>Runs the platform with iFLYTEK during 12 months of assisted O&amp;M, then independently: monitoring, incidents, changes, escalation</a:t>
                      </a: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51460">
                <a:tc gridSpan="2">
                  <a:txBody>
                    <a:bodyPr/>
                    <a:lstStyle/>
                    <a:p>
                      <a:pPr indent="0" marL="0">
                        <a:buNone/>
                      </a:pPr>
                      <a:r>
                        <a:rPr lang="en-US" sz="900" b="1" dirty="0">
                          <a:solidFill>
                            <a:srgbClr val="1F4E79"/>
                          </a:solidFill>
                          <a:latin typeface="Calibri" pitchFamily="34" charset="0"/>
                          <a:ea typeface="Calibri" pitchFamily="34" charset="-122"/>
                          <a:cs typeface="Calibri" pitchFamily="34" charset="-120"/>
                        </a:rPr>
                        <a:t>Total, peak per function</a:t>
                      </a:r>
                      <a:endParaRPr lang="en-US" sz="9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hMerge="1">
                  <a:tcPr/>
                </a:tc>
                <a:tc>
                  <a:txBody>
                    <a:bodyPr/>
                    <a:lstStyle/>
                    <a:p>
                      <a:pPr algn="ctr" indent="0" marL="0">
                        <a:buNone/>
                      </a:pPr>
                      <a:r>
                        <a:rPr lang="en-US" sz="1000" b="1" dirty="0">
                          <a:solidFill>
                            <a:srgbClr val="0070C0"/>
                          </a:solidFill>
                          <a:latin typeface="Calibri" pitchFamily="34" charset="0"/>
                          <a:ea typeface="Calibri" pitchFamily="34" charset="-122"/>
                          <a:cs typeface="Calibri" pitchFamily="34" charset="-120"/>
                        </a:rPr>
                        <a:t>111</a:t>
                      </a:r>
                      <a:endParaRPr lang="en-US" sz="100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c>
                  <a:txBody>
                    <a:bodyPr/>
                    <a:lstStyle/>
                    <a:p>
                      <a:pPr indent="0" marL="0">
                        <a:buNone/>
                      </a:pPr>
                      <a:endParaRPr lang="en-US" sz="850" dirty="0">
                        <a:latin typeface="Calibri" charset="0"/>
                        <a:ea typeface="Calibri" charset="0"/>
                        <a:cs typeface="Calibri" charset="0"/>
                      </a:endParaRPr>
                    </a:p>
                  </a:txBody>
                  <a:tcPr marL="64008" marR="64008" marT="18288" marB="18288"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8F0F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RNP Team for the Technology Transfer: Skills and Headcount</dc:title>
  <dc:subject>PptxGenJS Presentation</dc:subject>
  <dc:creator>PptxGenJS</dc:creator>
  <cp:lastModifiedBy>PptxGenJS</cp:lastModifiedBy>
  <cp:revision>1</cp:revision>
  <dcterms:created xsi:type="dcterms:W3CDTF">2026-09-14T21:50:19Z</dcterms:created>
  <dcterms:modified xsi:type="dcterms:W3CDTF">2026-09-14T21:50:19Z</dcterms:modified>
</cp:coreProperties>
</file>