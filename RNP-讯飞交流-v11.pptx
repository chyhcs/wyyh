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5.xml"/><Relationship Id="rId3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5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5.xml"/><Relationship Id="rId13" Type="http://schemas.openxmlformats.org/officeDocument/2006/relationships/slide" Target="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1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训练模型、开发应用的工作平台；三项成果都在其上完成，未来由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文本大模型加语音识别、语音合成；讯飞先行增强葡语基座并训练，权重交付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面向授权用户的国民 APP 和运营平台；讯飞交付软件，RNP 负责运营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个行业场景的模型；RNP 训练，讯飞指导，权重归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7408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25696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两个轮次，合计 1216 课时、约 158 个工作日，累计学员名额 260 个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术语：文本大模型（NLP）处理文字的理解与生成；语音识别（ASR）将语音转为文字；语音合成（TTS）将文字转为语音；Token 是模型计量文本的单位，约等于一个词或词的一部分；Stage 1 / Stage 2 是两批算力对应的两个建设阶段。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平台软件及授权、部署配置、API 接入说明、验收报告与运维文档；验收后由 RNP 管理，讯飞现场陪伴 12 个月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2763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三项成果都在平台上完成；四个模块各对应 RNP 的一支团队，本次逐一演示，约 10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959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1436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11274552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048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导入、清洗、去重、标注、质量统计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043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73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673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数据集管理、训练任务、资源配置、评测、发布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6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136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136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模型服务与 API、应用配置、运营统计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969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599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599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审核策略、敏感词库、风险样例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培训 RNP 人员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巴西葡语国家模型：讯飞先行增强基座，RNP 提供本地语料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文本大模型（≥290B 参数）、语音识别、语音合成各 1 个；权重、版本清单、模型卡、评测报告和部署说明交付 RNP</a:t>
            </a:r>
          </a:p>
        </p:txBody>
      </p:sp>
      <p:sp>
        <p:nvSpPr>
          <p:cNvPr id="6" name="Rectangle 5"/>
          <p:cNvSpPr/>
          <p:nvPr/>
        </p:nvSpPr>
        <p:spPr>
          <a:xfrm>
            <a:off x="7982712" y="1627632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8744" y="15727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8" name="Rectangle 7"/>
          <p:cNvSpPr/>
          <p:nvPr/>
        </p:nvSpPr>
        <p:spPr>
          <a:xfrm>
            <a:off x="9217152" y="1627632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73184" y="15727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51592" y="1627632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07624" y="157276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语料与基座准备 · 两条线同时展开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94560"/>
            <a:ext cx="3931920" cy="8046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21991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讯飞 · 在中国境内先行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532888"/>
            <a:ext cx="3529584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投入自有算力采集公开葡语语料，继续训练讯飞基础模型，提升其通用葡语能力；采集到的公开语料一并提交巴西方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54096"/>
            <a:ext cx="3931920" cy="8046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81527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RNP · 在巴西同步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392424"/>
            <a:ext cx="3529584" cy="4206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生产葡语语料并取得授权，约 500 亿 Token；讯飞提供规范、工具、试批和抽样质检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1847088"/>
            <a:ext cx="2212848" cy="2011679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82312" y="1956816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训练国家模型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2377440"/>
            <a:ext cx="1883664" cy="13715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本地语料就绪、算力到位后，在已具备通用葡语能力的基础模型上继续训练，产出巴西葡语国家模型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847088"/>
            <a:ext cx="2212848" cy="2011679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1956816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2377440"/>
            <a:ext cx="1883664" cy="13715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测试集与通过规则双方确定；讯飞出评测报告，RNP 专家评审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0616" y="1847088"/>
            <a:ext cx="2212848" cy="2011679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5208" y="1956816"/>
            <a:ext cx="1883664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本地交付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8" y="2377440"/>
            <a:ext cx="1883664" cy="13715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部署在巴西环境，交付权重；12 个月内文本模型升级 3 次、语音各 1 次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402836" y="29260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6844283" y="27249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9285732" y="27249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4059936"/>
            <a:ext cx="5500116" cy="12801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5137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517136"/>
            <a:ext cx="5042916" cy="7680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先行采集公开葡语语料、增强基础模型的通用葡语能力，使用讯飞在中国境内的自有算力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训练、评测与交付；交付后 12 个月持续优化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059936"/>
            <a:ext cx="5500116" cy="12801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15137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517136"/>
            <a:ext cx="5042916" cy="7680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生产本地葡语语料并取得授权，约 500 亿 Token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专家参与评测评审；组织验收与发布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46811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51383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基座增强先行，不占用巴西算力，也不必等本地语料齐备才开始；本地语料和算力到位即可进入国家模型训练，工期风险更小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国民 APP 与数据运营平台，面向 RNP 批准的授权用户；讯飞交付软件与本地化，内容、用户和运营由 RNP 负责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6675120" cy="23317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5564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产品是什么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手机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3" y="214884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电脑端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82896" y="214884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数据运营平台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问答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7788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7788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2345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2345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文档阅读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76902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6902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语音对话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31459" y="2615184"/>
            <a:ext cx="1144828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1459" y="2615184"/>
            <a:ext cx="114482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写作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91840"/>
            <a:ext cx="616305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批准的授权用户；问答容量按 1,000 路并发配置并实测。数据运营平台供 RNP 查看用量与管理内容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645920"/>
            <a:ext cx="4325112" cy="23317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1" y="175564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怎么落地 · 四步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212140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1632" y="2121408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2350008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功能、用户范围与内容规则共同确定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256946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256946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2798064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葡语界面与配置，采用 RNP 品牌和内容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1" y="30175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1632" y="3017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1" y="3246120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提供接口与凭证，讯飞完成集成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1" y="3465576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1632" y="3465576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1" y="3694176"/>
            <a:ext cx="38130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Stage 1 初交付，Stage 2 扩展后自主运营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87952"/>
            <a:ext cx="5500116" cy="12801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2793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645152"/>
            <a:ext cx="5042916" cy="7680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交付标准产品与本地化配置；接通接口、配置平台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APP 演示已在第 3 页平台演示中安排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1636" y="4187952"/>
            <a:ext cx="5500116" cy="12801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0236" y="427939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0236" y="4645152"/>
            <a:ext cx="5042916" cy="7680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参与产品定义与功能设计，提供内容、品牌与本地系统接口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审批用户；上线后由产品、运营和审核团队承接，可在交付版本上自主演进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596128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641848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产品团队在需求阶段即需到位，运营团队在 Stage 1 交付前到位；交付版本可由 RNP 自主演进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四个步骤都由 RNP 执行、讯飞在旁指导——这与国家模型相反，是 RNP 第一次自己训练模型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8249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服务范围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55064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个固定场景；讯飞交付可行性分析、技术方案、指导记录与分析报告，模型权重由 RNP 训练产生、归 RNP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步骤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22128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0648" y="22128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42032"/>
            <a:ext cx="210312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542032"/>
            <a:ext cx="44348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2596896"/>
            <a:ext cx="403250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提出可行性分析与技术方案，明确用户、输入输出和边界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542032"/>
            <a:ext cx="4462272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2596896"/>
            <a:ext cx="405993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提出业务场景，签署场景确认书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39"/>
            <a:ext cx="210312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39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3291839"/>
            <a:ext cx="44348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98648" y="3346703"/>
            <a:ext cx="403250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给出训练路线建议，与 RNP 共同确定技术路线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3291839"/>
            <a:ext cx="4462272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3346703"/>
            <a:ext cx="405993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准备训练、验证与独立评测数据和环境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1648"/>
            <a:ext cx="210312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41648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4041648"/>
            <a:ext cx="44348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98648" y="4096511"/>
            <a:ext cx="403250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参数建议、查看训练日志、协助分析问题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4041648"/>
            <a:ext cx="4462272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4096511"/>
            <a:ext cx="405993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在模型训练中心执行训练与评测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791456"/>
            <a:ext cx="2103120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91456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4791456"/>
            <a:ext cx="4434840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98648" y="4846320"/>
            <a:ext cx="4032503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的实际结果完成分析报告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9480" y="4791456"/>
            <a:ext cx="4462272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0648" y="4846320"/>
            <a:ext cx="405993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核对指导记录，完成业务验收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6235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6692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五个步骤按条件推进：华为出算力，讯飞出软件和模型，RNP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99232"/>
            <a:ext cx="9354311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平台验收，语料试批合格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55472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0058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0058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文本与语音模型评测通过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36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636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APP Stage 1 交付；DLM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231886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7214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7214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570463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移交确认签署，进入陪伴运维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114800"/>
            <a:ext cx="9354311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78808"/>
            <a:ext cx="9354311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承担：生产葡语语料并取得授权；自主训练和评测 DLM；审批用户并运营 APP；协调华为算力和环境，组织验收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数据团队、葡语专家、合规审核、项目统筹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采集、标注、质检语料并取得授权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算法与测试工程师、业务领域专家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参与国家模型训练评测，随后自主训练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应用开发与运营、平台运维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承接 APP 运营、用户审批与平台运维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首批组建数据团队与葡语专家，其次配置算法工程师，应用运营团队第三批到位；知识转移的核心学员从三批人员中指定：每轮奠基 50 人、跟岗与实操各 20 人、移交 40 人，共两轮，名额另计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知识转移：两个轮次，合计 1216 课时、约 158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四个阶段每轮共 608 课时，实施两个轮次；每轮 50 人建立基础，20 人深入实操，40 人承接运维移交，移交后能独立完成约定的平台运维、训练提交、模型部署与发布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64208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64208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64208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093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10 个工作日 · 50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2988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5868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8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45 个工作日 · 20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5868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观察协助；覆盖国家模型训练、12 个月内的模型升级与 3 项 DLM 训练等真实任务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3 个工作日 · 20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操作：数据处理、训练提交、模型部署、监控与故障处理；双方签实操记录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4564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7444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7444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444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21 个工作日 · 40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444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运维团队：交接生产环境、运维流程、资产许可与运行手册；验证独立操作，双方签确认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5321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5778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卡片为单轮数字，两轮合计 1216 课时、约 158 个工作日；工作日是培训活动天数，分散在实施期内，不是连续工期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模型与数据评测 · 软件栈与生命周期 · 规模化训练与推理 · 检索、智能体与安全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集群调度、模型训练、语料、推理四个方向；定制课程、专家交流、访问学者计划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基础课与专题课在批准的课程计划内；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高端课程、专家交流与访问学者计划为建议项，另行约定，见附录 A11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验收按 SOW、BOQ、功能清单与批准方案执行；新增需求按书面变更处理。会中记录结论，会后形成双方行动清单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附录：12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附录内容除在“项目”中注明“方案”外，均为已写入工作范围（SOW）的口径；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蓝字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实施前双方共同确定的待确认项。每页底部导航条可在 12 页附录之间直接互跳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谁能用、能接入什么？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应用：服务、容量与接口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>
            <a:hlinkClick action="ppaction://hlinksldjump" r:id="rId13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932688"/>
          <a:ext cx="11274552" cy="3493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457200" y="4535424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590288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每轮 608 课时、约 79 个工作日：奠基 60、跟岗 360、指导实操 20、正式移交 168 课时，每轮学员 50 / 20 / 20 / 40 人；实施两个轮次，合计 1216 课时、约 158 个工作日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206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2029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175503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5099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13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105156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13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1051560"/>
          <a:ext cx="11274552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基座通用葡语增强（方案）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与本地语料生产并行：讯飞在中国境内投入自有算力，采集公开葡语语料并继续训练基础模型，提升其通用葡语能力，作为国家模型训练的起点；不占用巴西侧算力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5504688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13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5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讯飞公开语料投入（方案）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讯飞在中国境内投入自有算力，采集并处理公开葡语语料，用于增强基础模型的通用葡语能力；该批公开语料一并提交巴西方。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规模与提交方式实施前确认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sp>
        <p:nvSpPr>
          <p:cNvPr id="4" name="Rounded Rectangle 3">
            <a:hlinkClick action="ppaction://hlinksldjump" r:id="rId13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6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13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7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13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8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13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9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13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0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703320"/>
                <a:gridCol w="1371600"/>
                <a:gridCol w="169164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课时跨主题只计一次；实施两个轮次，学员分批参加；阶段日期按批准的知识转移计划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608 课时 / 约 79 工作日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1216 课时 / 约 158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50/20/20/40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260 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表中课时与人数为单轮口径，实施两个轮次；工作日是培训活动天数之和，不是连续工期；百分比是合格核心学员的培养目标，不是验收阈值；正式移交至少在一年陪伴运维结束前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两轮学员分批参加，各阶段不要求为同一批人，由 RNP 指定稳定且具备基础的学员；正式移交面向运维团队，人数相应放宽；口径：SOW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13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1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拟访问讯飞团队与相关算力设施；行程、时长、语言和费用另行约定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一对一专家交流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5、6、12。讲授方法不等于所有交付模型都支持该方法，也不包含新增优化任务；口径：SOW，交流形式中三项为建议。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13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>
            <a:hlinkClick action="ppaction://hlinksldjump" r:id="rId12"/>
          </p:cNvPr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13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6926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8132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99339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0545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01752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52958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06240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718304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230368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742432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6035040"/>
            <a:ext cx="457200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32688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定制课程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按 RNP 提出的主题定制，例如模型迁移、平台架构设计与实现原理、在华为算力上的训练适配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一对一专家交流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工程师提出的具体问题做设计评审与咨询，按时长约定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访问学者计划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拟议：以认知智能全国重点实验室名义邀请 5 到 10 名 RNP 研究人员或在读博士到讯飞，参与多语种模型研发，一期约半年；讯飞不收取费用，人选需面试，差旅自理；可计入 RNP 人才培养计划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以上与基础知识转移（四阶段两轮合计 1216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