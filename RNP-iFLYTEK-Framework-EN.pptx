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Fix the scope of the meeting: iFLYTEK's model, application and domain-model work, joint implementation with RNP, and knowledge transfer. RNP should see from the first page that the deck covers both deliverables and how their own people take part.
FILL: date, presenters, version/status (draft vs confirmed).
SOURCE: Mota call 01:03-02:29 (explain LLM/APP/DLM, responsibilities, RNP must allocate people and write its own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Answer the first question before any detail: what iFLYTEK's part finally produces and what each item is for. Gives every later page a fixed place.
MUST ANSWER per item: main deliverable, its use, RNP's participation (visible work, not just training attendance).
PREPARE: iFLYTEK technical plan, SOW and deliverable list. Mark whether shown material is a case, an interim version or the project deliverable.
LINKS: pages 3-5 expand items 1-3; page 8 expands item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Expand 'Portuguese LLM' from page 2 so RNP understands how the model comes about, what iFLYTEK does, and what RNP must supply and take part in. Serves both understanding of the result and RNP's own planning.
GUARDRAILS: do not presuppose training from scratch, and do not present technical selection rationale in detail - stages, division of work and results are what the audience needs. Every capability and every data-processing task needs a named owner.
PREPARE: model plan, data requirements, evaluation material, delivery form, task split.
SOURCE: Mota call (how it is done, responsibilities); internal meeting 4 Sep (results-first, customer does not check the tech stack).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Let RNP understand the deliverable from the user's point of view: who uses it, what task it completes, what they get. Functions belong inside a real usage flow. The audience does not want the technology stack.
MUST SHOW: a visual (screenshot, video or verified case) with its status labelled; functions and results; scale/performance as confirmed; the government use cases addressed.
KEEP ONE LINE on integration conditions so RNP's technical team can plan systems, data and tests (Mota: explain how the app is done and who does what).
SOURCE: internal meeting 4 Sep 34:06-34:46 (how many users, which functions, video or pictures, which government applications; a Chinese case may be shown as a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Show that domain results form around a concrete business problem and that RNP must organise data, experts and technical staff to take part. This page is the main anchor of the joint-implementation relationship.
MUST ANSWER: domain(s) or the selection mechanism; business problem and expected result; data, experts and other conditions; iFLYTEK's development work; RNP's work; how results are evaluated, accepted and updated.
GUARDRAILS: mark candidate domains as candidates; number of domains and technical route follow the actual plan; keep model, application and documents as separate outcomes - not one vague 'solution'.
SOURCE: Mota call (DLM: how it is done, responsibilities); framework page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Answer 'how are these pieces arranged together and when does each side need to do what'. Directly answers Mota's point that RNP must write its own participation plan; an iFLYTEK-internal schedule alone does not meet that need.
THREE PARTIES: Mota framed responsibilities as ours / yours / theirs. Show Huawei platform dependencies (compute, environment, interfaces, Ascend stack) as a separate lane so RNP does not attribute them to iFLYTEK.
PREPARE: implementation plan, phase deliverables, responsibilities, resource dependencies, review points.
LINK: page 7 says which people and resources RNP must put in place to execute this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RNP should leave with enough to organise its own people and resources - not just course enrolment requirements. This is the most direct answer to the Mota call ('they need to allocate people ... how many people ... they need to write down this program').
MUST ANSWER: roles by actual work, tasks per role, prerequisites (language, programming, degree), phase and time commitment, headcount; data and authorisation; environment and access; interfaces and test conditions; owner, ready-by date and impact if not ready.
GUARDRAILS: name shared work explicitly; do not hand data quality or implementation conditions wholesale to RNP. Keep the format compatible with the Huawei layer-1 talent tables so totals can be reconciled in the combined deck.
SOURCE: Mota call 01:03-02:29; internal meeting 4 Sep (entry requirements,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Answer 'once RNP's people join the project, how does iFLYTEK help them master the work, and what proves they did?'. Knowledge transfer is tied to actual delivery: tasks, guidance, practice, capability result. Course names and hours are only part of it.
HEADLINE: this layer is already in the project quotation (internal meeting 4 Sep: 'already quoted, included in the project, free on the training side') - verify against the SOW/quotation before presenting; do not extend it to 'all capability building is included'.
BOUNDARY: state plainly what the team will and will not be able to do. This page does not replace the whole national software-stack R&amp;D support in the TR, and iFLYTEK does not by default cover all FP1-FP9.
FORMAT: keep the table compatible with the Huawei layer-1 course tables (audience, prerequisites, seats, content, outcome) so the combined talent deck reads as one programme.
SOURCE: internal meeting 4 Sep 23:13-24:16, 26:07, 44:41; Mota call ('to be with you and to learn').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Beyond the in-project transfer, answer 'if RNP wants a few well-prepared people to go much deeper, what is added and what does it cost?'. Corresponds to the optional layer discussed internally (a small, priced, tailor-made class for core talents who can later stand as visible results of the project).
MUST ANSWER: who qualifies; technical directions; the real task; mentors and format; outcomes and verification; size, duration, location, price, conditions.
GUARDRAIL: show clearly what is added relative to page 8 so RNP can decide whether to buy. Agreed transfer or R&amp;D support cannot be moved into this paid item.
SOURCE: internal meeting 4 Sep 09:18-09:50, 24:59-26:43, 44:59.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Make the meeting produce movement: what is aligned, what is still open, who supplies what by when. Also the second answer to RNP's need to write its own plan.
SCOPE BLOCK: content and value first (pages 2-9), then scope and fees here so RNP can see what each fee corresponds to and spot duplication or gaps. Mark each item as included / separately quoted / optional / to confirm after checking the SOW, quotation and change records. 'Knowledge transfer is already in the quotation' must be verified in the documents and must not become 'everything is included' or 'the customer has accepted'.
HANDOVER (merged here): models, application, configs, scripts, interface documents, operating rights, licence conditions, RNP's tasks after handover, completion criteria, support and contact mechanism. Do not assume full source code or unlimited support.
CONFIRMATIONS: prepare the list before the meeting, record decisions during, turn into both sides' actions after. Distinguish confirmed / proposed / to discuss - appearance in the deck is not a commitment.
SOURCE: internal meeting 4 Sep 32:22-33:53 (this meeting effectively locks the SOW; send material in advance; aim for closure on the technical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305F"/>
        </a:solidFill>
      </p:bgPr>
    </p:bg>
    <p:spTree>
      <p:nvGrpSpPr>
        <p:cNvPr id="1" name=""/>
        <p:cNvGrpSpPr/>
        <p:nvPr/>
      </p:nvGrpSpPr>
      <p:grpSpPr>
        <a:xfrm>
          <a:off x="0" y="0"/>
          <a:ext cx="0" cy="0"/>
          <a:chOff x="0" y="0"/>
          <a:chExt cx="0" cy="0"/>
        </a:xfrm>
      </p:grpSpPr>
      <p:sp>
        <p:nvSpPr>
          <p:cNvPr id="2" name="Text 0"/>
          <p:cNvSpPr txBox="1"/>
          <p:nvPr/>
        </p:nvSpPr>
        <p:spPr>
          <a:xfrm>
            <a:off x="731520" y="640080"/>
            <a:ext cx="7315200" cy="320040"/>
          </a:xfrm>
          <a:prstGeom prst="rect">
            <a:avLst/>
          </a:prstGeom>
          <a:noFill/>
          <a:ln/>
        </p:spPr>
        <p:txBody>
          <a:bodyPr wrap="square" lIns="0" tIns="0" rIns="0" bIns="0" rtlCol="0" anchor="ctr"/>
          <a:lstStyle/>
          <a:p>
            <a:pPr indent="0" marL="0">
              <a:buNone/>
            </a:pPr>
            <a:r>
              <a:rPr lang="en-US" sz="1200" b="1" spc="100" kern="0" dirty="0">
                <a:solidFill>
                  <a:srgbClr val="CADCFC"/>
                </a:solidFill>
                <a:latin typeface="Calibri" pitchFamily="34" charset="0"/>
                <a:ea typeface="Calibri" pitchFamily="34" charset="-122"/>
                <a:cs typeface="Calibri" pitchFamily="34" charset="-120"/>
              </a:rPr>
              <a:t>RNP  ×  iFLYTEK   ·   Technical meeting</a:t>
            </a:r>
            <a:endParaRPr lang="en-US" sz="1200" dirty="0"/>
          </a:p>
        </p:txBody>
      </p:sp>
      <p:sp>
        <p:nvSpPr>
          <p:cNvPr id="3" name="Text 1"/>
          <p:cNvSpPr txBox="1"/>
          <p:nvPr/>
        </p:nvSpPr>
        <p:spPr>
          <a:xfrm>
            <a:off x="731520" y="1371600"/>
            <a:ext cx="7498080" cy="1828800"/>
          </a:xfrm>
          <a:prstGeom prst="rect">
            <a:avLst/>
          </a:prstGeom>
          <a:noFill/>
          <a:ln/>
        </p:spPr>
        <p:txBody>
          <a:bodyPr wrap="square" lIns="0" tIns="0" rIns="0" bIns="0" rtlCol="0" anchor="t"/>
          <a:lstStyle/>
          <a:p>
            <a:pPr indent="0" marL="0">
              <a:lnSpc>
                <a:spcPct val="105000"/>
              </a:lnSpc>
              <a:buNone/>
            </a:pPr>
            <a:r>
              <a:rPr lang="en-US" sz="3600" b="1" dirty="0">
                <a:solidFill>
                  <a:srgbClr val="FFFFFF"/>
                </a:solidFill>
                <a:latin typeface="Calibri" pitchFamily="34" charset="0"/>
                <a:ea typeface="Calibri" pitchFamily="34" charset="-122"/>
                <a:cs typeface="Calibri" pitchFamily="34" charset="-120"/>
              </a:rPr>
              <a:t>Portuguese LLM, Application</a:t>
            </a:r>
            <a:endParaRPr lang="en-US" sz="3600" dirty="0"/>
          </a:p>
          <a:p>
            <a:pPr indent="0" marL="0">
              <a:lnSpc>
                <a:spcPct val="105000"/>
              </a:lnSpc>
              <a:buNone/>
            </a:pPr>
            <a:r>
              <a:rPr lang="en-US" sz="3600" b="1" dirty="0">
                <a:solidFill>
                  <a:srgbClr val="FFFFFF"/>
                </a:solidFill>
                <a:latin typeface="Calibri" pitchFamily="34" charset="0"/>
                <a:ea typeface="Calibri" pitchFamily="34" charset="-122"/>
                <a:cs typeface="Calibri" pitchFamily="34" charset="-120"/>
              </a:rPr>
              <a:t>and Domain Models</a:t>
            </a:r>
            <a:endParaRPr lang="en-US" sz="3600" dirty="0"/>
          </a:p>
        </p:txBody>
      </p:sp>
      <p:sp>
        <p:nvSpPr>
          <p:cNvPr id="4" name="Text 2"/>
          <p:cNvSpPr txBox="1"/>
          <p:nvPr/>
        </p:nvSpPr>
        <p:spPr>
          <a:xfrm>
            <a:off x="731520" y="3337560"/>
            <a:ext cx="7498080" cy="914400"/>
          </a:xfrm>
          <a:prstGeom prst="rect">
            <a:avLst/>
          </a:prstGeom>
          <a:noFill/>
          <a:ln/>
        </p:spPr>
        <p:txBody>
          <a:bodyPr wrap="square" lIns="0" tIns="0" rIns="0" bIns="0" rtlCol="0" anchor="t"/>
          <a:lstStyle/>
          <a:p>
            <a:pPr indent="0" marL="0">
              <a:lnSpc>
                <a:spcPct val="110000"/>
              </a:lnSpc>
              <a:buNone/>
            </a:pPr>
            <a:r>
              <a:rPr lang="en-US" sz="2000" dirty="0">
                <a:solidFill>
                  <a:srgbClr val="CADCFC"/>
                </a:solidFill>
                <a:latin typeface="Calibri" pitchFamily="34" charset="0"/>
                <a:ea typeface="Calibri" pitchFamily="34" charset="-122"/>
                <a:cs typeface="Calibri" pitchFamily="34" charset="-120"/>
              </a:rPr>
              <a:t>iFLYTEK scope, joint implementation with RNP,</a:t>
            </a:r>
            <a:endParaRPr lang="en-US" sz="2000" dirty="0"/>
          </a:p>
          <a:p>
            <a:pPr indent="0" marL="0">
              <a:lnSpc>
                <a:spcPct val="110000"/>
              </a:lnSpc>
              <a:buNone/>
            </a:pPr>
            <a:r>
              <a:rPr lang="en-US" sz="2000" dirty="0">
                <a:solidFill>
                  <a:srgbClr val="CADCFC"/>
                </a:solidFill>
                <a:latin typeface="Calibri" pitchFamily="34" charset="0"/>
                <a:ea typeface="Calibri" pitchFamily="34" charset="-122"/>
                <a:cs typeface="Calibri" pitchFamily="34" charset="-120"/>
              </a:rPr>
              <a:t>and knowledge transfer</a:t>
            </a:r>
            <a:endParaRPr lang="en-US" sz="2000" dirty="0"/>
          </a:p>
        </p:txBody>
      </p:sp>
      <p:sp>
        <p:nvSpPr>
          <p:cNvPr id="5" name="Shape 3"/>
          <p:cNvSpPr/>
          <p:nvPr/>
        </p:nvSpPr>
        <p:spPr>
          <a:xfrm>
            <a:off x="731520" y="4709160"/>
            <a:ext cx="2651760" cy="274320"/>
          </a:xfrm>
          <a:prstGeom prst="roundRect">
            <a:avLst>
              <a:gd name="adj" fmla="val 50000"/>
            </a:avLst>
          </a:prstGeom>
          <a:solidFill>
            <a:srgbClr val="0E8577"/>
          </a:solidFill>
          <a:ln w="12700">
            <a:solidFill>
              <a:srgbClr val="0E8577"/>
            </a:solidFill>
            <a:prstDash val="solid"/>
          </a:ln>
        </p:spPr>
      </p:sp>
      <p:sp>
        <p:nvSpPr>
          <p:cNvPr id="6" name="Text 4"/>
          <p:cNvSpPr txBox="1"/>
          <p:nvPr/>
        </p:nvSpPr>
        <p:spPr>
          <a:xfrm>
            <a:off x="731520" y="4709160"/>
            <a:ext cx="2651760" cy="274320"/>
          </a:xfrm>
          <a:prstGeom prst="rect">
            <a:avLst/>
          </a:prstGeom>
          <a:no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WORKING DRAFT FOR DISCUSSION</a:t>
            </a:r>
            <a:endParaRPr lang="en-US" sz="900" dirty="0"/>
          </a:p>
        </p:txBody>
      </p:sp>
      <p:sp>
        <p:nvSpPr>
          <p:cNvPr id="7" name="Text 5"/>
          <p:cNvSpPr txBox="1"/>
          <p:nvPr/>
        </p:nvSpPr>
        <p:spPr>
          <a:xfrm>
            <a:off x="731520" y="5166360"/>
            <a:ext cx="8229600" cy="1005840"/>
          </a:xfrm>
          <a:prstGeom prst="rect">
            <a:avLst/>
          </a:prstGeom>
          <a:noFill/>
          <a:ln/>
        </p:spPr>
        <p:txBody>
          <a:bodyPr wrap="square" lIns="0" tIns="0" rIns="0" bIns="0" rtlCol="0" anchor="t"/>
          <a:lstStyle/>
          <a:p>
            <a:pPr indent="0" marL="0">
              <a:lnSpc>
                <a:spcPct val="125000"/>
              </a:lnSpc>
              <a:buNone/>
            </a:pPr>
            <a:r>
              <a:rPr lang="en-US" sz="1200" dirty="0">
                <a:solidFill>
                  <a:srgbClr val="CADCFC"/>
                </a:solidFill>
                <a:latin typeface="Calibri" pitchFamily="34" charset="0"/>
                <a:ea typeface="Calibri" pitchFamily="34" charset="-122"/>
                <a:cs typeface="Calibri" pitchFamily="34" charset="-120"/>
              </a:rPr>
              <a:t>Rio de Janeiro  ·  [date]</a:t>
            </a:r>
            <a:endParaRPr lang="en-US" sz="1200" dirty="0"/>
          </a:p>
          <a:p>
            <a:pPr indent="0" marL="0">
              <a:lnSpc>
                <a:spcPct val="125000"/>
              </a:lnSpc>
              <a:buNone/>
            </a:pPr>
            <a:r>
              <a:rPr lang="en-US" sz="1200" dirty="0">
                <a:solidFill>
                  <a:srgbClr val="CADCFC"/>
                </a:solidFill>
                <a:latin typeface="Calibri" pitchFamily="34" charset="0"/>
                <a:ea typeface="Calibri" pitchFamily="34" charset="-122"/>
                <a:cs typeface="Calibri" pitchFamily="34" charset="-120"/>
              </a:rPr>
              <a:t>Presented by iFLYTEK  ·  [presenter names and roles]</a:t>
            </a:r>
            <a:endParaRPr lang="en-US" sz="1200" dirty="0"/>
          </a:p>
          <a:p>
            <a:pPr indent="0" marL="0">
              <a:lnSpc>
                <a:spcPct val="125000"/>
              </a:lnSpc>
              <a:buNone/>
            </a:pPr>
            <a:r>
              <a:rPr lang="en-US" sz="1200" dirty="0">
                <a:solidFill>
                  <a:srgbClr val="CADCFC"/>
                </a:solidFill>
                <a:latin typeface="Calibri" pitchFamily="34" charset="0"/>
                <a:ea typeface="Calibri" pitchFamily="34" charset="-122"/>
                <a:cs typeface="Calibri" pitchFamily="34" charset="-120"/>
              </a:rPr>
              <a:t>Version [x]  ·  content to be confirmed against the SOW, quotation and technical plan</a:t>
            </a:r>
            <a:endParaRPr lang="en-US" sz="1200" dirty="0"/>
          </a:p>
        </p:txBody>
      </p:sp>
      <p:sp>
        <p:nvSpPr>
          <p:cNvPr id="8" name="Shape 6"/>
          <p:cNvSpPr/>
          <p:nvPr/>
        </p:nvSpPr>
        <p:spPr>
          <a:xfrm>
            <a:off x="8732520" y="1463040"/>
            <a:ext cx="2834640" cy="868680"/>
          </a:xfrm>
          <a:prstGeom prst="roundRect">
            <a:avLst>
              <a:gd name="adj" fmla="val 10526"/>
            </a:avLst>
          </a:prstGeom>
          <a:solidFill>
            <a:srgbClr val="1B3F78"/>
          </a:solidFill>
          <a:ln w="9525">
            <a:solidFill>
              <a:srgbClr val="2E5AA8"/>
            </a:solidFill>
            <a:prstDash val="solid"/>
          </a:ln>
        </p:spPr>
      </p:sp>
      <p:sp>
        <p:nvSpPr>
          <p:cNvPr id="9" name="Shape 7"/>
          <p:cNvSpPr/>
          <p:nvPr/>
        </p:nvSpPr>
        <p:spPr>
          <a:xfrm>
            <a:off x="8915400" y="1732788"/>
            <a:ext cx="329184" cy="329184"/>
          </a:xfrm>
          <a:prstGeom prst="ellipse">
            <a:avLst/>
          </a:prstGeom>
          <a:solidFill>
            <a:srgbClr val="0E8577"/>
          </a:solidFill>
          <a:ln w="12700">
            <a:solidFill>
              <a:srgbClr val="0E8577"/>
            </a:solidFill>
            <a:prstDash val="solid"/>
          </a:ln>
        </p:spPr>
      </p:sp>
      <p:sp>
        <p:nvSpPr>
          <p:cNvPr id="10" name="Text 8"/>
          <p:cNvSpPr txBox="1"/>
          <p:nvPr/>
        </p:nvSpPr>
        <p:spPr>
          <a:xfrm>
            <a:off x="8915400" y="1732788"/>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1" name="Text 9"/>
          <p:cNvSpPr txBox="1"/>
          <p:nvPr/>
        </p:nvSpPr>
        <p:spPr>
          <a:xfrm>
            <a:off x="9372600" y="1463040"/>
            <a:ext cx="2103120" cy="8686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Portuguese LLM</a:t>
            </a:r>
            <a:endParaRPr lang="en-US" sz="1500" dirty="0"/>
          </a:p>
        </p:txBody>
      </p:sp>
      <p:sp>
        <p:nvSpPr>
          <p:cNvPr id="12" name="Shape 10"/>
          <p:cNvSpPr/>
          <p:nvPr/>
        </p:nvSpPr>
        <p:spPr>
          <a:xfrm>
            <a:off x="8732520" y="2532888"/>
            <a:ext cx="2834640" cy="868680"/>
          </a:xfrm>
          <a:prstGeom prst="roundRect">
            <a:avLst>
              <a:gd name="adj" fmla="val 10526"/>
            </a:avLst>
          </a:prstGeom>
          <a:solidFill>
            <a:srgbClr val="1B3F78"/>
          </a:solidFill>
          <a:ln w="9525">
            <a:solidFill>
              <a:srgbClr val="2E5AA8"/>
            </a:solidFill>
            <a:prstDash val="solid"/>
          </a:ln>
        </p:spPr>
      </p:sp>
      <p:sp>
        <p:nvSpPr>
          <p:cNvPr id="13" name="Shape 11"/>
          <p:cNvSpPr/>
          <p:nvPr/>
        </p:nvSpPr>
        <p:spPr>
          <a:xfrm>
            <a:off x="8915400" y="2802636"/>
            <a:ext cx="329184" cy="329184"/>
          </a:xfrm>
          <a:prstGeom prst="ellipse">
            <a:avLst/>
          </a:prstGeom>
          <a:solidFill>
            <a:srgbClr val="0E8577"/>
          </a:solidFill>
          <a:ln w="12700">
            <a:solidFill>
              <a:srgbClr val="0E8577"/>
            </a:solidFill>
            <a:prstDash val="solid"/>
          </a:ln>
        </p:spPr>
      </p:sp>
      <p:sp>
        <p:nvSpPr>
          <p:cNvPr id="14" name="Text 12"/>
          <p:cNvSpPr txBox="1"/>
          <p:nvPr/>
        </p:nvSpPr>
        <p:spPr>
          <a:xfrm>
            <a:off x="8915400" y="2802636"/>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5" name="Text 13"/>
          <p:cNvSpPr txBox="1"/>
          <p:nvPr/>
        </p:nvSpPr>
        <p:spPr>
          <a:xfrm>
            <a:off x="9372600" y="2532888"/>
            <a:ext cx="2103120" cy="8686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Application (APP)</a:t>
            </a:r>
            <a:endParaRPr lang="en-US" sz="1500" dirty="0"/>
          </a:p>
        </p:txBody>
      </p:sp>
      <p:sp>
        <p:nvSpPr>
          <p:cNvPr id="16" name="Shape 14"/>
          <p:cNvSpPr/>
          <p:nvPr/>
        </p:nvSpPr>
        <p:spPr>
          <a:xfrm>
            <a:off x="8732520" y="3602736"/>
            <a:ext cx="2834640" cy="868680"/>
          </a:xfrm>
          <a:prstGeom prst="roundRect">
            <a:avLst>
              <a:gd name="adj" fmla="val 10526"/>
            </a:avLst>
          </a:prstGeom>
          <a:solidFill>
            <a:srgbClr val="1B3F78"/>
          </a:solidFill>
          <a:ln w="9525">
            <a:solidFill>
              <a:srgbClr val="2E5AA8"/>
            </a:solidFill>
            <a:prstDash val="solid"/>
          </a:ln>
        </p:spPr>
      </p:sp>
      <p:sp>
        <p:nvSpPr>
          <p:cNvPr id="17" name="Shape 15"/>
          <p:cNvSpPr/>
          <p:nvPr/>
        </p:nvSpPr>
        <p:spPr>
          <a:xfrm>
            <a:off x="8915400" y="3872484"/>
            <a:ext cx="329184" cy="329184"/>
          </a:xfrm>
          <a:prstGeom prst="ellipse">
            <a:avLst/>
          </a:prstGeom>
          <a:solidFill>
            <a:srgbClr val="0E8577"/>
          </a:solidFill>
          <a:ln w="12700">
            <a:solidFill>
              <a:srgbClr val="0E8577"/>
            </a:solidFill>
            <a:prstDash val="solid"/>
          </a:ln>
        </p:spPr>
      </p:sp>
      <p:sp>
        <p:nvSpPr>
          <p:cNvPr id="18" name="Text 16"/>
          <p:cNvSpPr txBox="1"/>
          <p:nvPr/>
        </p:nvSpPr>
        <p:spPr>
          <a:xfrm>
            <a:off x="8915400" y="3872484"/>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9" name="Text 17"/>
          <p:cNvSpPr txBox="1"/>
          <p:nvPr/>
        </p:nvSpPr>
        <p:spPr>
          <a:xfrm>
            <a:off x="9372600" y="3602736"/>
            <a:ext cx="2103120" cy="8686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Domain Models (DLM)</a:t>
            </a:r>
            <a:endParaRPr lang="en-US" sz="1500" dirty="0"/>
          </a:p>
        </p:txBody>
      </p:sp>
      <p:sp>
        <p:nvSpPr>
          <p:cNvPr id="20" name="Shape 18"/>
          <p:cNvSpPr/>
          <p:nvPr/>
        </p:nvSpPr>
        <p:spPr>
          <a:xfrm>
            <a:off x="8732520" y="4672584"/>
            <a:ext cx="2834640" cy="640080"/>
          </a:xfrm>
          <a:prstGeom prst="roundRect">
            <a:avLst>
              <a:gd name="adj" fmla="val 14286"/>
            </a:avLst>
          </a:prstGeom>
          <a:solidFill>
            <a:srgbClr val="0E8577"/>
          </a:solidFill>
          <a:ln w="12700">
            <a:solidFill>
              <a:srgbClr val="0E8577"/>
            </a:solidFill>
            <a:prstDash val="solid"/>
          </a:ln>
        </p:spPr>
      </p:sp>
      <p:sp>
        <p:nvSpPr>
          <p:cNvPr id="21" name="Text 19"/>
          <p:cNvSpPr txBox="1"/>
          <p:nvPr/>
        </p:nvSpPr>
        <p:spPr>
          <a:xfrm>
            <a:off x="8915400" y="4672584"/>
            <a:ext cx="2468880" cy="64008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Knowledge transfer · joint implementation</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B7A8B"/>
                </a:solidFill>
                <a:latin typeface="Calibri" pitchFamily="34" charset="0"/>
                <a:ea typeface="Calibri" pitchFamily="34" charset="-122"/>
                <a:cs typeface="Calibri" pitchFamily="34" charset="-120"/>
              </a:rPr>
              <a:t>iFLYTEK  ·  RNP technical meeting  ·  Working draft for discussion</a:t>
            </a:r>
            <a:endParaRPr lang="en-US" sz="900" dirty="0"/>
          </a:p>
        </p:txBody>
      </p:sp>
      <p:sp>
        <p:nvSpPr>
          <p:cNvPr id="3" name="Text 1"/>
          <p:cNvSpPr txBox="1"/>
          <p:nvPr/>
        </p:nvSpPr>
        <p:spPr>
          <a:xfrm>
            <a:off x="10637215" y="6446520"/>
            <a:ext cx="1097280" cy="274320"/>
          </a:xfrm>
          <a:prstGeom prst="rect">
            <a:avLst/>
          </a:prstGeom>
          <a:noFill/>
          <a:ln/>
        </p:spPr>
        <p:txBody>
          <a:bodyPr wrap="square" lIns="0" tIns="0" rIns="0" bIns="0" rtlCol="0" anchor="ctr"/>
          <a:lstStyle/>
          <a:p>
            <a:pPr algn="r" indent="0" marL="0">
              <a:buNone/>
            </a:pPr>
            <a:r>
              <a:rPr lang="en-US" sz="900" dirty="0">
                <a:solidFill>
                  <a:srgbClr val="6B7A8B"/>
                </a:solidFill>
                <a:latin typeface="Calibri" pitchFamily="34" charset="0"/>
                <a:ea typeface="Calibri" pitchFamily="34" charset="-122"/>
                <a:cs typeface="Calibri" pitchFamily="34" charset="-120"/>
              </a:rPr>
              <a:t>2 / 10</a:t>
            </a:r>
            <a:endParaRPr lang="en-US" sz="900" dirty="0"/>
          </a:p>
        </p:txBody>
      </p:sp>
      <p:sp>
        <p:nvSpPr>
          <p:cNvPr id="4" name="Text 2"/>
          <p:cNvSpPr txBox="1"/>
          <p:nvPr/>
        </p:nvSpPr>
        <p:spPr>
          <a:xfrm>
            <a:off x="457200" y="347472"/>
            <a:ext cx="11277295" cy="566928"/>
          </a:xfrm>
          <a:prstGeom prst="rect">
            <a:avLst/>
          </a:prstGeom>
          <a:noFill/>
          <a:ln/>
        </p:spPr>
        <p:txBody>
          <a:bodyPr wrap="square" lIns="0" tIns="0" rIns="0" bIns="0" rtlCol="0" anchor="ctr"/>
          <a:lstStyle/>
          <a:p>
            <a:pPr indent="0" marL="0">
              <a:buNone/>
            </a:pPr>
            <a:r>
              <a:rPr lang="en-US" sz="2400" b="1" dirty="0">
                <a:solidFill>
                  <a:srgbClr val="10305F"/>
                </a:solidFill>
                <a:latin typeface="Calibri" pitchFamily="34" charset="0"/>
                <a:ea typeface="Calibri" pitchFamily="34" charset="-122"/>
                <a:cs typeface="Calibri" pitchFamily="34" charset="-120"/>
              </a:rPr>
              <a:t>What RNP receives from iFLYTEK</a:t>
            </a:r>
            <a:endParaRPr lang="en-US" sz="2400" dirty="0"/>
          </a:p>
        </p:txBody>
      </p:sp>
      <p:sp>
        <p:nvSpPr>
          <p:cNvPr id="5" name="Text 3"/>
          <p:cNvSpPr txBox="1"/>
          <p:nvPr/>
        </p:nvSpPr>
        <p:spPr>
          <a:xfrm>
            <a:off x="457200" y="932688"/>
            <a:ext cx="11277295" cy="329184"/>
          </a:xfrm>
          <a:prstGeom prst="rect">
            <a:avLst/>
          </a:prstGeom>
          <a:noFill/>
          <a:ln/>
        </p:spPr>
        <p:txBody>
          <a:bodyPr wrap="square" lIns="0" tIns="0" rIns="0" bIns="0" rtlCol="0" anchor="ctr"/>
          <a:lstStyle/>
          <a:p>
            <a:pPr indent="0" marL="0">
              <a:buNone/>
            </a:pPr>
            <a:r>
              <a:rPr lang="en-US" sz="1300" dirty="0">
                <a:solidFill>
                  <a:srgbClr val="4B5A6B"/>
                </a:solidFill>
                <a:latin typeface="Calibri" pitchFamily="34" charset="0"/>
                <a:ea typeface="Calibri" pitchFamily="34" charset="-122"/>
                <a:cs typeface="Calibri" pitchFamily="34" charset="-120"/>
              </a:rPr>
              <a:t>Four outcomes. For each: the deliverable, what it is used for, and RNP's role in producing it.</a:t>
            </a:r>
            <a:endParaRPr lang="en-US" sz="1300" dirty="0"/>
          </a:p>
        </p:txBody>
      </p:sp>
      <p:sp>
        <p:nvSpPr>
          <p:cNvPr id="6" name="Shape 4"/>
          <p:cNvSpPr/>
          <p:nvPr/>
        </p:nvSpPr>
        <p:spPr>
          <a:xfrm>
            <a:off x="457200" y="1508760"/>
            <a:ext cx="2613584" cy="4160520"/>
          </a:xfrm>
          <a:prstGeom prst="roundRect">
            <a:avLst>
              <a:gd name="adj" fmla="val 2799"/>
            </a:avLst>
          </a:prstGeom>
          <a:solidFill>
            <a:srgbClr val="FFFFFF"/>
          </a:solidFill>
          <a:ln w="9525">
            <a:solidFill>
              <a:srgbClr val="D9E2EC"/>
            </a:solidFill>
            <a:prstDash val="solid"/>
          </a:ln>
          <a:effectLst>
            <a:outerShdw sx="100000" sy="100000" kx="0" ky="0" algn="bl" rotWithShape="0" blurRad="63500" dist="12700" dir="5400000">
              <a:srgbClr val="9FB0C4">
                <a:alpha val="22000"/>
              </a:srgbClr>
            </a:outerShdw>
          </a:effectLst>
        </p:spPr>
      </p:sp>
      <p:sp>
        <p:nvSpPr>
          <p:cNvPr id="7" name="Shape 5"/>
          <p:cNvSpPr/>
          <p:nvPr/>
        </p:nvSpPr>
        <p:spPr>
          <a:xfrm>
            <a:off x="658368" y="1709928"/>
            <a:ext cx="347472" cy="347472"/>
          </a:xfrm>
          <a:prstGeom prst="ellipse">
            <a:avLst/>
          </a:prstGeom>
          <a:solidFill>
            <a:srgbClr val="0E8577"/>
          </a:solidFill>
          <a:ln w="12700">
            <a:solidFill>
              <a:srgbClr val="0E8577"/>
            </a:solidFill>
            <a:prstDash val="solid"/>
          </a:ln>
        </p:spPr>
      </p:sp>
      <p:sp>
        <p:nvSpPr>
          <p:cNvPr id="8" name="Text 6"/>
          <p:cNvSpPr txBox="1"/>
          <p:nvPr/>
        </p:nvSpPr>
        <p:spPr>
          <a:xfrm>
            <a:off x="658368" y="1709928"/>
            <a:ext cx="347472"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9" name="Text 7"/>
          <p:cNvSpPr txBox="1"/>
          <p:nvPr/>
        </p:nvSpPr>
        <p:spPr>
          <a:xfrm>
            <a:off x="1115568" y="1636776"/>
            <a:ext cx="1790624" cy="548640"/>
          </a:xfrm>
          <a:prstGeom prst="rect">
            <a:avLst/>
          </a:prstGeom>
          <a:noFill/>
          <a:ln/>
        </p:spPr>
        <p:txBody>
          <a:bodyPr wrap="square" lIns="0" tIns="0" rIns="0" bIns="0" rtlCol="0" anchor="ctr"/>
          <a:lstStyle/>
          <a:p>
            <a:pPr indent="0" marL="0">
              <a:buNone/>
            </a:pPr>
            <a:r>
              <a:rPr lang="en-US" sz="1400" b="1" dirty="0">
                <a:solidFill>
                  <a:srgbClr val="10305F"/>
                </a:solidFill>
                <a:latin typeface="Calibri" pitchFamily="34" charset="0"/>
                <a:ea typeface="Calibri" pitchFamily="34" charset="-122"/>
                <a:cs typeface="Calibri" pitchFamily="34" charset="-120"/>
              </a:rPr>
              <a:t>Portuguese LLM</a:t>
            </a:r>
            <a:endParaRPr lang="en-US" sz="1400" dirty="0"/>
          </a:p>
        </p:txBody>
      </p:sp>
      <p:sp>
        <p:nvSpPr>
          <p:cNvPr id="10" name="Text 8"/>
          <p:cNvSpPr txBox="1"/>
          <p:nvPr/>
        </p:nvSpPr>
        <p:spPr>
          <a:xfrm>
            <a:off x="658368" y="2286000"/>
            <a:ext cx="2211248" cy="274320"/>
          </a:xfrm>
          <a:prstGeom prst="rect">
            <a:avLst/>
          </a:prstGeom>
          <a:noFill/>
          <a:ln/>
        </p:spPr>
        <p:txBody>
          <a:bodyPr wrap="square" lIns="0" tIns="0" rIns="0" bIns="0" rtlCol="0" anchor="ctr"/>
          <a:lstStyle/>
          <a:p>
            <a:pPr indent="0" marL="0">
              <a:buNone/>
            </a:pPr>
            <a:r>
              <a:rPr lang="en-US" sz="1100" b="1" dirty="0">
                <a:solidFill>
                  <a:srgbClr val="0E8577"/>
                </a:solidFill>
                <a:latin typeface="Calibri" pitchFamily="34" charset="0"/>
                <a:ea typeface="Calibri" pitchFamily="34" charset="-122"/>
                <a:cs typeface="Calibri" pitchFamily="34" charset="-120"/>
              </a:rPr>
              <a:t>Deliverable</a:t>
            </a:r>
            <a:endParaRPr lang="en-US" sz="1100" dirty="0"/>
          </a:p>
        </p:txBody>
      </p:sp>
      <p:sp>
        <p:nvSpPr>
          <p:cNvPr id="11" name="Text 9"/>
          <p:cNvSpPr txBox="1"/>
          <p:nvPr/>
        </p:nvSpPr>
        <p:spPr>
          <a:xfrm>
            <a:off x="658368" y="2578608"/>
            <a:ext cx="2211248" cy="566928"/>
          </a:xfrm>
          <a:prstGeom prst="rect">
            <a:avLst/>
          </a:prstGeom>
          <a:noFill/>
          <a:ln/>
        </p:spPr>
        <p:txBody>
          <a:bodyPr wrap="square" lIns="0" tIns="0" rIns="0" bIns="0" rtlCol="0" anchor="t"/>
          <a:lstStyle/>
          <a:p>
            <a:pPr indent="0" marL="0">
              <a:buNone/>
            </a:pPr>
            <a:r>
              <a:rPr lang="en-US" sz="1000" i="1" dirty="0">
                <a:solidFill>
                  <a:srgbClr val="8A96A6"/>
                </a:solidFill>
                <a:latin typeface="Calibri" pitchFamily="34" charset="0"/>
                <a:ea typeface="Calibri" pitchFamily="34" charset="-122"/>
                <a:cs typeface="Calibri" pitchFamily="34" charset="-120"/>
              </a:rPr>
              <a:t>[What is handed over: model package, application, domain model, materials]</a:t>
            </a:r>
            <a:endParaRPr lang="en-US" sz="1000" dirty="0"/>
          </a:p>
        </p:txBody>
      </p:sp>
      <p:sp>
        <p:nvSpPr>
          <p:cNvPr id="12" name="Text 10"/>
          <p:cNvSpPr txBox="1"/>
          <p:nvPr/>
        </p:nvSpPr>
        <p:spPr>
          <a:xfrm>
            <a:off x="658368" y="3200400"/>
            <a:ext cx="2211248" cy="274320"/>
          </a:xfrm>
          <a:prstGeom prst="rect">
            <a:avLst/>
          </a:prstGeom>
          <a:noFill/>
          <a:ln/>
        </p:spPr>
        <p:txBody>
          <a:bodyPr wrap="square" lIns="0" tIns="0" rIns="0" bIns="0" rtlCol="0" anchor="ctr"/>
          <a:lstStyle/>
          <a:p>
            <a:pPr indent="0" marL="0">
              <a:buNone/>
            </a:pPr>
            <a:r>
              <a:rPr lang="en-US" sz="1100" b="1" dirty="0">
                <a:solidFill>
                  <a:srgbClr val="0E8577"/>
                </a:solidFill>
                <a:latin typeface="Calibri" pitchFamily="34" charset="0"/>
                <a:ea typeface="Calibri" pitchFamily="34" charset="-122"/>
                <a:cs typeface="Calibri" pitchFamily="34" charset="-120"/>
              </a:rPr>
              <a:t>Used for</a:t>
            </a:r>
            <a:endParaRPr lang="en-US" sz="1100" dirty="0"/>
          </a:p>
        </p:txBody>
      </p:sp>
      <p:sp>
        <p:nvSpPr>
          <p:cNvPr id="13" name="Text 11"/>
          <p:cNvSpPr txBox="1"/>
          <p:nvPr/>
        </p:nvSpPr>
        <p:spPr>
          <a:xfrm>
            <a:off x="658368" y="3493008"/>
            <a:ext cx="2211248" cy="566928"/>
          </a:xfrm>
          <a:prstGeom prst="rect">
            <a:avLst/>
          </a:prstGeom>
          <a:noFill/>
          <a:ln/>
        </p:spPr>
        <p:txBody>
          <a:bodyPr wrap="square" lIns="0" tIns="0" rIns="0" bIns="0" rtlCol="0" anchor="t"/>
          <a:lstStyle/>
          <a:p>
            <a:pPr indent="0" marL="0">
              <a:buNone/>
            </a:pPr>
            <a:r>
              <a:rPr lang="en-US" sz="1000" i="1" dirty="0">
                <a:solidFill>
                  <a:srgbClr val="8A96A6"/>
                </a:solidFill>
                <a:latin typeface="Calibri" pitchFamily="34" charset="0"/>
                <a:ea typeface="Calibri" pitchFamily="34" charset="-122"/>
                <a:cs typeface="Calibri" pitchFamily="34" charset="-120"/>
              </a:rPr>
              <a:t>[The use it serves for RNP / government users]</a:t>
            </a:r>
            <a:endParaRPr lang="en-US" sz="1000" dirty="0"/>
          </a:p>
        </p:txBody>
      </p:sp>
      <p:sp>
        <p:nvSpPr>
          <p:cNvPr id="14" name="Text 12"/>
          <p:cNvSpPr txBox="1"/>
          <p:nvPr/>
        </p:nvSpPr>
        <p:spPr>
          <a:xfrm>
            <a:off x="658368" y="4114800"/>
            <a:ext cx="2211248" cy="274320"/>
          </a:xfrm>
          <a:prstGeom prst="rect">
            <a:avLst/>
          </a:prstGeom>
          <a:noFill/>
          <a:ln/>
        </p:spPr>
        <p:txBody>
          <a:bodyPr wrap="square" lIns="0" tIns="0" rIns="0" bIns="0" rtlCol="0" anchor="ctr"/>
          <a:lstStyle/>
          <a:p>
            <a:pPr indent="0" marL="0">
              <a:buNone/>
            </a:pPr>
            <a:r>
              <a:rPr lang="en-US" sz="1100" b="1" dirty="0">
                <a:solidFill>
                  <a:srgbClr val="0E8577"/>
                </a:solidFill>
                <a:latin typeface="Calibri" pitchFamily="34" charset="0"/>
                <a:ea typeface="Calibri" pitchFamily="34" charset="-122"/>
                <a:cs typeface="Calibri" pitchFamily="34" charset="-120"/>
              </a:rPr>
              <a:t>RNP's role</a:t>
            </a:r>
            <a:endParaRPr lang="en-US" sz="1100" dirty="0"/>
          </a:p>
        </p:txBody>
      </p:sp>
      <p:sp>
        <p:nvSpPr>
          <p:cNvPr id="15" name="Text 13"/>
          <p:cNvSpPr txBox="1"/>
          <p:nvPr/>
        </p:nvSpPr>
        <p:spPr>
          <a:xfrm>
            <a:off x="658368" y="4407408"/>
            <a:ext cx="2211248" cy="566928"/>
          </a:xfrm>
          <a:prstGeom prst="rect">
            <a:avLst/>
          </a:prstGeom>
          <a:noFill/>
          <a:ln/>
        </p:spPr>
        <p:txBody>
          <a:bodyPr wrap="square" lIns="0" tIns="0" rIns="0" bIns="0" rtlCol="0" anchor="t"/>
          <a:lstStyle/>
          <a:p>
            <a:pPr indent="0" marL="0">
              <a:buNone/>
            </a:pPr>
            <a:r>
              <a:rPr lang="en-US" sz="1000" i="1" dirty="0">
                <a:solidFill>
                  <a:srgbClr val="8A96A6"/>
                </a:solidFill>
                <a:latin typeface="Calibri" pitchFamily="34" charset="0"/>
                <a:ea typeface="Calibri" pitchFamily="34" charset="-122"/>
                <a:cs typeface="Calibri" pitchFamily="34" charset="-120"/>
              </a:rPr>
              <a:t>[Actual work RNP performs, not only attendance at training]</a:t>
            </a:r>
            <a:endParaRPr lang="en-US" sz="1000" dirty="0"/>
          </a:p>
        </p:txBody>
      </p:sp>
      <p:sp>
        <p:nvSpPr>
          <p:cNvPr id="16" name="Shape 14"/>
          <p:cNvSpPr/>
          <p:nvPr/>
        </p:nvSpPr>
        <p:spPr>
          <a:xfrm>
            <a:off x="658368" y="5102352"/>
            <a:ext cx="2211248" cy="365760"/>
          </a:xfrm>
          <a:prstGeom prst="roundRect">
            <a:avLst>
              <a:gd name="adj" fmla="val 20000"/>
            </a:avLst>
          </a:prstGeom>
          <a:solidFill>
            <a:srgbClr val="F7F9FC"/>
          </a:solidFill>
          <a:ln w="9525">
            <a:solidFill>
              <a:srgbClr val="DCE4EF"/>
            </a:solidFill>
            <a:prstDash val="solid"/>
          </a:ln>
        </p:spPr>
      </p:sp>
      <p:sp>
        <p:nvSpPr>
          <p:cNvPr id="17" name="Text 15"/>
          <p:cNvSpPr txBox="1"/>
          <p:nvPr/>
        </p:nvSpPr>
        <p:spPr>
          <a:xfrm>
            <a:off x="749808" y="5102352"/>
            <a:ext cx="2028368" cy="365760"/>
          </a:xfrm>
          <a:prstGeom prst="rect">
            <a:avLst/>
          </a:prstGeom>
          <a:noFill/>
          <a:ln/>
        </p:spPr>
        <p:txBody>
          <a:bodyPr wrap="square" lIns="0" tIns="0" rIns="0" bIns="0" rtlCol="0" anchor="ctr"/>
          <a:lstStyle/>
          <a:p>
            <a:pPr indent="0" marL="0">
              <a:buNone/>
            </a:pPr>
            <a:r>
              <a:rPr lang="en-US" sz="950" i="1" dirty="0">
                <a:solidFill>
                  <a:srgbClr val="4B5A6B"/>
                </a:solidFill>
                <a:latin typeface="Calibri" pitchFamily="34" charset="0"/>
                <a:ea typeface="Calibri" pitchFamily="34" charset="-122"/>
                <a:cs typeface="Calibri" pitchFamily="34" charset="-120"/>
              </a:rPr>
              <a:t>Status:  [included · optional · to confirm]</a:t>
            </a:r>
            <a:endParaRPr lang="en-US" sz="950" dirty="0"/>
          </a:p>
        </p:txBody>
      </p:sp>
      <p:sp>
        <p:nvSpPr>
          <p:cNvPr id="18" name="Shape 16"/>
          <p:cNvSpPr/>
          <p:nvPr/>
        </p:nvSpPr>
        <p:spPr>
          <a:xfrm>
            <a:off x="3345104" y="1508760"/>
            <a:ext cx="2613584" cy="4160520"/>
          </a:xfrm>
          <a:prstGeom prst="roundRect">
            <a:avLst>
              <a:gd name="adj" fmla="val 2799"/>
            </a:avLst>
          </a:prstGeom>
          <a:solidFill>
            <a:srgbClr val="FFFFFF"/>
          </a:solidFill>
          <a:ln w="9525">
            <a:solidFill>
              <a:srgbClr val="D9E2EC"/>
            </a:solidFill>
            <a:prstDash val="solid"/>
          </a:ln>
          <a:effectLst>
            <a:outerShdw sx="100000" sy="100000" kx="0" ky="0" algn="bl" rotWithShape="0" blurRad="63500" dist="12700" dir="5400000">
              <a:srgbClr val="9FB0C4">
                <a:alpha val="22000"/>
              </a:srgbClr>
            </a:outerShdw>
          </a:effectLst>
        </p:spPr>
      </p:sp>
      <p:sp>
        <p:nvSpPr>
          <p:cNvPr id="19" name="Shape 17"/>
          <p:cNvSpPr/>
          <p:nvPr/>
        </p:nvSpPr>
        <p:spPr>
          <a:xfrm>
            <a:off x="3546272" y="1709928"/>
            <a:ext cx="347472" cy="347472"/>
          </a:xfrm>
          <a:prstGeom prst="ellipse">
            <a:avLst/>
          </a:prstGeom>
          <a:solidFill>
            <a:srgbClr val="0E8577"/>
          </a:solidFill>
          <a:ln w="12700">
            <a:solidFill>
              <a:srgbClr val="0E8577"/>
            </a:solidFill>
            <a:prstDash val="solid"/>
          </a:ln>
        </p:spPr>
      </p:sp>
      <p:sp>
        <p:nvSpPr>
          <p:cNvPr id="20" name="Text 18"/>
          <p:cNvSpPr txBox="1"/>
          <p:nvPr/>
        </p:nvSpPr>
        <p:spPr>
          <a:xfrm>
            <a:off x="3546272" y="1709928"/>
            <a:ext cx="347472"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21" name="Text 19"/>
          <p:cNvSpPr txBox="1"/>
          <p:nvPr/>
        </p:nvSpPr>
        <p:spPr>
          <a:xfrm>
            <a:off x="4003472" y="1636776"/>
            <a:ext cx="1790624" cy="548640"/>
          </a:xfrm>
          <a:prstGeom prst="rect">
            <a:avLst/>
          </a:prstGeom>
          <a:noFill/>
          <a:ln/>
        </p:spPr>
        <p:txBody>
          <a:bodyPr wrap="square" lIns="0" tIns="0" rIns="0" bIns="0" rtlCol="0" anchor="ctr"/>
          <a:lstStyle/>
          <a:p>
            <a:pPr indent="0" marL="0">
              <a:buNone/>
            </a:pPr>
            <a:r>
              <a:rPr lang="en-US" sz="1400" b="1" dirty="0">
                <a:solidFill>
                  <a:srgbClr val="10305F"/>
                </a:solidFill>
                <a:latin typeface="Calibri" pitchFamily="34" charset="0"/>
                <a:ea typeface="Calibri" pitchFamily="34" charset="-122"/>
                <a:cs typeface="Calibri" pitchFamily="34" charset="-120"/>
              </a:rPr>
              <a:t>Application (APP)</a:t>
            </a:r>
            <a:endParaRPr lang="en-US" sz="1400" dirty="0"/>
          </a:p>
        </p:txBody>
      </p:sp>
      <p:sp>
        <p:nvSpPr>
          <p:cNvPr id="22" name="Text 20"/>
          <p:cNvSpPr txBox="1"/>
          <p:nvPr/>
        </p:nvSpPr>
        <p:spPr>
          <a:xfrm>
            <a:off x="3546272" y="2286000"/>
            <a:ext cx="2211248" cy="274320"/>
          </a:xfrm>
          <a:prstGeom prst="rect">
            <a:avLst/>
          </a:prstGeom>
          <a:noFill/>
          <a:ln/>
        </p:spPr>
        <p:txBody>
          <a:bodyPr wrap="square" lIns="0" tIns="0" rIns="0" bIns="0" rtlCol="0" anchor="ctr"/>
          <a:lstStyle/>
          <a:p>
            <a:pPr indent="0" marL="0">
              <a:buNone/>
            </a:pPr>
            <a:r>
              <a:rPr lang="en-US" sz="1100" b="1" dirty="0">
                <a:solidFill>
                  <a:srgbClr val="0E8577"/>
                </a:solidFill>
                <a:latin typeface="Calibri" pitchFamily="34" charset="0"/>
                <a:ea typeface="Calibri" pitchFamily="34" charset="-122"/>
                <a:cs typeface="Calibri" pitchFamily="34" charset="-120"/>
              </a:rPr>
              <a:t>Deliverable</a:t>
            </a:r>
            <a:endParaRPr lang="en-US" sz="1100" dirty="0"/>
          </a:p>
        </p:txBody>
      </p:sp>
      <p:sp>
        <p:nvSpPr>
          <p:cNvPr id="23" name="Text 21"/>
          <p:cNvSpPr txBox="1"/>
          <p:nvPr/>
        </p:nvSpPr>
        <p:spPr>
          <a:xfrm>
            <a:off x="3546272" y="2578608"/>
            <a:ext cx="2211248" cy="566928"/>
          </a:xfrm>
          <a:prstGeom prst="rect">
            <a:avLst/>
          </a:prstGeom>
          <a:noFill/>
          <a:ln/>
        </p:spPr>
        <p:txBody>
          <a:bodyPr wrap="square" lIns="0" tIns="0" rIns="0" bIns="0" rtlCol="0" anchor="t"/>
          <a:lstStyle/>
          <a:p>
            <a:pPr indent="0" marL="0">
              <a:buNone/>
            </a:pPr>
            <a:r>
              <a:rPr lang="en-US" sz="1000" i="1" dirty="0">
                <a:solidFill>
                  <a:srgbClr val="8A96A6"/>
                </a:solidFill>
                <a:latin typeface="Calibri" pitchFamily="34" charset="0"/>
                <a:ea typeface="Calibri" pitchFamily="34" charset="-122"/>
                <a:cs typeface="Calibri" pitchFamily="34" charset="-120"/>
              </a:rPr>
              <a:t>[What is handed over: model package, application, domain model, materials]</a:t>
            </a:r>
            <a:endParaRPr lang="en-US" sz="1000" dirty="0"/>
          </a:p>
        </p:txBody>
      </p:sp>
      <p:sp>
        <p:nvSpPr>
          <p:cNvPr id="24" name="Text 22"/>
          <p:cNvSpPr txBox="1"/>
          <p:nvPr/>
        </p:nvSpPr>
        <p:spPr>
          <a:xfrm>
            <a:off x="3546272" y="3200400"/>
            <a:ext cx="2211248" cy="274320"/>
          </a:xfrm>
          <a:prstGeom prst="rect">
            <a:avLst/>
          </a:prstGeom>
          <a:noFill/>
          <a:ln/>
        </p:spPr>
        <p:txBody>
          <a:bodyPr wrap="square" lIns="0" tIns="0" rIns="0" bIns="0" rtlCol="0" anchor="ctr"/>
          <a:lstStyle/>
          <a:p>
            <a:pPr indent="0" marL="0">
              <a:buNone/>
            </a:pPr>
            <a:r>
              <a:rPr lang="en-US" sz="1100" b="1" dirty="0">
                <a:solidFill>
                  <a:srgbClr val="0E8577"/>
                </a:solidFill>
                <a:latin typeface="Calibri" pitchFamily="34" charset="0"/>
                <a:ea typeface="Calibri" pitchFamily="34" charset="-122"/>
                <a:cs typeface="Calibri" pitchFamily="34" charset="-120"/>
              </a:rPr>
              <a:t>Used for</a:t>
            </a:r>
            <a:endParaRPr lang="en-US" sz="1100" dirty="0"/>
          </a:p>
        </p:txBody>
      </p:sp>
      <p:sp>
        <p:nvSpPr>
          <p:cNvPr id="25" name="Text 23"/>
          <p:cNvSpPr txBox="1"/>
          <p:nvPr/>
        </p:nvSpPr>
        <p:spPr>
          <a:xfrm>
            <a:off x="3546272" y="3493008"/>
            <a:ext cx="2211248" cy="566928"/>
          </a:xfrm>
          <a:prstGeom prst="rect">
            <a:avLst/>
          </a:prstGeom>
          <a:noFill/>
          <a:ln/>
        </p:spPr>
        <p:txBody>
          <a:bodyPr wrap="square" lIns="0" tIns="0" rIns="0" bIns="0" rtlCol="0" anchor="t"/>
          <a:lstStyle/>
          <a:p>
            <a:pPr indent="0" marL="0">
              <a:buNone/>
            </a:pPr>
            <a:r>
              <a:rPr lang="en-US" sz="1000" i="1" dirty="0">
                <a:solidFill>
                  <a:srgbClr val="8A96A6"/>
                </a:solidFill>
                <a:latin typeface="Calibri" pitchFamily="34" charset="0"/>
                <a:ea typeface="Calibri" pitchFamily="34" charset="-122"/>
                <a:cs typeface="Calibri" pitchFamily="34" charset="-120"/>
              </a:rPr>
              <a:t>[The use it serves for RNP / government users]</a:t>
            </a:r>
            <a:endParaRPr lang="en-US" sz="1000" dirty="0"/>
          </a:p>
        </p:txBody>
      </p:sp>
      <p:sp>
        <p:nvSpPr>
          <p:cNvPr id="26" name="Text 24"/>
          <p:cNvSpPr txBox="1"/>
          <p:nvPr/>
        </p:nvSpPr>
        <p:spPr>
          <a:xfrm>
            <a:off x="3546272" y="4114800"/>
            <a:ext cx="2211248" cy="274320"/>
          </a:xfrm>
          <a:prstGeom prst="rect">
            <a:avLst/>
          </a:prstGeom>
          <a:noFill/>
          <a:ln/>
        </p:spPr>
        <p:txBody>
          <a:bodyPr wrap="square" lIns="0" tIns="0" rIns="0" bIns="0" rtlCol="0" anchor="ctr"/>
          <a:lstStyle/>
          <a:p>
            <a:pPr indent="0" marL="0">
              <a:buNone/>
            </a:pPr>
            <a:r>
              <a:rPr lang="en-US" sz="1100" b="1" dirty="0">
                <a:solidFill>
                  <a:srgbClr val="0E8577"/>
                </a:solidFill>
                <a:latin typeface="Calibri" pitchFamily="34" charset="0"/>
                <a:ea typeface="Calibri" pitchFamily="34" charset="-122"/>
                <a:cs typeface="Calibri" pitchFamily="34" charset="-120"/>
              </a:rPr>
              <a:t>RNP's role</a:t>
            </a:r>
            <a:endParaRPr lang="en-US" sz="1100" dirty="0"/>
          </a:p>
        </p:txBody>
      </p:sp>
      <p:sp>
        <p:nvSpPr>
          <p:cNvPr id="27" name="Text 25"/>
          <p:cNvSpPr txBox="1"/>
          <p:nvPr/>
        </p:nvSpPr>
        <p:spPr>
          <a:xfrm>
            <a:off x="3546272" y="4407408"/>
            <a:ext cx="2211248" cy="566928"/>
          </a:xfrm>
          <a:prstGeom prst="rect">
            <a:avLst/>
          </a:prstGeom>
          <a:noFill/>
          <a:ln/>
        </p:spPr>
        <p:txBody>
          <a:bodyPr wrap="square" lIns="0" tIns="0" rIns="0" bIns="0" rtlCol="0" anchor="t"/>
          <a:lstStyle/>
          <a:p>
            <a:pPr indent="0" marL="0">
              <a:buNone/>
            </a:pPr>
            <a:r>
              <a:rPr lang="en-US" sz="1000" i="1" dirty="0">
                <a:solidFill>
                  <a:srgbClr val="8A96A6"/>
                </a:solidFill>
                <a:latin typeface="Calibri" pitchFamily="34" charset="0"/>
                <a:ea typeface="Calibri" pitchFamily="34" charset="-122"/>
                <a:cs typeface="Calibri" pitchFamily="34" charset="-120"/>
              </a:rPr>
              <a:t>[Actual work RNP performs, not only attendance at training]</a:t>
            </a:r>
            <a:endParaRPr lang="en-US" sz="1000" dirty="0"/>
          </a:p>
        </p:txBody>
      </p:sp>
      <p:sp>
        <p:nvSpPr>
          <p:cNvPr id="28" name="Shape 26"/>
          <p:cNvSpPr/>
          <p:nvPr/>
        </p:nvSpPr>
        <p:spPr>
          <a:xfrm>
            <a:off x="3546272" y="5102352"/>
            <a:ext cx="2211248" cy="365760"/>
          </a:xfrm>
          <a:prstGeom prst="roundRect">
            <a:avLst>
              <a:gd name="adj" fmla="val 20000"/>
            </a:avLst>
          </a:prstGeom>
          <a:solidFill>
            <a:srgbClr val="F7F9FC"/>
          </a:solidFill>
          <a:ln w="9525">
            <a:solidFill>
              <a:srgbClr val="DCE4EF"/>
            </a:solidFill>
            <a:prstDash val="solid"/>
          </a:ln>
        </p:spPr>
      </p:sp>
      <p:sp>
        <p:nvSpPr>
          <p:cNvPr id="29" name="Text 27"/>
          <p:cNvSpPr txBox="1"/>
          <p:nvPr/>
        </p:nvSpPr>
        <p:spPr>
          <a:xfrm>
            <a:off x="3637712" y="5102352"/>
            <a:ext cx="2028368" cy="365760"/>
          </a:xfrm>
          <a:prstGeom prst="rect">
            <a:avLst/>
          </a:prstGeom>
          <a:noFill/>
          <a:ln/>
        </p:spPr>
        <p:txBody>
          <a:bodyPr wrap="square" lIns="0" tIns="0" rIns="0" bIns="0" rtlCol="0" anchor="ctr"/>
          <a:lstStyle/>
          <a:p>
            <a:pPr indent="0" marL="0">
              <a:buNone/>
            </a:pPr>
            <a:r>
              <a:rPr lang="en-US" sz="950" i="1" dirty="0">
                <a:solidFill>
                  <a:srgbClr val="4B5A6B"/>
                </a:solidFill>
                <a:latin typeface="Calibri" pitchFamily="34" charset="0"/>
                <a:ea typeface="Calibri" pitchFamily="34" charset="-122"/>
                <a:cs typeface="Calibri" pitchFamily="34" charset="-120"/>
              </a:rPr>
              <a:t>Status:  [included · optional · to confirm]</a:t>
            </a:r>
            <a:endParaRPr lang="en-US" sz="950" dirty="0"/>
          </a:p>
        </p:txBody>
      </p:sp>
      <p:sp>
        <p:nvSpPr>
          <p:cNvPr id="30" name="Shape 28"/>
          <p:cNvSpPr/>
          <p:nvPr/>
        </p:nvSpPr>
        <p:spPr>
          <a:xfrm>
            <a:off x="6233008" y="1508760"/>
            <a:ext cx="2613584" cy="4160520"/>
          </a:xfrm>
          <a:prstGeom prst="roundRect">
            <a:avLst>
              <a:gd name="adj" fmla="val 2799"/>
            </a:avLst>
          </a:prstGeom>
          <a:solidFill>
            <a:srgbClr val="FFFFFF"/>
          </a:solidFill>
          <a:ln w="9525">
            <a:solidFill>
              <a:srgbClr val="D9E2EC"/>
            </a:solidFill>
            <a:prstDash val="solid"/>
          </a:ln>
          <a:effectLst>
            <a:outerShdw sx="100000" sy="100000" kx="0" ky="0" algn="bl" rotWithShape="0" blurRad="63500" dist="12700" dir="5400000">
              <a:srgbClr val="9FB0C4">
                <a:alpha val="22000"/>
              </a:srgbClr>
            </a:outerShdw>
          </a:effectLst>
        </p:spPr>
      </p:sp>
      <p:sp>
        <p:nvSpPr>
          <p:cNvPr id="31" name="Shape 29"/>
          <p:cNvSpPr/>
          <p:nvPr/>
        </p:nvSpPr>
        <p:spPr>
          <a:xfrm>
            <a:off x="6434176" y="1709928"/>
            <a:ext cx="347472" cy="347472"/>
          </a:xfrm>
          <a:prstGeom prst="ellipse">
            <a:avLst/>
          </a:prstGeom>
          <a:solidFill>
            <a:srgbClr val="0E8577"/>
          </a:solidFill>
          <a:ln w="12700">
            <a:solidFill>
              <a:srgbClr val="0E8577"/>
            </a:solidFill>
            <a:prstDash val="solid"/>
          </a:ln>
        </p:spPr>
      </p:sp>
      <p:sp>
        <p:nvSpPr>
          <p:cNvPr id="32" name="Text 30"/>
          <p:cNvSpPr txBox="1"/>
          <p:nvPr/>
        </p:nvSpPr>
        <p:spPr>
          <a:xfrm>
            <a:off x="6434176" y="1709928"/>
            <a:ext cx="347472"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33" name="Text 31"/>
          <p:cNvSpPr txBox="1"/>
          <p:nvPr/>
        </p:nvSpPr>
        <p:spPr>
          <a:xfrm>
            <a:off x="6891376" y="1636776"/>
            <a:ext cx="1790624" cy="548640"/>
          </a:xfrm>
          <a:prstGeom prst="rect">
            <a:avLst/>
          </a:prstGeom>
          <a:noFill/>
          <a:ln/>
        </p:spPr>
        <p:txBody>
          <a:bodyPr wrap="square" lIns="0" tIns="0" rIns="0" bIns="0" rtlCol="0" anchor="ctr"/>
          <a:lstStyle/>
          <a:p>
            <a:pPr indent="0" marL="0">
              <a:buNone/>
            </a:pPr>
            <a:r>
              <a:rPr lang="en-US" sz="1400" b="1" dirty="0">
                <a:solidFill>
                  <a:srgbClr val="10305F"/>
                </a:solidFill>
                <a:latin typeface="Calibri" pitchFamily="34" charset="0"/>
                <a:ea typeface="Calibri" pitchFamily="34" charset="-122"/>
                <a:cs typeface="Calibri" pitchFamily="34" charset="-120"/>
              </a:rPr>
              <a:t>Domain Models (DLM)</a:t>
            </a:r>
            <a:endParaRPr lang="en-US" sz="1400" dirty="0"/>
          </a:p>
        </p:txBody>
      </p:sp>
      <p:sp>
        <p:nvSpPr>
          <p:cNvPr id="34" name="Text 32"/>
          <p:cNvSpPr txBox="1"/>
          <p:nvPr/>
        </p:nvSpPr>
        <p:spPr>
          <a:xfrm>
            <a:off x="6434176" y="2286000"/>
            <a:ext cx="2211248" cy="274320"/>
          </a:xfrm>
          <a:prstGeom prst="rect">
            <a:avLst/>
          </a:prstGeom>
          <a:noFill/>
          <a:ln/>
        </p:spPr>
        <p:txBody>
          <a:bodyPr wrap="square" lIns="0" tIns="0" rIns="0" bIns="0" rtlCol="0" anchor="ctr"/>
          <a:lstStyle/>
          <a:p>
            <a:pPr indent="0" marL="0">
              <a:buNone/>
            </a:pPr>
            <a:r>
              <a:rPr lang="en-US" sz="1100" b="1" dirty="0">
                <a:solidFill>
                  <a:srgbClr val="0E8577"/>
                </a:solidFill>
                <a:latin typeface="Calibri" pitchFamily="34" charset="0"/>
                <a:ea typeface="Calibri" pitchFamily="34" charset="-122"/>
                <a:cs typeface="Calibri" pitchFamily="34" charset="-120"/>
              </a:rPr>
              <a:t>Deliverable</a:t>
            </a:r>
            <a:endParaRPr lang="en-US" sz="1100" dirty="0"/>
          </a:p>
        </p:txBody>
      </p:sp>
      <p:sp>
        <p:nvSpPr>
          <p:cNvPr id="35" name="Text 33"/>
          <p:cNvSpPr txBox="1"/>
          <p:nvPr/>
        </p:nvSpPr>
        <p:spPr>
          <a:xfrm>
            <a:off x="6434176" y="2578608"/>
            <a:ext cx="2211248" cy="566928"/>
          </a:xfrm>
          <a:prstGeom prst="rect">
            <a:avLst/>
          </a:prstGeom>
          <a:noFill/>
          <a:ln/>
        </p:spPr>
        <p:txBody>
          <a:bodyPr wrap="square" lIns="0" tIns="0" rIns="0" bIns="0" rtlCol="0" anchor="t"/>
          <a:lstStyle/>
          <a:p>
            <a:pPr indent="0" marL="0">
              <a:buNone/>
            </a:pPr>
            <a:r>
              <a:rPr lang="en-US" sz="1000" i="1" dirty="0">
                <a:solidFill>
                  <a:srgbClr val="8A96A6"/>
                </a:solidFill>
                <a:latin typeface="Calibri" pitchFamily="34" charset="0"/>
                <a:ea typeface="Calibri" pitchFamily="34" charset="-122"/>
                <a:cs typeface="Calibri" pitchFamily="34" charset="-120"/>
              </a:rPr>
              <a:t>[What is handed over: model package, application, domain model, materials]</a:t>
            </a:r>
            <a:endParaRPr lang="en-US" sz="1000" dirty="0"/>
          </a:p>
        </p:txBody>
      </p:sp>
      <p:sp>
        <p:nvSpPr>
          <p:cNvPr id="36" name="Text 34"/>
          <p:cNvSpPr txBox="1"/>
          <p:nvPr/>
        </p:nvSpPr>
        <p:spPr>
          <a:xfrm>
            <a:off x="6434176" y="3200400"/>
            <a:ext cx="2211248" cy="274320"/>
          </a:xfrm>
          <a:prstGeom prst="rect">
            <a:avLst/>
          </a:prstGeom>
          <a:noFill/>
          <a:ln/>
        </p:spPr>
        <p:txBody>
          <a:bodyPr wrap="square" lIns="0" tIns="0" rIns="0" bIns="0" rtlCol="0" anchor="ctr"/>
          <a:lstStyle/>
          <a:p>
            <a:pPr indent="0" marL="0">
              <a:buNone/>
            </a:pPr>
            <a:r>
              <a:rPr lang="en-US" sz="1100" b="1" dirty="0">
                <a:solidFill>
                  <a:srgbClr val="0E8577"/>
                </a:solidFill>
                <a:latin typeface="Calibri" pitchFamily="34" charset="0"/>
                <a:ea typeface="Calibri" pitchFamily="34" charset="-122"/>
                <a:cs typeface="Calibri" pitchFamily="34" charset="-120"/>
              </a:rPr>
              <a:t>Used for</a:t>
            </a:r>
            <a:endParaRPr lang="en-US" sz="1100" dirty="0"/>
          </a:p>
        </p:txBody>
      </p:sp>
      <p:sp>
        <p:nvSpPr>
          <p:cNvPr id="37" name="Text 35"/>
          <p:cNvSpPr txBox="1"/>
          <p:nvPr/>
        </p:nvSpPr>
        <p:spPr>
          <a:xfrm>
            <a:off x="6434176" y="3493008"/>
            <a:ext cx="2211248" cy="566928"/>
          </a:xfrm>
          <a:prstGeom prst="rect">
            <a:avLst/>
          </a:prstGeom>
          <a:noFill/>
          <a:ln/>
        </p:spPr>
        <p:txBody>
          <a:bodyPr wrap="square" lIns="0" tIns="0" rIns="0" bIns="0" rtlCol="0" anchor="t"/>
          <a:lstStyle/>
          <a:p>
            <a:pPr indent="0" marL="0">
              <a:buNone/>
            </a:pPr>
            <a:r>
              <a:rPr lang="en-US" sz="1000" i="1" dirty="0">
                <a:solidFill>
                  <a:srgbClr val="8A96A6"/>
                </a:solidFill>
                <a:latin typeface="Calibri" pitchFamily="34" charset="0"/>
                <a:ea typeface="Calibri" pitchFamily="34" charset="-122"/>
                <a:cs typeface="Calibri" pitchFamily="34" charset="-120"/>
              </a:rPr>
              <a:t>[The use it serves for RNP / government users]</a:t>
            </a:r>
            <a:endParaRPr lang="en-US" sz="1000" dirty="0"/>
          </a:p>
        </p:txBody>
      </p:sp>
      <p:sp>
        <p:nvSpPr>
          <p:cNvPr id="38" name="Text 36"/>
          <p:cNvSpPr txBox="1"/>
          <p:nvPr/>
        </p:nvSpPr>
        <p:spPr>
          <a:xfrm>
            <a:off x="6434176" y="4114800"/>
            <a:ext cx="2211248" cy="274320"/>
          </a:xfrm>
          <a:prstGeom prst="rect">
            <a:avLst/>
          </a:prstGeom>
          <a:noFill/>
          <a:ln/>
        </p:spPr>
        <p:txBody>
          <a:bodyPr wrap="square" lIns="0" tIns="0" rIns="0" bIns="0" rtlCol="0" anchor="ctr"/>
          <a:lstStyle/>
          <a:p>
            <a:pPr indent="0" marL="0">
              <a:buNone/>
            </a:pPr>
            <a:r>
              <a:rPr lang="en-US" sz="1100" b="1" dirty="0">
                <a:solidFill>
                  <a:srgbClr val="0E8577"/>
                </a:solidFill>
                <a:latin typeface="Calibri" pitchFamily="34" charset="0"/>
                <a:ea typeface="Calibri" pitchFamily="34" charset="-122"/>
                <a:cs typeface="Calibri" pitchFamily="34" charset="-120"/>
              </a:rPr>
              <a:t>RNP's role</a:t>
            </a:r>
            <a:endParaRPr lang="en-US" sz="1100" dirty="0"/>
          </a:p>
        </p:txBody>
      </p:sp>
      <p:sp>
        <p:nvSpPr>
          <p:cNvPr id="39" name="Text 37"/>
          <p:cNvSpPr txBox="1"/>
          <p:nvPr/>
        </p:nvSpPr>
        <p:spPr>
          <a:xfrm>
            <a:off x="6434176" y="4407408"/>
            <a:ext cx="2211248" cy="566928"/>
          </a:xfrm>
          <a:prstGeom prst="rect">
            <a:avLst/>
          </a:prstGeom>
          <a:noFill/>
          <a:ln/>
        </p:spPr>
        <p:txBody>
          <a:bodyPr wrap="square" lIns="0" tIns="0" rIns="0" bIns="0" rtlCol="0" anchor="t"/>
          <a:lstStyle/>
          <a:p>
            <a:pPr indent="0" marL="0">
              <a:buNone/>
            </a:pPr>
            <a:r>
              <a:rPr lang="en-US" sz="1000" i="1" dirty="0">
                <a:solidFill>
                  <a:srgbClr val="8A96A6"/>
                </a:solidFill>
                <a:latin typeface="Calibri" pitchFamily="34" charset="0"/>
                <a:ea typeface="Calibri" pitchFamily="34" charset="-122"/>
                <a:cs typeface="Calibri" pitchFamily="34" charset="-120"/>
              </a:rPr>
              <a:t>[Actual work RNP performs, not only attendance at training]</a:t>
            </a:r>
            <a:endParaRPr lang="en-US" sz="1000" dirty="0"/>
          </a:p>
        </p:txBody>
      </p:sp>
      <p:sp>
        <p:nvSpPr>
          <p:cNvPr id="40" name="Shape 38"/>
          <p:cNvSpPr/>
          <p:nvPr/>
        </p:nvSpPr>
        <p:spPr>
          <a:xfrm>
            <a:off x="6434176" y="5102352"/>
            <a:ext cx="2211248" cy="365760"/>
          </a:xfrm>
          <a:prstGeom prst="roundRect">
            <a:avLst>
              <a:gd name="adj" fmla="val 20000"/>
            </a:avLst>
          </a:prstGeom>
          <a:solidFill>
            <a:srgbClr val="F7F9FC"/>
          </a:solidFill>
          <a:ln w="9525">
            <a:solidFill>
              <a:srgbClr val="DCE4EF"/>
            </a:solidFill>
            <a:prstDash val="solid"/>
          </a:ln>
        </p:spPr>
      </p:sp>
      <p:sp>
        <p:nvSpPr>
          <p:cNvPr id="41" name="Text 39"/>
          <p:cNvSpPr txBox="1"/>
          <p:nvPr/>
        </p:nvSpPr>
        <p:spPr>
          <a:xfrm>
            <a:off x="6525616" y="5102352"/>
            <a:ext cx="2028368" cy="365760"/>
          </a:xfrm>
          <a:prstGeom prst="rect">
            <a:avLst/>
          </a:prstGeom>
          <a:noFill/>
          <a:ln/>
        </p:spPr>
        <p:txBody>
          <a:bodyPr wrap="square" lIns="0" tIns="0" rIns="0" bIns="0" rtlCol="0" anchor="ctr"/>
          <a:lstStyle/>
          <a:p>
            <a:pPr indent="0" marL="0">
              <a:buNone/>
            </a:pPr>
            <a:r>
              <a:rPr lang="en-US" sz="950" i="1" dirty="0">
                <a:solidFill>
                  <a:srgbClr val="4B5A6B"/>
                </a:solidFill>
                <a:latin typeface="Calibri" pitchFamily="34" charset="0"/>
                <a:ea typeface="Calibri" pitchFamily="34" charset="-122"/>
                <a:cs typeface="Calibri" pitchFamily="34" charset="-120"/>
              </a:rPr>
              <a:t>Status:  [included · optional · to confirm]</a:t>
            </a:r>
            <a:endParaRPr lang="en-US" sz="950" dirty="0"/>
          </a:p>
        </p:txBody>
      </p:sp>
      <p:sp>
        <p:nvSpPr>
          <p:cNvPr id="42" name="Shape 40"/>
          <p:cNvSpPr/>
          <p:nvPr/>
        </p:nvSpPr>
        <p:spPr>
          <a:xfrm>
            <a:off x="9120911" y="1508760"/>
            <a:ext cx="2613584" cy="4160520"/>
          </a:xfrm>
          <a:prstGeom prst="roundRect">
            <a:avLst>
              <a:gd name="adj" fmla="val 2799"/>
            </a:avLst>
          </a:prstGeom>
          <a:solidFill>
            <a:srgbClr val="FFFFFF"/>
          </a:solidFill>
          <a:ln w="9525">
            <a:solidFill>
              <a:srgbClr val="D9E2EC"/>
            </a:solidFill>
            <a:prstDash val="solid"/>
          </a:ln>
          <a:effectLst>
            <a:outerShdw sx="100000" sy="100000" kx="0" ky="0" algn="bl" rotWithShape="0" blurRad="63500" dist="12700" dir="5400000">
              <a:srgbClr val="9FB0C4">
                <a:alpha val="22000"/>
              </a:srgbClr>
            </a:outerShdw>
          </a:effectLst>
        </p:spPr>
      </p:sp>
      <p:sp>
        <p:nvSpPr>
          <p:cNvPr id="43" name="Shape 41"/>
          <p:cNvSpPr/>
          <p:nvPr/>
        </p:nvSpPr>
        <p:spPr>
          <a:xfrm>
            <a:off x="9322079" y="1709928"/>
            <a:ext cx="347472" cy="347472"/>
          </a:xfrm>
          <a:prstGeom prst="ellipse">
            <a:avLst/>
          </a:prstGeom>
          <a:solidFill>
            <a:srgbClr val="10305F"/>
          </a:solidFill>
          <a:ln w="12700">
            <a:solidFill>
              <a:srgbClr val="10305F"/>
            </a:solidFill>
            <a:prstDash val="solid"/>
          </a:ln>
        </p:spPr>
      </p:sp>
      <p:sp>
        <p:nvSpPr>
          <p:cNvPr id="44" name="Text 42"/>
          <p:cNvSpPr txBox="1"/>
          <p:nvPr/>
        </p:nvSpPr>
        <p:spPr>
          <a:xfrm>
            <a:off x="9322079" y="1709928"/>
            <a:ext cx="347472"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45" name="Text 43"/>
          <p:cNvSpPr txBox="1"/>
          <p:nvPr/>
        </p:nvSpPr>
        <p:spPr>
          <a:xfrm>
            <a:off x="9779279" y="1636776"/>
            <a:ext cx="1790624" cy="548640"/>
          </a:xfrm>
          <a:prstGeom prst="rect">
            <a:avLst/>
          </a:prstGeom>
          <a:noFill/>
          <a:ln/>
        </p:spPr>
        <p:txBody>
          <a:bodyPr wrap="square" lIns="0" tIns="0" rIns="0" bIns="0" rtlCol="0" anchor="ctr"/>
          <a:lstStyle/>
          <a:p>
            <a:pPr indent="0" marL="0">
              <a:buNone/>
            </a:pPr>
            <a:r>
              <a:rPr lang="en-US" sz="1400" b="1" dirty="0">
                <a:solidFill>
                  <a:srgbClr val="10305F"/>
                </a:solidFill>
                <a:latin typeface="Calibri" pitchFamily="34" charset="0"/>
                <a:ea typeface="Calibri" pitchFamily="34" charset="-122"/>
                <a:cs typeface="Calibri" pitchFamily="34" charset="-120"/>
              </a:rPr>
              <a:t>In-project knowledge transfer</a:t>
            </a:r>
            <a:endParaRPr lang="en-US" sz="1400" dirty="0"/>
          </a:p>
        </p:txBody>
      </p:sp>
      <p:sp>
        <p:nvSpPr>
          <p:cNvPr id="46" name="Text 44"/>
          <p:cNvSpPr txBox="1"/>
          <p:nvPr/>
        </p:nvSpPr>
        <p:spPr>
          <a:xfrm>
            <a:off x="9322079" y="2286000"/>
            <a:ext cx="2211248" cy="274320"/>
          </a:xfrm>
          <a:prstGeom prst="rect">
            <a:avLst/>
          </a:prstGeom>
          <a:noFill/>
          <a:ln/>
        </p:spPr>
        <p:txBody>
          <a:bodyPr wrap="square" lIns="0" tIns="0" rIns="0" bIns="0" rtlCol="0" anchor="ctr"/>
          <a:lstStyle/>
          <a:p>
            <a:pPr indent="0" marL="0">
              <a:buNone/>
            </a:pPr>
            <a:r>
              <a:rPr lang="en-US" sz="1100" b="1" dirty="0">
                <a:solidFill>
                  <a:srgbClr val="0E8577"/>
                </a:solidFill>
                <a:latin typeface="Calibri" pitchFamily="34" charset="0"/>
                <a:ea typeface="Calibri" pitchFamily="34" charset="-122"/>
                <a:cs typeface="Calibri" pitchFamily="34" charset="-120"/>
              </a:rPr>
              <a:t>Deliverable</a:t>
            </a:r>
            <a:endParaRPr lang="en-US" sz="1100" dirty="0"/>
          </a:p>
        </p:txBody>
      </p:sp>
      <p:sp>
        <p:nvSpPr>
          <p:cNvPr id="47" name="Text 45"/>
          <p:cNvSpPr txBox="1"/>
          <p:nvPr/>
        </p:nvSpPr>
        <p:spPr>
          <a:xfrm>
            <a:off x="9322079" y="2578608"/>
            <a:ext cx="2211248" cy="566928"/>
          </a:xfrm>
          <a:prstGeom prst="rect">
            <a:avLst/>
          </a:prstGeom>
          <a:noFill/>
          <a:ln/>
        </p:spPr>
        <p:txBody>
          <a:bodyPr wrap="square" lIns="0" tIns="0" rIns="0" bIns="0" rtlCol="0" anchor="t"/>
          <a:lstStyle/>
          <a:p>
            <a:pPr indent="0" marL="0">
              <a:buNone/>
            </a:pPr>
            <a:r>
              <a:rPr lang="en-US" sz="1000" i="1" dirty="0">
                <a:solidFill>
                  <a:srgbClr val="8A96A6"/>
                </a:solidFill>
                <a:latin typeface="Calibri" pitchFamily="34" charset="0"/>
                <a:ea typeface="Calibri" pitchFamily="34" charset="-122"/>
                <a:cs typeface="Calibri" pitchFamily="34" charset="-120"/>
              </a:rPr>
              <a:t>[What is handed over: model package, application, domain model, materials]</a:t>
            </a:r>
            <a:endParaRPr lang="en-US" sz="1000" dirty="0"/>
          </a:p>
        </p:txBody>
      </p:sp>
      <p:sp>
        <p:nvSpPr>
          <p:cNvPr id="48" name="Text 46"/>
          <p:cNvSpPr txBox="1"/>
          <p:nvPr/>
        </p:nvSpPr>
        <p:spPr>
          <a:xfrm>
            <a:off x="9322079" y="3200400"/>
            <a:ext cx="2211248" cy="274320"/>
          </a:xfrm>
          <a:prstGeom prst="rect">
            <a:avLst/>
          </a:prstGeom>
          <a:noFill/>
          <a:ln/>
        </p:spPr>
        <p:txBody>
          <a:bodyPr wrap="square" lIns="0" tIns="0" rIns="0" bIns="0" rtlCol="0" anchor="ctr"/>
          <a:lstStyle/>
          <a:p>
            <a:pPr indent="0" marL="0">
              <a:buNone/>
            </a:pPr>
            <a:r>
              <a:rPr lang="en-US" sz="1100" b="1" dirty="0">
                <a:solidFill>
                  <a:srgbClr val="0E8577"/>
                </a:solidFill>
                <a:latin typeface="Calibri" pitchFamily="34" charset="0"/>
                <a:ea typeface="Calibri" pitchFamily="34" charset="-122"/>
                <a:cs typeface="Calibri" pitchFamily="34" charset="-120"/>
              </a:rPr>
              <a:t>Used for</a:t>
            </a:r>
            <a:endParaRPr lang="en-US" sz="1100" dirty="0"/>
          </a:p>
        </p:txBody>
      </p:sp>
      <p:sp>
        <p:nvSpPr>
          <p:cNvPr id="49" name="Text 47"/>
          <p:cNvSpPr txBox="1"/>
          <p:nvPr/>
        </p:nvSpPr>
        <p:spPr>
          <a:xfrm>
            <a:off x="9322079" y="3493008"/>
            <a:ext cx="2211248" cy="566928"/>
          </a:xfrm>
          <a:prstGeom prst="rect">
            <a:avLst/>
          </a:prstGeom>
          <a:noFill/>
          <a:ln/>
        </p:spPr>
        <p:txBody>
          <a:bodyPr wrap="square" lIns="0" tIns="0" rIns="0" bIns="0" rtlCol="0" anchor="t"/>
          <a:lstStyle/>
          <a:p>
            <a:pPr indent="0" marL="0">
              <a:buNone/>
            </a:pPr>
            <a:r>
              <a:rPr lang="en-US" sz="1000" i="1" dirty="0">
                <a:solidFill>
                  <a:srgbClr val="8A96A6"/>
                </a:solidFill>
                <a:latin typeface="Calibri" pitchFamily="34" charset="0"/>
                <a:ea typeface="Calibri" pitchFamily="34" charset="-122"/>
                <a:cs typeface="Calibri" pitchFamily="34" charset="-120"/>
              </a:rPr>
              <a:t>[The use it serves for RNP / government users]</a:t>
            </a:r>
            <a:endParaRPr lang="en-US" sz="1000" dirty="0"/>
          </a:p>
        </p:txBody>
      </p:sp>
      <p:sp>
        <p:nvSpPr>
          <p:cNvPr id="50" name="Text 48"/>
          <p:cNvSpPr txBox="1"/>
          <p:nvPr/>
        </p:nvSpPr>
        <p:spPr>
          <a:xfrm>
            <a:off x="9322079" y="4114800"/>
            <a:ext cx="2211248" cy="274320"/>
          </a:xfrm>
          <a:prstGeom prst="rect">
            <a:avLst/>
          </a:prstGeom>
          <a:noFill/>
          <a:ln/>
        </p:spPr>
        <p:txBody>
          <a:bodyPr wrap="square" lIns="0" tIns="0" rIns="0" bIns="0" rtlCol="0" anchor="ctr"/>
          <a:lstStyle/>
          <a:p>
            <a:pPr indent="0" marL="0">
              <a:buNone/>
            </a:pPr>
            <a:r>
              <a:rPr lang="en-US" sz="1100" b="1" dirty="0">
                <a:solidFill>
                  <a:srgbClr val="0E8577"/>
                </a:solidFill>
                <a:latin typeface="Calibri" pitchFamily="34" charset="0"/>
                <a:ea typeface="Calibri" pitchFamily="34" charset="-122"/>
                <a:cs typeface="Calibri" pitchFamily="34" charset="-120"/>
              </a:rPr>
              <a:t>RNP's role</a:t>
            </a:r>
            <a:endParaRPr lang="en-US" sz="1100" dirty="0"/>
          </a:p>
        </p:txBody>
      </p:sp>
      <p:sp>
        <p:nvSpPr>
          <p:cNvPr id="51" name="Text 49"/>
          <p:cNvSpPr txBox="1"/>
          <p:nvPr/>
        </p:nvSpPr>
        <p:spPr>
          <a:xfrm>
            <a:off x="9322079" y="4407408"/>
            <a:ext cx="2211248" cy="566928"/>
          </a:xfrm>
          <a:prstGeom prst="rect">
            <a:avLst/>
          </a:prstGeom>
          <a:noFill/>
          <a:ln/>
        </p:spPr>
        <p:txBody>
          <a:bodyPr wrap="square" lIns="0" tIns="0" rIns="0" bIns="0" rtlCol="0" anchor="t"/>
          <a:lstStyle/>
          <a:p>
            <a:pPr indent="0" marL="0">
              <a:buNone/>
            </a:pPr>
            <a:r>
              <a:rPr lang="en-US" sz="1000" i="1" dirty="0">
                <a:solidFill>
                  <a:srgbClr val="8A96A6"/>
                </a:solidFill>
                <a:latin typeface="Calibri" pitchFamily="34" charset="0"/>
                <a:ea typeface="Calibri" pitchFamily="34" charset="-122"/>
                <a:cs typeface="Calibri" pitchFamily="34" charset="-120"/>
              </a:rPr>
              <a:t>[Actual work RNP performs, not only attendance at training]</a:t>
            </a:r>
            <a:endParaRPr lang="en-US" sz="1000" dirty="0"/>
          </a:p>
        </p:txBody>
      </p:sp>
      <p:sp>
        <p:nvSpPr>
          <p:cNvPr id="52" name="Shape 50"/>
          <p:cNvSpPr/>
          <p:nvPr/>
        </p:nvSpPr>
        <p:spPr>
          <a:xfrm>
            <a:off x="9322079" y="5102352"/>
            <a:ext cx="2211248" cy="365760"/>
          </a:xfrm>
          <a:prstGeom prst="roundRect">
            <a:avLst>
              <a:gd name="adj" fmla="val 20000"/>
            </a:avLst>
          </a:prstGeom>
          <a:solidFill>
            <a:srgbClr val="F7F9FC"/>
          </a:solidFill>
          <a:ln w="9525">
            <a:solidFill>
              <a:srgbClr val="DCE4EF"/>
            </a:solidFill>
            <a:prstDash val="solid"/>
          </a:ln>
        </p:spPr>
      </p:sp>
      <p:sp>
        <p:nvSpPr>
          <p:cNvPr id="53" name="Text 51"/>
          <p:cNvSpPr txBox="1"/>
          <p:nvPr/>
        </p:nvSpPr>
        <p:spPr>
          <a:xfrm>
            <a:off x="9413519" y="5102352"/>
            <a:ext cx="2028368" cy="365760"/>
          </a:xfrm>
          <a:prstGeom prst="rect">
            <a:avLst/>
          </a:prstGeom>
          <a:noFill/>
          <a:ln/>
        </p:spPr>
        <p:txBody>
          <a:bodyPr wrap="square" lIns="0" tIns="0" rIns="0" bIns="0" rtlCol="0" anchor="ctr"/>
          <a:lstStyle/>
          <a:p>
            <a:pPr indent="0" marL="0">
              <a:buNone/>
            </a:pPr>
            <a:r>
              <a:rPr lang="en-US" sz="950" i="1" dirty="0">
                <a:solidFill>
                  <a:srgbClr val="4B5A6B"/>
                </a:solidFill>
                <a:latin typeface="Calibri" pitchFamily="34" charset="0"/>
                <a:ea typeface="Calibri" pitchFamily="34" charset="-122"/>
                <a:cs typeface="Calibri" pitchFamily="34" charset="-120"/>
              </a:rPr>
              <a:t>Status:  [included · optional · to confirm]</a:t>
            </a:r>
            <a:endParaRPr lang="en-US" sz="950" dirty="0"/>
          </a:p>
        </p:txBody>
      </p:sp>
      <p:sp>
        <p:nvSpPr>
          <p:cNvPr id="54" name="Text 52"/>
          <p:cNvSpPr txBox="1"/>
          <p:nvPr/>
        </p:nvSpPr>
        <p:spPr>
          <a:xfrm>
            <a:off x="457200" y="5852160"/>
            <a:ext cx="11277295" cy="365760"/>
          </a:xfrm>
          <a:prstGeom prst="rect">
            <a:avLst/>
          </a:prstGeom>
          <a:noFill/>
          <a:ln/>
        </p:spPr>
        <p:txBody>
          <a:bodyPr wrap="square" lIns="0" tIns="0" rIns="0" bIns="0" rtlCol="0" anchor="t"/>
          <a:lstStyle/>
          <a:p>
            <a:pPr indent="0" marL="0">
              <a:buNone/>
            </a:pPr>
            <a:r>
              <a:rPr lang="en-US" sz="1050" dirty="0">
                <a:solidFill>
                  <a:srgbClr val="6B7A8B"/>
                </a:solidFill>
                <a:latin typeface="Calibri" pitchFamily="34" charset="0"/>
                <a:ea typeface="Calibri" pitchFamily="34" charset="-122"/>
                <a:cs typeface="Calibri" pitchFamily="34" charset="-120"/>
              </a:rPr>
              <a:t>Examples, interim versions and final deliverables are labelled as such wherever they appear in this deck.</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B7A8B"/>
                </a:solidFill>
                <a:latin typeface="Calibri" pitchFamily="34" charset="0"/>
                <a:ea typeface="Calibri" pitchFamily="34" charset="-122"/>
                <a:cs typeface="Calibri" pitchFamily="34" charset="-120"/>
              </a:rPr>
              <a:t>iFLYTEK  ·  RNP technical meeting  ·  Working draft for discussion</a:t>
            </a:r>
            <a:endParaRPr lang="en-US" sz="900" dirty="0"/>
          </a:p>
        </p:txBody>
      </p:sp>
      <p:sp>
        <p:nvSpPr>
          <p:cNvPr id="3" name="Text 1"/>
          <p:cNvSpPr txBox="1"/>
          <p:nvPr/>
        </p:nvSpPr>
        <p:spPr>
          <a:xfrm>
            <a:off x="10637215" y="6446520"/>
            <a:ext cx="1097280" cy="274320"/>
          </a:xfrm>
          <a:prstGeom prst="rect">
            <a:avLst/>
          </a:prstGeom>
          <a:noFill/>
          <a:ln/>
        </p:spPr>
        <p:txBody>
          <a:bodyPr wrap="square" lIns="0" tIns="0" rIns="0" bIns="0" rtlCol="0" anchor="ctr"/>
          <a:lstStyle/>
          <a:p>
            <a:pPr algn="r" indent="0" marL="0">
              <a:buNone/>
            </a:pPr>
            <a:r>
              <a:rPr lang="en-US" sz="900" dirty="0">
                <a:solidFill>
                  <a:srgbClr val="6B7A8B"/>
                </a:solidFill>
                <a:latin typeface="Calibri" pitchFamily="34" charset="0"/>
                <a:ea typeface="Calibri" pitchFamily="34" charset="-122"/>
                <a:cs typeface="Calibri" pitchFamily="34" charset="-120"/>
              </a:rPr>
              <a:t>3 / 10</a:t>
            </a:r>
            <a:endParaRPr lang="en-US" sz="900" dirty="0"/>
          </a:p>
        </p:txBody>
      </p:sp>
      <p:sp>
        <p:nvSpPr>
          <p:cNvPr id="4" name="Text 2"/>
          <p:cNvSpPr txBox="1"/>
          <p:nvPr/>
        </p:nvSpPr>
        <p:spPr>
          <a:xfrm>
            <a:off x="457200" y="347472"/>
            <a:ext cx="11277295" cy="566928"/>
          </a:xfrm>
          <a:prstGeom prst="rect">
            <a:avLst/>
          </a:prstGeom>
          <a:noFill/>
          <a:ln/>
        </p:spPr>
        <p:txBody>
          <a:bodyPr wrap="square" lIns="0" tIns="0" rIns="0" bIns="0" rtlCol="0" anchor="ctr"/>
          <a:lstStyle/>
          <a:p>
            <a:pPr indent="0" marL="0">
              <a:buNone/>
            </a:pPr>
            <a:r>
              <a:rPr lang="en-US" sz="2400" b="1" dirty="0">
                <a:solidFill>
                  <a:srgbClr val="10305F"/>
                </a:solidFill>
                <a:latin typeface="Calibri" pitchFamily="34" charset="0"/>
                <a:ea typeface="Calibri" pitchFamily="34" charset="-122"/>
                <a:cs typeface="Calibri" pitchFamily="34" charset="-120"/>
              </a:rPr>
              <a:t>Portuguese LLM: what it will do and how we build it together</a:t>
            </a:r>
            <a:endParaRPr lang="en-US" sz="2400" dirty="0"/>
          </a:p>
        </p:txBody>
      </p:sp>
      <p:sp>
        <p:nvSpPr>
          <p:cNvPr id="5" name="Text 3"/>
          <p:cNvSpPr txBox="1"/>
          <p:nvPr/>
        </p:nvSpPr>
        <p:spPr>
          <a:xfrm>
            <a:off x="457200" y="932688"/>
            <a:ext cx="11277295" cy="329184"/>
          </a:xfrm>
          <a:prstGeom prst="rect">
            <a:avLst/>
          </a:prstGeom>
          <a:noFill/>
          <a:ln/>
        </p:spPr>
        <p:txBody>
          <a:bodyPr wrap="square" lIns="0" tIns="0" rIns="0" bIns="0" rtlCol="0" anchor="ctr"/>
          <a:lstStyle/>
          <a:p>
            <a:pPr indent="0" marL="0">
              <a:buNone/>
            </a:pPr>
            <a:r>
              <a:rPr lang="en-US" sz="1300" dirty="0">
                <a:solidFill>
                  <a:srgbClr val="4B5A6B"/>
                </a:solidFill>
                <a:latin typeface="Calibri" pitchFamily="34" charset="0"/>
                <a:ea typeface="Calibri" pitchFamily="34" charset="-122"/>
                <a:cs typeface="Calibri" pitchFamily="34" charset="-120"/>
              </a:rPr>
              <a:t>Target capability, build approach, data conditions, division of work, and how the result is checked.</a:t>
            </a:r>
            <a:endParaRPr lang="en-US" sz="1300" dirty="0"/>
          </a:p>
        </p:txBody>
      </p:sp>
      <p:sp>
        <p:nvSpPr>
          <p:cNvPr id="6" name="Text 4"/>
          <p:cNvSpPr txBox="1"/>
          <p:nvPr/>
        </p:nvSpPr>
        <p:spPr>
          <a:xfrm>
            <a:off x="457200" y="1417320"/>
            <a:ext cx="5486400" cy="274320"/>
          </a:xfrm>
          <a:prstGeom prst="rect">
            <a:avLst/>
          </a:prstGeom>
          <a:noFill/>
          <a:ln/>
        </p:spPr>
        <p:txBody>
          <a:bodyPr wrap="square" lIns="0" tIns="0" rIns="0" bIns="0" rtlCol="0" anchor="ctr"/>
          <a:lstStyle/>
          <a:p>
            <a:pPr indent="0" marL="0">
              <a:buNone/>
            </a:pPr>
            <a:r>
              <a:rPr lang="en-US" sz="1250" b="1" dirty="0">
                <a:solidFill>
                  <a:srgbClr val="10305F"/>
                </a:solidFill>
                <a:latin typeface="Calibri" pitchFamily="34" charset="0"/>
                <a:ea typeface="Calibri" pitchFamily="34" charset="-122"/>
                <a:cs typeface="Calibri" pitchFamily="34" charset="-120"/>
              </a:rPr>
              <a:t>Build approach</a:t>
            </a:r>
            <a:endParaRPr lang="en-US" sz="1250" dirty="0"/>
          </a:p>
        </p:txBody>
      </p:sp>
      <p:sp>
        <p:nvSpPr>
          <p:cNvPr id="7" name="Shape 5"/>
          <p:cNvSpPr/>
          <p:nvPr/>
        </p:nvSpPr>
        <p:spPr>
          <a:xfrm>
            <a:off x="457200" y="1737360"/>
            <a:ext cx="2599868" cy="1051560"/>
          </a:xfrm>
          <a:prstGeom prst="roundRect">
            <a:avLst>
              <a:gd name="adj" fmla="val 6957"/>
            </a:avLst>
          </a:prstGeom>
          <a:solidFill>
            <a:srgbClr val="E7F3F0"/>
          </a:solidFill>
          <a:ln w="9525">
            <a:solidFill>
              <a:srgbClr val="DCE4EF"/>
            </a:solidFill>
            <a:prstDash val="solid"/>
          </a:ln>
        </p:spPr>
      </p:sp>
      <p:sp>
        <p:nvSpPr>
          <p:cNvPr id="8" name="Shape 6"/>
          <p:cNvSpPr/>
          <p:nvPr/>
        </p:nvSpPr>
        <p:spPr>
          <a:xfrm>
            <a:off x="566928" y="1847088"/>
            <a:ext cx="274320" cy="274320"/>
          </a:xfrm>
          <a:prstGeom prst="ellipse">
            <a:avLst/>
          </a:prstGeom>
          <a:solidFill>
            <a:srgbClr val="0E8577"/>
          </a:solidFill>
          <a:ln w="12700">
            <a:solidFill>
              <a:srgbClr val="0E8577"/>
            </a:solidFill>
            <a:prstDash val="solid"/>
          </a:ln>
        </p:spPr>
      </p:sp>
      <p:sp>
        <p:nvSpPr>
          <p:cNvPr id="9" name="Text 7"/>
          <p:cNvSpPr txBox="1"/>
          <p:nvPr/>
        </p:nvSpPr>
        <p:spPr>
          <a:xfrm>
            <a:off x="566928" y="184708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0" name="Text 8"/>
          <p:cNvSpPr txBox="1"/>
          <p:nvPr/>
        </p:nvSpPr>
        <p:spPr>
          <a:xfrm>
            <a:off x="914400" y="1810512"/>
            <a:ext cx="2051228" cy="347472"/>
          </a:xfrm>
          <a:prstGeom prst="rect">
            <a:avLst/>
          </a:prstGeom>
          <a:noFill/>
          <a:ln/>
        </p:spPr>
        <p:txBody>
          <a:bodyPr wrap="square" lIns="0" tIns="0" rIns="0" bIns="0" rtlCol="0" anchor="ctr"/>
          <a:lstStyle/>
          <a:p>
            <a:pPr indent="0" marL="0">
              <a:buNone/>
            </a:pPr>
            <a:r>
              <a:rPr lang="en-US" sz="1150" b="1" dirty="0">
                <a:solidFill>
                  <a:srgbClr val="10305F"/>
                </a:solidFill>
                <a:latin typeface="Calibri" pitchFamily="34" charset="0"/>
                <a:ea typeface="Calibri" pitchFamily="34" charset="-122"/>
                <a:cs typeface="Calibri" pitchFamily="34" charset="-120"/>
              </a:rPr>
              <a:t>Data preparation</a:t>
            </a:r>
            <a:endParaRPr lang="en-US" sz="1150" dirty="0"/>
          </a:p>
        </p:txBody>
      </p:sp>
      <p:sp>
        <p:nvSpPr>
          <p:cNvPr id="11" name="Text 9"/>
          <p:cNvSpPr txBox="1"/>
          <p:nvPr/>
        </p:nvSpPr>
        <p:spPr>
          <a:xfrm>
            <a:off x="566928" y="2240280"/>
            <a:ext cx="2380412" cy="457200"/>
          </a:xfrm>
          <a:prstGeom prst="rect">
            <a:avLst/>
          </a:prstGeom>
          <a:noFill/>
          <a:ln/>
        </p:spPr>
        <p:txBody>
          <a:bodyPr wrap="square" lIns="0" tIns="0" rIns="0" bIns="0" rtlCol="0" anchor="t"/>
          <a:lstStyle/>
          <a:p>
            <a:pPr indent="0" marL="0">
              <a:buNone/>
            </a:pPr>
            <a:r>
              <a:rPr lang="en-US" sz="1000" i="1" dirty="0">
                <a:solidFill>
                  <a:srgbClr val="8A96A6"/>
                </a:solidFill>
                <a:latin typeface="Calibri" pitchFamily="34" charset="0"/>
                <a:ea typeface="Calibri" pitchFamily="34" charset="-122"/>
                <a:cs typeface="Calibri" pitchFamily="34" charset="-120"/>
              </a:rPr>
              <a:t>[Sources, authorisation, data work and who does it]</a:t>
            </a:r>
            <a:endParaRPr lang="en-US" sz="1000" dirty="0"/>
          </a:p>
        </p:txBody>
      </p:sp>
      <p:sp>
        <p:nvSpPr>
          <p:cNvPr id="12" name="Shape 10"/>
          <p:cNvSpPr/>
          <p:nvPr/>
        </p:nvSpPr>
        <p:spPr>
          <a:xfrm>
            <a:off x="3111932" y="2171700"/>
            <a:ext cx="182880" cy="182880"/>
          </a:xfrm>
          <a:prstGeom prst="rightArrow">
            <a:avLst/>
          </a:prstGeom>
          <a:solidFill>
            <a:srgbClr val="DCE4EF"/>
          </a:solidFill>
          <a:ln w="12700">
            <a:solidFill>
              <a:srgbClr val="DCE4EF"/>
            </a:solidFill>
            <a:prstDash val="solid"/>
          </a:ln>
        </p:spPr>
      </p:sp>
      <p:sp>
        <p:nvSpPr>
          <p:cNvPr id="13" name="Shape 11"/>
          <p:cNvSpPr/>
          <p:nvPr/>
        </p:nvSpPr>
        <p:spPr>
          <a:xfrm>
            <a:off x="3349676" y="1737360"/>
            <a:ext cx="2599868" cy="1051560"/>
          </a:xfrm>
          <a:prstGeom prst="roundRect">
            <a:avLst>
              <a:gd name="adj" fmla="val 6957"/>
            </a:avLst>
          </a:prstGeom>
          <a:solidFill>
            <a:srgbClr val="F7F9FC"/>
          </a:solidFill>
          <a:ln w="9525">
            <a:solidFill>
              <a:srgbClr val="DCE4EF"/>
            </a:solidFill>
            <a:prstDash val="solid"/>
          </a:ln>
        </p:spPr>
      </p:sp>
      <p:sp>
        <p:nvSpPr>
          <p:cNvPr id="14" name="Shape 12"/>
          <p:cNvSpPr/>
          <p:nvPr/>
        </p:nvSpPr>
        <p:spPr>
          <a:xfrm>
            <a:off x="3459404" y="1847088"/>
            <a:ext cx="274320" cy="274320"/>
          </a:xfrm>
          <a:prstGeom prst="ellipse">
            <a:avLst/>
          </a:prstGeom>
          <a:solidFill>
            <a:srgbClr val="10305F"/>
          </a:solidFill>
          <a:ln w="12700">
            <a:solidFill>
              <a:srgbClr val="10305F"/>
            </a:solidFill>
            <a:prstDash val="solid"/>
          </a:ln>
        </p:spPr>
      </p:sp>
      <p:sp>
        <p:nvSpPr>
          <p:cNvPr id="15" name="Text 13"/>
          <p:cNvSpPr txBox="1"/>
          <p:nvPr/>
        </p:nvSpPr>
        <p:spPr>
          <a:xfrm>
            <a:off x="3459404" y="184708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6" name="Text 14"/>
          <p:cNvSpPr txBox="1"/>
          <p:nvPr/>
        </p:nvSpPr>
        <p:spPr>
          <a:xfrm>
            <a:off x="3806876" y="1810512"/>
            <a:ext cx="2051228" cy="347472"/>
          </a:xfrm>
          <a:prstGeom prst="rect">
            <a:avLst/>
          </a:prstGeom>
          <a:noFill/>
          <a:ln/>
        </p:spPr>
        <p:txBody>
          <a:bodyPr wrap="square" lIns="0" tIns="0" rIns="0" bIns="0" rtlCol="0" anchor="ctr"/>
          <a:lstStyle/>
          <a:p>
            <a:pPr indent="0" marL="0">
              <a:buNone/>
            </a:pPr>
            <a:r>
              <a:rPr lang="en-US" sz="1150" b="1" dirty="0">
                <a:solidFill>
                  <a:srgbClr val="10305F"/>
                </a:solidFill>
                <a:latin typeface="Calibri" pitchFamily="34" charset="0"/>
                <a:ea typeface="Calibri" pitchFamily="34" charset="-122"/>
                <a:cs typeface="Calibri" pitchFamily="34" charset="-120"/>
              </a:rPr>
              <a:t>Adaptation / training</a:t>
            </a:r>
            <a:endParaRPr lang="en-US" sz="1150" dirty="0"/>
          </a:p>
        </p:txBody>
      </p:sp>
      <p:sp>
        <p:nvSpPr>
          <p:cNvPr id="17" name="Text 15"/>
          <p:cNvSpPr txBox="1"/>
          <p:nvPr/>
        </p:nvSpPr>
        <p:spPr>
          <a:xfrm>
            <a:off x="3459404" y="2240280"/>
            <a:ext cx="2380412" cy="457200"/>
          </a:xfrm>
          <a:prstGeom prst="rect">
            <a:avLst/>
          </a:prstGeom>
          <a:noFill/>
          <a:ln/>
        </p:spPr>
        <p:txBody>
          <a:bodyPr wrap="square" lIns="0" tIns="0" rIns="0" bIns="0" rtlCol="0" anchor="t"/>
          <a:lstStyle/>
          <a:p>
            <a:pPr indent="0" marL="0">
              <a:buNone/>
            </a:pPr>
            <a:r>
              <a:rPr lang="en-US" sz="1000" i="1" dirty="0">
                <a:solidFill>
                  <a:srgbClr val="8A96A6"/>
                </a:solidFill>
                <a:latin typeface="Calibri" pitchFamily="34" charset="0"/>
                <a:ea typeface="Calibri" pitchFamily="34" charset="-122"/>
                <a:cs typeface="Calibri" pitchFamily="34" charset="-120"/>
              </a:rPr>
              <a:t>[Base model, method, why this route]</a:t>
            </a:r>
            <a:endParaRPr lang="en-US" sz="1000" dirty="0"/>
          </a:p>
        </p:txBody>
      </p:sp>
      <p:sp>
        <p:nvSpPr>
          <p:cNvPr id="18" name="Shape 16"/>
          <p:cNvSpPr/>
          <p:nvPr/>
        </p:nvSpPr>
        <p:spPr>
          <a:xfrm>
            <a:off x="6004408" y="2171700"/>
            <a:ext cx="182880" cy="182880"/>
          </a:xfrm>
          <a:prstGeom prst="rightArrow">
            <a:avLst/>
          </a:prstGeom>
          <a:solidFill>
            <a:srgbClr val="DCE4EF"/>
          </a:solidFill>
          <a:ln w="12700">
            <a:solidFill>
              <a:srgbClr val="DCE4EF"/>
            </a:solidFill>
            <a:prstDash val="solid"/>
          </a:ln>
        </p:spPr>
      </p:sp>
      <p:sp>
        <p:nvSpPr>
          <p:cNvPr id="19" name="Shape 17"/>
          <p:cNvSpPr/>
          <p:nvPr/>
        </p:nvSpPr>
        <p:spPr>
          <a:xfrm>
            <a:off x="6242152" y="1737360"/>
            <a:ext cx="2599868" cy="1051560"/>
          </a:xfrm>
          <a:prstGeom prst="roundRect">
            <a:avLst>
              <a:gd name="adj" fmla="val 6957"/>
            </a:avLst>
          </a:prstGeom>
          <a:solidFill>
            <a:srgbClr val="F7F9FC"/>
          </a:solidFill>
          <a:ln w="9525">
            <a:solidFill>
              <a:srgbClr val="DCE4EF"/>
            </a:solidFill>
            <a:prstDash val="solid"/>
          </a:ln>
        </p:spPr>
      </p:sp>
      <p:sp>
        <p:nvSpPr>
          <p:cNvPr id="20" name="Shape 18"/>
          <p:cNvSpPr/>
          <p:nvPr/>
        </p:nvSpPr>
        <p:spPr>
          <a:xfrm>
            <a:off x="6351880" y="1847088"/>
            <a:ext cx="274320" cy="274320"/>
          </a:xfrm>
          <a:prstGeom prst="ellipse">
            <a:avLst/>
          </a:prstGeom>
          <a:solidFill>
            <a:srgbClr val="10305F"/>
          </a:solidFill>
          <a:ln w="12700">
            <a:solidFill>
              <a:srgbClr val="10305F"/>
            </a:solidFill>
            <a:prstDash val="solid"/>
          </a:ln>
        </p:spPr>
      </p:sp>
      <p:sp>
        <p:nvSpPr>
          <p:cNvPr id="21" name="Text 19"/>
          <p:cNvSpPr txBox="1"/>
          <p:nvPr/>
        </p:nvSpPr>
        <p:spPr>
          <a:xfrm>
            <a:off x="6351880" y="184708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2" name="Text 20"/>
          <p:cNvSpPr txBox="1"/>
          <p:nvPr/>
        </p:nvSpPr>
        <p:spPr>
          <a:xfrm>
            <a:off x="6699352" y="1810512"/>
            <a:ext cx="2051228" cy="347472"/>
          </a:xfrm>
          <a:prstGeom prst="rect">
            <a:avLst/>
          </a:prstGeom>
          <a:noFill/>
          <a:ln/>
        </p:spPr>
        <p:txBody>
          <a:bodyPr wrap="square" lIns="0" tIns="0" rIns="0" bIns="0" rtlCol="0" anchor="ctr"/>
          <a:lstStyle/>
          <a:p>
            <a:pPr indent="0" marL="0">
              <a:buNone/>
            </a:pPr>
            <a:r>
              <a:rPr lang="en-US" sz="1150" b="1" dirty="0">
                <a:solidFill>
                  <a:srgbClr val="10305F"/>
                </a:solidFill>
                <a:latin typeface="Calibri" pitchFamily="34" charset="0"/>
                <a:ea typeface="Calibri" pitchFamily="34" charset="-122"/>
                <a:cs typeface="Calibri" pitchFamily="34" charset="-120"/>
              </a:rPr>
              <a:t>Evaluation</a:t>
            </a:r>
            <a:endParaRPr lang="en-US" sz="1150" dirty="0"/>
          </a:p>
        </p:txBody>
      </p:sp>
      <p:sp>
        <p:nvSpPr>
          <p:cNvPr id="23" name="Text 21"/>
          <p:cNvSpPr txBox="1"/>
          <p:nvPr/>
        </p:nvSpPr>
        <p:spPr>
          <a:xfrm>
            <a:off x="6351880" y="2240280"/>
            <a:ext cx="2380412" cy="457200"/>
          </a:xfrm>
          <a:prstGeom prst="rect">
            <a:avLst/>
          </a:prstGeom>
          <a:noFill/>
          <a:ln/>
        </p:spPr>
        <p:txBody>
          <a:bodyPr wrap="square" lIns="0" tIns="0" rIns="0" bIns="0" rtlCol="0" anchor="t"/>
          <a:lstStyle/>
          <a:p>
            <a:pPr indent="0" marL="0">
              <a:buNone/>
            </a:pPr>
            <a:r>
              <a:rPr lang="en-US" sz="1000" i="1" dirty="0">
                <a:solidFill>
                  <a:srgbClr val="8A96A6"/>
                </a:solidFill>
                <a:latin typeface="Calibri" pitchFamily="34" charset="0"/>
                <a:ea typeface="Calibri" pitchFamily="34" charset="-122"/>
                <a:cs typeface="Calibri" pitchFamily="34" charset="-120"/>
              </a:rPr>
              <a:t>[Benchmarks, test sets, RNP review]</a:t>
            </a:r>
            <a:endParaRPr lang="en-US" sz="1000" dirty="0"/>
          </a:p>
        </p:txBody>
      </p:sp>
      <p:sp>
        <p:nvSpPr>
          <p:cNvPr id="24" name="Shape 22"/>
          <p:cNvSpPr/>
          <p:nvPr/>
        </p:nvSpPr>
        <p:spPr>
          <a:xfrm>
            <a:off x="8896883" y="2171700"/>
            <a:ext cx="182880" cy="182880"/>
          </a:xfrm>
          <a:prstGeom prst="rightArrow">
            <a:avLst/>
          </a:prstGeom>
          <a:solidFill>
            <a:srgbClr val="DCE4EF"/>
          </a:solidFill>
          <a:ln w="12700">
            <a:solidFill>
              <a:srgbClr val="DCE4EF"/>
            </a:solidFill>
            <a:prstDash val="solid"/>
          </a:ln>
        </p:spPr>
      </p:sp>
      <p:sp>
        <p:nvSpPr>
          <p:cNvPr id="25" name="Shape 23"/>
          <p:cNvSpPr/>
          <p:nvPr/>
        </p:nvSpPr>
        <p:spPr>
          <a:xfrm>
            <a:off x="9134627" y="1737360"/>
            <a:ext cx="2599868" cy="1051560"/>
          </a:xfrm>
          <a:prstGeom prst="roundRect">
            <a:avLst>
              <a:gd name="adj" fmla="val 6957"/>
            </a:avLst>
          </a:prstGeom>
          <a:solidFill>
            <a:srgbClr val="F7F9FC"/>
          </a:solidFill>
          <a:ln w="9525">
            <a:solidFill>
              <a:srgbClr val="DCE4EF"/>
            </a:solidFill>
            <a:prstDash val="solid"/>
          </a:ln>
        </p:spPr>
      </p:sp>
      <p:sp>
        <p:nvSpPr>
          <p:cNvPr id="26" name="Shape 24"/>
          <p:cNvSpPr/>
          <p:nvPr/>
        </p:nvSpPr>
        <p:spPr>
          <a:xfrm>
            <a:off x="9244355" y="1847088"/>
            <a:ext cx="274320" cy="274320"/>
          </a:xfrm>
          <a:prstGeom prst="ellipse">
            <a:avLst/>
          </a:prstGeom>
          <a:solidFill>
            <a:srgbClr val="10305F"/>
          </a:solidFill>
          <a:ln w="12700">
            <a:solidFill>
              <a:srgbClr val="10305F"/>
            </a:solidFill>
            <a:prstDash val="solid"/>
          </a:ln>
        </p:spPr>
      </p:sp>
      <p:sp>
        <p:nvSpPr>
          <p:cNvPr id="27" name="Text 25"/>
          <p:cNvSpPr txBox="1"/>
          <p:nvPr/>
        </p:nvSpPr>
        <p:spPr>
          <a:xfrm>
            <a:off x="9244355" y="184708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8" name="Text 26"/>
          <p:cNvSpPr txBox="1"/>
          <p:nvPr/>
        </p:nvSpPr>
        <p:spPr>
          <a:xfrm>
            <a:off x="9591827" y="1810512"/>
            <a:ext cx="2051228" cy="347472"/>
          </a:xfrm>
          <a:prstGeom prst="rect">
            <a:avLst/>
          </a:prstGeom>
          <a:noFill/>
          <a:ln/>
        </p:spPr>
        <p:txBody>
          <a:bodyPr wrap="square" lIns="0" tIns="0" rIns="0" bIns="0" rtlCol="0" anchor="ctr"/>
          <a:lstStyle/>
          <a:p>
            <a:pPr indent="0" marL="0">
              <a:buNone/>
            </a:pPr>
            <a:r>
              <a:rPr lang="en-US" sz="1150" b="1" dirty="0">
                <a:solidFill>
                  <a:srgbClr val="10305F"/>
                </a:solidFill>
                <a:latin typeface="Calibri" pitchFamily="34" charset="0"/>
                <a:ea typeface="Calibri" pitchFamily="34" charset="-122"/>
                <a:cs typeface="Calibri" pitchFamily="34" charset="-120"/>
              </a:rPr>
              <a:t>Delivery</a:t>
            </a:r>
            <a:endParaRPr lang="en-US" sz="1150" dirty="0"/>
          </a:p>
        </p:txBody>
      </p:sp>
      <p:sp>
        <p:nvSpPr>
          <p:cNvPr id="29" name="Text 27"/>
          <p:cNvSpPr txBox="1"/>
          <p:nvPr/>
        </p:nvSpPr>
        <p:spPr>
          <a:xfrm>
            <a:off x="9244355" y="2240280"/>
            <a:ext cx="2380412" cy="457200"/>
          </a:xfrm>
          <a:prstGeom prst="rect">
            <a:avLst/>
          </a:prstGeom>
          <a:noFill/>
          <a:ln/>
        </p:spPr>
        <p:txBody>
          <a:bodyPr wrap="square" lIns="0" tIns="0" rIns="0" bIns="0" rtlCol="0" anchor="t"/>
          <a:lstStyle/>
          <a:p>
            <a:pPr indent="0" marL="0">
              <a:buNone/>
            </a:pPr>
            <a:r>
              <a:rPr lang="en-US" sz="1000" i="1" dirty="0">
                <a:solidFill>
                  <a:srgbClr val="8A96A6"/>
                </a:solidFill>
                <a:latin typeface="Calibri" pitchFamily="34" charset="0"/>
                <a:ea typeface="Calibri" pitchFamily="34" charset="-122"/>
                <a:cs typeface="Calibri" pitchFamily="34" charset="-120"/>
              </a:rPr>
              <a:t>[Model package, documents, acceptance]</a:t>
            </a:r>
            <a:endParaRPr lang="en-US" sz="1000" dirty="0"/>
          </a:p>
        </p:txBody>
      </p:sp>
      <p:sp>
        <p:nvSpPr>
          <p:cNvPr id="30" name="Shape 28"/>
          <p:cNvSpPr/>
          <p:nvPr/>
        </p:nvSpPr>
        <p:spPr>
          <a:xfrm>
            <a:off x="457200" y="3063240"/>
            <a:ext cx="3576218" cy="2286000"/>
          </a:xfrm>
          <a:prstGeom prst="roundRect">
            <a:avLst>
              <a:gd name="adj" fmla="val 3200"/>
            </a:avLst>
          </a:prstGeom>
          <a:solidFill>
            <a:srgbClr val="FFFFFF"/>
          </a:solidFill>
          <a:ln w="9525">
            <a:solidFill>
              <a:srgbClr val="D9E2EC"/>
            </a:solidFill>
            <a:prstDash val="solid"/>
          </a:ln>
          <a:effectLst>
            <a:outerShdw sx="100000" sy="100000" kx="0" ky="0" algn="bl" rotWithShape="0" blurRad="63500" dist="12700" dir="5400000">
              <a:srgbClr val="9FB0C4">
                <a:alpha val="22000"/>
              </a:srgbClr>
            </a:outerShdw>
          </a:effectLst>
        </p:spPr>
      </p:sp>
      <p:sp>
        <p:nvSpPr>
          <p:cNvPr id="31" name="Text 29"/>
          <p:cNvSpPr txBox="1"/>
          <p:nvPr/>
        </p:nvSpPr>
        <p:spPr>
          <a:xfrm>
            <a:off x="658368" y="3227832"/>
            <a:ext cx="3173882" cy="274320"/>
          </a:xfrm>
          <a:prstGeom prst="rect">
            <a:avLst/>
          </a:prstGeom>
          <a:noFill/>
          <a:ln/>
        </p:spPr>
        <p:txBody>
          <a:bodyPr wrap="square" lIns="0" tIns="0" rIns="0" bIns="0" rtlCol="0" anchor="ctr"/>
          <a:lstStyle/>
          <a:p>
            <a:pPr indent="0" marL="0">
              <a:buNone/>
            </a:pPr>
            <a:r>
              <a:rPr lang="en-US" sz="1200" b="1" dirty="0">
                <a:solidFill>
                  <a:srgbClr val="10305F"/>
                </a:solidFill>
                <a:latin typeface="Calibri" pitchFamily="34" charset="0"/>
                <a:ea typeface="Calibri" pitchFamily="34" charset="-122"/>
                <a:cs typeface="Calibri" pitchFamily="34" charset="-120"/>
              </a:rPr>
              <a:t>Target capability &amp; how it is measured</a:t>
            </a:r>
            <a:endParaRPr lang="en-US" sz="1200" dirty="0"/>
          </a:p>
        </p:txBody>
      </p:sp>
      <p:sp>
        <p:nvSpPr>
          <p:cNvPr id="32" name="Text 30"/>
          <p:cNvSpPr txBox="1"/>
          <p:nvPr/>
        </p:nvSpPr>
        <p:spPr>
          <a:xfrm>
            <a:off x="658368" y="3611880"/>
            <a:ext cx="3173882" cy="1600200"/>
          </a:xfrm>
          <a:prstGeom prst="rect">
            <a:avLst/>
          </a:prstGeom>
          <a:noFill/>
          <a:ln/>
        </p:spPr>
        <p:txBody>
          <a:bodyPr wrap="square" lIns="0" tIns="0" rIns="0" bIns="0" rtlCol="0" anchor="t"/>
          <a:lstStyle/>
          <a:p>
            <a:pPr indent="0" marL="0">
              <a:buNone/>
            </a:pPr>
            <a:r>
              <a:rPr lang="en-US" sz="1050" i="1" dirty="0">
                <a:solidFill>
                  <a:srgbClr val="8A96A6"/>
                </a:solidFill>
                <a:latin typeface="Calibri" pitchFamily="34" charset="0"/>
                <a:ea typeface="Calibri" pitchFamily="34" charset="-122"/>
                <a:cs typeface="Calibri" pitchFamily="34" charset="-120"/>
              </a:rPr>
              <a:t>[Use cases the model must support]</a:t>
            </a:r>
            <a:endParaRPr lang="en-US" sz="1050" dirty="0"/>
          </a:p>
          <a:p>
            <a:pPr indent="0" marL="0">
              <a:buNone/>
            </a:pPr>
            <a:endParaRPr lang="en-US" sz="1050" dirty="0"/>
          </a:p>
          <a:p>
            <a:pPr indent="0" marL="0">
              <a:buNone/>
            </a:pPr>
            <a:r>
              <a:rPr lang="en-US" sz="1050" i="1" dirty="0">
                <a:solidFill>
                  <a:srgbClr val="8A96A6"/>
                </a:solidFill>
                <a:latin typeface="Calibri" pitchFamily="34" charset="0"/>
                <a:ea typeface="Calibri" pitchFamily="34" charset="-122"/>
                <a:cs typeface="Calibri" pitchFamily="34" charset="-120"/>
              </a:rPr>
              <a:t>[Evidence: samples, evaluation results, comparison]</a:t>
            </a:r>
            <a:endParaRPr lang="en-US" sz="1050" dirty="0"/>
          </a:p>
        </p:txBody>
      </p:sp>
      <p:sp>
        <p:nvSpPr>
          <p:cNvPr id="33" name="Shape 31"/>
          <p:cNvSpPr/>
          <p:nvPr/>
        </p:nvSpPr>
        <p:spPr>
          <a:xfrm>
            <a:off x="4307738" y="3063240"/>
            <a:ext cx="3576218" cy="2286000"/>
          </a:xfrm>
          <a:prstGeom prst="roundRect">
            <a:avLst>
              <a:gd name="adj" fmla="val 3200"/>
            </a:avLst>
          </a:prstGeom>
          <a:solidFill>
            <a:srgbClr val="FFFFFF"/>
          </a:solidFill>
          <a:ln w="9525">
            <a:solidFill>
              <a:srgbClr val="D9E2EC"/>
            </a:solidFill>
            <a:prstDash val="solid"/>
          </a:ln>
          <a:effectLst>
            <a:outerShdw sx="100000" sy="100000" kx="0" ky="0" algn="bl" rotWithShape="0" blurRad="63500" dist="12700" dir="5400000">
              <a:srgbClr val="9FB0C4">
                <a:alpha val="22000"/>
              </a:srgbClr>
            </a:outerShdw>
          </a:effectLst>
        </p:spPr>
      </p:sp>
      <p:sp>
        <p:nvSpPr>
          <p:cNvPr id="34" name="Text 32"/>
          <p:cNvSpPr txBox="1"/>
          <p:nvPr/>
        </p:nvSpPr>
        <p:spPr>
          <a:xfrm>
            <a:off x="4508906" y="3227832"/>
            <a:ext cx="3173882" cy="274320"/>
          </a:xfrm>
          <a:prstGeom prst="rect">
            <a:avLst/>
          </a:prstGeom>
          <a:noFill/>
          <a:ln/>
        </p:spPr>
        <p:txBody>
          <a:bodyPr wrap="square" lIns="0" tIns="0" rIns="0" bIns="0" rtlCol="0" anchor="ctr"/>
          <a:lstStyle/>
          <a:p>
            <a:pPr indent="0" marL="0">
              <a:buNone/>
            </a:pPr>
            <a:r>
              <a:rPr lang="en-US" sz="1200" b="1" dirty="0">
                <a:solidFill>
                  <a:srgbClr val="10305F"/>
                </a:solidFill>
                <a:latin typeface="Calibri" pitchFamily="34" charset="0"/>
                <a:ea typeface="Calibri" pitchFamily="34" charset="-122"/>
                <a:cs typeface="Calibri" pitchFamily="34" charset="-120"/>
              </a:rPr>
              <a:t>Data &amp; conditions</a:t>
            </a:r>
            <a:endParaRPr lang="en-US" sz="1200" dirty="0"/>
          </a:p>
        </p:txBody>
      </p:sp>
      <p:sp>
        <p:nvSpPr>
          <p:cNvPr id="35" name="Text 33"/>
          <p:cNvSpPr txBox="1"/>
          <p:nvPr/>
        </p:nvSpPr>
        <p:spPr>
          <a:xfrm>
            <a:off x="4508906" y="3611880"/>
            <a:ext cx="3173882" cy="1600200"/>
          </a:xfrm>
          <a:prstGeom prst="rect">
            <a:avLst/>
          </a:prstGeom>
          <a:noFill/>
          <a:ln/>
        </p:spPr>
        <p:txBody>
          <a:bodyPr wrap="square" lIns="0" tIns="0" rIns="0" bIns="0" rtlCol="0" anchor="t"/>
          <a:lstStyle/>
          <a:p>
            <a:pPr indent="0" marL="0">
              <a:buNone/>
            </a:pPr>
            <a:r>
              <a:rPr lang="en-US" sz="1050" i="1" dirty="0">
                <a:solidFill>
                  <a:srgbClr val="8A96A6"/>
                </a:solidFill>
                <a:latin typeface="Calibri" pitchFamily="34" charset="0"/>
                <a:ea typeface="Calibri" pitchFamily="34" charset="-122"/>
                <a:cs typeface="Calibri" pitchFamily="34" charset="-120"/>
              </a:rPr>
              <a:t>[Data needed and where it comes from]</a:t>
            </a:r>
            <a:endParaRPr lang="en-US" sz="1050" dirty="0"/>
          </a:p>
          <a:p>
            <a:pPr indent="0" marL="0">
              <a:buNone/>
            </a:pPr>
            <a:endParaRPr lang="en-US" sz="1050" dirty="0"/>
          </a:p>
          <a:p>
            <a:pPr indent="0" marL="0">
              <a:buNone/>
            </a:pPr>
            <a:r>
              <a:rPr lang="en-US" sz="1050" i="1" dirty="0">
                <a:solidFill>
                  <a:srgbClr val="8A96A6"/>
                </a:solidFill>
                <a:latin typeface="Calibri" pitchFamily="34" charset="0"/>
                <a:ea typeface="Calibri" pitchFamily="34" charset="-122"/>
                <a:cs typeface="Calibri" pitchFamily="34" charset="-120"/>
              </a:rPr>
              <a:t>[Authorisation and data-processing responsibility]</a:t>
            </a:r>
            <a:endParaRPr lang="en-US" sz="1050" dirty="0"/>
          </a:p>
          <a:p>
            <a:pPr indent="0" marL="0">
              <a:buNone/>
            </a:pPr>
            <a:endParaRPr lang="en-US" sz="1050" dirty="0"/>
          </a:p>
          <a:p>
            <a:pPr indent="0" marL="0">
              <a:buNone/>
            </a:pPr>
            <a:r>
              <a:rPr lang="en-US" sz="1050" i="1" dirty="0">
                <a:solidFill>
                  <a:srgbClr val="8A96A6"/>
                </a:solidFill>
                <a:latin typeface="Calibri" pitchFamily="34" charset="0"/>
                <a:ea typeface="Calibri" pitchFamily="34" charset="-122"/>
                <a:cs typeface="Calibri" pitchFamily="34" charset="-120"/>
              </a:rPr>
              <a:t>[Platform / compute dependencies]</a:t>
            </a:r>
            <a:endParaRPr lang="en-US" sz="1050" dirty="0"/>
          </a:p>
        </p:txBody>
      </p:sp>
      <p:sp>
        <p:nvSpPr>
          <p:cNvPr id="36" name="Shape 34"/>
          <p:cNvSpPr/>
          <p:nvPr/>
        </p:nvSpPr>
        <p:spPr>
          <a:xfrm>
            <a:off x="8158277" y="3063240"/>
            <a:ext cx="3576218" cy="2286000"/>
          </a:xfrm>
          <a:prstGeom prst="roundRect">
            <a:avLst>
              <a:gd name="adj" fmla="val 3200"/>
            </a:avLst>
          </a:prstGeom>
          <a:solidFill>
            <a:srgbClr val="FFFFFF"/>
          </a:solidFill>
          <a:ln w="9525">
            <a:solidFill>
              <a:srgbClr val="D9E2EC"/>
            </a:solidFill>
            <a:prstDash val="solid"/>
          </a:ln>
          <a:effectLst>
            <a:outerShdw sx="100000" sy="100000" kx="0" ky="0" algn="bl" rotWithShape="0" blurRad="63500" dist="12700" dir="5400000">
              <a:srgbClr val="9FB0C4">
                <a:alpha val="22000"/>
              </a:srgbClr>
            </a:outerShdw>
          </a:effectLst>
        </p:spPr>
      </p:sp>
      <p:sp>
        <p:nvSpPr>
          <p:cNvPr id="37" name="Text 35"/>
          <p:cNvSpPr txBox="1"/>
          <p:nvPr/>
        </p:nvSpPr>
        <p:spPr>
          <a:xfrm>
            <a:off x="8359445" y="3227832"/>
            <a:ext cx="3173882" cy="274320"/>
          </a:xfrm>
          <a:prstGeom prst="rect">
            <a:avLst/>
          </a:prstGeom>
          <a:noFill/>
          <a:ln/>
        </p:spPr>
        <p:txBody>
          <a:bodyPr wrap="square" lIns="0" tIns="0" rIns="0" bIns="0" rtlCol="0" anchor="ctr"/>
          <a:lstStyle/>
          <a:p>
            <a:pPr indent="0" marL="0">
              <a:buNone/>
            </a:pPr>
            <a:r>
              <a:rPr lang="en-US" sz="1200" b="1" dirty="0">
                <a:solidFill>
                  <a:srgbClr val="10305F"/>
                </a:solidFill>
                <a:latin typeface="Calibri" pitchFamily="34" charset="0"/>
                <a:ea typeface="Calibri" pitchFamily="34" charset="-122"/>
                <a:cs typeface="Calibri" pitchFamily="34" charset="-120"/>
              </a:rPr>
              <a:t>Who does what</a:t>
            </a:r>
            <a:endParaRPr lang="en-US" sz="1200" dirty="0"/>
          </a:p>
        </p:txBody>
      </p:sp>
      <p:sp>
        <p:nvSpPr>
          <p:cNvPr id="38" name="Shape 36"/>
          <p:cNvSpPr/>
          <p:nvPr/>
        </p:nvSpPr>
        <p:spPr>
          <a:xfrm>
            <a:off x="8359445" y="3611880"/>
            <a:ext cx="1518361" cy="1554480"/>
          </a:xfrm>
          <a:prstGeom prst="roundRect">
            <a:avLst>
              <a:gd name="adj" fmla="val 4818"/>
            </a:avLst>
          </a:prstGeom>
          <a:solidFill>
            <a:srgbClr val="E7F3F0"/>
          </a:solidFill>
          <a:ln w="9525">
            <a:solidFill>
              <a:srgbClr val="E7F3F0"/>
            </a:solidFill>
            <a:prstDash val="solid"/>
          </a:ln>
        </p:spPr>
      </p:sp>
      <p:sp>
        <p:nvSpPr>
          <p:cNvPr id="39" name="Shape 37"/>
          <p:cNvSpPr/>
          <p:nvPr/>
        </p:nvSpPr>
        <p:spPr>
          <a:xfrm>
            <a:off x="10014966" y="3611880"/>
            <a:ext cx="1518361" cy="1554480"/>
          </a:xfrm>
          <a:prstGeom prst="roundRect">
            <a:avLst>
              <a:gd name="adj" fmla="val 4818"/>
            </a:avLst>
          </a:prstGeom>
          <a:solidFill>
            <a:srgbClr val="F7F9FC"/>
          </a:solidFill>
          <a:ln w="9525">
            <a:solidFill>
              <a:srgbClr val="DCE4EF"/>
            </a:solidFill>
            <a:prstDash val="solid"/>
          </a:ln>
        </p:spPr>
      </p:sp>
      <p:sp>
        <p:nvSpPr>
          <p:cNvPr id="40" name="Text 38"/>
          <p:cNvSpPr txBox="1"/>
          <p:nvPr/>
        </p:nvSpPr>
        <p:spPr>
          <a:xfrm>
            <a:off x="8450885" y="3685032"/>
            <a:ext cx="1335481" cy="274320"/>
          </a:xfrm>
          <a:prstGeom prst="rect">
            <a:avLst/>
          </a:prstGeom>
          <a:noFill/>
          <a:ln/>
        </p:spPr>
        <p:txBody>
          <a:bodyPr wrap="square" lIns="0" tIns="0" rIns="0" bIns="0" rtlCol="0" anchor="ctr"/>
          <a:lstStyle/>
          <a:p>
            <a:pPr indent="0" marL="0">
              <a:buNone/>
            </a:pPr>
            <a:r>
              <a:rPr lang="en-US" sz="1100" b="1" dirty="0">
                <a:solidFill>
                  <a:srgbClr val="0E8577"/>
                </a:solidFill>
                <a:latin typeface="Calibri" pitchFamily="34" charset="0"/>
                <a:ea typeface="Calibri" pitchFamily="34" charset="-122"/>
                <a:cs typeface="Calibri" pitchFamily="34" charset="-120"/>
              </a:rPr>
              <a:t>iFLYTEK</a:t>
            </a:r>
            <a:endParaRPr lang="en-US" sz="1100" dirty="0"/>
          </a:p>
        </p:txBody>
      </p:sp>
      <p:sp>
        <p:nvSpPr>
          <p:cNvPr id="41" name="Text 39"/>
          <p:cNvSpPr txBox="1"/>
          <p:nvPr/>
        </p:nvSpPr>
        <p:spPr>
          <a:xfrm>
            <a:off x="10106406" y="3685032"/>
            <a:ext cx="1335481" cy="274320"/>
          </a:xfrm>
          <a:prstGeom prst="rect">
            <a:avLst/>
          </a:prstGeom>
          <a:noFill/>
          <a:ln/>
        </p:spPr>
        <p:txBody>
          <a:bodyPr wrap="square" lIns="0" tIns="0" rIns="0" bIns="0" rtlCol="0" anchor="ctr"/>
          <a:lstStyle/>
          <a:p>
            <a:pPr indent="0" marL="0">
              <a:buNone/>
            </a:pPr>
            <a:r>
              <a:rPr lang="en-US" sz="1100" b="1" dirty="0">
                <a:solidFill>
                  <a:srgbClr val="10305F"/>
                </a:solidFill>
                <a:latin typeface="Calibri" pitchFamily="34" charset="0"/>
                <a:ea typeface="Calibri" pitchFamily="34" charset="-122"/>
                <a:cs typeface="Calibri" pitchFamily="34" charset="-120"/>
              </a:rPr>
              <a:t>RNP</a:t>
            </a:r>
            <a:endParaRPr lang="en-US" sz="1100" dirty="0"/>
          </a:p>
        </p:txBody>
      </p:sp>
      <p:sp>
        <p:nvSpPr>
          <p:cNvPr id="42" name="Text 40"/>
          <p:cNvSpPr txBox="1"/>
          <p:nvPr/>
        </p:nvSpPr>
        <p:spPr>
          <a:xfrm>
            <a:off x="8450885" y="3995928"/>
            <a:ext cx="1335481" cy="1097280"/>
          </a:xfrm>
          <a:prstGeom prst="rect">
            <a:avLst/>
          </a:prstGeom>
          <a:noFill/>
          <a:ln/>
        </p:spPr>
        <p:txBody>
          <a:bodyPr wrap="square" lIns="0" tIns="0" rIns="0" bIns="0" rtlCol="0" anchor="t"/>
          <a:lstStyle/>
          <a:p>
            <a:pPr indent="0" marL="0">
              <a:buNone/>
            </a:pPr>
            <a:r>
              <a:rPr lang="en-US" sz="1000" i="1" dirty="0">
                <a:solidFill>
                  <a:srgbClr val="8A96A6"/>
                </a:solidFill>
                <a:latin typeface="Calibri" pitchFamily="34" charset="0"/>
                <a:ea typeface="Calibri" pitchFamily="34" charset="-122"/>
                <a:cs typeface="Calibri" pitchFamily="34" charset="-120"/>
              </a:rPr>
              <a:t>[Technical work: data processing, training, evaluation, packaging]</a:t>
            </a:r>
            <a:endParaRPr lang="en-US" sz="1000" dirty="0"/>
          </a:p>
        </p:txBody>
      </p:sp>
      <p:sp>
        <p:nvSpPr>
          <p:cNvPr id="43" name="Text 41"/>
          <p:cNvSpPr txBox="1"/>
          <p:nvPr/>
        </p:nvSpPr>
        <p:spPr>
          <a:xfrm>
            <a:off x="10106406" y="3995928"/>
            <a:ext cx="1335481" cy="1097280"/>
          </a:xfrm>
          <a:prstGeom prst="rect">
            <a:avLst/>
          </a:prstGeom>
          <a:noFill/>
          <a:ln/>
        </p:spPr>
        <p:txBody>
          <a:bodyPr wrap="square" lIns="0" tIns="0" rIns="0" bIns="0" rtlCol="0" anchor="t"/>
          <a:lstStyle/>
          <a:p>
            <a:pPr indent="0" marL="0">
              <a:buNone/>
            </a:pPr>
            <a:r>
              <a:rPr lang="en-US" sz="1000" i="1" dirty="0">
                <a:solidFill>
                  <a:srgbClr val="8A96A6"/>
                </a:solidFill>
                <a:latin typeface="Calibri" pitchFamily="34" charset="0"/>
                <a:ea typeface="Calibri" pitchFamily="34" charset="-122"/>
                <a:cs typeface="Calibri" pitchFamily="34" charset="-120"/>
              </a:rPr>
              <a:t>[Requirements, data supply, evaluation, participation in each stage]</a:t>
            </a:r>
            <a:endParaRPr lang="en-US" sz="1000" dirty="0"/>
          </a:p>
        </p:txBody>
      </p:sp>
      <p:sp>
        <p:nvSpPr>
          <p:cNvPr id="44" name="Shape 42"/>
          <p:cNvSpPr/>
          <p:nvPr/>
        </p:nvSpPr>
        <p:spPr>
          <a:xfrm>
            <a:off x="457200" y="5532120"/>
            <a:ext cx="11277295" cy="685800"/>
          </a:xfrm>
          <a:prstGeom prst="roundRect">
            <a:avLst>
              <a:gd name="adj" fmla="val 10667"/>
            </a:avLst>
          </a:prstGeom>
          <a:solidFill>
            <a:srgbClr val="F7F9FC"/>
          </a:solidFill>
          <a:ln w="9525">
            <a:solidFill>
              <a:srgbClr val="DCE4EF"/>
            </a:solidFill>
            <a:prstDash val="solid"/>
          </a:ln>
        </p:spPr>
      </p:sp>
      <p:sp>
        <p:nvSpPr>
          <p:cNvPr id="45" name="Text 43"/>
          <p:cNvSpPr txBox="1"/>
          <p:nvPr/>
        </p:nvSpPr>
        <p:spPr>
          <a:xfrm>
            <a:off x="658368" y="5596128"/>
            <a:ext cx="2743200" cy="274320"/>
          </a:xfrm>
          <a:prstGeom prst="rect">
            <a:avLst/>
          </a:prstGeom>
          <a:noFill/>
          <a:ln/>
        </p:spPr>
        <p:txBody>
          <a:bodyPr wrap="square" lIns="0" tIns="0" rIns="0" bIns="0" rtlCol="0" anchor="ctr"/>
          <a:lstStyle/>
          <a:p>
            <a:pPr indent="0" marL="0">
              <a:buNone/>
            </a:pPr>
            <a:r>
              <a:rPr lang="en-US" sz="1150" b="1" dirty="0">
                <a:solidFill>
                  <a:srgbClr val="0E8577"/>
                </a:solidFill>
                <a:latin typeface="Calibri" pitchFamily="34" charset="0"/>
                <a:ea typeface="Calibri" pitchFamily="34" charset="-122"/>
                <a:cs typeface="Calibri" pitchFamily="34" charset="-120"/>
              </a:rPr>
              <a:t>Deliverables &amp; acceptance</a:t>
            </a:r>
            <a:endParaRPr lang="en-US" sz="1150" dirty="0"/>
          </a:p>
        </p:txBody>
      </p:sp>
      <p:sp>
        <p:nvSpPr>
          <p:cNvPr id="46" name="Text 44"/>
          <p:cNvSpPr txBox="1"/>
          <p:nvPr/>
        </p:nvSpPr>
        <p:spPr>
          <a:xfrm>
            <a:off x="658368" y="5870448"/>
            <a:ext cx="10874959" cy="320040"/>
          </a:xfrm>
          <a:prstGeom prst="rect">
            <a:avLst/>
          </a:prstGeom>
          <a:noFill/>
          <a:ln/>
        </p:spPr>
        <p:txBody>
          <a:bodyPr wrap="square" lIns="0" tIns="0" rIns="0" bIns="0" rtlCol="0" anchor="t"/>
          <a:lstStyle/>
          <a:p>
            <a:pPr indent="0" marL="0">
              <a:buNone/>
            </a:pPr>
            <a:r>
              <a:rPr lang="en-US" sz="1000" i="1" dirty="0">
                <a:solidFill>
                  <a:srgbClr val="8A96A6"/>
                </a:solidFill>
                <a:latin typeface="Calibri" pitchFamily="34" charset="0"/>
                <a:ea typeface="Calibri" pitchFamily="34" charset="-122"/>
                <a:cs typeface="Calibri" pitchFamily="34" charset="-120"/>
              </a:rPr>
              <a:t>[Model delivery form]  ·  [Evaluation criteria and acceptance]  ·  [Accompanying documents: training data description, evaluation report, operating guide]</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B7A8B"/>
                </a:solidFill>
                <a:latin typeface="Calibri" pitchFamily="34" charset="0"/>
                <a:ea typeface="Calibri" pitchFamily="34" charset="-122"/>
                <a:cs typeface="Calibri" pitchFamily="34" charset="-120"/>
              </a:rPr>
              <a:t>iFLYTEK  ·  RNP technical meeting  ·  Working draft for discussion</a:t>
            </a:r>
            <a:endParaRPr lang="en-US" sz="900" dirty="0"/>
          </a:p>
        </p:txBody>
      </p:sp>
      <p:sp>
        <p:nvSpPr>
          <p:cNvPr id="3" name="Text 1"/>
          <p:cNvSpPr txBox="1"/>
          <p:nvPr/>
        </p:nvSpPr>
        <p:spPr>
          <a:xfrm>
            <a:off x="10637215" y="6446520"/>
            <a:ext cx="1097280" cy="274320"/>
          </a:xfrm>
          <a:prstGeom prst="rect">
            <a:avLst/>
          </a:prstGeom>
          <a:noFill/>
          <a:ln/>
        </p:spPr>
        <p:txBody>
          <a:bodyPr wrap="square" lIns="0" tIns="0" rIns="0" bIns="0" rtlCol="0" anchor="ctr"/>
          <a:lstStyle/>
          <a:p>
            <a:pPr algn="r" indent="0" marL="0">
              <a:buNone/>
            </a:pPr>
            <a:r>
              <a:rPr lang="en-US" sz="900" dirty="0">
                <a:solidFill>
                  <a:srgbClr val="6B7A8B"/>
                </a:solidFill>
                <a:latin typeface="Calibri" pitchFamily="34" charset="0"/>
                <a:ea typeface="Calibri" pitchFamily="34" charset="-122"/>
                <a:cs typeface="Calibri" pitchFamily="34" charset="-120"/>
              </a:rPr>
              <a:t>4 / 10</a:t>
            </a:r>
            <a:endParaRPr lang="en-US" sz="900" dirty="0"/>
          </a:p>
        </p:txBody>
      </p:sp>
      <p:sp>
        <p:nvSpPr>
          <p:cNvPr id="4" name="Text 2"/>
          <p:cNvSpPr txBox="1"/>
          <p:nvPr/>
        </p:nvSpPr>
        <p:spPr>
          <a:xfrm>
            <a:off x="457200" y="347472"/>
            <a:ext cx="11277295" cy="566928"/>
          </a:xfrm>
          <a:prstGeom prst="rect">
            <a:avLst/>
          </a:prstGeom>
          <a:noFill/>
          <a:ln/>
        </p:spPr>
        <p:txBody>
          <a:bodyPr wrap="square" lIns="0" tIns="0" rIns="0" bIns="0" rtlCol="0" anchor="ctr"/>
          <a:lstStyle/>
          <a:p>
            <a:pPr indent="0" marL="0">
              <a:buNone/>
            </a:pPr>
            <a:r>
              <a:rPr lang="en-US" sz="2400" b="1" dirty="0">
                <a:solidFill>
                  <a:srgbClr val="10305F"/>
                </a:solidFill>
                <a:latin typeface="Calibri" pitchFamily="34" charset="0"/>
                <a:ea typeface="Calibri" pitchFamily="34" charset="-122"/>
                <a:cs typeface="Calibri" pitchFamily="34" charset="-120"/>
              </a:rPr>
              <a:t>Application: who uses it and what it delivers</a:t>
            </a:r>
            <a:endParaRPr lang="en-US" sz="2400" dirty="0"/>
          </a:p>
        </p:txBody>
      </p:sp>
      <p:sp>
        <p:nvSpPr>
          <p:cNvPr id="5" name="Text 3"/>
          <p:cNvSpPr txBox="1"/>
          <p:nvPr/>
        </p:nvSpPr>
        <p:spPr>
          <a:xfrm>
            <a:off x="457200" y="932688"/>
            <a:ext cx="11277295" cy="329184"/>
          </a:xfrm>
          <a:prstGeom prst="rect">
            <a:avLst/>
          </a:prstGeom>
          <a:noFill/>
          <a:ln/>
        </p:spPr>
        <p:txBody>
          <a:bodyPr wrap="square" lIns="0" tIns="0" rIns="0" bIns="0" rtlCol="0" anchor="ctr"/>
          <a:lstStyle/>
          <a:p>
            <a:pPr indent="0" marL="0">
              <a:buNone/>
            </a:pPr>
            <a:r>
              <a:rPr lang="en-US" sz="1300" dirty="0">
                <a:solidFill>
                  <a:srgbClr val="4B5A6B"/>
                </a:solidFill>
                <a:latin typeface="Calibri" pitchFamily="34" charset="0"/>
                <a:ea typeface="Calibri" pitchFamily="34" charset="-122"/>
                <a:cs typeface="Calibri" pitchFamily="34" charset="-120"/>
              </a:rPr>
              <a:t>Seen from the user's side: the people, the task, the result — and what RNP provides for integration.</a:t>
            </a:r>
            <a:endParaRPr lang="en-US" sz="1300" dirty="0"/>
          </a:p>
        </p:txBody>
      </p:sp>
      <p:sp>
        <p:nvSpPr>
          <p:cNvPr id="6" name="Shape 4"/>
          <p:cNvSpPr/>
          <p:nvPr/>
        </p:nvSpPr>
        <p:spPr>
          <a:xfrm>
            <a:off x="457200" y="1463040"/>
            <a:ext cx="4937760" cy="3749040"/>
          </a:xfrm>
          <a:prstGeom prst="roundRect">
            <a:avLst>
              <a:gd name="adj" fmla="val 1951"/>
            </a:avLst>
          </a:prstGeom>
          <a:solidFill>
            <a:srgbClr val="F7F9FC"/>
          </a:solidFill>
          <a:ln w="9525">
            <a:solidFill>
              <a:srgbClr val="DCE4EF"/>
            </a:solidFill>
            <a:prstDash val="solid"/>
          </a:ln>
          <a:effectLst>
            <a:outerShdw sx="100000" sy="100000" kx="0" ky="0" algn="bl" rotWithShape="0" blurRad="63500" dist="12700" dir="5400000">
              <a:srgbClr val="9FB0C4">
                <a:alpha val="22000"/>
              </a:srgbClr>
            </a:outerShdw>
          </a:effectLst>
        </p:spPr>
      </p:sp>
      <p:sp>
        <p:nvSpPr>
          <p:cNvPr id="7" name="Text 5"/>
          <p:cNvSpPr txBox="1"/>
          <p:nvPr/>
        </p:nvSpPr>
        <p:spPr>
          <a:xfrm>
            <a:off x="731520" y="2880360"/>
            <a:ext cx="4389120" cy="457200"/>
          </a:xfrm>
          <a:prstGeom prst="rect">
            <a:avLst/>
          </a:prstGeom>
          <a:noFill/>
          <a:ln/>
        </p:spPr>
        <p:txBody>
          <a:bodyPr wrap="square" lIns="0" tIns="0" rIns="0" bIns="0" rtlCol="0" anchor="ctr"/>
          <a:lstStyle/>
          <a:p>
            <a:pPr algn="ctr" indent="0" marL="0">
              <a:buNone/>
            </a:pPr>
            <a:r>
              <a:rPr lang="en-US" sz="1400" b="1" dirty="0">
                <a:solidFill>
                  <a:srgbClr val="6B7A8B"/>
                </a:solidFill>
                <a:latin typeface="Calibri" pitchFamily="34" charset="0"/>
                <a:ea typeface="Calibri" pitchFamily="34" charset="-122"/>
                <a:cs typeface="Calibri" pitchFamily="34" charset="-120"/>
              </a:rPr>
              <a:t>Screenshot  ·  demo video  ·  real interface</a:t>
            </a:r>
            <a:endParaRPr lang="en-US" sz="1400" dirty="0"/>
          </a:p>
        </p:txBody>
      </p:sp>
      <p:sp>
        <p:nvSpPr>
          <p:cNvPr id="8" name="Text 6"/>
          <p:cNvSpPr txBox="1"/>
          <p:nvPr/>
        </p:nvSpPr>
        <p:spPr>
          <a:xfrm>
            <a:off x="731520" y="3383280"/>
            <a:ext cx="4389120" cy="365760"/>
          </a:xfrm>
          <a:prstGeom prst="rect">
            <a:avLst/>
          </a:prstGeom>
          <a:noFill/>
          <a:ln/>
        </p:spPr>
        <p:txBody>
          <a:bodyPr wrap="square" lIns="0" tIns="0" rIns="0" bIns="0" rtlCol="0" anchor="ctr"/>
          <a:lstStyle/>
          <a:p>
            <a:pPr algn="ctr" indent="0" marL="0">
              <a:buNone/>
            </a:pPr>
            <a:r>
              <a:rPr lang="en-US" sz="1100" i="1" dirty="0">
                <a:solidFill>
                  <a:srgbClr val="8A96A6"/>
                </a:solidFill>
                <a:latin typeface="Calibri" pitchFamily="34" charset="0"/>
                <a:ea typeface="Calibri" pitchFamily="34" charset="-122"/>
                <a:cs typeface="Calibri" pitchFamily="34" charset="-120"/>
              </a:rPr>
              <a:t>[Insert visual of an end-to-end user flow]</a:t>
            </a:r>
            <a:endParaRPr lang="en-US" sz="1100" dirty="0"/>
          </a:p>
        </p:txBody>
      </p:sp>
      <p:sp>
        <p:nvSpPr>
          <p:cNvPr id="9" name="Shape 7"/>
          <p:cNvSpPr/>
          <p:nvPr/>
        </p:nvSpPr>
        <p:spPr>
          <a:xfrm>
            <a:off x="731520" y="4645152"/>
            <a:ext cx="4389120" cy="365760"/>
          </a:xfrm>
          <a:prstGeom prst="roundRect">
            <a:avLst>
              <a:gd name="adj" fmla="val 20000"/>
            </a:avLst>
          </a:prstGeom>
          <a:solidFill>
            <a:srgbClr val="FFFFFF"/>
          </a:solidFill>
          <a:ln w="9525">
            <a:solidFill>
              <a:srgbClr val="DCE4EF"/>
            </a:solidFill>
            <a:prstDash val="solid"/>
          </a:ln>
        </p:spPr>
      </p:sp>
      <p:sp>
        <p:nvSpPr>
          <p:cNvPr id="10" name="Text 8"/>
          <p:cNvSpPr txBox="1"/>
          <p:nvPr/>
        </p:nvSpPr>
        <p:spPr>
          <a:xfrm>
            <a:off x="822960" y="4645152"/>
            <a:ext cx="4206240" cy="365760"/>
          </a:xfrm>
          <a:prstGeom prst="rect">
            <a:avLst/>
          </a:prstGeom>
          <a:noFill/>
          <a:ln/>
        </p:spPr>
        <p:txBody>
          <a:bodyPr wrap="square" lIns="0" tIns="0" rIns="0" bIns="0" rtlCol="0" anchor="ctr"/>
          <a:lstStyle/>
          <a:p>
            <a:pPr indent="0" marL="0">
              <a:buNone/>
            </a:pPr>
            <a:r>
              <a:rPr lang="en-US" sz="950" i="1" dirty="0">
                <a:solidFill>
                  <a:srgbClr val="4B5A6B"/>
                </a:solidFill>
                <a:latin typeface="Calibri" pitchFamily="34" charset="0"/>
                <a:ea typeface="Calibri" pitchFamily="34" charset="-122"/>
                <a:cs typeface="Calibri" pitchFamily="34" charset="-120"/>
              </a:rPr>
              <a:t>Label the material:  [existing case  ·  functional example  ·  project deliverable]</a:t>
            </a:r>
            <a:endParaRPr lang="en-US" sz="950" dirty="0"/>
          </a:p>
        </p:txBody>
      </p:sp>
      <p:sp>
        <p:nvSpPr>
          <p:cNvPr id="11" name="Shape 9"/>
          <p:cNvSpPr/>
          <p:nvPr/>
        </p:nvSpPr>
        <p:spPr>
          <a:xfrm>
            <a:off x="5760720" y="1508760"/>
            <a:ext cx="310896" cy="310896"/>
          </a:xfrm>
          <a:prstGeom prst="ellipse">
            <a:avLst/>
          </a:prstGeom>
          <a:solidFill>
            <a:srgbClr val="0E8577"/>
          </a:solidFill>
          <a:ln w="12700">
            <a:solidFill>
              <a:srgbClr val="0E8577"/>
            </a:solidFill>
            <a:prstDash val="solid"/>
          </a:ln>
        </p:spPr>
      </p:sp>
      <p:sp>
        <p:nvSpPr>
          <p:cNvPr id="12" name="Text 10"/>
          <p:cNvSpPr txBox="1"/>
          <p:nvPr/>
        </p:nvSpPr>
        <p:spPr>
          <a:xfrm>
            <a:off x="5760720" y="1508760"/>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3" name="Text 11"/>
          <p:cNvSpPr txBox="1"/>
          <p:nvPr/>
        </p:nvSpPr>
        <p:spPr>
          <a:xfrm>
            <a:off x="6217920" y="1481328"/>
            <a:ext cx="5516575" cy="274320"/>
          </a:xfrm>
          <a:prstGeom prst="rect">
            <a:avLst/>
          </a:prstGeom>
          <a:noFill/>
          <a:ln/>
        </p:spPr>
        <p:txBody>
          <a:bodyPr wrap="square" lIns="0" tIns="0" rIns="0" bIns="0" rtlCol="0" anchor="ctr"/>
          <a:lstStyle/>
          <a:p>
            <a:pPr indent="0" marL="0">
              <a:buNone/>
            </a:pPr>
            <a:r>
              <a:rPr lang="en-US" sz="1200" b="1" dirty="0">
                <a:solidFill>
                  <a:srgbClr val="10305F"/>
                </a:solidFill>
                <a:latin typeface="Calibri" pitchFamily="34" charset="0"/>
                <a:ea typeface="Calibri" pitchFamily="34" charset="-122"/>
                <a:cs typeface="Calibri" pitchFamily="34" charset="-120"/>
              </a:rPr>
              <a:t>Users &amp; scenarios</a:t>
            </a:r>
            <a:endParaRPr lang="en-US" sz="1200" dirty="0"/>
          </a:p>
        </p:txBody>
      </p:sp>
      <p:sp>
        <p:nvSpPr>
          <p:cNvPr id="14" name="Text 12"/>
          <p:cNvSpPr txBox="1"/>
          <p:nvPr/>
        </p:nvSpPr>
        <p:spPr>
          <a:xfrm>
            <a:off x="6217920" y="1792224"/>
            <a:ext cx="5516575" cy="548640"/>
          </a:xfrm>
          <a:prstGeom prst="rect">
            <a:avLst/>
          </a:prstGeom>
          <a:noFill/>
          <a:ln/>
        </p:spPr>
        <p:txBody>
          <a:bodyPr wrap="square" lIns="0" tIns="0" rIns="0" bIns="0" rtlCol="0" anchor="t"/>
          <a:lstStyle/>
          <a:p>
            <a:pPr indent="0" marL="0">
              <a:buNone/>
            </a:pPr>
            <a:r>
              <a:rPr lang="en-US" sz="1050" i="1" dirty="0">
                <a:solidFill>
                  <a:srgbClr val="8A96A6"/>
                </a:solidFill>
                <a:latin typeface="Calibri" pitchFamily="34" charset="0"/>
                <a:ea typeface="Calibri" pitchFamily="34" charset="-122"/>
                <a:cs typeface="Calibri" pitchFamily="34" charset="-120"/>
              </a:rPr>
              <a:t>[Target users and the real situations in which they use the app]</a:t>
            </a:r>
            <a:endParaRPr lang="en-US" sz="1050" dirty="0"/>
          </a:p>
        </p:txBody>
      </p:sp>
      <p:sp>
        <p:nvSpPr>
          <p:cNvPr id="15" name="Shape 13"/>
          <p:cNvSpPr/>
          <p:nvPr/>
        </p:nvSpPr>
        <p:spPr>
          <a:xfrm>
            <a:off x="5760720" y="2468880"/>
            <a:ext cx="310896" cy="310896"/>
          </a:xfrm>
          <a:prstGeom prst="ellipse">
            <a:avLst/>
          </a:prstGeom>
          <a:solidFill>
            <a:srgbClr val="0E8577"/>
          </a:solidFill>
          <a:ln w="12700">
            <a:solidFill>
              <a:srgbClr val="0E8577"/>
            </a:solidFill>
            <a:prstDash val="solid"/>
          </a:ln>
        </p:spPr>
      </p:sp>
      <p:sp>
        <p:nvSpPr>
          <p:cNvPr id="16" name="Text 14"/>
          <p:cNvSpPr txBox="1"/>
          <p:nvPr/>
        </p:nvSpPr>
        <p:spPr>
          <a:xfrm>
            <a:off x="5760720" y="2468880"/>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7" name="Text 15"/>
          <p:cNvSpPr txBox="1"/>
          <p:nvPr/>
        </p:nvSpPr>
        <p:spPr>
          <a:xfrm>
            <a:off x="6217920" y="2441448"/>
            <a:ext cx="5516575" cy="274320"/>
          </a:xfrm>
          <a:prstGeom prst="rect">
            <a:avLst/>
          </a:prstGeom>
          <a:noFill/>
          <a:ln/>
        </p:spPr>
        <p:txBody>
          <a:bodyPr wrap="square" lIns="0" tIns="0" rIns="0" bIns="0" rtlCol="0" anchor="ctr"/>
          <a:lstStyle/>
          <a:p>
            <a:pPr indent="0" marL="0">
              <a:buNone/>
            </a:pPr>
            <a:r>
              <a:rPr lang="en-US" sz="1200" b="1" dirty="0">
                <a:solidFill>
                  <a:srgbClr val="10305F"/>
                </a:solidFill>
                <a:latin typeface="Calibri" pitchFamily="34" charset="0"/>
                <a:ea typeface="Calibri" pitchFamily="34" charset="-122"/>
                <a:cs typeface="Calibri" pitchFamily="34" charset="-120"/>
              </a:rPr>
              <a:t>Functions &amp; results</a:t>
            </a:r>
            <a:endParaRPr lang="en-US" sz="1200" dirty="0"/>
          </a:p>
        </p:txBody>
      </p:sp>
      <p:sp>
        <p:nvSpPr>
          <p:cNvPr id="18" name="Text 16"/>
          <p:cNvSpPr txBox="1"/>
          <p:nvPr/>
        </p:nvSpPr>
        <p:spPr>
          <a:xfrm>
            <a:off x="6217920" y="2752344"/>
            <a:ext cx="5516575" cy="548640"/>
          </a:xfrm>
          <a:prstGeom prst="rect">
            <a:avLst/>
          </a:prstGeom>
          <a:noFill/>
          <a:ln/>
        </p:spPr>
        <p:txBody>
          <a:bodyPr wrap="square" lIns="0" tIns="0" rIns="0" bIns="0" rtlCol="0" anchor="t"/>
          <a:lstStyle/>
          <a:p>
            <a:pPr indent="0" marL="0">
              <a:buNone/>
            </a:pPr>
            <a:r>
              <a:rPr lang="en-US" sz="1050" i="1" dirty="0">
                <a:solidFill>
                  <a:srgbClr val="8A96A6"/>
                </a:solidFill>
                <a:latin typeface="Calibri" pitchFamily="34" charset="0"/>
                <a:ea typeface="Calibri" pitchFamily="34" charset="-122"/>
                <a:cs typeface="Calibri" pitchFamily="34" charset="-120"/>
              </a:rPr>
              <a:t>[What the app does and what the user gets at the end of the flow]</a:t>
            </a:r>
            <a:endParaRPr lang="en-US" sz="1050" dirty="0"/>
          </a:p>
        </p:txBody>
      </p:sp>
      <p:sp>
        <p:nvSpPr>
          <p:cNvPr id="19" name="Shape 17"/>
          <p:cNvSpPr/>
          <p:nvPr/>
        </p:nvSpPr>
        <p:spPr>
          <a:xfrm>
            <a:off x="5760720" y="3429000"/>
            <a:ext cx="310896" cy="310896"/>
          </a:xfrm>
          <a:prstGeom prst="ellipse">
            <a:avLst/>
          </a:prstGeom>
          <a:solidFill>
            <a:srgbClr val="0E8577"/>
          </a:solidFill>
          <a:ln w="12700">
            <a:solidFill>
              <a:srgbClr val="0E8577"/>
            </a:solidFill>
            <a:prstDash val="solid"/>
          </a:ln>
        </p:spPr>
      </p:sp>
      <p:sp>
        <p:nvSpPr>
          <p:cNvPr id="20" name="Text 18"/>
          <p:cNvSpPr txBox="1"/>
          <p:nvPr/>
        </p:nvSpPr>
        <p:spPr>
          <a:xfrm>
            <a:off x="5760720" y="3429000"/>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1" name="Text 19"/>
          <p:cNvSpPr txBox="1"/>
          <p:nvPr/>
        </p:nvSpPr>
        <p:spPr>
          <a:xfrm>
            <a:off x="6217920" y="3401568"/>
            <a:ext cx="5516575" cy="274320"/>
          </a:xfrm>
          <a:prstGeom prst="rect">
            <a:avLst/>
          </a:prstGeom>
          <a:noFill/>
          <a:ln/>
        </p:spPr>
        <p:txBody>
          <a:bodyPr wrap="square" lIns="0" tIns="0" rIns="0" bIns="0" rtlCol="0" anchor="ctr"/>
          <a:lstStyle/>
          <a:p>
            <a:pPr indent="0" marL="0">
              <a:buNone/>
            </a:pPr>
            <a:r>
              <a:rPr lang="en-US" sz="1200" b="1" dirty="0">
                <a:solidFill>
                  <a:srgbClr val="10305F"/>
                </a:solidFill>
                <a:latin typeface="Calibri" pitchFamily="34" charset="0"/>
                <a:ea typeface="Calibri" pitchFamily="34" charset="-122"/>
                <a:cs typeface="Calibri" pitchFamily="34" charset="-120"/>
              </a:rPr>
              <a:t>Scale &amp; performance</a:t>
            </a:r>
            <a:endParaRPr lang="en-US" sz="1200" dirty="0"/>
          </a:p>
        </p:txBody>
      </p:sp>
      <p:sp>
        <p:nvSpPr>
          <p:cNvPr id="22" name="Text 20"/>
          <p:cNvSpPr txBox="1"/>
          <p:nvPr/>
        </p:nvSpPr>
        <p:spPr>
          <a:xfrm>
            <a:off x="6217920" y="3712464"/>
            <a:ext cx="5516575" cy="548640"/>
          </a:xfrm>
          <a:prstGeom prst="rect">
            <a:avLst/>
          </a:prstGeom>
          <a:noFill/>
          <a:ln/>
        </p:spPr>
        <p:txBody>
          <a:bodyPr wrap="square" lIns="0" tIns="0" rIns="0" bIns="0" rtlCol="0" anchor="t"/>
          <a:lstStyle/>
          <a:p>
            <a:pPr indent="0" marL="0">
              <a:buNone/>
            </a:pPr>
            <a:r>
              <a:rPr lang="en-US" sz="1050" i="1" dirty="0">
                <a:solidFill>
                  <a:srgbClr val="8A96A6"/>
                </a:solidFill>
                <a:latin typeface="Calibri" pitchFamily="34" charset="0"/>
                <a:ea typeface="Calibri" pitchFamily="34" charset="-122"/>
                <a:cs typeface="Calibri" pitchFamily="34" charset="-120"/>
              </a:rPr>
              <a:t>[Users supported, concurrency, response requirements — as confirmed]</a:t>
            </a:r>
            <a:endParaRPr lang="en-US" sz="1050" dirty="0"/>
          </a:p>
        </p:txBody>
      </p:sp>
      <p:sp>
        <p:nvSpPr>
          <p:cNvPr id="23" name="Shape 21"/>
          <p:cNvSpPr/>
          <p:nvPr/>
        </p:nvSpPr>
        <p:spPr>
          <a:xfrm>
            <a:off x="5760720" y="4389120"/>
            <a:ext cx="310896" cy="310896"/>
          </a:xfrm>
          <a:prstGeom prst="ellipse">
            <a:avLst/>
          </a:prstGeom>
          <a:solidFill>
            <a:srgbClr val="10305F"/>
          </a:solidFill>
          <a:ln w="12700">
            <a:solidFill>
              <a:srgbClr val="10305F"/>
            </a:solidFill>
            <a:prstDash val="solid"/>
          </a:ln>
        </p:spPr>
      </p:sp>
      <p:sp>
        <p:nvSpPr>
          <p:cNvPr id="24" name="Text 22"/>
          <p:cNvSpPr txBox="1"/>
          <p:nvPr/>
        </p:nvSpPr>
        <p:spPr>
          <a:xfrm>
            <a:off x="5760720" y="4389120"/>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5" name="Text 23"/>
          <p:cNvSpPr txBox="1"/>
          <p:nvPr/>
        </p:nvSpPr>
        <p:spPr>
          <a:xfrm>
            <a:off x="6217920" y="4361688"/>
            <a:ext cx="5516575" cy="274320"/>
          </a:xfrm>
          <a:prstGeom prst="rect">
            <a:avLst/>
          </a:prstGeom>
          <a:noFill/>
          <a:ln/>
        </p:spPr>
        <p:txBody>
          <a:bodyPr wrap="square" lIns="0" tIns="0" rIns="0" bIns="0" rtlCol="0" anchor="ctr"/>
          <a:lstStyle/>
          <a:p>
            <a:pPr indent="0" marL="0">
              <a:buNone/>
            </a:pPr>
            <a:r>
              <a:rPr lang="en-US" sz="1200" b="1" dirty="0">
                <a:solidFill>
                  <a:srgbClr val="10305F"/>
                </a:solidFill>
                <a:latin typeface="Calibri" pitchFamily="34" charset="0"/>
                <a:ea typeface="Calibri" pitchFamily="34" charset="-122"/>
                <a:cs typeface="Calibri" pitchFamily="34" charset="-120"/>
              </a:rPr>
              <a:t>Government use cases addressed</a:t>
            </a:r>
            <a:endParaRPr lang="en-US" sz="1200" dirty="0"/>
          </a:p>
        </p:txBody>
      </p:sp>
      <p:sp>
        <p:nvSpPr>
          <p:cNvPr id="26" name="Text 24"/>
          <p:cNvSpPr txBox="1"/>
          <p:nvPr/>
        </p:nvSpPr>
        <p:spPr>
          <a:xfrm>
            <a:off x="6217920" y="4672584"/>
            <a:ext cx="5516575" cy="548640"/>
          </a:xfrm>
          <a:prstGeom prst="rect">
            <a:avLst/>
          </a:prstGeom>
          <a:noFill/>
          <a:ln/>
        </p:spPr>
        <p:txBody>
          <a:bodyPr wrap="square" lIns="0" tIns="0" rIns="0" bIns="0" rtlCol="0" anchor="t"/>
          <a:lstStyle/>
          <a:p>
            <a:pPr indent="0" marL="0">
              <a:buNone/>
            </a:pPr>
            <a:r>
              <a:rPr lang="en-US" sz="1050" i="1" dirty="0">
                <a:solidFill>
                  <a:srgbClr val="8A96A6"/>
                </a:solidFill>
                <a:latin typeface="Calibri" pitchFamily="34" charset="0"/>
                <a:ea typeface="Calibri" pitchFamily="34" charset="-122"/>
                <a:cs typeface="Calibri" pitchFamily="34" charset="-120"/>
              </a:rPr>
              <a:t>[Which public-service tasks this solves; reference case if any, labelled]</a:t>
            </a:r>
            <a:endParaRPr lang="en-US" sz="1050" dirty="0"/>
          </a:p>
        </p:txBody>
      </p:sp>
      <p:sp>
        <p:nvSpPr>
          <p:cNvPr id="27" name="Shape 25"/>
          <p:cNvSpPr/>
          <p:nvPr/>
        </p:nvSpPr>
        <p:spPr>
          <a:xfrm>
            <a:off x="457200" y="5440680"/>
            <a:ext cx="11277295" cy="777240"/>
          </a:xfrm>
          <a:prstGeom prst="roundRect">
            <a:avLst>
              <a:gd name="adj" fmla="val 9412"/>
            </a:avLst>
          </a:prstGeom>
          <a:solidFill>
            <a:srgbClr val="E7F3F0"/>
          </a:solidFill>
          <a:ln w="9525">
            <a:solidFill>
              <a:srgbClr val="E7F3F0"/>
            </a:solidFill>
            <a:prstDash val="solid"/>
          </a:ln>
        </p:spPr>
      </p:sp>
      <p:sp>
        <p:nvSpPr>
          <p:cNvPr id="28" name="Text 26"/>
          <p:cNvSpPr txBox="1"/>
          <p:nvPr/>
        </p:nvSpPr>
        <p:spPr>
          <a:xfrm>
            <a:off x="658368" y="5504688"/>
            <a:ext cx="3657600" cy="274320"/>
          </a:xfrm>
          <a:prstGeom prst="rect">
            <a:avLst/>
          </a:prstGeom>
          <a:noFill/>
          <a:ln/>
        </p:spPr>
        <p:txBody>
          <a:bodyPr wrap="square" lIns="0" tIns="0" rIns="0" bIns="0" rtlCol="0" anchor="ctr"/>
          <a:lstStyle/>
          <a:p>
            <a:pPr indent="0" marL="0">
              <a:buNone/>
            </a:pPr>
            <a:r>
              <a:rPr lang="en-US" sz="1150" b="1" dirty="0">
                <a:solidFill>
                  <a:srgbClr val="0E8577"/>
                </a:solidFill>
                <a:latin typeface="Calibri" pitchFamily="34" charset="0"/>
                <a:ea typeface="Calibri" pitchFamily="34" charset="-122"/>
                <a:cs typeface="Calibri" pitchFamily="34" charset="-120"/>
              </a:rPr>
              <a:t>RNP provides for integration</a:t>
            </a:r>
            <a:endParaRPr lang="en-US" sz="1150" dirty="0"/>
          </a:p>
        </p:txBody>
      </p:sp>
      <p:sp>
        <p:nvSpPr>
          <p:cNvPr id="29" name="Text 27"/>
          <p:cNvSpPr txBox="1"/>
          <p:nvPr/>
        </p:nvSpPr>
        <p:spPr>
          <a:xfrm>
            <a:off x="658368" y="5788152"/>
            <a:ext cx="10874959" cy="411480"/>
          </a:xfrm>
          <a:prstGeom prst="rect">
            <a:avLst/>
          </a:prstGeom>
          <a:noFill/>
          <a:ln/>
        </p:spPr>
        <p:txBody>
          <a:bodyPr wrap="square" lIns="0" tIns="0" rIns="0" bIns="0" rtlCol="0" anchor="t"/>
          <a:lstStyle/>
          <a:p>
            <a:pPr indent="0" marL="0">
              <a:buNone/>
            </a:pPr>
            <a:r>
              <a:rPr lang="en-US" sz="1000" i="1" dirty="0">
                <a:solidFill>
                  <a:srgbClr val="8A96A6"/>
                </a:solidFill>
                <a:latin typeface="Calibri" pitchFamily="34" charset="0"/>
                <a:ea typeface="Calibri" pitchFamily="34" charset="-122"/>
                <a:cs typeface="Calibri" pitchFamily="34" charset="-120"/>
              </a:rPr>
              <a:t>[Business system interfaces]  ·  [Data]  ·  [Testing and business confirmation]  ·  Integration scope to confirm: localisation, accounts &amp; permissions, model calls, system interfaces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B7A8B"/>
                </a:solidFill>
                <a:latin typeface="Calibri" pitchFamily="34" charset="0"/>
                <a:ea typeface="Calibri" pitchFamily="34" charset="-122"/>
                <a:cs typeface="Calibri" pitchFamily="34" charset="-120"/>
              </a:rPr>
              <a:t>iFLYTEK  ·  RNP technical meeting  ·  Working draft for discussion</a:t>
            </a:r>
            <a:endParaRPr lang="en-US" sz="900" dirty="0"/>
          </a:p>
        </p:txBody>
      </p:sp>
      <p:sp>
        <p:nvSpPr>
          <p:cNvPr id="3" name="Text 1"/>
          <p:cNvSpPr txBox="1"/>
          <p:nvPr/>
        </p:nvSpPr>
        <p:spPr>
          <a:xfrm>
            <a:off x="10637215" y="6446520"/>
            <a:ext cx="1097280" cy="274320"/>
          </a:xfrm>
          <a:prstGeom prst="rect">
            <a:avLst/>
          </a:prstGeom>
          <a:noFill/>
          <a:ln/>
        </p:spPr>
        <p:txBody>
          <a:bodyPr wrap="square" lIns="0" tIns="0" rIns="0" bIns="0" rtlCol="0" anchor="ctr"/>
          <a:lstStyle/>
          <a:p>
            <a:pPr algn="r" indent="0" marL="0">
              <a:buNone/>
            </a:pPr>
            <a:r>
              <a:rPr lang="en-US" sz="900" dirty="0">
                <a:solidFill>
                  <a:srgbClr val="6B7A8B"/>
                </a:solidFill>
                <a:latin typeface="Calibri" pitchFamily="34" charset="0"/>
                <a:ea typeface="Calibri" pitchFamily="34" charset="-122"/>
                <a:cs typeface="Calibri" pitchFamily="34" charset="-120"/>
              </a:rPr>
              <a:t>5 / 10</a:t>
            </a:r>
            <a:endParaRPr lang="en-US" sz="900" dirty="0"/>
          </a:p>
        </p:txBody>
      </p:sp>
      <p:sp>
        <p:nvSpPr>
          <p:cNvPr id="4" name="Text 2"/>
          <p:cNvSpPr txBox="1"/>
          <p:nvPr/>
        </p:nvSpPr>
        <p:spPr>
          <a:xfrm>
            <a:off x="457200" y="347472"/>
            <a:ext cx="11277295" cy="566928"/>
          </a:xfrm>
          <a:prstGeom prst="rect">
            <a:avLst/>
          </a:prstGeom>
          <a:noFill/>
          <a:ln/>
        </p:spPr>
        <p:txBody>
          <a:bodyPr wrap="square" lIns="0" tIns="0" rIns="0" bIns="0" rtlCol="0" anchor="ctr"/>
          <a:lstStyle/>
          <a:p>
            <a:pPr indent="0" marL="0">
              <a:buNone/>
            </a:pPr>
            <a:r>
              <a:rPr lang="en-US" sz="2400" b="1" dirty="0">
                <a:solidFill>
                  <a:srgbClr val="10305F"/>
                </a:solidFill>
                <a:latin typeface="Calibri" pitchFamily="34" charset="0"/>
                <a:ea typeface="Calibri" pitchFamily="34" charset="-122"/>
                <a:cs typeface="Calibri" pitchFamily="34" charset="-120"/>
              </a:rPr>
              <a:t>Domain Models (DLM): built together around real problems</a:t>
            </a:r>
            <a:endParaRPr lang="en-US" sz="2400" dirty="0"/>
          </a:p>
        </p:txBody>
      </p:sp>
      <p:sp>
        <p:nvSpPr>
          <p:cNvPr id="5" name="Text 3"/>
          <p:cNvSpPr txBox="1"/>
          <p:nvPr/>
        </p:nvSpPr>
        <p:spPr>
          <a:xfrm>
            <a:off x="457200" y="932688"/>
            <a:ext cx="11277295" cy="329184"/>
          </a:xfrm>
          <a:prstGeom prst="rect">
            <a:avLst/>
          </a:prstGeom>
          <a:noFill/>
          <a:ln/>
        </p:spPr>
        <p:txBody>
          <a:bodyPr wrap="square" lIns="0" tIns="0" rIns="0" bIns="0" rtlCol="0" anchor="ctr"/>
          <a:lstStyle/>
          <a:p>
            <a:pPr indent="0" marL="0">
              <a:buNone/>
            </a:pPr>
            <a:r>
              <a:rPr lang="en-US" sz="1300" dirty="0">
                <a:solidFill>
                  <a:srgbClr val="4B5A6B"/>
                </a:solidFill>
                <a:latin typeface="Calibri" pitchFamily="34" charset="0"/>
                <a:ea typeface="Calibri" pitchFamily="34" charset="-122"/>
                <a:cs typeface="Calibri" pitchFamily="34" charset="-120"/>
              </a:rPr>
              <a:t>The right problem, usable data and experts who can judge the outcome — so both teams are on every step.</a:t>
            </a:r>
            <a:endParaRPr lang="en-US" sz="1300" dirty="0"/>
          </a:p>
        </p:txBody>
      </p:sp>
      <p:sp>
        <p:nvSpPr>
          <p:cNvPr id="6" name="Shape 4"/>
          <p:cNvSpPr/>
          <p:nvPr/>
        </p:nvSpPr>
        <p:spPr>
          <a:xfrm>
            <a:off x="457200" y="1463040"/>
            <a:ext cx="11277295" cy="566928"/>
          </a:xfrm>
          <a:prstGeom prst="roundRect">
            <a:avLst>
              <a:gd name="adj" fmla="val 12903"/>
            </a:avLst>
          </a:prstGeom>
          <a:solidFill>
            <a:srgbClr val="F7F9FC"/>
          </a:solidFill>
          <a:ln w="9525">
            <a:solidFill>
              <a:srgbClr val="DCE4EF"/>
            </a:solidFill>
            <a:prstDash val="solid"/>
          </a:ln>
        </p:spPr>
      </p:sp>
      <p:sp>
        <p:nvSpPr>
          <p:cNvPr id="7" name="Text 5"/>
          <p:cNvSpPr txBox="1"/>
          <p:nvPr/>
        </p:nvSpPr>
        <p:spPr>
          <a:xfrm>
            <a:off x="658368" y="1517904"/>
            <a:ext cx="2194560" cy="274320"/>
          </a:xfrm>
          <a:prstGeom prst="rect">
            <a:avLst/>
          </a:prstGeom>
          <a:noFill/>
          <a:ln/>
        </p:spPr>
        <p:txBody>
          <a:bodyPr wrap="square" lIns="0" tIns="0" rIns="0" bIns="0" rtlCol="0" anchor="ctr"/>
          <a:lstStyle/>
          <a:p>
            <a:pPr indent="0" marL="0">
              <a:buNone/>
            </a:pPr>
            <a:r>
              <a:rPr lang="en-US" sz="1200" b="1" dirty="0">
                <a:solidFill>
                  <a:srgbClr val="10305F"/>
                </a:solidFill>
                <a:latin typeface="Calibri" pitchFamily="34" charset="0"/>
                <a:ea typeface="Calibri" pitchFamily="34" charset="-122"/>
                <a:cs typeface="Calibri" pitchFamily="34" charset="-120"/>
              </a:rPr>
              <a:t>Candidate domain(s)</a:t>
            </a:r>
            <a:endParaRPr lang="en-US" sz="1200" dirty="0"/>
          </a:p>
        </p:txBody>
      </p:sp>
      <p:sp>
        <p:nvSpPr>
          <p:cNvPr id="8" name="Text 6"/>
          <p:cNvSpPr txBox="1"/>
          <p:nvPr/>
        </p:nvSpPr>
        <p:spPr>
          <a:xfrm>
            <a:off x="2834640" y="1554480"/>
            <a:ext cx="5943600" cy="411480"/>
          </a:xfrm>
          <a:prstGeom prst="rect">
            <a:avLst/>
          </a:prstGeom>
          <a:noFill/>
          <a:ln/>
        </p:spPr>
        <p:txBody>
          <a:bodyPr wrap="square" lIns="0" tIns="0" rIns="0" bIns="0" rtlCol="0" anchor="t"/>
          <a:lstStyle/>
          <a:p>
            <a:pPr indent="0" marL="0">
              <a:buNone/>
            </a:pPr>
            <a:r>
              <a:rPr lang="en-US" sz="1050" i="1" dirty="0">
                <a:solidFill>
                  <a:srgbClr val="8A96A6"/>
                </a:solidFill>
                <a:latin typeface="Calibri" pitchFamily="34" charset="0"/>
                <a:ea typeface="Calibri" pitchFamily="34" charset="-122"/>
                <a:cs typeface="Calibri" pitchFamily="34" charset="-120"/>
              </a:rPr>
              <a:t>[Domain and objective, or the mechanism for selecting domains]</a:t>
            </a:r>
            <a:endParaRPr lang="en-US" sz="1050" dirty="0"/>
          </a:p>
        </p:txBody>
      </p:sp>
      <p:sp>
        <p:nvSpPr>
          <p:cNvPr id="9" name="Shape 7"/>
          <p:cNvSpPr/>
          <p:nvPr/>
        </p:nvSpPr>
        <p:spPr>
          <a:xfrm>
            <a:off x="8991295" y="1609344"/>
            <a:ext cx="2560320" cy="274320"/>
          </a:xfrm>
          <a:prstGeom prst="roundRect">
            <a:avLst>
              <a:gd name="adj" fmla="val 50000"/>
            </a:avLst>
          </a:prstGeom>
          <a:solidFill>
            <a:srgbClr val="6B7A8B"/>
          </a:solidFill>
          <a:ln w="12700">
            <a:solidFill>
              <a:srgbClr val="6B7A8B"/>
            </a:solidFill>
            <a:prstDash val="solid"/>
          </a:ln>
        </p:spPr>
      </p:sp>
      <p:sp>
        <p:nvSpPr>
          <p:cNvPr id="10" name="Text 8"/>
          <p:cNvSpPr txBox="1"/>
          <p:nvPr/>
        </p:nvSpPr>
        <p:spPr>
          <a:xfrm>
            <a:off x="8991295" y="1609344"/>
            <a:ext cx="2560320" cy="274320"/>
          </a:xfrm>
          <a:prstGeom prst="rect">
            <a:avLst/>
          </a:prstGeom>
          <a:no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STATUS:  CANDIDATE  /  CONFIRMED</a:t>
            </a:r>
            <a:endParaRPr lang="en-US" sz="900" dirty="0"/>
          </a:p>
        </p:txBody>
      </p:sp>
      <p:sp>
        <p:nvSpPr>
          <p:cNvPr id="11" name="Shape 9"/>
          <p:cNvSpPr/>
          <p:nvPr/>
        </p:nvSpPr>
        <p:spPr>
          <a:xfrm>
            <a:off x="457200" y="2286000"/>
            <a:ext cx="2050633" cy="566928"/>
          </a:xfrm>
          <a:prstGeom prst="roundRect">
            <a:avLst>
              <a:gd name="adj" fmla="val 12903"/>
            </a:avLst>
          </a:prstGeom>
          <a:solidFill>
            <a:srgbClr val="E7F3F0"/>
          </a:solidFill>
          <a:ln w="9525">
            <a:solidFill>
              <a:srgbClr val="DCE4EF"/>
            </a:solidFill>
            <a:prstDash val="solid"/>
          </a:ln>
        </p:spPr>
      </p:sp>
      <p:sp>
        <p:nvSpPr>
          <p:cNvPr id="12" name="Shape 10"/>
          <p:cNvSpPr/>
          <p:nvPr/>
        </p:nvSpPr>
        <p:spPr>
          <a:xfrm>
            <a:off x="548640" y="2414016"/>
            <a:ext cx="292608" cy="292608"/>
          </a:xfrm>
          <a:prstGeom prst="ellipse">
            <a:avLst/>
          </a:prstGeom>
          <a:solidFill>
            <a:srgbClr val="0E8577"/>
          </a:solidFill>
          <a:ln w="12700">
            <a:solidFill>
              <a:srgbClr val="0E8577"/>
            </a:solidFill>
            <a:prstDash val="solid"/>
          </a:ln>
        </p:spPr>
      </p:sp>
      <p:sp>
        <p:nvSpPr>
          <p:cNvPr id="13" name="Text 11"/>
          <p:cNvSpPr txBox="1"/>
          <p:nvPr/>
        </p:nvSpPr>
        <p:spPr>
          <a:xfrm>
            <a:off x="548640" y="241401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4" name="Text 12"/>
          <p:cNvSpPr txBox="1"/>
          <p:nvPr/>
        </p:nvSpPr>
        <p:spPr>
          <a:xfrm>
            <a:off x="914400" y="2286000"/>
            <a:ext cx="1520281" cy="566928"/>
          </a:xfrm>
          <a:prstGeom prst="rect">
            <a:avLst/>
          </a:prstGeom>
          <a:noFill/>
          <a:ln/>
        </p:spPr>
        <p:txBody>
          <a:bodyPr wrap="square" lIns="0" tIns="0" rIns="0" bIns="0" rtlCol="0" anchor="ctr"/>
          <a:lstStyle/>
          <a:p>
            <a:pPr indent="0" marL="0">
              <a:buNone/>
            </a:pPr>
            <a:r>
              <a:rPr lang="en-US" sz="1100" b="1" dirty="0">
                <a:solidFill>
                  <a:srgbClr val="10305F"/>
                </a:solidFill>
                <a:latin typeface="Calibri" pitchFamily="34" charset="0"/>
                <a:ea typeface="Calibri" pitchFamily="34" charset="-122"/>
                <a:cs typeface="Calibri" pitchFamily="34" charset="-120"/>
              </a:rPr>
              <a:t>Business problem</a:t>
            </a:r>
            <a:endParaRPr lang="en-US" sz="1100" dirty="0"/>
          </a:p>
        </p:txBody>
      </p:sp>
      <p:sp>
        <p:nvSpPr>
          <p:cNvPr id="15" name="Shape 13"/>
          <p:cNvSpPr/>
          <p:nvPr/>
        </p:nvSpPr>
        <p:spPr>
          <a:xfrm>
            <a:off x="2544409" y="2478024"/>
            <a:ext cx="182880" cy="182880"/>
          </a:xfrm>
          <a:prstGeom prst="rightArrow">
            <a:avLst/>
          </a:prstGeom>
          <a:solidFill>
            <a:srgbClr val="DCE4EF"/>
          </a:solidFill>
          <a:ln w="12700">
            <a:solidFill>
              <a:srgbClr val="DCE4EF"/>
            </a:solidFill>
            <a:prstDash val="solid"/>
          </a:ln>
        </p:spPr>
      </p:sp>
      <p:sp>
        <p:nvSpPr>
          <p:cNvPr id="16" name="Shape 14"/>
          <p:cNvSpPr/>
          <p:nvPr/>
        </p:nvSpPr>
        <p:spPr>
          <a:xfrm>
            <a:off x="457200" y="3035808"/>
            <a:ext cx="2050633" cy="960120"/>
          </a:xfrm>
          <a:prstGeom prst="roundRect">
            <a:avLst>
              <a:gd name="adj" fmla="val 7619"/>
            </a:avLst>
          </a:prstGeom>
          <a:solidFill>
            <a:srgbClr val="FFFFFF"/>
          </a:solidFill>
          <a:ln w="9525">
            <a:solidFill>
              <a:srgbClr val="D9E2EC"/>
            </a:solidFill>
            <a:prstDash val="solid"/>
          </a:ln>
          <a:effectLst>
            <a:outerShdw sx="100000" sy="100000" kx="0" ky="0" algn="bl" rotWithShape="0" blurRad="63500" dist="12700" dir="5400000">
              <a:srgbClr val="9FB0C4">
                <a:alpha val="22000"/>
              </a:srgbClr>
            </a:outerShdw>
          </a:effectLst>
        </p:spPr>
      </p:sp>
      <p:sp>
        <p:nvSpPr>
          <p:cNvPr id="17" name="Text 15"/>
          <p:cNvSpPr txBox="1"/>
          <p:nvPr/>
        </p:nvSpPr>
        <p:spPr>
          <a:xfrm>
            <a:off x="594360" y="3108960"/>
            <a:ext cx="1776313" cy="274320"/>
          </a:xfrm>
          <a:prstGeom prst="rect">
            <a:avLst/>
          </a:prstGeom>
          <a:noFill/>
          <a:ln/>
        </p:spPr>
        <p:txBody>
          <a:bodyPr wrap="square" lIns="0" tIns="0" rIns="0" bIns="0" rtlCol="0" anchor="ctr"/>
          <a:lstStyle/>
          <a:p>
            <a:pPr indent="0" marL="0">
              <a:buNone/>
            </a:pPr>
            <a:r>
              <a:rPr lang="en-US" sz="1050" b="1" dirty="0">
                <a:solidFill>
                  <a:srgbClr val="0E8577"/>
                </a:solidFill>
                <a:latin typeface="Calibri" pitchFamily="34" charset="0"/>
                <a:ea typeface="Calibri" pitchFamily="34" charset="-122"/>
                <a:cs typeface="Calibri" pitchFamily="34" charset="-120"/>
              </a:rPr>
              <a:t>iFLYTEK</a:t>
            </a:r>
            <a:endParaRPr lang="en-US" sz="1050" dirty="0"/>
          </a:p>
        </p:txBody>
      </p:sp>
      <p:sp>
        <p:nvSpPr>
          <p:cNvPr id="18" name="Text 16"/>
          <p:cNvSpPr txBox="1"/>
          <p:nvPr/>
        </p:nvSpPr>
        <p:spPr>
          <a:xfrm>
            <a:off x="594360" y="3383280"/>
            <a:ext cx="1776313" cy="548640"/>
          </a:xfrm>
          <a:prstGeom prst="rect">
            <a:avLst/>
          </a:prstGeom>
          <a:noFill/>
          <a:ln/>
        </p:spPr>
        <p:txBody>
          <a:bodyPr wrap="square" lIns="0" tIns="0" rIns="0" bIns="0" rtlCol="0" anchor="t"/>
          <a:lstStyle/>
          <a:p>
            <a:pPr indent="0" marL="0">
              <a:buNone/>
            </a:pPr>
            <a:r>
              <a:rPr lang="en-US" sz="1000" i="1" dirty="0">
                <a:solidFill>
                  <a:srgbClr val="8A96A6"/>
                </a:solidFill>
                <a:latin typeface="Calibri" pitchFamily="34" charset="0"/>
                <a:ea typeface="Calibri" pitchFamily="34" charset="-122"/>
                <a:cs typeface="Calibri" pitchFamily="34" charset="-120"/>
              </a:rPr>
              <a:t>[Task at this step]</a:t>
            </a:r>
            <a:endParaRPr lang="en-US" sz="1000" dirty="0"/>
          </a:p>
        </p:txBody>
      </p:sp>
      <p:sp>
        <p:nvSpPr>
          <p:cNvPr id="19" name="Shape 17"/>
          <p:cNvSpPr/>
          <p:nvPr/>
        </p:nvSpPr>
        <p:spPr>
          <a:xfrm>
            <a:off x="457200" y="4133088"/>
            <a:ext cx="2050633" cy="960120"/>
          </a:xfrm>
          <a:prstGeom prst="roundRect">
            <a:avLst>
              <a:gd name="adj" fmla="val 7619"/>
            </a:avLst>
          </a:prstGeom>
          <a:solidFill>
            <a:srgbClr val="FFFFFF"/>
          </a:solidFill>
          <a:ln w="9525">
            <a:solidFill>
              <a:srgbClr val="D9E2EC"/>
            </a:solidFill>
            <a:prstDash val="solid"/>
          </a:ln>
          <a:effectLst>
            <a:outerShdw sx="100000" sy="100000" kx="0" ky="0" algn="bl" rotWithShape="0" blurRad="63500" dist="12700" dir="5400000">
              <a:srgbClr val="9FB0C4">
                <a:alpha val="22000"/>
              </a:srgbClr>
            </a:outerShdw>
          </a:effectLst>
        </p:spPr>
      </p:sp>
      <p:sp>
        <p:nvSpPr>
          <p:cNvPr id="20" name="Text 18"/>
          <p:cNvSpPr txBox="1"/>
          <p:nvPr/>
        </p:nvSpPr>
        <p:spPr>
          <a:xfrm>
            <a:off x="594360" y="4206240"/>
            <a:ext cx="1776313" cy="274320"/>
          </a:xfrm>
          <a:prstGeom prst="rect">
            <a:avLst/>
          </a:prstGeom>
          <a:noFill/>
          <a:ln/>
        </p:spPr>
        <p:txBody>
          <a:bodyPr wrap="square" lIns="0" tIns="0" rIns="0" bIns="0" rtlCol="0" anchor="ctr"/>
          <a:lstStyle/>
          <a:p>
            <a:pPr indent="0" marL="0">
              <a:buNone/>
            </a:pPr>
            <a:r>
              <a:rPr lang="en-US" sz="1050" b="1" dirty="0">
                <a:solidFill>
                  <a:srgbClr val="10305F"/>
                </a:solidFill>
                <a:latin typeface="Calibri" pitchFamily="34" charset="0"/>
                <a:ea typeface="Calibri" pitchFamily="34" charset="-122"/>
                <a:cs typeface="Calibri" pitchFamily="34" charset="-120"/>
              </a:rPr>
              <a:t>RNP</a:t>
            </a:r>
            <a:endParaRPr lang="en-US" sz="1050" dirty="0"/>
          </a:p>
        </p:txBody>
      </p:sp>
      <p:sp>
        <p:nvSpPr>
          <p:cNvPr id="21" name="Text 19"/>
          <p:cNvSpPr txBox="1"/>
          <p:nvPr/>
        </p:nvSpPr>
        <p:spPr>
          <a:xfrm>
            <a:off x="594360" y="4480560"/>
            <a:ext cx="1776313" cy="548640"/>
          </a:xfrm>
          <a:prstGeom prst="rect">
            <a:avLst/>
          </a:prstGeom>
          <a:noFill/>
          <a:ln/>
        </p:spPr>
        <p:txBody>
          <a:bodyPr wrap="square" lIns="0" tIns="0" rIns="0" bIns="0" rtlCol="0" anchor="t"/>
          <a:lstStyle/>
          <a:p>
            <a:pPr indent="0" marL="0">
              <a:buNone/>
            </a:pPr>
            <a:r>
              <a:rPr lang="en-US" sz="1000" i="1" dirty="0">
                <a:solidFill>
                  <a:srgbClr val="8A96A6"/>
                </a:solidFill>
                <a:latin typeface="Calibri" pitchFamily="34" charset="0"/>
                <a:ea typeface="Calibri" pitchFamily="34" charset="-122"/>
                <a:cs typeface="Calibri" pitchFamily="34" charset="-120"/>
              </a:rPr>
              <a:t>[Task at this step]</a:t>
            </a:r>
            <a:endParaRPr lang="en-US" sz="1000" dirty="0"/>
          </a:p>
        </p:txBody>
      </p:sp>
      <p:sp>
        <p:nvSpPr>
          <p:cNvPr id="22" name="Shape 20"/>
          <p:cNvSpPr/>
          <p:nvPr/>
        </p:nvSpPr>
        <p:spPr>
          <a:xfrm>
            <a:off x="2763865" y="2286000"/>
            <a:ext cx="2050633" cy="566928"/>
          </a:xfrm>
          <a:prstGeom prst="roundRect">
            <a:avLst>
              <a:gd name="adj" fmla="val 12903"/>
            </a:avLst>
          </a:prstGeom>
          <a:solidFill>
            <a:srgbClr val="F7F9FC"/>
          </a:solidFill>
          <a:ln w="9525">
            <a:solidFill>
              <a:srgbClr val="DCE4EF"/>
            </a:solidFill>
            <a:prstDash val="solid"/>
          </a:ln>
        </p:spPr>
      </p:sp>
      <p:sp>
        <p:nvSpPr>
          <p:cNvPr id="23" name="Shape 21"/>
          <p:cNvSpPr/>
          <p:nvPr/>
        </p:nvSpPr>
        <p:spPr>
          <a:xfrm>
            <a:off x="2855305" y="2414016"/>
            <a:ext cx="292608" cy="292608"/>
          </a:xfrm>
          <a:prstGeom prst="ellipse">
            <a:avLst/>
          </a:prstGeom>
          <a:solidFill>
            <a:srgbClr val="10305F"/>
          </a:solidFill>
          <a:ln w="12700">
            <a:solidFill>
              <a:srgbClr val="10305F"/>
            </a:solidFill>
            <a:prstDash val="solid"/>
          </a:ln>
        </p:spPr>
      </p:sp>
      <p:sp>
        <p:nvSpPr>
          <p:cNvPr id="24" name="Text 22"/>
          <p:cNvSpPr txBox="1"/>
          <p:nvPr/>
        </p:nvSpPr>
        <p:spPr>
          <a:xfrm>
            <a:off x="2855305" y="241401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25" name="Text 23"/>
          <p:cNvSpPr txBox="1"/>
          <p:nvPr/>
        </p:nvSpPr>
        <p:spPr>
          <a:xfrm>
            <a:off x="3221065" y="2286000"/>
            <a:ext cx="1520281" cy="566928"/>
          </a:xfrm>
          <a:prstGeom prst="rect">
            <a:avLst/>
          </a:prstGeom>
          <a:noFill/>
          <a:ln/>
        </p:spPr>
        <p:txBody>
          <a:bodyPr wrap="square" lIns="0" tIns="0" rIns="0" bIns="0" rtlCol="0" anchor="ctr"/>
          <a:lstStyle/>
          <a:p>
            <a:pPr indent="0" marL="0">
              <a:buNone/>
            </a:pPr>
            <a:r>
              <a:rPr lang="en-US" sz="1100" b="1" dirty="0">
                <a:solidFill>
                  <a:srgbClr val="10305F"/>
                </a:solidFill>
                <a:latin typeface="Calibri" pitchFamily="34" charset="0"/>
                <a:ea typeface="Calibri" pitchFamily="34" charset="-122"/>
                <a:cs typeface="Calibri" pitchFamily="34" charset="-120"/>
              </a:rPr>
              <a:t>Data &amp; domain experts</a:t>
            </a:r>
            <a:endParaRPr lang="en-US" sz="1100" dirty="0"/>
          </a:p>
        </p:txBody>
      </p:sp>
      <p:sp>
        <p:nvSpPr>
          <p:cNvPr id="26" name="Shape 24"/>
          <p:cNvSpPr/>
          <p:nvPr/>
        </p:nvSpPr>
        <p:spPr>
          <a:xfrm>
            <a:off x="4851075" y="2478024"/>
            <a:ext cx="182880" cy="182880"/>
          </a:xfrm>
          <a:prstGeom prst="rightArrow">
            <a:avLst/>
          </a:prstGeom>
          <a:solidFill>
            <a:srgbClr val="DCE4EF"/>
          </a:solidFill>
          <a:ln w="12700">
            <a:solidFill>
              <a:srgbClr val="DCE4EF"/>
            </a:solidFill>
            <a:prstDash val="solid"/>
          </a:ln>
        </p:spPr>
      </p:sp>
      <p:sp>
        <p:nvSpPr>
          <p:cNvPr id="27" name="Shape 25"/>
          <p:cNvSpPr/>
          <p:nvPr/>
        </p:nvSpPr>
        <p:spPr>
          <a:xfrm>
            <a:off x="2763865" y="3035808"/>
            <a:ext cx="2050633" cy="960120"/>
          </a:xfrm>
          <a:prstGeom prst="roundRect">
            <a:avLst>
              <a:gd name="adj" fmla="val 7619"/>
            </a:avLst>
          </a:prstGeom>
          <a:solidFill>
            <a:srgbClr val="FFFFFF"/>
          </a:solidFill>
          <a:ln w="9525">
            <a:solidFill>
              <a:srgbClr val="D9E2EC"/>
            </a:solidFill>
            <a:prstDash val="solid"/>
          </a:ln>
          <a:effectLst>
            <a:outerShdw sx="100000" sy="100000" kx="0" ky="0" algn="bl" rotWithShape="0" blurRad="63500" dist="12700" dir="5400000">
              <a:srgbClr val="9FB0C4">
                <a:alpha val="22000"/>
              </a:srgbClr>
            </a:outerShdw>
          </a:effectLst>
        </p:spPr>
      </p:sp>
      <p:sp>
        <p:nvSpPr>
          <p:cNvPr id="28" name="Text 26"/>
          <p:cNvSpPr txBox="1"/>
          <p:nvPr/>
        </p:nvSpPr>
        <p:spPr>
          <a:xfrm>
            <a:off x="2901025" y="3108960"/>
            <a:ext cx="1776313" cy="274320"/>
          </a:xfrm>
          <a:prstGeom prst="rect">
            <a:avLst/>
          </a:prstGeom>
          <a:noFill/>
          <a:ln/>
        </p:spPr>
        <p:txBody>
          <a:bodyPr wrap="square" lIns="0" tIns="0" rIns="0" bIns="0" rtlCol="0" anchor="ctr"/>
          <a:lstStyle/>
          <a:p>
            <a:pPr indent="0" marL="0">
              <a:buNone/>
            </a:pPr>
            <a:r>
              <a:rPr lang="en-US" sz="1050" b="1" dirty="0">
                <a:solidFill>
                  <a:srgbClr val="0E8577"/>
                </a:solidFill>
                <a:latin typeface="Calibri" pitchFamily="34" charset="0"/>
                <a:ea typeface="Calibri" pitchFamily="34" charset="-122"/>
                <a:cs typeface="Calibri" pitchFamily="34" charset="-120"/>
              </a:rPr>
              <a:t>iFLYTEK</a:t>
            </a:r>
            <a:endParaRPr lang="en-US" sz="1050" dirty="0"/>
          </a:p>
        </p:txBody>
      </p:sp>
      <p:sp>
        <p:nvSpPr>
          <p:cNvPr id="29" name="Text 27"/>
          <p:cNvSpPr txBox="1"/>
          <p:nvPr/>
        </p:nvSpPr>
        <p:spPr>
          <a:xfrm>
            <a:off x="2901025" y="3383280"/>
            <a:ext cx="1776313" cy="548640"/>
          </a:xfrm>
          <a:prstGeom prst="rect">
            <a:avLst/>
          </a:prstGeom>
          <a:noFill/>
          <a:ln/>
        </p:spPr>
        <p:txBody>
          <a:bodyPr wrap="square" lIns="0" tIns="0" rIns="0" bIns="0" rtlCol="0" anchor="t"/>
          <a:lstStyle/>
          <a:p>
            <a:pPr indent="0" marL="0">
              <a:buNone/>
            </a:pPr>
            <a:r>
              <a:rPr lang="en-US" sz="1000" i="1" dirty="0">
                <a:solidFill>
                  <a:srgbClr val="8A96A6"/>
                </a:solidFill>
                <a:latin typeface="Calibri" pitchFamily="34" charset="0"/>
                <a:ea typeface="Calibri" pitchFamily="34" charset="-122"/>
                <a:cs typeface="Calibri" pitchFamily="34" charset="-120"/>
              </a:rPr>
              <a:t>[Task at this step]</a:t>
            </a:r>
            <a:endParaRPr lang="en-US" sz="1000" dirty="0"/>
          </a:p>
        </p:txBody>
      </p:sp>
      <p:sp>
        <p:nvSpPr>
          <p:cNvPr id="30" name="Shape 28"/>
          <p:cNvSpPr/>
          <p:nvPr/>
        </p:nvSpPr>
        <p:spPr>
          <a:xfrm>
            <a:off x="2763865" y="4133088"/>
            <a:ext cx="2050633" cy="960120"/>
          </a:xfrm>
          <a:prstGeom prst="roundRect">
            <a:avLst>
              <a:gd name="adj" fmla="val 7619"/>
            </a:avLst>
          </a:prstGeom>
          <a:solidFill>
            <a:srgbClr val="FFFFFF"/>
          </a:solidFill>
          <a:ln w="9525">
            <a:solidFill>
              <a:srgbClr val="D9E2EC"/>
            </a:solidFill>
            <a:prstDash val="solid"/>
          </a:ln>
          <a:effectLst>
            <a:outerShdw sx="100000" sy="100000" kx="0" ky="0" algn="bl" rotWithShape="0" blurRad="63500" dist="12700" dir="5400000">
              <a:srgbClr val="9FB0C4">
                <a:alpha val="22000"/>
              </a:srgbClr>
            </a:outerShdw>
          </a:effectLst>
        </p:spPr>
      </p:sp>
      <p:sp>
        <p:nvSpPr>
          <p:cNvPr id="31" name="Text 29"/>
          <p:cNvSpPr txBox="1"/>
          <p:nvPr/>
        </p:nvSpPr>
        <p:spPr>
          <a:xfrm>
            <a:off x="2901025" y="4206240"/>
            <a:ext cx="1776313" cy="274320"/>
          </a:xfrm>
          <a:prstGeom prst="rect">
            <a:avLst/>
          </a:prstGeom>
          <a:noFill/>
          <a:ln/>
        </p:spPr>
        <p:txBody>
          <a:bodyPr wrap="square" lIns="0" tIns="0" rIns="0" bIns="0" rtlCol="0" anchor="ctr"/>
          <a:lstStyle/>
          <a:p>
            <a:pPr indent="0" marL="0">
              <a:buNone/>
            </a:pPr>
            <a:r>
              <a:rPr lang="en-US" sz="1050" b="1" dirty="0">
                <a:solidFill>
                  <a:srgbClr val="10305F"/>
                </a:solidFill>
                <a:latin typeface="Calibri" pitchFamily="34" charset="0"/>
                <a:ea typeface="Calibri" pitchFamily="34" charset="-122"/>
                <a:cs typeface="Calibri" pitchFamily="34" charset="-120"/>
              </a:rPr>
              <a:t>RNP</a:t>
            </a:r>
            <a:endParaRPr lang="en-US" sz="1050" dirty="0"/>
          </a:p>
        </p:txBody>
      </p:sp>
      <p:sp>
        <p:nvSpPr>
          <p:cNvPr id="32" name="Text 30"/>
          <p:cNvSpPr txBox="1"/>
          <p:nvPr/>
        </p:nvSpPr>
        <p:spPr>
          <a:xfrm>
            <a:off x="2901025" y="4480560"/>
            <a:ext cx="1776313" cy="548640"/>
          </a:xfrm>
          <a:prstGeom prst="rect">
            <a:avLst/>
          </a:prstGeom>
          <a:noFill/>
          <a:ln/>
        </p:spPr>
        <p:txBody>
          <a:bodyPr wrap="square" lIns="0" tIns="0" rIns="0" bIns="0" rtlCol="0" anchor="t"/>
          <a:lstStyle/>
          <a:p>
            <a:pPr indent="0" marL="0">
              <a:buNone/>
            </a:pPr>
            <a:r>
              <a:rPr lang="en-US" sz="1000" i="1" dirty="0">
                <a:solidFill>
                  <a:srgbClr val="8A96A6"/>
                </a:solidFill>
                <a:latin typeface="Calibri" pitchFamily="34" charset="0"/>
                <a:ea typeface="Calibri" pitchFamily="34" charset="-122"/>
                <a:cs typeface="Calibri" pitchFamily="34" charset="-120"/>
              </a:rPr>
              <a:t>[Task at this step]</a:t>
            </a:r>
            <a:endParaRPr lang="en-US" sz="1000" dirty="0"/>
          </a:p>
        </p:txBody>
      </p:sp>
      <p:sp>
        <p:nvSpPr>
          <p:cNvPr id="33" name="Shape 31"/>
          <p:cNvSpPr/>
          <p:nvPr/>
        </p:nvSpPr>
        <p:spPr>
          <a:xfrm>
            <a:off x="5070531" y="2286000"/>
            <a:ext cx="2050633" cy="566928"/>
          </a:xfrm>
          <a:prstGeom prst="roundRect">
            <a:avLst>
              <a:gd name="adj" fmla="val 12903"/>
            </a:avLst>
          </a:prstGeom>
          <a:solidFill>
            <a:srgbClr val="F7F9FC"/>
          </a:solidFill>
          <a:ln w="9525">
            <a:solidFill>
              <a:srgbClr val="DCE4EF"/>
            </a:solidFill>
            <a:prstDash val="solid"/>
          </a:ln>
        </p:spPr>
      </p:sp>
      <p:sp>
        <p:nvSpPr>
          <p:cNvPr id="34" name="Shape 32"/>
          <p:cNvSpPr/>
          <p:nvPr/>
        </p:nvSpPr>
        <p:spPr>
          <a:xfrm>
            <a:off x="5161971" y="2414016"/>
            <a:ext cx="292608" cy="292608"/>
          </a:xfrm>
          <a:prstGeom prst="ellipse">
            <a:avLst/>
          </a:prstGeom>
          <a:solidFill>
            <a:srgbClr val="10305F"/>
          </a:solidFill>
          <a:ln w="12700">
            <a:solidFill>
              <a:srgbClr val="10305F"/>
            </a:solidFill>
            <a:prstDash val="solid"/>
          </a:ln>
        </p:spPr>
      </p:sp>
      <p:sp>
        <p:nvSpPr>
          <p:cNvPr id="35" name="Text 33"/>
          <p:cNvSpPr txBox="1"/>
          <p:nvPr/>
        </p:nvSpPr>
        <p:spPr>
          <a:xfrm>
            <a:off x="5161971" y="241401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36" name="Text 34"/>
          <p:cNvSpPr txBox="1"/>
          <p:nvPr/>
        </p:nvSpPr>
        <p:spPr>
          <a:xfrm>
            <a:off x="5527731" y="2286000"/>
            <a:ext cx="1520281" cy="566928"/>
          </a:xfrm>
          <a:prstGeom prst="rect">
            <a:avLst/>
          </a:prstGeom>
          <a:noFill/>
          <a:ln/>
        </p:spPr>
        <p:txBody>
          <a:bodyPr wrap="square" lIns="0" tIns="0" rIns="0" bIns="0" rtlCol="0" anchor="ctr"/>
          <a:lstStyle/>
          <a:p>
            <a:pPr indent="0" marL="0">
              <a:buNone/>
            </a:pPr>
            <a:r>
              <a:rPr lang="en-US" sz="1100" b="1" dirty="0">
                <a:solidFill>
                  <a:srgbClr val="10305F"/>
                </a:solidFill>
                <a:latin typeface="Calibri" pitchFamily="34" charset="0"/>
                <a:ea typeface="Calibri" pitchFamily="34" charset="-122"/>
                <a:cs typeface="Calibri" pitchFamily="34" charset="-120"/>
              </a:rPr>
              <a:t>Development &amp; adaptation</a:t>
            </a:r>
            <a:endParaRPr lang="en-US" sz="1100" dirty="0"/>
          </a:p>
        </p:txBody>
      </p:sp>
      <p:sp>
        <p:nvSpPr>
          <p:cNvPr id="37" name="Shape 35"/>
          <p:cNvSpPr/>
          <p:nvPr/>
        </p:nvSpPr>
        <p:spPr>
          <a:xfrm>
            <a:off x="7157740" y="2478024"/>
            <a:ext cx="182880" cy="182880"/>
          </a:xfrm>
          <a:prstGeom prst="rightArrow">
            <a:avLst/>
          </a:prstGeom>
          <a:solidFill>
            <a:srgbClr val="DCE4EF"/>
          </a:solidFill>
          <a:ln w="12700">
            <a:solidFill>
              <a:srgbClr val="DCE4EF"/>
            </a:solidFill>
            <a:prstDash val="solid"/>
          </a:ln>
        </p:spPr>
      </p:sp>
      <p:sp>
        <p:nvSpPr>
          <p:cNvPr id="38" name="Shape 36"/>
          <p:cNvSpPr/>
          <p:nvPr/>
        </p:nvSpPr>
        <p:spPr>
          <a:xfrm>
            <a:off x="5070531" y="3035808"/>
            <a:ext cx="2050633" cy="960120"/>
          </a:xfrm>
          <a:prstGeom prst="roundRect">
            <a:avLst>
              <a:gd name="adj" fmla="val 7619"/>
            </a:avLst>
          </a:prstGeom>
          <a:solidFill>
            <a:srgbClr val="FFFFFF"/>
          </a:solidFill>
          <a:ln w="9525">
            <a:solidFill>
              <a:srgbClr val="D9E2EC"/>
            </a:solidFill>
            <a:prstDash val="solid"/>
          </a:ln>
          <a:effectLst>
            <a:outerShdw sx="100000" sy="100000" kx="0" ky="0" algn="bl" rotWithShape="0" blurRad="63500" dist="12700" dir="5400000">
              <a:srgbClr val="9FB0C4">
                <a:alpha val="22000"/>
              </a:srgbClr>
            </a:outerShdw>
          </a:effectLst>
        </p:spPr>
      </p:sp>
      <p:sp>
        <p:nvSpPr>
          <p:cNvPr id="39" name="Text 37"/>
          <p:cNvSpPr txBox="1"/>
          <p:nvPr/>
        </p:nvSpPr>
        <p:spPr>
          <a:xfrm>
            <a:off x="5207691" y="3108960"/>
            <a:ext cx="1776313" cy="274320"/>
          </a:xfrm>
          <a:prstGeom prst="rect">
            <a:avLst/>
          </a:prstGeom>
          <a:noFill/>
          <a:ln/>
        </p:spPr>
        <p:txBody>
          <a:bodyPr wrap="square" lIns="0" tIns="0" rIns="0" bIns="0" rtlCol="0" anchor="ctr"/>
          <a:lstStyle/>
          <a:p>
            <a:pPr indent="0" marL="0">
              <a:buNone/>
            </a:pPr>
            <a:r>
              <a:rPr lang="en-US" sz="1050" b="1" dirty="0">
                <a:solidFill>
                  <a:srgbClr val="0E8577"/>
                </a:solidFill>
                <a:latin typeface="Calibri" pitchFamily="34" charset="0"/>
                <a:ea typeface="Calibri" pitchFamily="34" charset="-122"/>
                <a:cs typeface="Calibri" pitchFamily="34" charset="-120"/>
              </a:rPr>
              <a:t>iFLYTEK</a:t>
            </a:r>
            <a:endParaRPr lang="en-US" sz="1050" dirty="0"/>
          </a:p>
        </p:txBody>
      </p:sp>
      <p:sp>
        <p:nvSpPr>
          <p:cNvPr id="40" name="Text 38"/>
          <p:cNvSpPr txBox="1"/>
          <p:nvPr/>
        </p:nvSpPr>
        <p:spPr>
          <a:xfrm>
            <a:off x="5207691" y="3383280"/>
            <a:ext cx="1776313" cy="548640"/>
          </a:xfrm>
          <a:prstGeom prst="rect">
            <a:avLst/>
          </a:prstGeom>
          <a:noFill/>
          <a:ln/>
        </p:spPr>
        <p:txBody>
          <a:bodyPr wrap="square" lIns="0" tIns="0" rIns="0" bIns="0" rtlCol="0" anchor="t"/>
          <a:lstStyle/>
          <a:p>
            <a:pPr indent="0" marL="0">
              <a:buNone/>
            </a:pPr>
            <a:r>
              <a:rPr lang="en-US" sz="1000" i="1" dirty="0">
                <a:solidFill>
                  <a:srgbClr val="8A96A6"/>
                </a:solidFill>
                <a:latin typeface="Calibri" pitchFamily="34" charset="0"/>
                <a:ea typeface="Calibri" pitchFamily="34" charset="-122"/>
                <a:cs typeface="Calibri" pitchFamily="34" charset="-120"/>
              </a:rPr>
              <a:t>[Task at this step]</a:t>
            </a:r>
            <a:endParaRPr lang="en-US" sz="1000" dirty="0"/>
          </a:p>
        </p:txBody>
      </p:sp>
      <p:sp>
        <p:nvSpPr>
          <p:cNvPr id="41" name="Shape 39"/>
          <p:cNvSpPr/>
          <p:nvPr/>
        </p:nvSpPr>
        <p:spPr>
          <a:xfrm>
            <a:off x="5070531" y="4133088"/>
            <a:ext cx="2050633" cy="960120"/>
          </a:xfrm>
          <a:prstGeom prst="roundRect">
            <a:avLst>
              <a:gd name="adj" fmla="val 7619"/>
            </a:avLst>
          </a:prstGeom>
          <a:solidFill>
            <a:srgbClr val="FFFFFF"/>
          </a:solidFill>
          <a:ln w="9525">
            <a:solidFill>
              <a:srgbClr val="D9E2EC"/>
            </a:solidFill>
            <a:prstDash val="solid"/>
          </a:ln>
          <a:effectLst>
            <a:outerShdw sx="100000" sy="100000" kx="0" ky="0" algn="bl" rotWithShape="0" blurRad="63500" dist="12700" dir="5400000">
              <a:srgbClr val="9FB0C4">
                <a:alpha val="22000"/>
              </a:srgbClr>
            </a:outerShdw>
          </a:effectLst>
        </p:spPr>
      </p:sp>
      <p:sp>
        <p:nvSpPr>
          <p:cNvPr id="42" name="Text 40"/>
          <p:cNvSpPr txBox="1"/>
          <p:nvPr/>
        </p:nvSpPr>
        <p:spPr>
          <a:xfrm>
            <a:off x="5207691" y="4206240"/>
            <a:ext cx="1776313" cy="274320"/>
          </a:xfrm>
          <a:prstGeom prst="rect">
            <a:avLst/>
          </a:prstGeom>
          <a:noFill/>
          <a:ln/>
        </p:spPr>
        <p:txBody>
          <a:bodyPr wrap="square" lIns="0" tIns="0" rIns="0" bIns="0" rtlCol="0" anchor="ctr"/>
          <a:lstStyle/>
          <a:p>
            <a:pPr indent="0" marL="0">
              <a:buNone/>
            </a:pPr>
            <a:r>
              <a:rPr lang="en-US" sz="1050" b="1" dirty="0">
                <a:solidFill>
                  <a:srgbClr val="10305F"/>
                </a:solidFill>
                <a:latin typeface="Calibri" pitchFamily="34" charset="0"/>
                <a:ea typeface="Calibri" pitchFamily="34" charset="-122"/>
                <a:cs typeface="Calibri" pitchFamily="34" charset="-120"/>
              </a:rPr>
              <a:t>RNP</a:t>
            </a:r>
            <a:endParaRPr lang="en-US" sz="1050" dirty="0"/>
          </a:p>
        </p:txBody>
      </p:sp>
      <p:sp>
        <p:nvSpPr>
          <p:cNvPr id="43" name="Text 41"/>
          <p:cNvSpPr txBox="1"/>
          <p:nvPr/>
        </p:nvSpPr>
        <p:spPr>
          <a:xfrm>
            <a:off x="5207691" y="4480560"/>
            <a:ext cx="1776313" cy="548640"/>
          </a:xfrm>
          <a:prstGeom prst="rect">
            <a:avLst/>
          </a:prstGeom>
          <a:noFill/>
          <a:ln/>
        </p:spPr>
        <p:txBody>
          <a:bodyPr wrap="square" lIns="0" tIns="0" rIns="0" bIns="0" rtlCol="0" anchor="t"/>
          <a:lstStyle/>
          <a:p>
            <a:pPr indent="0" marL="0">
              <a:buNone/>
            </a:pPr>
            <a:r>
              <a:rPr lang="en-US" sz="1000" i="1" dirty="0">
                <a:solidFill>
                  <a:srgbClr val="8A96A6"/>
                </a:solidFill>
                <a:latin typeface="Calibri" pitchFamily="34" charset="0"/>
                <a:ea typeface="Calibri" pitchFamily="34" charset="-122"/>
                <a:cs typeface="Calibri" pitchFamily="34" charset="-120"/>
              </a:rPr>
              <a:t>[Task at this step]</a:t>
            </a:r>
            <a:endParaRPr lang="en-US" sz="1000" dirty="0"/>
          </a:p>
        </p:txBody>
      </p:sp>
      <p:sp>
        <p:nvSpPr>
          <p:cNvPr id="44" name="Shape 42"/>
          <p:cNvSpPr/>
          <p:nvPr/>
        </p:nvSpPr>
        <p:spPr>
          <a:xfrm>
            <a:off x="7377196" y="2286000"/>
            <a:ext cx="2050633" cy="566928"/>
          </a:xfrm>
          <a:prstGeom prst="roundRect">
            <a:avLst>
              <a:gd name="adj" fmla="val 12903"/>
            </a:avLst>
          </a:prstGeom>
          <a:solidFill>
            <a:srgbClr val="F7F9FC"/>
          </a:solidFill>
          <a:ln w="9525">
            <a:solidFill>
              <a:srgbClr val="DCE4EF"/>
            </a:solidFill>
            <a:prstDash val="solid"/>
          </a:ln>
        </p:spPr>
      </p:sp>
      <p:sp>
        <p:nvSpPr>
          <p:cNvPr id="45" name="Shape 43"/>
          <p:cNvSpPr/>
          <p:nvPr/>
        </p:nvSpPr>
        <p:spPr>
          <a:xfrm>
            <a:off x="7468636" y="2414016"/>
            <a:ext cx="292608" cy="292608"/>
          </a:xfrm>
          <a:prstGeom prst="ellipse">
            <a:avLst/>
          </a:prstGeom>
          <a:solidFill>
            <a:srgbClr val="10305F"/>
          </a:solidFill>
          <a:ln w="12700">
            <a:solidFill>
              <a:srgbClr val="10305F"/>
            </a:solidFill>
            <a:prstDash val="solid"/>
          </a:ln>
        </p:spPr>
      </p:sp>
      <p:sp>
        <p:nvSpPr>
          <p:cNvPr id="46" name="Text 44"/>
          <p:cNvSpPr txBox="1"/>
          <p:nvPr/>
        </p:nvSpPr>
        <p:spPr>
          <a:xfrm>
            <a:off x="7468636" y="241401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47" name="Text 45"/>
          <p:cNvSpPr txBox="1"/>
          <p:nvPr/>
        </p:nvSpPr>
        <p:spPr>
          <a:xfrm>
            <a:off x="7834396" y="2286000"/>
            <a:ext cx="1520281" cy="566928"/>
          </a:xfrm>
          <a:prstGeom prst="rect">
            <a:avLst/>
          </a:prstGeom>
          <a:noFill/>
          <a:ln/>
        </p:spPr>
        <p:txBody>
          <a:bodyPr wrap="square" lIns="0" tIns="0" rIns="0" bIns="0" rtlCol="0" anchor="ctr"/>
          <a:lstStyle/>
          <a:p>
            <a:pPr indent="0" marL="0">
              <a:buNone/>
            </a:pPr>
            <a:r>
              <a:rPr lang="en-US" sz="1100" b="1" dirty="0">
                <a:solidFill>
                  <a:srgbClr val="10305F"/>
                </a:solidFill>
                <a:latin typeface="Calibri" pitchFamily="34" charset="0"/>
                <a:ea typeface="Calibri" pitchFamily="34" charset="-122"/>
                <a:cs typeface="Calibri" pitchFamily="34" charset="-120"/>
              </a:rPr>
              <a:t>Evaluation &amp; acceptance</a:t>
            </a:r>
            <a:endParaRPr lang="en-US" sz="1100" dirty="0"/>
          </a:p>
        </p:txBody>
      </p:sp>
      <p:sp>
        <p:nvSpPr>
          <p:cNvPr id="48" name="Shape 46"/>
          <p:cNvSpPr/>
          <p:nvPr/>
        </p:nvSpPr>
        <p:spPr>
          <a:xfrm>
            <a:off x="9464406" y="2478024"/>
            <a:ext cx="182880" cy="182880"/>
          </a:xfrm>
          <a:prstGeom prst="rightArrow">
            <a:avLst/>
          </a:prstGeom>
          <a:solidFill>
            <a:srgbClr val="DCE4EF"/>
          </a:solidFill>
          <a:ln w="12700">
            <a:solidFill>
              <a:srgbClr val="DCE4EF"/>
            </a:solidFill>
            <a:prstDash val="solid"/>
          </a:ln>
        </p:spPr>
      </p:sp>
      <p:sp>
        <p:nvSpPr>
          <p:cNvPr id="49" name="Shape 47"/>
          <p:cNvSpPr/>
          <p:nvPr/>
        </p:nvSpPr>
        <p:spPr>
          <a:xfrm>
            <a:off x="7377196" y="3035808"/>
            <a:ext cx="2050633" cy="960120"/>
          </a:xfrm>
          <a:prstGeom prst="roundRect">
            <a:avLst>
              <a:gd name="adj" fmla="val 7619"/>
            </a:avLst>
          </a:prstGeom>
          <a:solidFill>
            <a:srgbClr val="FFFFFF"/>
          </a:solidFill>
          <a:ln w="9525">
            <a:solidFill>
              <a:srgbClr val="D9E2EC"/>
            </a:solidFill>
            <a:prstDash val="solid"/>
          </a:ln>
          <a:effectLst>
            <a:outerShdw sx="100000" sy="100000" kx="0" ky="0" algn="bl" rotWithShape="0" blurRad="63500" dist="12700" dir="5400000">
              <a:srgbClr val="9FB0C4">
                <a:alpha val="22000"/>
              </a:srgbClr>
            </a:outerShdw>
          </a:effectLst>
        </p:spPr>
      </p:sp>
      <p:sp>
        <p:nvSpPr>
          <p:cNvPr id="50" name="Text 48"/>
          <p:cNvSpPr txBox="1"/>
          <p:nvPr/>
        </p:nvSpPr>
        <p:spPr>
          <a:xfrm>
            <a:off x="7514356" y="3108960"/>
            <a:ext cx="1776313" cy="274320"/>
          </a:xfrm>
          <a:prstGeom prst="rect">
            <a:avLst/>
          </a:prstGeom>
          <a:noFill/>
          <a:ln/>
        </p:spPr>
        <p:txBody>
          <a:bodyPr wrap="square" lIns="0" tIns="0" rIns="0" bIns="0" rtlCol="0" anchor="ctr"/>
          <a:lstStyle/>
          <a:p>
            <a:pPr indent="0" marL="0">
              <a:buNone/>
            </a:pPr>
            <a:r>
              <a:rPr lang="en-US" sz="1050" b="1" dirty="0">
                <a:solidFill>
                  <a:srgbClr val="0E8577"/>
                </a:solidFill>
                <a:latin typeface="Calibri" pitchFamily="34" charset="0"/>
                <a:ea typeface="Calibri" pitchFamily="34" charset="-122"/>
                <a:cs typeface="Calibri" pitchFamily="34" charset="-120"/>
              </a:rPr>
              <a:t>iFLYTEK</a:t>
            </a:r>
            <a:endParaRPr lang="en-US" sz="1050" dirty="0"/>
          </a:p>
        </p:txBody>
      </p:sp>
      <p:sp>
        <p:nvSpPr>
          <p:cNvPr id="51" name="Text 49"/>
          <p:cNvSpPr txBox="1"/>
          <p:nvPr/>
        </p:nvSpPr>
        <p:spPr>
          <a:xfrm>
            <a:off x="7514356" y="3383280"/>
            <a:ext cx="1776313" cy="548640"/>
          </a:xfrm>
          <a:prstGeom prst="rect">
            <a:avLst/>
          </a:prstGeom>
          <a:noFill/>
          <a:ln/>
        </p:spPr>
        <p:txBody>
          <a:bodyPr wrap="square" lIns="0" tIns="0" rIns="0" bIns="0" rtlCol="0" anchor="t"/>
          <a:lstStyle/>
          <a:p>
            <a:pPr indent="0" marL="0">
              <a:buNone/>
            </a:pPr>
            <a:r>
              <a:rPr lang="en-US" sz="1000" i="1" dirty="0">
                <a:solidFill>
                  <a:srgbClr val="8A96A6"/>
                </a:solidFill>
                <a:latin typeface="Calibri" pitchFamily="34" charset="0"/>
                <a:ea typeface="Calibri" pitchFamily="34" charset="-122"/>
                <a:cs typeface="Calibri" pitchFamily="34" charset="-120"/>
              </a:rPr>
              <a:t>[Task at this step]</a:t>
            </a:r>
            <a:endParaRPr lang="en-US" sz="1000" dirty="0"/>
          </a:p>
        </p:txBody>
      </p:sp>
      <p:sp>
        <p:nvSpPr>
          <p:cNvPr id="52" name="Shape 50"/>
          <p:cNvSpPr/>
          <p:nvPr/>
        </p:nvSpPr>
        <p:spPr>
          <a:xfrm>
            <a:off x="7377196" y="4133088"/>
            <a:ext cx="2050633" cy="960120"/>
          </a:xfrm>
          <a:prstGeom prst="roundRect">
            <a:avLst>
              <a:gd name="adj" fmla="val 7619"/>
            </a:avLst>
          </a:prstGeom>
          <a:solidFill>
            <a:srgbClr val="FFFFFF"/>
          </a:solidFill>
          <a:ln w="9525">
            <a:solidFill>
              <a:srgbClr val="D9E2EC"/>
            </a:solidFill>
            <a:prstDash val="solid"/>
          </a:ln>
          <a:effectLst>
            <a:outerShdw sx="100000" sy="100000" kx="0" ky="0" algn="bl" rotWithShape="0" blurRad="63500" dist="12700" dir="5400000">
              <a:srgbClr val="9FB0C4">
                <a:alpha val="22000"/>
              </a:srgbClr>
            </a:outerShdw>
          </a:effectLst>
        </p:spPr>
      </p:sp>
      <p:sp>
        <p:nvSpPr>
          <p:cNvPr id="53" name="Text 51"/>
          <p:cNvSpPr txBox="1"/>
          <p:nvPr/>
        </p:nvSpPr>
        <p:spPr>
          <a:xfrm>
            <a:off x="7514356" y="4206240"/>
            <a:ext cx="1776313" cy="274320"/>
          </a:xfrm>
          <a:prstGeom prst="rect">
            <a:avLst/>
          </a:prstGeom>
          <a:noFill/>
          <a:ln/>
        </p:spPr>
        <p:txBody>
          <a:bodyPr wrap="square" lIns="0" tIns="0" rIns="0" bIns="0" rtlCol="0" anchor="ctr"/>
          <a:lstStyle/>
          <a:p>
            <a:pPr indent="0" marL="0">
              <a:buNone/>
            </a:pPr>
            <a:r>
              <a:rPr lang="en-US" sz="1050" b="1" dirty="0">
                <a:solidFill>
                  <a:srgbClr val="10305F"/>
                </a:solidFill>
                <a:latin typeface="Calibri" pitchFamily="34" charset="0"/>
                <a:ea typeface="Calibri" pitchFamily="34" charset="-122"/>
                <a:cs typeface="Calibri" pitchFamily="34" charset="-120"/>
              </a:rPr>
              <a:t>RNP</a:t>
            </a:r>
            <a:endParaRPr lang="en-US" sz="1050" dirty="0"/>
          </a:p>
        </p:txBody>
      </p:sp>
      <p:sp>
        <p:nvSpPr>
          <p:cNvPr id="54" name="Text 52"/>
          <p:cNvSpPr txBox="1"/>
          <p:nvPr/>
        </p:nvSpPr>
        <p:spPr>
          <a:xfrm>
            <a:off x="7514356" y="4480560"/>
            <a:ext cx="1776313" cy="548640"/>
          </a:xfrm>
          <a:prstGeom prst="rect">
            <a:avLst/>
          </a:prstGeom>
          <a:noFill/>
          <a:ln/>
        </p:spPr>
        <p:txBody>
          <a:bodyPr wrap="square" lIns="0" tIns="0" rIns="0" bIns="0" rtlCol="0" anchor="t"/>
          <a:lstStyle/>
          <a:p>
            <a:pPr indent="0" marL="0">
              <a:buNone/>
            </a:pPr>
            <a:r>
              <a:rPr lang="en-US" sz="1000" i="1" dirty="0">
                <a:solidFill>
                  <a:srgbClr val="8A96A6"/>
                </a:solidFill>
                <a:latin typeface="Calibri" pitchFamily="34" charset="0"/>
                <a:ea typeface="Calibri" pitchFamily="34" charset="-122"/>
                <a:cs typeface="Calibri" pitchFamily="34" charset="-120"/>
              </a:rPr>
              <a:t>[Task at this step]</a:t>
            </a:r>
            <a:endParaRPr lang="en-US" sz="1000" dirty="0"/>
          </a:p>
        </p:txBody>
      </p:sp>
      <p:sp>
        <p:nvSpPr>
          <p:cNvPr id="55" name="Shape 53"/>
          <p:cNvSpPr/>
          <p:nvPr/>
        </p:nvSpPr>
        <p:spPr>
          <a:xfrm>
            <a:off x="9683862" y="2286000"/>
            <a:ext cx="2050633" cy="566928"/>
          </a:xfrm>
          <a:prstGeom prst="roundRect">
            <a:avLst>
              <a:gd name="adj" fmla="val 12903"/>
            </a:avLst>
          </a:prstGeom>
          <a:solidFill>
            <a:srgbClr val="F7F9FC"/>
          </a:solidFill>
          <a:ln w="9525">
            <a:solidFill>
              <a:srgbClr val="DCE4EF"/>
            </a:solidFill>
            <a:prstDash val="solid"/>
          </a:ln>
        </p:spPr>
      </p:sp>
      <p:sp>
        <p:nvSpPr>
          <p:cNvPr id="56" name="Shape 54"/>
          <p:cNvSpPr/>
          <p:nvPr/>
        </p:nvSpPr>
        <p:spPr>
          <a:xfrm>
            <a:off x="9775302" y="2414016"/>
            <a:ext cx="292608" cy="292608"/>
          </a:xfrm>
          <a:prstGeom prst="ellipse">
            <a:avLst/>
          </a:prstGeom>
          <a:solidFill>
            <a:srgbClr val="10305F"/>
          </a:solidFill>
          <a:ln w="12700">
            <a:solidFill>
              <a:srgbClr val="10305F"/>
            </a:solidFill>
            <a:prstDash val="solid"/>
          </a:ln>
        </p:spPr>
      </p:sp>
      <p:sp>
        <p:nvSpPr>
          <p:cNvPr id="57" name="Text 55"/>
          <p:cNvSpPr txBox="1"/>
          <p:nvPr/>
        </p:nvSpPr>
        <p:spPr>
          <a:xfrm>
            <a:off x="9775302" y="241401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58" name="Text 56"/>
          <p:cNvSpPr txBox="1"/>
          <p:nvPr/>
        </p:nvSpPr>
        <p:spPr>
          <a:xfrm>
            <a:off x="10141062" y="2286000"/>
            <a:ext cx="1520281" cy="566928"/>
          </a:xfrm>
          <a:prstGeom prst="rect">
            <a:avLst/>
          </a:prstGeom>
          <a:noFill/>
          <a:ln/>
        </p:spPr>
        <p:txBody>
          <a:bodyPr wrap="square" lIns="0" tIns="0" rIns="0" bIns="0" rtlCol="0" anchor="ctr"/>
          <a:lstStyle/>
          <a:p>
            <a:pPr indent="0" marL="0">
              <a:buNone/>
            </a:pPr>
            <a:r>
              <a:rPr lang="en-US" sz="1100" b="1" dirty="0">
                <a:solidFill>
                  <a:srgbClr val="10305F"/>
                </a:solidFill>
                <a:latin typeface="Calibri" pitchFamily="34" charset="0"/>
                <a:ea typeface="Calibri" pitchFamily="34" charset="-122"/>
                <a:cs typeface="Calibri" pitchFamily="34" charset="-120"/>
              </a:rPr>
              <a:t>Update &amp; maintenance</a:t>
            </a:r>
            <a:endParaRPr lang="en-US" sz="1100" dirty="0"/>
          </a:p>
        </p:txBody>
      </p:sp>
      <p:sp>
        <p:nvSpPr>
          <p:cNvPr id="59" name="Shape 57"/>
          <p:cNvSpPr/>
          <p:nvPr/>
        </p:nvSpPr>
        <p:spPr>
          <a:xfrm>
            <a:off x="9683862" y="3035808"/>
            <a:ext cx="2050633" cy="960120"/>
          </a:xfrm>
          <a:prstGeom prst="roundRect">
            <a:avLst>
              <a:gd name="adj" fmla="val 7619"/>
            </a:avLst>
          </a:prstGeom>
          <a:solidFill>
            <a:srgbClr val="FFFFFF"/>
          </a:solidFill>
          <a:ln w="9525">
            <a:solidFill>
              <a:srgbClr val="D9E2EC"/>
            </a:solidFill>
            <a:prstDash val="solid"/>
          </a:ln>
          <a:effectLst>
            <a:outerShdw sx="100000" sy="100000" kx="0" ky="0" algn="bl" rotWithShape="0" blurRad="63500" dist="12700" dir="5400000">
              <a:srgbClr val="9FB0C4">
                <a:alpha val="22000"/>
              </a:srgbClr>
            </a:outerShdw>
          </a:effectLst>
        </p:spPr>
      </p:sp>
      <p:sp>
        <p:nvSpPr>
          <p:cNvPr id="60" name="Text 58"/>
          <p:cNvSpPr txBox="1"/>
          <p:nvPr/>
        </p:nvSpPr>
        <p:spPr>
          <a:xfrm>
            <a:off x="9821022" y="3108960"/>
            <a:ext cx="1776313" cy="274320"/>
          </a:xfrm>
          <a:prstGeom prst="rect">
            <a:avLst/>
          </a:prstGeom>
          <a:noFill/>
          <a:ln/>
        </p:spPr>
        <p:txBody>
          <a:bodyPr wrap="square" lIns="0" tIns="0" rIns="0" bIns="0" rtlCol="0" anchor="ctr"/>
          <a:lstStyle/>
          <a:p>
            <a:pPr indent="0" marL="0">
              <a:buNone/>
            </a:pPr>
            <a:r>
              <a:rPr lang="en-US" sz="1050" b="1" dirty="0">
                <a:solidFill>
                  <a:srgbClr val="0E8577"/>
                </a:solidFill>
                <a:latin typeface="Calibri" pitchFamily="34" charset="0"/>
                <a:ea typeface="Calibri" pitchFamily="34" charset="-122"/>
                <a:cs typeface="Calibri" pitchFamily="34" charset="-120"/>
              </a:rPr>
              <a:t>iFLYTEK</a:t>
            </a:r>
            <a:endParaRPr lang="en-US" sz="1050" dirty="0"/>
          </a:p>
        </p:txBody>
      </p:sp>
      <p:sp>
        <p:nvSpPr>
          <p:cNvPr id="61" name="Text 59"/>
          <p:cNvSpPr txBox="1"/>
          <p:nvPr/>
        </p:nvSpPr>
        <p:spPr>
          <a:xfrm>
            <a:off x="9821022" y="3383280"/>
            <a:ext cx="1776313" cy="548640"/>
          </a:xfrm>
          <a:prstGeom prst="rect">
            <a:avLst/>
          </a:prstGeom>
          <a:noFill/>
          <a:ln/>
        </p:spPr>
        <p:txBody>
          <a:bodyPr wrap="square" lIns="0" tIns="0" rIns="0" bIns="0" rtlCol="0" anchor="t"/>
          <a:lstStyle/>
          <a:p>
            <a:pPr indent="0" marL="0">
              <a:buNone/>
            </a:pPr>
            <a:r>
              <a:rPr lang="en-US" sz="1000" i="1" dirty="0">
                <a:solidFill>
                  <a:srgbClr val="8A96A6"/>
                </a:solidFill>
                <a:latin typeface="Calibri" pitchFamily="34" charset="0"/>
                <a:ea typeface="Calibri" pitchFamily="34" charset="-122"/>
                <a:cs typeface="Calibri" pitchFamily="34" charset="-120"/>
              </a:rPr>
              <a:t>[Task at this step]</a:t>
            </a:r>
            <a:endParaRPr lang="en-US" sz="1000" dirty="0"/>
          </a:p>
        </p:txBody>
      </p:sp>
      <p:sp>
        <p:nvSpPr>
          <p:cNvPr id="62" name="Shape 60"/>
          <p:cNvSpPr/>
          <p:nvPr/>
        </p:nvSpPr>
        <p:spPr>
          <a:xfrm>
            <a:off x="9683862" y="4133088"/>
            <a:ext cx="2050633" cy="960120"/>
          </a:xfrm>
          <a:prstGeom prst="roundRect">
            <a:avLst>
              <a:gd name="adj" fmla="val 7619"/>
            </a:avLst>
          </a:prstGeom>
          <a:solidFill>
            <a:srgbClr val="FFFFFF"/>
          </a:solidFill>
          <a:ln w="9525">
            <a:solidFill>
              <a:srgbClr val="D9E2EC"/>
            </a:solidFill>
            <a:prstDash val="solid"/>
          </a:ln>
          <a:effectLst>
            <a:outerShdw sx="100000" sy="100000" kx="0" ky="0" algn="bl" rotWithShape="0" blurRad="63500" dist="12700" dir="5400000">
              <a:srgbClr val="9FB0C4">
                <a:alpha val="22000"/>
              </a:srgbClr>
            </a:outerShdw>
          </a:effectLst>
        </p:spPr>
      </p:sp>
      <p:sp>
        <p:nvSpPr>
          <p:cNvPr id="63" name="Text 61"/>
          <p:cNvSpPr txBox="1"/>
          <p:nvPr/>
        </p:nvSpPr>
        <p:spPr>
          <a:xfrm>
            <a:off x="9821022" y="4206240"/>
            <a:ext cx="1776313" cy="274320"/>
          </a:xfrm>
          <a:prstGeom prst="rect">
            <a:avLst/>
          </a:prstGeom>
          <a:noFill/>
          <a:ln/>
        </p:spPr>
        <p:txBody>
          <a:bodyPr wrap="square" lIns="0" tIns="0" rIns="0" bIns="0" rtlCol="0" anchor="ctr"/>
          <a:lstStyle/>
          <a:p>
            <a:pPr indent="0" marL="0">
              <a:buNone/>
            </a:pPr>
            <a:r>
              <a:rPr lang="en-US" sz="1050" b="1" dirty="0">
                <a:solidFill>
                  <a:srgbClr val="10305F"/>
                </a:solidFill>
                <a:latin typeface="Calibri" pitchFamily="34" charset="0"/>
                <a:ea typeface="Calibri" pitchFamily="34" charset="-122"/>
                <a:cs typeface="Calibri" pitchFamily="34" charset="-120"/>
              </a:rPr>
              <a:t>RNP</a:t>
            </a:r>
            <a:endParaRPr lang="en-US" sz="1050" dirty="0"/>
          </a:p>
        </p:txBody>
      </p:sp>
      <p:sp>
        <p:nvSpPr>
          <p:cNvPr id="64" name="Text 62"/>
          <p:cNvSpPr txBox="1"/>
          <p:nvPr/>
        </p:nvSpPr>
        <p:spPr>
          <a:xfrm>
            <a:off x="9821022" y="4480560"/>
            <a:ext cx="1776313" cy="548640"/>
          </a:xfrm>
          <a:prstGeom prst="rect">
            <a:avLst/>
          </a:prstGeom>
          <a:noFill/>
          <a:ln/>
        </p:spPr>
        <p:txBody>
          <a:bodyPr wrap="square" lIns="0" tIns="0" rIns="0" bIns="0" rtlCol="0" anchor="t"/>
          <a:lstStyle/>
          <a:p>
            <a:pPr indent="0" marL="0">
              <a:buNone/>
            </a:pPr>
            <a:r>
              <a:rPr lang="en-US" sz="1000" i="1" dirty="0">
                <a:solidFill>
                  <a:srgbClr val="8A96A6"/>
                </a:solidFill>
                <a:latin typeface="Calibri" pitchFamily="34" charset="0"/>
                <a:ea typeface="Calibri" pitchFamily="34" charset="-122"/>
                <a:cs typeface="Calibri" pitchFamily="34" charset="-120"/>
              </a:rPr>
              <a:t>[Task at this step]</a:t>
            </a:r>
            <a:endParaRPr lang="en-US" sz="1000" dirty="0"/>
          </a:p>
        </p:txBody>
      </p:sp>
      <p:sp>
        <p:nvSpPr>
          <p:cNvPr id="65" name="Text 63"/>
          <p:cNvSpPr txBox="1"/>
          <p:nvPr/>
        </p:nvSpPr>
        <p:spPr>
          <a:xfrm>
            <a:off x="457200" y="5440680"/>
            <a:ext cx="2743200" cy="274320"/>
          </a:xfrm>
          <a:prstGeom prst="rect">
            <a:avLst/>
          </a:prstGeom>
          <a:noFill/>
          <a:ln/>
        </p:spPr>
        <p:txBody>
          <a:bodyPr wrap="square" lIns="0" tIns="0" rIns="0" bIns="0" rtlCol="0" anchor="ctr"/>
          <a:lstStyle/>
          <a:p>
            <a:pPr indent="0" marL="0">
              <a:buNone/>
            </a:pPr>
            <a:r>
              <a:rPr lang="en-US" sz="1150" b="1" dirty="0">
                <a:solidFill>
                  <a:srgbClr val="0E8577"/>
                </a:solidFill>
                <a:latin typeface="Calibri" pitchFamily="34" charset="0"/>
                <a:ea typeface="Calibri" pitchFamily="34" charset="-122"/>
                <a:cs typeface="Calibri" pitchFamily="34" charset="-120"/>
              </a:rPr>
              <a:t>Outcomes, listed separately</a:t>
            </a:r>
            <a:endParaRPr lang="en-US" sz="1150" dirty="0"/>
          </a:p>
        </p:txBody>
      </p:sp>
      <p:sp>
        <p:nvSpPr>
          <p:cNvPr id="66" name="Shape 64"/>
          <p:cNvSpPr/>
          <p:nvPr/>
        </p:nvSpPr>
        <p:spPr>
          <a:xfrm>
            <a:off x="457200" y="5733288"/>
            <a:ext cx="3576218" cy="502920"/>
          </a:xfrm>
          <a:prstGeom prst="roundRect">
            <a:avLst>
              <a:gd name="adj" fmla="val 14545"/>
            </a:avLst>
          </a:prstGeom>
          <a:solidFill>
            <a:srgbClr val="F7F9FC"/>
          </a:solidFill>
          <a:ln w="9525">
            <a:solidFill>
              <a:srgbClr val="DCE4EF"/>
            </a:solidFill>
            <a:prstDash val="solid"/>
          </a:ln>
        </p:spPr>
      </p:sp>
      <p:sp>
        <p:nvSpPr>
          <p:cNvPr id="67" name="Text 65"/>
          <p:cNvSpPr txBox="1"/>
          <p:nvPr/>
        </p:nvSpPr>
        <p:spPr>
          <a:xfrm>
            <a:off x="594360" y="5733288"/>
            <a:ext cx="3301898" cy="502920"/>
          </a:xfrm>
          <a:prstGeom prst="rect">
            <a:avLst/>
          </a:prstGeom>
          <a:noFill/>
          <a:ln/>
        </p:spPr>
        <p:txBody>
          <a:bodyPr wrap="square" lIns="0" tIns="0" rIns="0" bIns="0" rtlCol="0" anchor="ctr"/>
          <a:lstStyle/>
          <a:p>
            <a:pPr indent="0" marL="0">
              <a:buNone/>
            </a:pPr>
            <a:r>
              <a:rPr lang="en-US" sz="1000" b="1" dirty="0">
                <a:solidFill>
                  <a:srgbClr val="10305F"/>
                </a:solidFill>
                <a:latin typeface="Calibri" pitchFamily="34" charset="0"/>
                <a:ea typeface="Calibri" pitchFamily="34" charset="-122"/>
                <a:cs typeface="Calibri" pitchFamily="34" charset="-120"/>
              </a:rPr>
              <a:t>Model result:  </a:t>
            </a:r>
            <a:pPr indent="0" marL="0">
              <a:buNone/>
            </a:pPr>
            <a:r>
              <a:rPr lang="en-US" sz="1000" i="1" dirty="0">
                <a:solidFill>
                  <a:srgbClr val="8A96A6"/>
                </a:solidFill>
                <a:latin typeface="Calibri" pitchFamily="34" charset="0"/>
                <a:ea typeface="Calibri" pitchFamily="34" charset="-122"/>
                <a:cs typeface="Calibri" pitchFamily="34" charset="-120"/>
              </a:rPr>
              <a:t>[what is delivered and how it is accepted]</a:t>
            </a:r>
            <a:endParaRPr lang="en-US" sz="1000" dirty="0"/>
          </a:p>
        </p:txBody>
      </p:sp>
      <p:sp>
        <p:nvSpPr>
          <p:cNvPr id="68" name="Shape 66"/>
          <p:cNvSpPr/>
          <p:nvPr/>
        </p:nvSpPr>
        <p:spPr>
          <a:xfrm>
            <a:off x="4307738" y="5733288"/>
            <a:ext cx="3576218" cy="502920"/>
          </a:xfrm>
          <a:prstGeom prst="roundRect">
            <a:avLst>
              <a:gd name="adj" fmla="val 14545"/>
            </a:avLst>
          </a:prstGeom>
          <a:solidFill>
            <a:srgbClr val="F7F9FC"/>
          </a:solidFill>
          <a:ln w="9525">
            <a:solidFill>
              <a:srgbClr val="DCE4EF"/>
            </a:solidFill>
            <a:prstDash val="solid"/>
          </a:ln>
        </p:spPr>
      </p:sp>
      <p:sp>
        <p:nvSpPr>
          <p:cNvPr id="69" name="Text 67"/>
          <p:cNvSpPr txBox="1"/>
          <p:nvPr/>
        </p:nvSpPr>
        <p:spPr>
          <a:xfrm>
            <a:off x="4444898" y="5733288"/>
            <a:ext cx="3301898" cy="502920"/>
          </a:xfrm>
          <a:prstGeom prst="rect">
            <a:avLst/>
          </a:prstGeom>
          <a:noFill/>
          <a:ln/>
        </p:spPr>
        <p:txBody>
          <a:bodyPr wrap="square" lIns="0" tIns="0" rIns="0" bIns="0" rtlCol="0" anchor="ctr"/>
          <a:lstStyle/>
          <a:p>
            <a:pPr indent="0" marL="0">
              <a:buNone/>
            </a:pPr>
            <a:r>
              <a:rPr lang="en-US" sz="1000" b="1" dirty="0">
                <a:solidFill>
                  <a:srgbClr val="10305F"/>
                </a:solidFill>
                <a:latin typeface="Calibri" pitchFamily="34" charset="0"/>
                <a:ea typeface="Calibri" pitchFamily="34" charset="-122"/>
                <a:cs typeface="Calibri" pitchFamily="34" charset="-120"/>
              </a:rPr>
              <a:t>Application result:  </a:t>
            </a:r>
            <a:pPr indent="0" marL="0">
              <a:buNone/>
            </a:pPr>
            <a:r>
              <a:rPr lang="en-US" sz="1000" i="1" dirty="0">
                <a:solidFill>
                  <a:srgbClr val="8A96A6"/>
                </a:solidFill>
                <a:latin typeface="Calibri" pitchFamily="34" charset="0"/>
                <a:ea typeface="Calibri" pitchFamily="34" charset="-122"/>
                <a:cs typeface="Calibri" pitchFamily="34" charset="-120"/>
              </a:rPr>
              <a:t>[what is delivered and how it is accepted]</a:t>
            </a:r>
            <a:endParaRPr lang="en-US" sz="1000" dirty="0"/>
          </a:p>
        </p:txBody>
      </p:sp>
      <p:sp>
        <p:nvSpPr>
          <p:cNvPr id="70" name="Shape 68"/>
          <p:cNvSpPr/>
          <p:nvPr/>
        </p:nvSpPr>
        <p:spPr>
          <a:xfrm>
            <a:off x="8158277" y="5733288"/>
            <a:ext cx="3576218" cy="502920"/>
          </a:xfrm>
          <a:prstGeom prst="roundRect">
            <a:avLst>
              <a:gd name="adj" fmla="val 14545"/>
            </a:avLst>
          </a:prstGeom>
          <a:solidFill>
            <a:srgbClr val="F7F9FC"/>
          </a:solidFill>
          <a:ln w="9525">
            <a:solidFill>
              <a:srgbClr val="DCE4EF"/>
            </a:solidFill>
            <a:prstDash val="solid"/>
          </a:ln>
        </p:spPr>
      </p:sp>
      <p:sp>
        <p:nvSpPr>
          <p:cNvPr id="71" name="Text 69"/>
          <p:cNvSpPr txBox="1"/>
          <p:nvPr/>
        </p:nvSpPr>
        <p:spPr>
          <a:xfrm>
            <a:off x="8295437" y="5733288"/>
            <a:ext cx="3301898" cy="502920"/>
          </a:xfrm>
          <a:prstGeom prst="rect">
            <a:avLst/>
          </a:prstGeom>
          <a:noFill/>
          <a:ln/>
        </p:spPr>
        <p:txBody>
          <a:bodyPr wrap="square" lIns="0" tIns="0" rIns="0" bIns="0" rtlCol="0" anchor="ctr"/>
          <a:lstStyle/>
          <a:p>
            <a:pPr indent="0" marL="0">
              <a:buNone/>
            </a:pPr>
            <a:r>
              <a:rPr lang="en-US" sz="1000" b="1" dirty="0">
                <a:solidFill>
                  <a:srgbClr val="10305F"/>
                </a:solidFill>
                <a:latin typeface="Calibri" pitchFamily="34" charset="0"/>
                <a:ea typeface="Calibri" pitchFamily="34" charset="-122"/>
                <a:cs typeface="Calibri" pitchFamily="34" charset="-120"/>
              </a:rPr>
              <a:t>Documents &amp; materials:  </a:t>
            </a:r>
            <a:pPr indent="0" marL="0">
              <a:buNone/>
            </a:pPr>
            <a:r>
              <a:rPr lang="en-US" sz="1000" i="1" dirty="0">
                <a:solidFill>
                  <a:srgbClr val="8A96A6"/>
                </a:solidFill>
                <a:latin typeface="Calibri" pitchFamily="34" charset="0"/>
                <a:ea typeface="Calibri" pitchFamily="34" charset="-122"/>
                <a:cs typeface="Calibri" pitchFamily="34" charset="-120"/>
              </a:rPr>
              <a:t>[what is delivered and how it is accepted]</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B7A8B"/>
                </a:solidFill>
                <a:latin typeface="Calibri" pitchFamily="34" charset="0"/>
                <a:ea typeface="Calibri" pitchFamily="34" charset="-122"/>
                <a:cs typeface="Calibri" pitchFamily="34" charset="-120"/>
              </a:rPr>
              <a:t>iFLYTEK  ·  RNP technical meeting  ·  Working draft for discussion</a:t>
            </a:r>
            <a:endParaRPr lang="en-US" sz="900" dirty="0"/>
          </a:p>
        </p:txBody>
      </p:sp>
      <p:sp>
        <p:nvSpPr>
          <p:cNvPr id="3" name="Text 1"/>
          <p:cNvSpPr txBox="1"/>
          <p:nvPr/>
        </p:nvSpPr>
        <p:spPr>
          <a:xfrm>
            <a:off x="10637215" y="6446520"/>
            <a:ext cx="1097280" cy="274320"/>
          </a:xfrm>
          <a:prstGeom prst="rect">
            <a:avLst/>
          </a:prstGeom>
          <a:noFill/>
          <a:ln/>
        </p:spPr>
        <p:txBody>
          <a:bodyPr wrap="square" lIns="0" tIns="0" rIns="0" bIns="0" rtlCol="0" anchor="ctr"/>
          <a:lstStyle/>
          <a:p>
            <a:pPr algn="r" indent="0" marL="0">
              <a:buNone/>
            </a:pPr>
            <a:r>
              <a:rPr lang="en-US" sz="900" dirty="0">
                <a:solidFill>
                  <a:srgbClr val="6B7A8B"/>
                </a:solidFill>
                <a:latin typeface="Calibri" pitchFamily="34" charset="0"/>
                <a:ea typeface="Calibri" pitchFamily="34" charset="-122"/>
                <a:cs typeface="Calibri" pitchFamily="34" charset="-120"/>
              </a:rPr>
              <a:t>6 / 10</a:t>
            </a:r>
            <a:endParaRPr lang="en-US" sz="900" dirty="0"/>
          </a:p>
        </p:txBody>
      </p:sp>
      <p:sp>
        <p:nvSpPr>
          <p:cNvPr id="4" name="Text 2"/>
          <p:cNvSpPr txBox="1"/>
          <p:nvPr/>
        </p:nvSpPr>
        <p:spPr>
          <a:xfrm>
            <a:off x="457200" y="347472"/>
            <a:ext cx="11277295" cy="566928"/>
          </a:xfrm>
          <a:prstGeom prst="rect">
            <a:avLst/>
          </a:prstGeom>
          <a:noFill/>
          <a:ln/>
        </p:spPr>
        <p:txBody>
          <a:bodyPr wrap="square" lIns="0" tIns="0" rIns="0" bIns="0" rtlCol="0" anchor="ctr"/>
          <a:lstStyle/>
          <a:p>
            <a:pPr indent="0" marL="0">
              <a:buNone/>
            </a:pPr>
            <a:r>
              <a:rPr lang="en-US" sz="2400" b="1" dirty="0">
                <a:solidFill>
                  <a:srgbClr val="10305F"/>
                </a:solidFill>
                <a:latin typeface="Calibri" pitchFamily="34" charset="0"/>
                <a:ea typeface="Calibri" pitchFamily="34" charset="-122"/>
                <a:cs typeface="Calibri" pitchFamily="34" charset="-120"/>
              </a:rPr>
              <a:t>Joint implementation plan: who does what, when</a:t>
            </a:r>
            <a:endParaRPr lang="en-US" sz="2400" dirty="0"/>
          </a:p>
        </p:txBody>
      </p:sp>
      <p:sp>
        <p:nvSpPr>
          <p:cNvPr id="5" name="Text 3"/>
          <p:cNvSpPr txBox="1"/>
          <p:nvPr/>
        </p:nvSpPr>
        <p:spPr>
          <a:xfrm>
            <a:off x="457200" y="932688"/>
            <a:ext cx="11277295" cy="329184"/>
          </a:xfrm>
          <a:prstGeom prst="rect">
            <a:avLst/>
          </a:prstGeom>
          <a:noFill/>
          <a:ln/>
        </p:spPr>
        <p:txBody>
          <a:bodyPr wrap="square" lIns="0" tIns="0" rIns="0" bIns="0" rtlCol="0" anchor="ctr"/>
          <a:lstStyle/>
          <a:p>
            <a:pPr indent="0" marL="0">
              <a:buNone/>
            </a:pPr>
            <a:r>
              <a:rPr lang="en-US" sz="1300" dirty="0">
                <a:solidFill>
                  <a:srgbClr val="4B5A6B"/>
                </a:solidFill>
                <a:latin typeface="Calibri" pitchFamily="34" charset="0"/>
                <a:ea typeface="Calibri" pitchFamily="34" charset="-122"/>
                <a:cs typeface="Calibri" pitchFamily="34" charset="-120"/>
              </a:rPr>
              <a:t>One timeline, three parties — so RNP can build its own plan, and platform dependencies are not counted as iFLYTEK's.</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77295" cy="914400"/>
        </p:xfrm>
        <a:graphic>
          <a:graphicData uri="http://schemas.openxmlformats.org/drawingml/2006/table">
            <a:tbl>
              <a:tblPr/>
              <a:tblGrid>
                <a:gridCol w="2148840"/>
                <a:gridCol w="1825691"/>
                <a:gridCol w="1825691"/>
                <a:gridCol w="1825691"/>
                <a:gridCol w="1825691"/>
                <a:gridCol w="1825691"/>
              </a:tblGrid>
              <a:tr h="502920">
                <a:tc>
                  <a:txBody>
                    <a:bodyPr/>
                    <a:lstStyle/>
                    <a:p>
                      <a:pPr indent="0" marL="0">
                        <a:buNone/>
                      </a:pPr>
                      <a:endParaRPr lang="en-US" sz="1050" dirty="0">
                        <a:latin typeface="Calibri" charset="0"/>
                        <a:ea typeface="Calibri" charset="0"/>
                        <a:cs typeface="Calibri" charset="0"/>
                      </a:endParaRPr>
                    </a:p>
                  </a:txBody>
                  <a:tcPr marL="73152" marR="73152" marT="45720" marB="45720" anchor="ctr">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solidFill>
                      <a:srgbClr val="10305F"/>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Phase 1</a:t>
                      </a:r>
                      <a:endParaRPr lang="en-US" sz="1050" dirty="0">
                        <a:latin typeface="Calibri" charset="0"/>
                        <a:ea typeface="Calibri" charset="0"/>
                        <a:cs typeface="Calibri" charset="0"/>
                      </a:endParaRPr>
                    </a:p>
                    <a:p>
                      <a:pPr indent="0" marL="0">
                        <a:buNone/>
                      </a:pPr>
                      <a:r>
                        <a:rPr lang="en-US" sz="1050" b="1" dirty="0">
                          <a:solidFill>
                            <a:srgbClr val="FFFFFF"/>
                          </a:solidFill>
                          <a:latin typeface="Calibri" pitchFamily="34" charset="0"/>
                          <a:ea typeface="Calibri" pitchFamily="34" charset="-122"/>
                          <a:cs typeface="Calibri" pitchFamily="34" charset="-120"/>
                        </a:rPr>
                        <a:t>[name]  ·  [timing]</a:t>
                      </a:r>
                      <a:endParaRPr lang="en-US" sz="1050" dirty="0">
                        <a:latin typeface="Calibri" charset="0"/>
                        <a:ea typeface="Calibri" charset="0"/>
                        <a:cs typeface="Calibri" charset="0"/>
                      </a:endParaRPr>
                    </a:p>
                  </a:txBody>
                  <a:tcPr marL="73152" marR="73152" marT="45720" marB="45720" anchor="ctr">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solidFill>
                      <a:srgbClr val="10305F"/>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Phase 2</a:t>
                      </a:r>
                      <a:endParaRPr lang="en-US" sz="1050" dirty="0">
                        <a:latin typeface="Calibri" charset="0"/>
                        <a:ea typeface="Calibri" charset="0"/>
                        <a:cs typeface="Calibri" charset="0"/>
                      </a:endParaRPr>
                    </a:p>
                    <a:p>
                      <a:pPr indent="0" marL="0">
                        <a:buNone/>
                      </a:pPr>
                      <a:r>
                        <a:rPr lang="en-US" sz="1050" b="1" dirty="0">
                          <a:solidFill>
                            <a:srgbClr val="FFFFFF"/>
                          </a:solidFill>
                          <a:latin typeface="Calibri" pitchFamily="34" charset="0"/>
                          <a:ea typeface="Calibri" pitchFamily="34" charset="-122"/>
                          <a:cs typeface="Calibri" pitchFamily="34" charset="-120"/>
                        </a:rPr>
                        <a:t>[name]  ·  [timing]</a:t>
                      </a:r>
                      <a:endParaRPr lang="en-US" sz="1050" dirty="0">
                        <a:latin typeface="Calibri" charset="0"/>
                        <a:ea typeface="Calibri" charset="0"/>
                        <a:cs typeface="Calibri" charset="0"/>
                      </a:endParaRPr>
                    </a:p>
                  </a:txBody>
                  <a:tcPr marL="73152" marR="73152" marT="45720" marB="45720" anchor="ctr">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solidFill>
                      <a:srgbClr val="10305F"/>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Phase 3</a:t>
                      </a:r>
                      <a:endParaRPr lang="en-US" sz="1050" dirty="0">
                        <a:latin typeface="Calibri" charset="0"/>
                        <a:ea typeface="Calibri" charset="0"/>
                        <a:cs typeface="Calibri" charset="0"/>
                      </a:endParaRPr>
                    </a:p>
                    <a:p>
                      <a:pPr indent="0" marL="0">
                        <a:buNone/>
                      </a:pPr>
                      <a:r>
                        <a:rPr lang="en-US" sz="1050" b="1" dirty="0">
                          <a:solidFill>
                            <a:srgbClr val="FFFFFF"/>
                          </a:solidFill>
                          <a:latin typeface="Calibri" pitchFamily="34" charset="0"/>
                          <a:ea typeface="Calibri" pitchFamily="34" charset="-122"/>
                          <a:cs typeface="Calibri" pitchFamily="34" charset="-120"/>
                        </a:rPr>
                        <a:t>[name]  ·  [timing]</a:t>
                      </a:r>
                      <a:endParaRPr lang="en-US" sz="1050" dirty="0">
                        <a:latin typeface="Calibri" charset="0"/>
                        <a:ea typeface="Calibri" charset="0"/>
                        <a:cs typeface="Calibri" charset="0"/>
                      </a:endParaRPr>
                    </a:p>
                  </a:txBody>
                  <a:tcPr marL="73152" marR="73152" marT="45720" marB="45720" anchor="ctr">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solidFill>
                      <a:srgbClr val="10305F"/>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Phase 4</a:t>
                      </a:r>
                      <a:endParaRPr lang="en-US" sz="1050" dirty="0">
                        <a:latin typeface="Calibri" charset="0"/>
                        <a:ea typeface="Calibri" charset="0"/>
                        <a:cs typeface="Calibri" charset="0"/>
                      </a:endParaRPr>
                    </a:p>
                    <a:p>
                      <a:pPr indent="0" marL="0">
                        <a:buNone/>
                      </a:pPr>
                      <a:r>
                        <a:rPr lang="en-US" sz="1050" b="1" dirty="0">
                          <a:solidFill>
                            <a:srgbClr val="FFFFFF"/>
                          </a:solidFill>
                          <a:latin typeface="Calibri" pitchFamily="34" charset="0"/>
                          <a:ea typeface="Calibri" pitchFamily="34" charset="-122"/>
                          <a:cs typeface="Calibri" pitchFamily="34" charset="-120"/>
                        </a:rPr>
                        <a:t>[name]  ·  [timing]</a:t>
                      </a:r>
                      <a:endParaRPr lang="en-US" sz="1050" dirty="0">
                        <a:latin typeface="Calibri" charset="0"/>
                        <a:ea typeface="Calibri" charset="0"/>
                        <a:cs typeface="Calibri" charset="0"/>
                      </a:endParaRPr>
                    </a:p>
                  </a:txBody>
                  <a:tcPr marL="73152" marR="73152" marT="45720" marB="45720" anchor="ctr">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solidFill>
                      <a:srgbClr val="10305F"/>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Phase 5</a:t>
                      </a:r>
                      <a:endParaRPr lang="en-US" sz="1050" dirty="0">
                        <a:latin typeface="Calibri" charset="0"/>
                        <a:ea typeface="Calibri" charset="0"/>
                        <a:cs typeface="Calibri" charset="0"/>
                      </a:endParaRPr>
                    </a:p>
                    <a:p>
                      <a:pPr indent="0" marL="0">
                        <a:buNone/>
                      </a:pPr>
                      <a:r>
                        <a:rPr lang="en-US" sz="1050" b="1" dirty="0">
                          <a:solidFill>
                            <a:srgbClr val="FFFFFF"/>
                          </a:solidFill>
                          <a:latin typeface="Calibri" pitchFamily="34" charset="0"/>
                          <a:ea typeface="Calibri" pitchFamily="34" charset="-122"/>
                          <a:cs typeface="Calibri" pitchFamily="34" charset="-120"/>
                        </a:rPr>
                        <a:t>[name]  ·  [timing]</a:t>
                      </a:r>
                      <a:endParaRPr lang="en-US" sz="1050" dirty="0">
                        <a:latin typeface="Calibri" charset="0"/>
                        <a:ea typeface="Calibri" charset="0"/>
                        <a:cs typeface="Calibri" charset="0"/>
                      </a:endParaRPr>
                    </a:p>
                  </a:txBody>
                  <a:tcPr marL="73152" marR="73152" marT="45720" marB="45720" anchor="ctr">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solidFill>
                      <a:srgbClr val="10305F"/>
                    </a:solidFill>
                  </a:tcPr>
                </a:tc>
              </a:tr>
              <a:tr h="566928">
                <a:tc>
                  <a:txBody>
                    <a:bodyPr/>
                    <a:lstStyle/>
                    <a:p>
                      <a:pPr indent="0" marL="0">
                        <a:buNone/>
                      </a:pPr>
                      <a:r>
                        <a:rPr lang="en-US" sz="1050" b="1" dirty="0">
                          <a:solidFill>
                            <a:srgbClr val="10305F"/>
                          </a:solidFill>
                          <a:latin typeface="Calibri" pitchFamily="34" charset="0"/>
                          <a:ea typeface="Calibri" pitchFamily="34" charset="-122"/>
                          <a:cs typeface="Calibri" pitchFamily="34" charset="-120"/>
                        </a:rPr>
                        <a:t>Objective of the phase</a:t>
                      </a:r>
                      <a:endParaRPr lang="en-US" sz="105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solidFill>
                      <a:srgbClr val="FFFFFF"/>
                    </a:solidFill>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[What this phase must achieve]</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solidFill>
                      <a:srgbClr val="FFFFFF"/>
                    </a:solidFill>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[What this phase must achieve]</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solidFill>
                      <a:srgbClr val="FFFFFF"/>
                    </a:solidFill>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[What this phase must achieve]</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solidFill>
                      <a:srgbClr val="FFFFFF"/>
                    </a:solidFill>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[What this phase must achieve]</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solidFill>
                      <a:srgbClr val="FFFFFF"/>
                    </a:solidFill>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[What this phase must achieve]</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solidFill>
                      <a:srgbClr val="FFFFFF"/>
                    </a:solidFill>
                  </a:tcPr>
                </a:tc>
              </a:tr>
              <a:tr h="658368">
                <a:tc>
                  <a:txBody>
                    <a:bodyPr/>
                    <a:lstStyle/>
                    <a:p>
                      <a:pPr indent="0" marL="0">
                        <a:buNone/>
                      </a:pPr>
                      <a:r>
                        <a:rPr lang="en-US" sz="1050" b="1" dirty="0">
                          <a:solidFill>
                            <a:srgbClr val="10305F"/>
                          </a:solidFill>
                          <a:latin typeface="Calibri" pitchFamily="34" charset="0"/>
                          <a:ea typeface="Calibri" pitchFamily="34" charset="-122"/>
                          <a:cs typeface="Calibri" pitchFamily="34" charset="-120"/>
                        </a:rPr>
                        <a:t>iFLYTEK</a:t>
                      </a:r>
                      <a:endParaRPr lang="en-US" sz="105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solidFill>
                      <a:srgbClr val="E7F3F0"/>
                    </a:solidFill>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[Work iFLYTEK performs]</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solidFill>
                      <a:srgbClr val="E7F3F0"/>
                    </a:solidFill>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[Work iFLYTEK performs]</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solidFill>
                      <a:srgbClr val="E7F3F0"/>
                    </a:solidFill>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[Work iFLYTEK performs]</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solidFill>
                      <a:srgbClr val="E7F3F0"/>
                    </a:solidFill>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[Work iFLYTEK performs]</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solidFill>
                      <a:srgbClr val="E7F3F0"/>
                    </a:solidFill>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[Work iFLYTEK performs]</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solidFill>
                      <a:srgbClr val="E7F3F0"/>
                    </a:solidFill>
                  </a:tcPr>
                </a:tc>
              </a:tr>
              <a:tr h="658368">
                <a:tc>
                  <a:txBody>
                    <a:bodyPr/>
                    <a:lstStyle/>
                    <a:p>
                      <a:pPr indent="0" marL="0">
                        <a:buNone/>
                      </a:pPr>
                      <a:r>
                        <a:rPr lang="en-US" sz="1050" b="1" dirty="0">
                          <a:solidFill>
                            <a:srgbClr val="10305F"/>
                          </a:solidFill>
                          <a:latin typeface="Calibri" pitchFamily="34" charset="0"/>
                          <a:ea typeface="Calibri" pitchFamily="34" charset="-122"/>
                          <a:cs typeface="Calibri" pitchFamily="34" charset="-120"/>
                        </a:rPr>
                        <a:t>RNP</a:t>
                      </a:r>
                      <a:endParaRPr lang="en-US" sz="105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solidFill>
                      <a:srgbClr val="EEF2FA"/>
                    </a:solidFill>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[Work RNP performs or joins]</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solidFill>
                      <a:srgbClr val="EEF2FA"/>
                    </a:solidFill>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[Work RNP performs or joins]</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solidFill>
                      <a:srgbClr val="EEF2FA"/>
                    </a:solidFill>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[Work RNP performs or joins]</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solidFill>
                      <a:srgbClr val="EEF2FA"/>
                    </a:solidFill>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[Work RNP performs or joins]</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solidFill>
                      <a:srgbClr val="EEF2FA"/>
                    </a:solidFill>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[Work RNP performs or joins]</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solidFill>
                      <a:srgbClr val="EEF2FA"/>
                    </a:solidFill>
                  </a:tcPr>
                </a:tc>
              </a:tr>
              <a:tr h="658368">
                <a:tc>
                  <a:txBody>
                    <a:bodyPr/>
                    <a:lstStyle/>
                    <a:p>
                      <a:pPr indent="0" marL="0">
                        <a:buNone/>
                      </a:pPr>
                      <a:r>
                        <a:rPr lang="en-US" sz="1050" b="1" dirty="0">
                          <a:solidFill>
                            <a:srgbClr val="10305F"/>
                          </a:solidFill>
                          <a:latin typeface="Calibri" pitchFamily="34" charset="0"/>
                          <a:ea typeface="Calibri" pitchFamily="34" charset="-122"/>
                          <a:cs typeface="Calibri" pitchFamily="34" charset="-120"/>
                        </a:rPr>
                        <a:t>Huawei platform dependencies</a:t>
                      </a:r>
                      <a:endParaRPr lang="en-US" sz="105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solidFill>
                      <a:srgbClr val="FBF1E1"/>
                    </a:solidFill>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[Compute, environment, interfaces needed from the platform side]</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solidFill>
                      <a:srgbClr val="FBF1E1"/>
                    </a:solidFill>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[Compute, environment, interfaces needed from the platform side]</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solidFill>
                      <a:srgbClr val="FBF1E1"/>
                    </a:solidFill>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[Compute, environment, interfaces needed from the platform side]</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solidFill>
                      <a:srgbClr val="FBF1E1"/>
                    </a:solidFill>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[Compute, environment, interfaces needed from the platform side]</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solidFill>
                      <a:srgbClr val="FBF1E1"/>
                    </a:solidFill>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[Compute, environment, interfaces needed from the platform side]</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solidFill>
                      <a:srgbClr val="FBF1E1"/>
                    </a:solidFill>
                  </a:tcPr>
                </a:tc>
              </a:tr>
              <a:tr h="566928">
                <a:tc>
                  <a:txBody>
                    <a:bodyPr/>
                    <a:lstStyle/>
                    <a:p>
                      <a:pPr indent="0" marL="0">
                        <a:buNone/>
                      </a:pPr>
                      <a:r>
                        <a:rPr lang="en-US" sz="1050" b="1" dirty="0">
                          <a:solidFill>
                            <a:srgbClr val="10305F"/>
                          </a:solidFill>
                          <a:latin typeface="Calibri" pitchFamily="34" charset="0"/>
                          <a:ea typeface="Calibri" pitchFamily="34" charset="-122"/>
                          <a:cs typeface="Calibri" pitchFamily="34" charset="-120"/>
                        </a:rPr>
                        <a:t>Phase deliverable / checkpoint</a:t>
                      </a:r>
                      <a:endParaRPr lang="en-US" sz="105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solidFill>
                      <a:srgbClr val="FFFFFF"/>
                    </a:solidFill>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[Output both sides use to judge completion]</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solidFill>
                      <a:srgbClr val="FFFFFF"/>
                    </a:solidFill>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[Output both sides use to judge completion]</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solidFill>
                      <a:srgbClr val="FFFFFF"/>
                    </a:solidFill>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[Output both sides use to judge completion]</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solidFill>
                      <a:srgbClr val="FFFFFF"/>
                    </a:solidFill>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[Output both sides use to judge completion]</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solidFill>
                      <a:srgbClr val="FFFFFF"/>
                    </a:solidFill>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[Output both sides use to judge completion]</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solidFill>
                      <a:srgbClr val="FFFFFF"/>
                    </a:solidFill>
                  </a:tcPr>
                </a:tc>
              </a:tr>
              <a:tr h="566928">
                <a:tc>
                  <a:txBody>
                    <a:bodyPr/>
                    <a:lstStyle/>
                    <a:p>
                      <a:pPr indent="0" marL="0">
                        <a:buNone/>
                      </a:pPr>
                      <a:r>
                        <a:rPr lang="en-US" sz="1050" b="1" dirty="0">
                          <a:solidFill>
                            <a:srgbClr val="10305F"/>
                          </a:solidFill>
                          <a:latin typeface="Calibri" pitchFamily="34" charset="0"/>
                          <a:ea typeface="Calibri" pitchFamily="34" charset="-122"/>
                          <a:cs typeface="Calibri" pitchFamily="34" charset="-120"/>
                        </a:rPr>
                        <a:t>Preconditions to start</a:t>
                      </a:r>
                      <a:endParaRPr lang="en-US" sz="105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solidFill>
                      <a:srgbClr val="FFFFFF"/>
                    </a:solidFill>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[What must be in place before this phase begins]</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solidFill>
                      <a:srgbClr val="FFFFFF"/>
                    </a:solidFill>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[What must be in place before this phase begins]</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solidFill>
                      <a:srgbClr val="FFFFFF"/>
                    </a:solidFill>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[What must be in place before this phase begins]</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solidFill>
                      <a:srgbClr val="FFFFFF"/>
                    </a:solidFill>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[What must be in place before this phase begins]</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solidFill>
                      <a:srgbClr val="FFFFFF"/>
                    </a:solidFill>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[What must be in place before this phase begins]</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457200" y="5806440"/>
            <a:ext cx="11277295" cy="411480"/>
          </a:xfrm>
          <a:prstGeom prst="rect">
            <a:avLst/>
          </a:prstGeom>
          <a:noFill/>
          <a:ln/>
        </p:spPr>
        <p:txBody>
          <a:bodyPr wrap="square" lIns="0" tIns="0" rIns="0" bIns="0" rtlCol="0" anchor="t"/>
          <a:lstStyle/>
          <a:p>
            <a:pPr indent="0" marL="0">
              <a:buNone/>
            </a:pPr>
            <a:r>
              <a:rPr lang="en-US" sz="1000" dirty="0">
                <a:solidFill>
                  <a:srgbClr val="6B7A8B"/>
                </a:solidFill>
                <a:latin typeface="Calibri" pitchFamily="34" charset="0"/>
                <a:ea typeface="Calibri" pitchFamily="34" charset="-122"/>
                <a:cs typeface="Calibri" pitchFamily="34" charset="-120"/>
              </a:rPr>
              <a:t>Phase names and count follow the actual plan. Data preparation, model and application build, evaluation, deployment and knowledge transfer must be visible in their relation to each other.</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B7A8B"/>
                </a:solidFill>
                <a:latin typeface="Calibri" pitchFamily="34" charset="0"/>
                <a:ea typeface="Calibri" pitchFamily="34" charset="-122"/>
                <a:cs typeface="Calibri" pitchFamily="34" charset="-120"/>
              </a:rPr>
              <a:t>iFLYTEK  ·  RNP technical meeting  ·  Working draft for discussion</a:t>
            </a:r>
            <a:endParaRPr lang="en-US" sz="900" dirty="0"/>
          </a:p>
        </p:txBody>
      </p:sp>
      <p:sp>
        <p:nvSpPr>
          <p:cNvPr id="3" name="Text 1"/>
          <p:cNvSpPr txBox="1"/>
          <p:nvPr/>
        </p:nvSpPr>
        <p:spPr>
          <a:xfrm>
            <a:off x="10637215" y="6446520"/>
            <a:ext cx="1097280" cy="274320"/>
          </a:xfrm>
          <a:prstGeom prst="rect">
            <a:avLst/>
          </a:prstGeom>
          <a:noFill/>
          <a:ln/>
        </p:spPr>
        <p:txBody>
          <a:bodyPr wrap="square" lIns="0" tIns="0" rIns="0" bIns="0" rtlCol="0" anchor="ctr"/>
          <a:lstStyle/>
          <a:p>
            <a:pPr algn="r" indent="0" marL="0">
              <a:buNone/>
            </a:pPr>
            <a:r>
              <a:rPr lang="en-US" sz="900" dirty="0">
                <a:solidFill>
                  <a:srgbClr val="6B7A8B"/>
                </a:solidFill>
                <a:latin typeface="Calibri" pitchFamily="34" charset="0"/>
                <a:ea typeface="Calibri" pitchFamily="34" charset="-122"/>
                <a:cs typeface="Calibri" pitchFamily="34" charset="-120"/>
              </a:rPr>
              <a:t>7 / 10</a:t>
            </a:r>
            <a:endParaRPr lang="en-US" sz="900" dirty="0"/>
          </a:p>
        </p:txBody>
      </p:sp>
      <p:sp>
        <p:nvSpPr>
          <p:cNvPr id="4" name="Text 2"/>
          <p:cNvSpPr txBox="1"/>
          <p:nvPr/>
        </p:nvSpPr>
        <p:spPr>
          <a:xfrm>
            <a:off x="457200" y="347472"/>
            <a:ext cx="11277295" cy="566928"/>
          </a:xfrm>
          <a:prstGeom prst="rect">
            <a:avLst/>
          </a:prstGeom>
          <a:noFill/>
          <a:ln/>
        </p:spPr>
        <p:txBody>
          <a:bodyPr wrap="square" lIns="0" tIns="0" rIns="0" bIns="0" rtlCol="0" anchor="ctr"/>
          <a:lstStyle/>
          <a:p>
            <a:pPr indent="0" marL="0">
              <a:buNone/>
            </a:pPr>
            <a:r>
              <a:rPr lang="en-US" sz="2400" b="1" dirty="0">
                <a:solidFill>
                  <a:srgbClr val="10305F"/>
                </a:solidFill>
                <a:latin typeface="Calibri" pitchFamily="34" charset="0"/>
                <a:ea typeface="Calibri" pitchFamily="34" charset="-122"/>
                <a:cs typeface="Calibri" pitchFamily="34" charset="-120"/>
              </a:rPr>
              <a:t>What RNP needs to put in place</a:t>
            </a:r>
            <a:endParaRPr lang="en-US" sz="2400" dirty="0"/>
          </a:p>
        </p:txBody>
      </p:sp>
      <p:sp>
        <p:nvSpPr>
          <p:cNvPr id="5" name="Text 3"/>
          <p:cNvSpPr txBox="1"/>
          <p:nvPr/>
        </p:nvSpPr>
        <p:spPr>
          <a:xfrm>
            <a:off x="457200" y="932688"/>
            <a:ext cx="11277295" cy="329184"/>
          </a:xfrm>
          <a:prstGeom prst="rect">
            <a:avLst/>
          </a:prstGeom>
          <a:noFill/>
          <a:ln/>
        </p:spPr>
        <p:txBody>
          <a:bodyPr wrap="square" lIns="0" tIns="0" rIns="0" bIns="0" rtlCol="0" anchor="ctr"/>
          <a:lstStyle/>
          <a:p>
            <a:pPr indent="0" marL="0">
              <a:buNone/>
            </a:pPr>
            <a:r>
              <a:rPr lang="en-US" sz="1300" dirty="0">
                <a:solidFill>
                  <a:srgbClr val="4B5A6B"/>
                </a:solidFill>
                <a:latin typeface="Calibri" pitchFamily="34" charset="0"/>
                <a:ea typeface="Calibri" pitchFamily="34" charset="-122"/>
                <a:cs typeface="Calibri" pitchFamily="34" charset="-120"/>
              </a:rPr>
              <a:t>Turn 'RNP cooperation' into things that can be scheduled: who takes part, doing what, from when, with which prerequisites.</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7315200" cy="914400"/>
        </p:xfrm>
        <a:graphic>
          <a:graphicData uri="http://schemas.openxmlformats.org/drawingml/2006/table">
            <a:tbl>
              <a:tblPr/>
              <a:tblGrid>
                <a:gridCol w="1737360"/>
                <a:gridCol w="1874520"/>
                <a:gridCol w="1508760"/>
                <a:gridCol w="1280160"/>
                <a:gridCol w="914400"/>
              </a:tblGrid>
              <a:tr h="38404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Role</a:t>
                      </a:r>
                      <a:endParaRPr lang="en-US" sz="1050" dirty="0">
                        <a:latin typeface="Calibri" charset="0"/>
                        <a:ea typeface="Calibri" charset="0"/>
                        <a:cs typeface="Calibri" charset="0"/>
                      </a:endParaRPr>
                    </a:p>
                  </a:txBody>
                  <a:tcPr marL="73152" marR="73152" marT="45720" marB="45720" anchor="ctr">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solidFill>
                      <a:srgbClr val="10305F"/>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Tasks in the project</a:t>
                      </a:r>
                      <a:endParaRPr lang="en-US" sz="1050" dirty="0">
                        <a:latin typeface="Calibri" charset="0"/>
                        <a:ea typeface="Calibri" charset="0"/>
                        <a:cs typeface="Calibri" charset="0"/>
                      </a:endParaRPr>
                    </a:p>
                  </a:txBody>
                  <a:tcPr marL="73152" marR="73152" marT="45720" marB="45720" anchor="ctr">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solidFill>
                      <a:srgbClr val="10305F"/>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Prerequisites</a:t>
                      </a:r>
                      <a:endParaRPr lang="en-US" sz="1050" dirty="0">
                        <a:latin typeface="Calibri" charset="0"/>
                        <a:ea typeface="Calibri" charset="0"/>
                        <a:cs typeface="Calibri" charset="0"/>
                      </a:endParaRPr>
                    </a:p>
                  </a:txBody>
                  <a:tcPr marL="73152" marR="73152" marT="45720" marB="45720" anchor="ctr">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solidFill>
                      <a:srgbClr val="10305F"/>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Phases &amp; time commitment</a:t>
                      </a:r>
                      <a:endParaRPr lang="en-US" sz="1050" dirty="0">
                        <a:latin typeface="Calibri" charset="0"/>
                        <a:ea typeface="Calibri" charset="0"/>
                        <a:cs typeface="Calibri" charset="0"/>
                      </a:endParaRPr>
                    </a:p>
                  </a:txBody>
                  <a:tcPr marL="73152" marR="73152" marT="45720" marB="45720" anchor="ctr">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solidFill>
                      <a:srgbClr val="10305F"/>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Headcount</a:t>
                      </a:r>
                      <a:endParaRPr lang="en-US" sz="1050" dirty="0">
                        <a:latin typeface="Calibri" charset="0"/>
                        <a:ea typeface="Calibri" charset="0"/>
                        <a:cs typeface="Calibri" charset="0"/>
                      </a:endParaRPr>
                    </a:p>
                  </a:txBody>
                  <a:tcPr marL="73152" marR="73152" marT="45720" marB="45720" anchor="ctr">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solidFill>
                      <a:srgbClr val="10305F"/>
                    </a:solidFill>
                  </a:tcPr>
                </a:tc>
              </a:tr>
              <a:tr h="530352">
                <a:tc>
                  <a:txBody>
                    <a:bodyPr/>
                    <a:lstStyle/>
                    <a:p>
                      <a:pPr indent="0" marL="0">
                        <a:buNone/>
                      </a:pPr>
                      <a:r>
                        <a:rPr lang="en-US" sz="1000" b="1" i="1" dirty="0">
                          <a:solidFill>
                            <a:srgbClr val="4B5A6B"/>
                          </a:solidFill>
                          <a:latin typeface="Calibri" pitchFamily="34" charset="0"/>
                          <a:ea typeface="Calibri" pitchFamily="34" charset="-122"/>
                          <a:cs typeface="Calibri" pitchFamily="34" charset="-120"/>
                        </a:rPr>
                        <a:t>[e.g., Project lead]</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 ]</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[language, programming, domain]</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 ]</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 ]</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r>
              <a:tr h="530352">
                <a:tc>
                  <a:txBody>
                    <a:bodyPr/>
                    <a:lstStyle/>
                    <a:p>
                      <a:pPr indent="0" marL="0">
                        <a:buNone/>
                      </a:pPr>
                      <a:r>
                        <a:rPr lang="en-US" sz="1000" b="1" i="1" dirty="0">
                          <a:solidFill>
                            <a:srgbClr val="4B5A6B"/>
                          </a:solidFill>
                          <a:latin typeface="Calibri" pitchFamily="34" charset="0"/>
                          <a:ea typeface="Calibri" pitchFamily="34" charset="-122"/>
                          <a:cs typeface="Calibri" pitchFamily="34" charset="-120"/>
                        </a:rPr>
                        <a:t>[e.g., Business / domain experts]</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 ]</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[language, programming, domain]</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 ]</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 ]</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r>
              <a:tr h="530352">
                <a:tc>
                  <a:txBody>
                    <a:bodyPr/>
                    <a:lstStyle/>
                    <a:p>
                      <a:pPr indent="0" marL="0">
                        <a:buNone/>
                      </a:pPr>
                      <a:r>
                        <a:rPr lang="en-US" sz="1000" b="1" i="1" dirty="0">
                          <a:solidFill>
                            <a:srgbClr val="4B5A6B"/>
                          </a:solidFill>
                          <a:latin typeface="Calibri" pitchFamily="34" charset="0"/>
                          <a:ea typeface="Calibri" pitchFamily="34" charset="-122"/>
                          <a:cs typeface="Calibri" pitchFamily="34" charset="-120"/>
                        </a:rPr>
                        <a:t>[e.g., Data engineers]</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 ]</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[language, programming, domain]</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 ]</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 ]</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r>
              <a:tr h="530352">
                <a:tc>
                  <a:txBody>
                    <a:bodyPr/>
                    <a:lstStyle/>
                    <a:p>
                      <a:pPr indent="0" marL="0">
                        <a:buNone/>
                      </a:pPr>
                      <a:r>
                        <a:rPr lang="en-US" sz="1000" b="1" i="1" dirty="0">
                          <a:solidFill>
                            <a:srgbClr val="4B5A6B"/>
                          </a:solidFill>
                          <a:latin typeface="Calibri" pitchFamily="34" charset="0"/>
                          <a:ea typeface="Calibri" pitchFamily="34" charset="-122"/>
                          <a:cs typeface="Calibri" pitchFamily="34" charset="-120"/>
                        </a:rPr>
                        <a:t>[e.g., Model engineers]</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 ]</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[language, programming, domain]</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 ]</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 ]</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r>
              <a:tr h="530352">
                <a:tc>
                  <a:txBody>
                    <a:bodyPr/>
                    <a:lstStyle/>
                    <a:p>
                      <a:pPr indent="0" marL="0">
                        <a:buNone/>
                      </a:pPr>
                      <a:r>
                        <a:rPr lang="en-US" sz="1000" b="1" i="1" dirty="0">
                          <a:solidFill>
                            <a:srgbClr val="4B5A6B"/>
                          </a:solidFill>
                          <a:latin typeface="Calibri" pitchFamily="34" charset="0"/>
                          <a:ea typeface="Calibri" pitchFamily="34" charset="-122"/>
                          <a:cs typeface="Calibri" pitchFamily="34" charset="-120"/>
                        </a:rPr>
                        <a:t>[e.g., Application developers]</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 ]</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[language, programming, domain]</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 ]</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 ]</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r>
              <a:tr h="530352">
                <a:tc>
                  <a:txBody>
                    <a:bodyPr/>
                    <a:lstStyle/>
                    <a:p>
                      <a:pPr indent="0" marL="0">
                        <a:buNone/>
                      </a:pPr>
                      <a:r>
                        <a:rPr lang="en-US" sz="1000" b="1" i="1" dirty="0">
                          <a:solidFill>
                            <a:srgbClr val="4B5A6B"/>
                          </a:solidFill>
                          <a:latin typeface="Calibri" pitchFamily="34" charset="0"/>
                          <a:ea typeface="Calibri" pitchFamily="34" charset="-122"/>
                          <a:cs typeface="Calibri" pitchFamily="34" charset="-120"/>
                        </a:rPr>
                        <a:t>[e.g., Operations]</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 ]</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[language, programming, domain]</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 ]</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 ]</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r>
            </a:tbl>
          </a:graphicData>
        </a:graphic>
      </p:graphicFrame>
      <p:sp>
        <p:nvSpPr>
          <p:cNvPr id="7" name="Text 4"/>
          <p:cNvSpPr txBox="1"/>
          <p:nvPr/>
        </p:nvSpPr>
        <p:spPr>
          <a:xfrm>
            <a:off x="457200" y="5257800"/>
            <a:ext cx="7315200" cy="457200"/>
          </a:xfrm>
          <a:prstGeom prst="rect">
            <a:avLst/>
          </a:prstGeom>
          <a:noFill/>
          <a:ln/>
        </p:spPr>
        <p:txBody>
          <a:bodyPr wrap="square" lIns="0" tIns="0" rIns="0" bIns="0" rtlCol="0" anchor="t"/>
          <a:lstStyle/>
          <a:p>
            <a:pPr indent="0" marL="0">
              <a:buNone/>
            </a:pPr>
            <a:r>
              <a:rPr lang="en-US" sz="1000" dirty="0">
                <a:solidFill>
                  <a:srgbClr val="6B7A8B"/>
                </a:solidFill>
                <a:latin typeface="Calibri" pitchFamily="34" charset="0"/>
                <a:ea typeface="Calibri" pitchFamily="34" charset="-122"/>
                <a:cs typeface="Calibri" pitchFamily="34" charset="-120"/>
              </a:rPr>
              <a:t>Distinguish people who carry project tasks from people who only attend courses. Roles follow the actual tasks — no fixed organisation is assumed.</a:t>
            </a:r>
            <a:endParaRPr lang="en-US" sz="1000" dirty="0"/>
          </a:p>
        </p:txBody>
      </p:sp>
      <p:sp>
        <p:nvSpPr>
          <p:cNvPr id="8" name="Shape 5"/>
          <p:cNvSpPr/>
          <p:nvPr/>
        </p:nvSpPr>
        <p:spPr>
          <a:xfrm>
            <a:off x="8092440" y="1463040"/>
            <a:ext cx="3642055" cy="4114800"/>
          </a:xfrm>
          <a:prstGeom prst="roundRect">
            <a:avLst>
              <a:gd name="adj" fmla="val 2009"/>
            </a:avLst>
          </a:prstGeom>
          <a:solidFill>
            <a:srgbClr val="FFFFFF"/>
          </a:solidFill>
          <a:ln w="9525">
            <a:solidFill>
              <a:srgbClr val="D9E2EC"/>
            </a:solidFill>
            <a:prstDash val="solid"/>
          </a:ln>
          <a:effectLst>
            <a:outerShdw sx="100000" sy="100000" kx="0" ky="0" algn="bl" rotWithShape="0" blurRad="63500" dist="12700" dir="5400000">
              <a:srgbClr val="9FB0C4">
                <a:alpha val="22000"/>
              </a:srgbClr>
            </a:outerShdw>
          </a:effectLst>
        </p:spPr>
      </p:sp>
      <p:sp>
        <p:nvSpPr>
          <p:cNvPr id="9" name="Text 6"/>
          <p:cNvSpPr txBox="1"/>
          <p:nvPr/>
        </p:nvSpPr>
        <p:spPr>
          <a:xfrm>
            <a:off x="8293608" y="1627632"/>
            <a:ext cx="3239719" cy="274320"/>
          </a:xfrm>
          <a:prstGeom prst="rect">
            <a:avLst/>
          </a:prstGeom>
          <a:noFill/>
          <a:ln/>
        </p:spPr>
        <p:txBody>
          <a:bodyPr wrap="square" lIns="0" tIns="0" rIns="0" bIns="0" rtlCol="0" anchor="ctr"/>
          <a:lstStyle/>
          <a:p>
            <a:pPr indent="0" marL="0">
              <a:buNone/>
            </a:pPr>
            <a:r>
              <a:rPr lang="en-US" sz="1250" b="1" dirty="0">
                <a:solidFill>
                  <a:srgbClr val="10305F"/>
                </a:solidFill>
                <a:latin typeface="Calibri" pitchFamily="34" charset="0"/>
                <a:ea typeface="Calibri" pitchFamily="34" charset="-122"/>
                <a:cs typeface="Calibri" pitchFamily="34" charset="-120"/>
              </a:rPr>
              <a:t>Resources</a:t>
            </a:r>
            <a:endParaRPr lang="en-US" sz="1250" dirty="0"/>
          </a:p>
        </p:txBody>
      </p:sp>
      <p:sp>
        <p:nvSpPr>
          <p:cNvPr id="10" name="Shape 7"/>
          <p:cNvSpPr/>
          <p:nvPr/>
        </p:nvSpPr>
        <p:spPr>
          <a:xfrm>
            <a:off x="8293608" y="2029968"/>
            <a:ext cx="274320" cy="274320"/>
          </a:xfrm>
          <a:prstGeom prst="ellipse">
            <a:avLst/>
          </a:prstGeom>
          <a:solidFill>
            <a:srgbClr val="0E8577"/>
          </a:solidFill>
          <a:ln w="12700">
            <a:solidFill>
              <a:srgbClr val="0E8577"/>
            </a:solidFill>
            <a:prstDash val="solid"/>
          </a:ln>
        </p:spPr>
      </p:sp>
      <p:sp>
        <p:nvSpPr>
          <p:cNvPr id="11" name="Text 8"/>
          <p:cNvSpPr txBox="1"/>
          <p:nvPr/>
        </p:nvSpPr>
        <p:spPr>
          <a:xfrm>
            <a:off x="8293608" y="202996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2" name="Text 9"/>
          <p:cNvSpPr txBox="1"/>
          <p:nvPr/>
        </p:nvSpPr>
        <p:spPr>
          <a:xfrm>
            <a:off x="8686800" y="2011680"/>
            <a:ext cx="2819095" cy="274320"/>
          </a:xfrm>
          <a:prstGeom prst="rect">
            <a:avLst/>
          </a:prstGeom>
          <a:noFill/>
          <a:ln/>
        </p:spPr>
        <p:txBody>
          <a:bodyPr wrap="square" lIns="0" tIns="0" rIns="0" bIns="0" rtlCol="0" anchor="ctr"/>
          <a:lstStyle/>
          <a:p>
            <a:pPr indent="0" marL="0">
              <a:buNone/>
            </a:pPr>
            <a:r>
              <a:rPr lang="en-US" sz="1100" b="1" dirty="0">
                <a:solidFill>
                  <a:srgbClr val="10305F"/>
                </a:solidFill>
                <a:latin typeface="Calibri" pitchFamily="34" charset="0"/>
                <a:ea typeface="Calibri" pitchFamily="34" charset="-122"/>
                <a:cs typeface="Calibri" pitchFamily="34" charset="-120"/>
              </a:rPr>
              <a:t>Data &amp; authorisation</a:t>
            </a:r>
            <a:endParaRPr lang="en-US" sz="1100" dirty="0"/>
          </a:p>
        </p:txBody>
      </p:sp>
      <p:sp>
        <p:nvSpPr>
          <p:cNvPr id="13" name="Text 10"/>
          <p:cNvSpPr txBox="1"/>
          <p:nvPr/>
        </p:nvSpPr>
        <p:spPr>
          <a:xfrm>
            <a:off x="8686800" y="2304288"/>
            <a:ext cx="2819095" cy="457200"/>
          </a:xfrm>
          <a:prstGeom prst="rect">
            <a:avLst/>
          </a:prstGeom>
          <a:noFill/>
          <a:ln/>
        </p:spPr>
        <p:txBody>
          <a:bodyPr wrap="square" lIns="0" tIns="0" rIns="0" bIns="0" rtlCol="0" anchor="t"/>
          <a:lstStyle/>
          <a:p>
            <a:pPr indent="0" marL="0">
              <a:buNone/>
            </a:pPr>
            <a:r>
              <a:rPr lang="en-US" sz="1000" i="1" dirty="0">
                <a:solidFill>
                  <a:srgbClr val="8A96A6"/>
                </a:solidFill>
                <a:latin typeface="Calibri" pitchFamily="34" charset="0"/>
                <a:ea typeface="Calibri" pitchFamily="34" charset="-122"/>
                <a:cs typeface="Calibri" pitchFamily="34" charset="-120"/>
              </a:rPr>
              <a:t>[Datasets, ownership, licences]</a:t>
            </a:r>
            <a:endParaRPr lang="en-US" sz="1000" dirty="0"/>
          </a:p>
        </p:txBody>
      </p:sp>
      <p:sp>
        <p:nvSpPr>
          <p:cNvPr id="14" name="Shape 11"/>
          <p:cNvSpPr/>
          <p:nvPr/>
        </p:nvSpPr>
        <p:spPr>
          <a:xfrm>
            <a:off x="8293608" y="2871216"/>
            <a:ext cx="274320" cy="274320"/>
          </a:xfrm>
          <a:prstGeom prst="ellipse">
            <a:avLst/>
          </a:prstGeom>
          <a:solidFill>
            <a:srgbClr val="0E8577"/>
          </a:solidFill>
          <a:ln w="12700">
            <a:solidFill>
              <a:srgbClr val="0E8577"/>
            </a:solidFill>
            <a:prstDash val="solid"/>
          </a:ln>
        </p:spPr>
      </p:sp>
      <p:sp>
        <p:nvSpPr>
          <p:cNvPr id="15" name="Text 12"/>
          <p:cNvSpPr txBox="1"/>
          <p:nvPr/>
        </p:nvSpPr>
        <p:spPr>
          <a:xfrm>
            <a:off x="8293608" y="2871216"/>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6" name="Text 13"/>
          <p:cNvSpPr txBox="1"/>
          <p:nvPr/>
        </p:nvSpPr>
        <p:spPr>
          <a:xfrm>
            <a:off x="8686800" y="2852928"/>
            <a:ext cx="2819095" cy="274320"/>
          </a:xfrm>
          <a:prstGeom prst="rect">
            <a:avLst/>
          </a:prstGeom>
          <a:noFill/>
          <a:ln/>
        </p:spPr>
        <p:txBody>
          <a:bodyPr wrap="square" lIns="0" tIns="0" rIns="0" bIns="0" rtlCol="0" anchor="ctr"/>
          <a:lstStyle/>
          <a:p>
            <a:pPr indent="0" marL="0">
              <a:buNone/>
            </a:pPr>
            <a:r>
              <a:rPr lang="en-US" sz="1100" b="1" dirty="0">
                <a:solidFill>
                  <a:srgbClr val="10305F"/>
                </a:solidFill>
                <a:latin typeface="Calibri" pitchFamily="34" charset="0"/>
                <a:ea typeface="Calibri" pitchFamily="34" charset="-122"/>
                <a:cs typeface="Calibri" pitchFamily="34" charset="-120"/>
              </a:rPr>
              <a:t>Environment &amp; access</a:t>
            </a:r>
            <a:endParaRPr lang="en-US" sz="1100" dirty="0"/>
          </a:p>
        </p:txBody>
      </p:sp>
      <p:sp>
        <p:nvSpPr>
          <p:cNvPr id="17" name="Text 14"/>
          <p:cNvSpPr txBox="1"/>
          <p:nvPr/>
        </p:nvSpPr>
        <p:spPr>
          <a:xfrm>
            <a:off x="8686800" y="3145536"/>
            <a:ext cx="2819095" cy="457200"/>
          </a:xfrm>
          <a:prstGeom prst="rect">
            <a:avLst/>
          </a:prstGeom>
          <a:noFill/>
          <a:ln/>
        </p:spPr>
        <p:txBody>
          <a:bodyPr wrap="square" lIns="0" tIns="0" rIns="0" bIns="0" rtlCol="0" anchor="t"/>
          <a:lstStyle/>
          <a:p>
            <a:pPr indent="0" marL="0">
              <a:buNone/>
            </a:pPr>
            <a:r>
              <a:rPr lang="en-US" sz="1000" i="1" dirty="0">
                <a:solidFill>
                  <a:srgbClr val="8A96A6"/>
                </a:solidFill>
                <a:latin typeface="Calibri" pitchFamily="34" charset="0"/>
                <a:ea typeface="Calibri" pitchFamily="34" charset="-122"/>
                <a:cs typeface="Calibri" pitchFamily="34" charset="-120"/>
              </a:rPr>
              <a:t>[Accounts, network, test and experimentation environment]</a:t>
            </a:r>
            <a:endParaRPr lang="en-US" sz="1000" dirty="0"/>
          </a:p>
        </p:txBody>
      </p:sp>
      <p:sp>
        <p:nvSpPr>
          <p:cNvPr id="18" name="Shape 15"/>
          <p:cNvSpPr/>
          <p:nvPr/>
        </p:nvSpPr>
        <p:spPr>
          <a:xfrm>
            <a:off x="8293608" y="3712464"/>
            <a:ext cx="274320" cy="274320"/>
          </a:xfrm>
          <a:prstGeom prst="ellipse">
            <a:avLst/>
          </a:prstGeom>
          <a:solidFill>
            <a:srgbClr val="0E8577"/>
          </a:solidFill>
          <a:ln w="12700">
            <a:solidFill>
              <a:srgbClr val="0E8577"/>
            </a:solidFill>
            <a:prstDash val="solid"/>
          </a:ln>
        </p:spPr>
      </p:sp>
      <p:sp>
        <p:nvSpPr>
          <p:cNvPr id="19" name="Text 16"/>
          <p:cNvSpPr txBox="1"/>
          <p:nvPr/>
        </p:nvSpPr>
        <p:spPr>
          <a:xfrm>
            <a:off x="8293608" y="371246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0" name="Text 17"/>
          <p:cNvSpPr txBox="1"/>
          <p:nvPr/>
        </p:nvSpPr>
        <p:spPr>
          <a:xfrm>
            <a:off x="8686800" y="3694176"/>
            <a:ext cx="2819095" cy="274320"/>
          </a:xfrm>
          <a:prstGeom prst="rect">
            <a:avLst/>
          </a:prstGeom>
          <a:noFill/>
          <a:ln/>
        </p:spPr>
        <p:txBody>
          <a:bodyPr wrap="square" lIns="0" tIns="0" rIns="0" bIns="0" rtlCol="0" anchor="ctr"/>
          <a:lstStyle/>
          <a:p>
            <a:pPr indent="0" marL="0">
              <a:buNone/>
            </a:pPr>
            <a:r>
              <a:rPr lang="en-US" sz="1100" b="1" dirty="0">
                <a:solidFill>
                  <a:srgbClr val="10305F"/>
                </a:solidFill>
                <a:latin typeface="Calibri" pitchFamily="34" charset="0"/>
                <a:ea typeface="Calibri" pitchFamily="34" charset="-122"/>
                <a:cs typeface="Calibri" pitchFamily="34" charset="-120"/>
              </a:rPr>
              <a:t>Interfaces &amp; test conditions</a:t>
            </a:r>
            <a:endParaRPr lang="en-US" sz="1100" dirty="0"/>
          </a:p>
        </p:txBody>
      </p:sp>
      <p:sp>
        <p:nvSpPr>
          <p:cNvPr id="21" name="Text 18"/>
          <p:cNvSpPr txBox="1"/>
          <p:nvPr/>
        </p:nvSpPr>
        <p:spPr>
          <a:xfrm>
            <a:off x="8686800" y="3986784"/>
            <a:ext cx="2819095" cy="457200"/>
          </a:xfrm>
          <a:prstGeom prst="rect">
            <a:avLst/>
          </a:prstGeom>
          <a:noFill/>
          <a:ln/>
        </p:spPr>
        <p:txBody>
          <a:bodyPr wrap="square" lIns="0" tIns="0" rIns="0" bIns="0" rtlCol="0" anchor="t"/>
          <a:lstStyle/>
          <a:p>
            <a:pPr indent="0" marL="0">
              <a:buNone/>
            </a:pPr>
            <a:r>
              <a:rPr lang="en-US" sz="1000" i="1" dirty="0">
                <a:solidFill>
                  <a:srgbClr val="8A96A6"/>
                </a:solidFill>
                <a:latin typeface="Calibri" pitchFamily="34" charset="0"/>
                <a:ea typeface="Calibri" pitchFamily="34" charset="-122"/>
                <a:cs typeface="Calibri" pitchFamily="34" charset="-120"/>
              </a:rPr>
              <a:t>[Business systems, APIs, test data]</a:t>
            </a:r>
            <a:endParaRPr lang="en-US" sz="1000" dirty="0"/>
          </a:p>
        </p:txBody>
      </p:sp>
      <p:sp>
        <p:nvSpPr>
          <p:cNvPr id="22" name="Shape 19"/>
          <p:cNvSpPr/>
          <p:nvPr/>
        </p:nvSpPr>
        <p:spPr>
          <a:xfrm>
            <a:off x="8293608" y="4553712"/>
            <a:ext cx="274320" cy="274320"/>
          </a:xfrm>
          <a:prstGeom prst="ellipse">
            <a:avLst/>
          </a:prstGeom>
          <a:solidFill>
            <a:srgbClr val="0E8577"/>
          </a:solidFill>
          <a:ln w="12700">
            <a:solidFill>
              <a:srgbClr val="0E8577"/>
            </a:solidFill>
            <a:prstDash val="solid"/>
          </a:ln>
        </p:spPr>
      </p:sp>
      <p:sp>
        <p:nvSpPr>
          <p:cNvPr id="23" name="Text 20"/>
          <p:cNvSpPr txBox="1"/>
          <p:nvPr/>
        </p:nvSpPr>
        <p:spPr>
          <a:xfrm>
            <a:off x="8293608" y="4553712"/>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4" name="Text 21"/>
          <p:cNvSpPr txBox="1"/>
          <p:nvPr/>
        </p:nvSpPr>
        <p:spPr>
          <a:xfrm>
            <a:off x="8686800" y="4535424"/>
            <a:ext cx="2819095" cy="274320"/>
          </a:xfrm>
          <a:prstGeom prst="rect">
            <a:avLst/>
          </a:prstGeom>
          <a:noFill/>
          <a:ln/>
        </p:spPr>
        <p:txBody>
          <a:bodyPr wrap="square" lIns="0" tIns="0" rIns="0" bIns="0" rtlCol="0" anchor="ctr"/>
          <a:lstStyle/>
          <a:p>
            <a:pPr indent="0" marL="0">
              <a:buNone/>
            </a:pPr>
            <a:r>
              <a:rPr lang="en-US" sz="1100" b="1" dirty="0">
                <a:solidFill>
                  <a:srgbClr val="10305F"/>
                </a:solidFill>
                <a:latin typeface="Calibri" pitchFamily="34" charset="0"/>
                <a:ea typeface="Calibri" pitchFamily="34" charset="-122"/>
                <a:cs typeface="Calibri" pitchFamily="34" charset="-120"/>
              </a:rPr>
              <a:t>Owner · ready-by · impact if late</a:t>
            </a:r>
            <a:endParaRPr lang="en-US" sz="1100" dirty="0"/>
          </a:p>
        </p:txBody>
      </p:sp>
      <p:sp>
        <p:nvSpPr>
          <p:cNvPr id="25" name="Text 22"/>
          <p:cNvSpPr txBox="1"/>
          <p:nvPr/>
        </p:nvSpPr>
        <p:spPr>
          <a:xfrm>
            <a:off x="8686800" y="4828032"/>
            <a:ext cx="2819095" cy="457200"/>
          </a:xfrm>
          <a:prstGeom prst="rect">
            <a:avLst/>
          </a:prstGeom>
          <a:noFill/>
          <a:ln/>
        </p:spPr>
        <p:txBody>
          <a:bodyPr wrap="square" lIns="0" tIns="0" rIns="0" bIns="0" rtlCol="0" anchor="t"/>
          <a:lstStyle/>
          <a:p>
            <a:pPr indent="0" marL="0">
              <a:buNone/>
            </a:pPr>
            <a:r>
              <a:rPr lang="en-US" sz="1000" i="1" dirty="0">
                <a:solidFill>
                  <a:srgbClr val="8A96A6"/>
                </a:solidFill>
                <a:latin typeface="Calibri" pitchFamily="34" charset="0"/>
                <a:ea typeface="Calibri" pitchFamily="34" charset="-122"/>
                <a:cs typeface="Calibri" pitchFamily="34" charset="-120"/>
              </a:rPr>
              <a:t>[For each item above]</a:t>
            </a:r>
            <a:endParaRPr lang="en-US" sz="1000" dirty="0"/>
          </a:p>
        </p:txBody>
      </p:sp>
      <p:sp>
        <p:nvSpPr>
          <p:cNvPr id="26" name="Shape 23"/>
          <p:cNvSpPr/>
          <p:nvPr/>
        </p:nvSpPr>
        <p:spPr>
          <a:xfrm>
            <a:off x="457200" y="5760720"/>
            <a:ext cx="11277295" cy="457200"/>
          </a:xfrm>
          <a:prstGeom prst="roundRect">
            <a:avLst>
              <a:gd name="adj" fmla="val 16000"/>
            </a:avLst>
          </a:prstGeom>
          <a:solidFill>
            <a:srgbClr val="E7F3F0"/>
          </a:solidFill>
          <a:ln w="9525">
            <a:solidFill>
              <a:srgbClr val="E7F3F0"/>
            </a:solidFill>
            <a:prstDash val="solid"/>
          </a:ln>
        </p:spPr>
      </p:sp>
      <p:sp>
        <p:nvSpPr>
          <p:cNvPr id="27" name="Text 24"/>
          <p:cNvSpPr txBox="1"/>
          <p:nvPr/>
        </p:nvSpPr>
        <p:spPr>
          <a:xfrm>
            <a:off x="658368" y="5760720"/>
            <a:ext cx="10874959" cy="457200"/>
          </a:xfrm>
          <a:prstGeom prst="rect">
            <a:avLst/>
          </a:prstGeom>
          <a:noFill/>
          <a:ln/>
        </p:spPr>
        <p:txBody>
          <a:bodyPr wrap="square" lIns="0" tIns="0" rIns="0" bIns="0" rtlCol="0" anchor="ctr"/>
          <a:lstStyle/>
          <a:p>
            <a:pPr indent="0" marL="0">
              <a:buNone/>
            </a:pPr>
            <a:r>
              <a:rPr lang="en-US" sz="1050" b="1" dirty="0">
                <a:solidFill>
                  <a:srgbClr val="0E8577"/>
                </a:solidFill>
                <a:latin typeface="Calibri" pitchFamily="34" charset="0"/>
                <a:ea typeface="Calibri" pitchFamily="34" charset="-122"/>
                <a:cs typeface="Calibri" pitchFamily="34" charset="-120"/>
              </a:rPr>
              <a:t>This page is the input for RNP's own participation plan: roles, headcount and timing, aligned with the Huawei capacity programme.</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B7A8B"/>
                </a:solidFill>
                <a:latin typeface="Calibri" pitchFamily="34" charset="0"/>
                <a:ea typeface="Calibri" pitchFamily="34" charset="-122"/>
                <a:cs typeface="Calibri" pitchFamily="34" charset="-120"/>
              </a:rPr>
              <a:t>iFLYTEK  ·  RNP technical meeting  ·  Working draft for discussion</a:t>
            </a:r>
            <a:endParaRPr lang="en-US" sz="900" dirty="0"/>
          </a:p>
        </p:txBody>
      </p:sp>
      <p:sp>
        <p:nvSpPr>
          <p:cNvPr id="3" name="Text 1"/>
          <p:cNvSpPr txBox="1"/>
          <p:nvPr/>
        </p:nvSpPr>
        <p:spPr>
          <a:xfrm>
            <a:off x="10637215" y="6446520"/>
            <a:ext cx="1097280" cy="274320"/>
          </a:xfrm>
          <a:prstGeom prst="rect">
            <a:avLst/>
          </a:prstGeom>
          <a:noFill/>
          <a:ln/>
        </p:spPr>
        <p:txBody>
          <a:bodyPr wrap="square" lIns="0" tIns="0" rIns="0" bIns="0" rtlCol="0" anchor="ctr"/>
          <a:lstStyle/>
          <a:p>
            <a:pPr algn="r" indent="0" marL="0">
              <a:buNone/>
            </a:pPr>
            <a:r>
              <a:rPr lang="en-US" sz="900" dirty="0">
                <a:solidFill>
                  <a:srgbClr val="6B7A8B"/>
                </a:solidFill>
                <a:latin typeface="Calibri" pitchFamily="34" charset="0"/>
                <a:ea typeface="Calibri" pitchFamily="34" charset="-122"/>
                <a:cs typeface="Calibri" pitchFamily="34" charset="-120"/>
              </a:rPr>
              <a:t>8 / 10</a:t>
            </a:r>
            <a:endParaRPr lang="en-US" sz="900" dirty="0"/>
          </a:p>
        </p:txBody>
      </p:sp>
      <p:sp>
        <p:nvSpPr>
          <p:cNvPr id="4" name="Text 2"/>
          <p:cNvSpPr txBox="1"/>
          <p:nvPr/>
        </p:nvSpPr>
        <p:spPr>
          <a:xfrm>
            <a:off x="457200" y="347472"/>
            <a:ext cx="11277295" cy="566928"/>
          </a:xfrm>
          <a:prstGeom prst="rect">
            <a:avLst/>
          </a:prstGeom>
          <a:noFill/>
          <a:ln/>
        </p:spPr>
        <p:txBody>
          <a:bodyPr wrap="square" lIns="0" tIns="0" rIns="0" bIns="0" rtlCol="0" anchor="ctr"/>
          <a:lstStyle/>
          <a:p>
            <a:pPr indent="0" marL="0">
              <a:buNone/>
            </a:pPr>
            <a:r>
              <a:rPr lang="en-US" sz="2400" b="1" dirty="0">
                <a:solidFill>
                  <a:srgbClr val="10305F"/>
                </a:solidFill>
                <a:latin typeface="Calibri" pitchFamily="34" charset="0"/>
                <a:ea typeface="Calibri" pitchFamily="34" charset="-122"/>
                <a:cs typeface="Calibri" pitchFamily="34" charset="-120"/>
              </a:rPr>
              <a:t>In-project knowledge transfer: learning by doing on real tasks</a:t>
            </a:r>
            <a:endParaRPr lang="en-US" sz="2400" dirty="0"/>
          </a:p>
        </p:txBody>
      </p:sp>
      <p:sp>
        <p:nvSpPr>
          <p:cNvPr id="5" name="Shape 3"/>
          <p:cNvSpPr/>
          <p:nvPr/>
        </p:nvSpPr>
        <p:spPr>
          <a:xfrm>
            <a:off x="457200" y="950976"/>
            <a:ext cx="4206240" cy="274320"/>
          </a:xfrm>
          <a:prstGeom prst="roundRect">
            <a:avLst>
              <a:gd name="adj" fmla="val 50000"/>
            </a:avLst>
          </a:prstGeom>
          <a:solidFill>
            <a:srgbClr val="0E8577"/>
          </a:solidFill>
          <a:ln w="12700">
            <a:solidFill>
              <a:srgbClr val="0E8577"/>
            </a:solidFill>
            <a:prstDash val="solid"/>
          </a:ln>
        </p:spPr>
      </p:sp>
      <p:sp>
        <p:nvSpPr>
          <p:cNvPr id="6" name="Text 4"/>
          <p:cNvSpPr txBox="1"/>
          <p:nvPr/>
        </p:nvSpPr>
        <p:spPr>
          <a:xfrm>
            <a:off x="457200" y="950976"/>
            <a:ext cx="4206240" cy="274320"/>
          </a:xfrm>
          <a:prstGeom prst="rect">
            <a:avLst/>
          </a:prstGeom>
          <a:no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INCLUDED IN CURRENT PROPOSAL  ·  NO ADDITIONAL FEE</a:t>
            </a:r>
            <a:endParaRPr lang="en-US" sz="900" dirty="0"/>
          </a:p>
        </p:txBody>
      </p:sp>
      <p:sp>
        <p:nvSpPr>
          <p:cNvPr id="7" name="Text 5"/>
          <p:cNvSpPr txBox="1"/>
          <p:nvPr/>
        </p:nvSpPr>
        <p:spPr>
          <a:xfrm>
            <a:off x="4800600" y="950976"/>
            <a:ext cx="5486400" cy="274320"/>
          </a:xfrm>
          <a:prstGeom prst="rect">
            <a:avLst/>
          </a:prstGeom>
          <a:noFill/>
          <a:ln/>
        </p:spPr>
        <p:txBody>
          <a:bodyPr wrap="square" lIns="0" tIns="0" rIns="0" bIns="0" rtlCol="0" anchor="ctr"/>
          <a:lstStyle/>
          <a:p>
            <a:pPr indent="0" marL="0">
              <a:buNone/>
            </a:pPr>
            <a:r>
              <a:rPr lang="en-US" sz="1000" i="1" dirty="0">
                <a:solidFill>
                  <a:srgbClr val="8A96A6"/>
                </a:solidFill>
                <a:latin typeface="Calibri" pitchFamily="34" charset="0"/>
                <a:ea typeface="Calibri" pitchFamily="34" charset="-122"/>
                <a:cs typeface="Calibri" pitchFamily="34" charset="-120"/>
              </a:rPr>
              <a:t>[confirm wording against the SOW and quotation]</a:t>
            </a:r>
            <a:endParaRPr lang="en-US" sz="1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11277295" cy="914400"/>
        </p:xfrm>
        <a:graphic>
          <a:graphicData uri="http://schemas.openxmlformats.org/drawingml/2006/table">
            <a:tbl>
              <a:tblPr/>
              <a:tblGrid>
                <a:gridCol w="1828800"/>
                <a:gridCol w="731520"/>
                <a:gridCol w="2286000"/>
                <a:gridCol w="2651760"/>
                <a:gridCol w="2011680"/>
                <a:gridCol w="1764792"/>
              </a:tblGrid>
              <a:tr h="41148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Participants (role)</a:t>
                      </a:r>
                      <a:endParaRPr lang="en-US" sz="1050" dirty="0">
                        <a:latin typeface="Calibri" charset="0"/>
                        <a:ea typeface="Calibri" charset="0"/>
                        <a:cs typeface="Calibri" charset="0"/>
                      </a:endParaRPr>
                    </a:p>
                  </a:txBody>
                  <a:tcPr marL="73152" marR="73152" marT="45720" marB="45720" anchor="ctr">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solidFill>
                      <a:srgbClr val="10305F"/>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Seats</a:t>
                      </a:r>
                      <a:endParaRPr lang="en-US" sz="1050" dirty="0">
                        <a:latin typeface="Calibri" charset="0"/>
                        <a:ea typeface="Calibri" charset="0"/>
                        <a:cs typeface="Calibri" charset="0"/>
                      </a:endParaRPr>
                    </a:p>
                  </a:txBody>
                  <a:tcPr marL="73152" marR="73152" marT="45720" marB="45720" anchor="ctr">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solidFill>
                      <a:srgbClr val="10305F"/>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Project tasks they perform</a:t>
                      </a:r>
                      <a:endParaRPr lang="en-US" sz="1050" dirty="0">
                        <a:latin typeface="Calibri" charset="0"/>
                        <a:ea typeface="Calibri" charset="0"/>
                        <a:cs typeface="Calibri" charset="0"/>
                      </a:endParaRPr>
                    </a:p>
                  </a:txBody>
                  <a:tcPr marL="73152" marR="73152" marT="45720" marB="45720" anchor="ctr">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solidFill>
                      <a:srgbClr val="10305F"/>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How iFLYTEK supports</a:t>
                      </a:r>
                      <a:endParaRPr lang="en-US" sz="1050" dirty="0">
                        <a:latin typeface="Calibri" charset="0"/>
                        <a:ea typeface="Calibri" charset="0"/>
                        <a:cs typeface="Calibri" charset="0"/>
                      </a:endParaRPr>
                    </a:p>
                  </a:txBody>
                  <a:tcPr marL="73152" marR="73152" marT="45720" marB="45720" anchor="ctr">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solidFill>
                      <a:srgbClr val="10305F"/>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Capability outcome</a:t>
                      </a:r>
                      <a:endParaRPr lang="en-US" sz="1050" dirty="0">
                        <a:latin typeface="Calibri" charset="0"/>
                        <a:ea typeface="Calibri" charset="0"/>
                        <a:cs typeface="Calibri" charset="0"/>
                      </a:endParaRPr>
                    </a:p>
                  </a:txBody>
                  <a:tcPr marL="73152" marR="73152" marT="45720" marB="45720" anchor="ctr">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solidFill>
                      <a:srgbClr val="10305F"/>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How it is verified</a:t>
                      </a:r>
                      <a:endParaRPr lang="en-US" sz="1050" dirty="0">
                        <a:latin typeface="Calibri" charset="0"/>
                        <a:ea typeface="Calibri" charset="0"/>
                        <a:cs typeface="Calibri" charset="0"/>
                      </a:endParaRPr>
                    </a:p>
                  </a:txBody>
                  <a:tcPr marL="73152" marR="73152" marT="45720" marB="45720" anchor="ctr">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solidFill>
                      <a:srgbClr val="10305F"/>
                    </a:solidFill>
                  </a:tcPr>
                </a:tc>
              </a:tr>
              <a:tr h="548640">
                <a:tc>
                  <a:txBody>
                    <a:bodyPr/>
                    <a:lstStyle/>
                    <a:p>
                      <a:pPr indent="0" marL="0">
                        <a:buNone/>
                      </a:pPr>
                      <a:r>
                        <a:rPr lang="en-US" sz="1000" b="1" i="1" dirty="0">
                          <a:solidFill>
                            <a:srgbClr val="4B5A6B"/>
                          </a:solidFill>
                          <a:latin typeface="Calibri" pitchFamily="34" charset="0"/>
                          <a:ea typeface="Calibri" pitchFamily="34" charset="-122"/>
                          <a:cs typeface="Calibri" pitchFamily="34" charset="-120"/>
                        </a:rPr>
                        <a:t>[role]</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[n]</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[tasks]</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[briefing · demonstration · joint operation · guided practice]</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[what they can do afterwards]</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[task, experiment or output used as evidence]</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r>
              <a:tr h="548640">
                <a:tc>
                  <a:txBody>
                    <a:bodyPr/>
                    <a:lstStyle/>
                    <a:p>
                      <a:pPr indent="0" marL="0">
                        <a:buNone/>
                      </a:pPr>
                      <a:r>
                        <a:rPr lang="en-US" sz="1000" b="1" i="1" dirty="0">
                          <a:solidFill>
                            <a:srgbClr val="4B5A6B"/>
                          </a:solidFill>
                          <a:latin typeface="Calibri" pitchFamily="34" charset="0"/>
                          <a:ea typeface="Calibri" pitchFamily="34" charset="-122"/>
                          <a:cs typeface="Calibri" pitchFamily="34" charset="-120"/>
                        </a:rPr>
                        <a:t>[role]</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[n]</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[tasks]</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[briefing · demonstration · joint operation · guided practice]</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[what they can do afterwards]</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[task, experiment or output used as evidence]</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r>
              <a:tr h="548640">
                <a:tc>
                  <a:txBody>
                    <a:bodyPr/>
                    <a:lstStyle/>
                    <a:p>
                      <a:pPr indent="0" marL="0">
                        <a:buNone/>
                      </a:pPr>
                      <a:r>
                        <a:rPr lang="en-US" sz="1000" b="1" i="1" dirty="0">
                          <a:solidFill>
                            <a:srgbClr val="4B5A6B"/>
                          </a:solidFill>
                          <a:latin typeface="Calibri" pitchFamily="34" charset="0"/>
                          <a:ea typeface="Calibri" pitchFamily="34" charset="-122"/>
                          <a:cs typeface="Calibri" pitchFamily="34" charset="-120"/>
                        </a:rPr>
                        <a:t>[role]</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[n]</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[tasks]</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[briefing · demonstration · joint operation · guided practice]</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[what they can do afterwards]</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[task, experiment or output used as evidence]</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r>
              <a:tr h="548640">
                <a:tc>
                  <a:txBody>
                    <a:bodyPr/>
                    <a:lstStyle/>
                    <a:p>
                      <a:pPr indent="0" marL="0">
                        <a:buNone/>
                      </a:pPr>
                      <a:r>
                        <a:rPr lang="en-US" sz="1000" b="1" i="1" dirty="0">
                          <a:solidFill>
                            <a:srgbClr val="4B5A6B"/>
                          </a:solidFill>
                          <a:latin typeface="Calibri" pitchFamily="34" charset="0"/>
                          <a:ea typeface="Calibri" pitchFamily="34" charset="-122"/>
                          <a:cs typeface="Calibri" pitchFamily="34" charset="-120"/>
                        </a:rPr>
                        <a:t>[role]</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[n]</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[tasks]</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[briefing · demonstration · joint operation · guided practice]</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[what they can do afterwards]</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[task, experiment or output used as evidence]</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r>
            </a:tbl>
          </a:graphicData>
        </a:graphic>
      </p:graphicFrame>
      <p:sp>
        <p:nvSpPr>
          <p:cNvPr id="9" name="Shape 6"/>
          <p:cNvSpPr/>
          <p:nvPr/>
        </p:nvSpPr>
        <p:spPr>
          <a:xfrm>
            <a:off x="457200" y="4343400"/>
            <a:ext cx="3576218" cy="1417320"/>
          </a:xfrm>
          <a:prstGeom prst="roundRect">
            <a:avLst>
              <a:gd name="adj" fmla="val 5161"/>
            </a:avLst>
          </a:prstGeom>
          <a:solidFill>
            <a:srgbClr val="E7F3F0"/>
          </a:solidFill>
          <a:ln w="9525">
            <a:solidFill>
              <a:srgbClr val="E7F3F0"/>
            </a:solidFill>
            <a:prstDash val="solid"/>
          </a:ln>
        </p:spPr>
      </p:sp>
      <p:sp>
        <p:nvSpPr>
          <p:cNvPr id="10" name="Text 7"/>
          <p:cNvSpPr txBox="1"/>
          <p:nvPr/>
        </p:nvSpPr>
        <p:spPr>
          <a:xfrm>
            <a:off x="640080" y="4471416"/>
            <a:ext cx="3210458" cy="274320"/>
          </a:xfrm>
          <a:prstGeom prst="rect">
            <a:avLst/>
          </a:prstGeom>
          <a:noFill/>
          <a:ln/>
        </p:spPr>
        <p:txBody>
          <a:bodyPr wrap="square" lIns="0" tIns="0" rIns="0" bIns="0" rtlCol="0" anchor="ctr"/>
          <a:lstStyle/>
          <a:p>
            <a:pPr indent="0" marL="0">
              <a:buNone/>
            </a:pPr>
            <a:r>
              <a:rPr lang="en-US" sz="1150" b="1" dirty="0">
                <a:solidFill>
                  <a:srgbClr val="0E8577"/>
                </a:solidFill>
                <a:latin typeface="Calibri" pitchFamily="34" charset="0"/>
                <a:ea typeface="Calibri" pitchFamily="34" charset="-122"/>
                <a:cs typeface="Calibri" pitchFamily="34" charset="-120"/>
              </a:rPr>
              <a:t>After the project, RNP's team can</a:t>
            </a:r>
            <a:endParaRPr lang="en-US" sz="1150" dirty="0"/>
          </a:p>
        </p:txBody>
      </p:sp>
      <p:sp>
        <p:nvSpPr>
          <p:cNvPr id="11" name="Text 8"/>
          <p:cNvSpPr txBox="1"/>
          <p:nvPr/>
        </p:nvSpPr>
        <p:spPr>
          <a:xfrm>
            <a:off x="640080" y="4800600"/>
            <a:ext cx="3210458" cy="868680"/>
          </a:xfrm>
          <a:prstGeom prst="rect">
            <a:avLst/>
          </a:prstGeom>
          <a:noFill/>
          <a:ln/>
        </p:spPr>
        <p:txBody>
          <a:bodyPr wrap="square" lIns="0" tIns="0" rIns="0" bIns="0" rtlCol="0" anchor="t"/>
          <a:lstStyle/>
          <a:p>
            <a:pPr indent="0" marL="0">
              <a:buNone/>
            </a:pPr>
            <a:r>
              <a:rPr lang="en-US" sz="1000" i="1" dirty="0">
                <a:solidFill>
                  <a:srgbClr val="8A96A6"/>
                </a:solidFill>
                <a:latin typeface="Calibri" pitchFamily="34" charset="0"/>
                <a:ea typeface="Calibri" pitchFamily="34" charset="-122"/>
                <a:cs typeface="Calibri" pitchFamily="34" charset="-120"/>
              </a:rPr>
              <a:t>[Capability targets by role — what they can run, adapt and evaluate on their own]</a:t>
            </a:r>
            <a:endParaRPr lang="en-US" sz="1000" dirty="0"/>
          </a:p>
        </p:txBody>
      </p:sp>
      <p:sp>
        <p:nvSpPr>
          <p:cNvPr id="12" name="Shape 9"/>
          <p:cNvSpPr/>
          <p:nvPr/>
        </p:nvSpPr>
        <p:spPr>
          <a:xfrm>
            <a:off x="4307738" y="4343400"/>
            <a:ext cx="3576218" cy="1417320"/>
          </a:xfrm>
          <a:prstGeom prst="roundRect">
            <a:avLst>
              <a:gd name="adj" fmla="val 5161"/>
            </a:avLst>
          </a:prstGeom>
          <a:solidFill>
            <a:srgbClr val="F7F9FC"/>
          </a:solidFill>
          <a:ln w="9525">
            <a:solidFill>
              <a:srgbClr val="DCE4EF"/>
            </a:solidFill>
            <a:prstDash val="solid"/>
          </a:ln>
        </p:spPr>
      </p:sp>
      <p:sp>
        <p:nvSpPr>
          <p:cNvPr id="13" name="Text 10"/>
          <p:cNvSpPr txBox="1"/>
          <p:nvPr/>
        </p:nvSpPr>
        <p:spPr>
          <a:xfrm>
            <a:off x="4490618" y="4471416"/>
            <a:ext cx="3210458" cy="274320"/>
          </a:xfrm>
          <a:prstGeom prst="rect">
            <a:avLst/>
          </a:prstGeom>
          <a:noFill/>
          <a:ln/>
        </p:spPr>
        <p:txBody>
          <a:bodyPr wrap="square" lIns="0" tIns="0" rIns="0" bIns="0" rtlCol="0" anchor="ctr"/>
          <a:lstStyle/>
          <a:p>
            <a:pPr indent="0" marL="0">
              <a:buNone/>
            </a:pPr>
            <a:r>
              <a:rPr lang="en-US" sz="1150" b="1" dirty="0">
                <a:solidFill>
                  <a:srgbClr val="10305F"/>
                </a:solidFill>
                <a:latin typeface="Calibri" pitchFamily="34" charset="0"/>
                <a:ea typeface="Calibri" pitchFamily="34" charset="-122"/>
                <a:cs typeface="Calibri" pitchFamily="34" charset="-120"/>
              </a:rPr>
              <a:t>Not covered by this transfer</a:t>
            </a:r>
            <a:endParaRPr lang="en-US" sz="1150" dirty="0"/>
          </a:p>
        </p:txBody>
      </p:sp>
      <p:sp>
        <p:nvSpPr>
          <p:cNvPr id="14" name="Text 11"/>
          <p:cNvSpPr txBox="1"/>
          <p:nvPr/>
        </p:nvSpPr>
        <p:spPr>
          <a:xfrm>
            <a:off x="4490618" y="4800600"/>
            <a:ext cx="3210458" cy="868680"/>
          </a:xfrm>
          <a:prstGeom prst="rect">
            <a:avLst/>
          </a:prstGeom>
          <a:noFill/>
          <a:ln/>
        </p:spPr>
        <p:txBody>
          <a:bodyPr wrap="square" lIns="0" tIns="0" rIns="0" bIns="0" rtlCol="0" anchor="t"/>
          <a:lstStyle/>
          <a:p>
            <a:pPr indent="0" marL="0">
              <a:buNone/>
            </a:pPr>
            <a:r>
              <a:rPr lang="en-US" sz="1000" i="1" dirty="0">
                <a:solidFill>
                  <a:srgbClr val="8A96A6"/>
                </a:solidFill>
                <a:latin typeface="Calibri" pitchFamily="34" charset="0"/>
                <a:ea typeface="Calibri" pitchFamily="34" charset="-122"/>
                <a:cs typeface="Calibri" pitchFamily="34" charset="-120"/>
              </a:rPr>
              <a:t>[Boundaries: e.g., work packages outside iFLYTEK's SOW; national software-stack R&amp;D — confirm wording]</a:t>
            </a:r>
            <a:endParaRPr lang="en-US" sz="1000" dirty="0"/>
          </a:p>
        </p:txBody>
      </p:sp>
      <p:sp>
        <p:nvSpPr>
          <p:cNvPr id="15" name="Shape 12"/>
          <p:cNvSpPr/>
          <p:nvPr/>
        </p:nvSpPr>
        <p:spPr>
          <a:xfrm>
            <a:off x="8158277" y="4343400"/>
            <a:ext cx="3576218" cy="1417320"/>
          </a:xfrm>
          <a:prstGeom prst="roundRect">
            <a:avLst>
              <a:gd name="adj" fmla="val 5161"/>
            </a:avLst>
          </a:prstGeom>
          <a:solidFill>
            <a:srgbClr val="F7F9FC"/>
          </a:solidFill>
          <a:ln w="9525">
            <a:solidFill>
              <a:srgbClr val="DCE4EF"/>
            </a:solidFill>
            <a:prstDash val="solid"/>
          </a:ln>
        </p:spPr>
      </p:sp>
      <p:sp>
        <p:nvSpPr>
          <p:cNvPr id="16" name="Text 13"/>
          <p:cNvSpPr txBox="1"/>
          <p:nvPr/>
        </p:nvSpPr>
        <p:spPr>
          <a:xfrm>
            <a:off x="8341157" y="4471416"/>
            <a:ext cx="3210458" cy="274320"/>
          </a:xfrm>
          <a:prstGeom prst="rect">
            <a:avLst/>
          </a:prstGeom>
          <a:noFill/>
          <a:ln/>
        </p:spPr>
        <p:txBody>
          <a:bodyPr wrap="square" lIns="0" tIns="0" rIns="0" bIns="0" rtlCol="0" anchor="ctr"/>
          <a:lstStyle/>
          <a:p>
            <a:pPr indent="0" marL="0">
              <a:buNone/>
            </a:pPr>
            <a:r>
              <a:rPr lang="en-US" sz="1150" b="1" dirty="0">
                <a:solidFill>
                  <a:srgbClr val="10305F"/>
                </a:solidFill>
                <a:latin typeface="Calibri" pitchFamily="34" charset="0"/>
                <a:ea typeface="Calibri" pitchFamily="34" charset="-122"/>
                <a:cs typeface="Calibri" pitchFamily="34" charset="-120"/>
              </a:rPr>
              <a:t>Language, materials &amp; records</a:t>
            </a:r>
            <a:endParaRPr lang="en-US" sz="1150" dirty="0"/>
          </a:p>
        </p:txBody>
      </p:sp>
      <p:sp>
        <p:nvSpPr>
          <p:cNvPr id="17" name="Text 14"/>
          <p:cNvSpPr txBox="1"/>
          <p:nvPr/>
        </p:nvSpPr>
        <p:spPr>
          <a:xfrm>
            <a:off x="8341157" y="4800600"/>
            <a:ext cx="3210458" cy="868680"/>
          </a:xfrm>
          <a:prstGeom prst="rect">
            <a:avLst/>
          </a:prstGeom>
          <a:noFill/>
          <a:ln/>
        </p:spPr>
        <p:txBody>
          <a:bodyPr wrap="square" lIns="0" tIns="0" rIns="0" bIns="0" rtlCol="0" anchor="t"/>
          <a:lstStyle/>
          <a:p>
            <a:pPr indent="0" marL="0">
              <a:buNone/>
            </a:pPr>
            <a:r>
              <a:rPr lang="en-US" sz="1000" i="1" dirty="0">
                <a:solidFill>
                  <a:srgbClr val="8A96A6"/>
                </a:solidFill>
                <a:latin typeface="Calibri" pitchFamily="34" charset="0"/>
                <a:ea typeface="Calibri" pitchFamily="34" charset="-122"/>
                <a:cs typeface="Calibri" pitchFamily="34" charset="-120"/>
              </a:rPr>
              <a:t>[Working language and interpretation]  ·  [Materials handed over]  ·  [Practice records and technical outputs retained by RNP]</a:t>
            </a:r>
            <a:endParaRPr lang="en-US" sz="1000" dirty="0"/>
          </a:p>
        </p:txBody>
      </p:sp>
      <p:sp>
        <p:nvSpPr>
          <p:cNvPr id="18" name="Text 15"/>
          <p:cNvSpPr txBox="1"/>
          <p:nvPr/>
        </p:nvSpPr>
        <p:spPr>
          <a:xfrm>
            <a:off x="457200" y="5870448"/>
            <a:ext cx="11277295" cy="365760"/>
          </a:xfrm>
          <a:prstGeom prst="rect">
            <a:avLst/>
          </a:prstGeom>
          <a:noFill/>
          <a:ln/>
        </p:spPr>
        <p:txBody>
          <a:bodyPr wrap="square" lIns="0" tIns="0" rIns="0" bIns="0" rtlCol="0" anchor="t"/>
          <a:lstStyle/>
          <a:p>
            <a:pPr indent="0" marL="0">
              <a:buNone/>
            </a:pPr>
            <a:r>
              <a:rPr lang="en-US" sz="1000" dirty="0">
                <a:solidFill>
                  <a:srgbClr val="6B7A8B"/>
                </a:solidFill>
                <a:latin typeface="Calibri" pitchFamily="34" charset="0"/>
                <a:ea typeface="Calibri" pitchFamily="34" charset="-122"/>
                <a:cs typeface="Calibri" pitchFamily="34" charset="-120"/>
              </a:rPr>
              <a:t>Development, adaptation, testing and optimisation support tied to iFLYTEK deliverables is listed against concrete tasks. Time, seats and technical guidance effort follow the SOW.</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B7A8B"/>
                </a:solidFill>
                <a:latin typeface="Calibri" pitchFamily="34" charset="0"/>
                <a:ea typeface="Calibri" pitchFamily="34" charset="-122"/>
                <a:cs typeface="Calibri" pitchFamily="34" charset="-120"/>
              </a:rPr>
              <a:t>iFLYTEK  ·  RNP technical meeting  ·  Working draft for discussion</a:t>
            </a:r>
            <a:endParaRPr lang="en-US" sz="900" dirty="0"/>
          </a:p>
        </p:txBody>
      </p:sp>
      <p:sp>
        <p:nvSpPr>
          <p:cNvPr id="3" name="Text 1"/>
          <p:cNvSpPr txBox="1"/>
          <p:nvPr/>
        </p:nvSpPr>
        <p:spPr>
          <a:xfrm>
            <a:off x="10637215" y="6446520"/>
            <a:ext cx="1097280" cy="274320"/>
          </a:xfrm>
          <a:prstGeom prst="rect">
            <a:avLst/>
          </a:prstGeom>
          <a:noFill/>
          <a:ln/>
        </p:spPr>
        <p:txBody>
          <a:bodyPr wrap="square" lIns="0" tIns="0" rIns="0" bIns="0" rtlCol="0" anchor="ctr"/>
          <a:lstStyle/>
          <a:p>
            <a:pPr algn="r" indent="0" marL="0">
              <a:buNone/>
            </a:pPr>
            <a:r>
              <a:rPr lang="en-US" sz="900" dirty="0">
                <a:solidFill>
                  <a:srgbClr val="6B7A8B"/>
                </a:solidFill>
                <a:latin typeface="Calibri" pitchFamily="34" charset="0"/>
                <a:ea typeface="Calibri" pitchFamily="34" charset="-122"/>
                <a:cs typeface="Calibri" pitchFamily="34" charset="-120"/>
              </a:rPr>
              <a:t>9 / 10</a:t>
            </a:r>
            <a:endParaRPr lang="en-US" sz="900" dirty="0"/>
          </a:p>
        </p:txBody>
      </p:sp>
      <p:sp>
        <p:nvSpPr>
          <p:cNvPr id="4" name="Text 2"/>
          <p:cNvSpPr txBox="1"/>
          <p:nvPr/>
        </p:nvSpPr>
        <p:spPr>
          <a:xfrm>
            <a:off x="457200" y="347472"/>
            <a:ext cx="11277295" cy="566928"/>
          </a:xfrm>
          <a:prstGeom prst="rect">
            <a:avLst/>
          </a:prstGeom>
          <a:noFill/>
          <a:ln/>
        </p:spPr>
        <p:txBody>
          <a:bodyPr wrap="square" lIns="0" tIns="0" rIns="0" bIns="0" rtlCol="0" anchor="ctr"/>
          <a:lstStyle/>
          <a:p>
            <a:pPr indent="0" marL="0">
              <a:buNone/>
            </a:pPr>
            <a:r>
              <a:rPr lang="en-US" sz="2400" b="1" dirty="0">
                <a:solidFill>
                  <a:srgbClr val="10305F"/>
                </a:solidFill>
                <a:latin typeface="Calibri" pitchFamily="34" charset="0"/>
                <a:ea typeface="Calibri" pitchFamily="34" charset="-122"/>
                <a:cs typeface="Calibri" pitchFamily="34" charset="-120"/>
              </a:rPr>
              <a:t>Optional: advanced programme for core talents</a:t>
            </a:r>
            <a:endParaRPr lang="en-US" sz="2400" dirty="0"/>
          </a:p>
        </p:txBody>
      </p:sp>
      <p:sp>
        <p:nvSpPr>
          <p:cNvPr id="5" name="Shape 3"/>
          <p:cNvSpPr/>
          <p:nvPr/>
        </p:nvSpPr>
        <p:spPr>
          <a:xfrm>
            <a:off x="457200" y="950976"/>
            <a:ext cx="2743200" cy="274320"/>
          </a:xfrm>
          <a:prstGeom prst="roundRect">
            <a:avLst>
              <a:gd name="adj" fmla="val 50000"/>
            </a:avLst>
          </a:prstGeom>
          <a:solidFill>
            <a:srgbClr val="B26A00"/>
          </a:solidFill>
          <a:ln w="12700">
            <a:solidFill>
              <a:srgbClr val="B26A00"/>
            </a:solidFill>
            <a:prstDash val="solid"/>
          </a:ln>
        </p:spPr>
      </p:sp>
      <p:sp>
        <p:nvSpPr>
          <p:cNvPr id="6" name="Text 4"/>
          <p:cNvSpPr txBox="1"/>
          <p:nvPr/>
        </p:nvSpPr>
        <p:spPr>
          <a:xfrm>
            <a:off x="457200" y="950976"/>
            <a:ext cx="2743200" cy="274320"/>
          </a:xfrm>
          <a:prstGeom prst="rect">
            <a:avLst/>
          </a:prstGeom>
          <a:no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OPTIONAL  ·  SEPARATELY QUOTED</a:t>
            </a:r>
            <a:endParaRPr lang="en-US" sz="900" dirty="0"/>
          </a:p>
        </p:txBody>
      </p:sp>
      <p:sp>
        <p:nvSpPr>
          <p:cNvPr id="7" name="Text 5"/>
          <p:cNvSpPr txBox="1"/>
          <p:nvPr/>
        </p:nvSpPr>
        <p:spPr>
          <a:xfrm>
            <a:off x="3383280" y="914400"/>
            <a:ext cx="8351215" cy="347472"/>
          </a:xfrm>
          <a:prstGeom prst="rect">
            <a:avLst/>
          </a:prstGeom>
          <a:noFill/>
          <a:ln/>
        </p:spPr>
        <p:txBody>
          <a:bodyPr wrap="square" lIns="0" tIns="0" rIns="0" bIns="0" rtlCol="0" anchor="ctr"/>
          <a:lstStyle/>
          <a:p>
            <a:pPr indent="0" marL="0">
              <a:buNone/>
            </a:pPr>
            <a:r>
              <a:rPr lang="en-US" sz="1200" dirty="0">
                <a:solidFill>
                  <a:srgbClr val="4B5A6B"/>
                </a:solidFill>
                <a:latin typeface="Calibri" pitchFamily="34" charset="0"/>
                <a:ea typeface="Calibri" pitchFamily="34" charset="-122"/>
                <a:cs typeface="Calibri" pitchFamily="34" charset="-120"/>
              </a:rPr>
              <a:t>Adds to the in-project transfer for a small group with the right foundation. It does not replace anything already agreed.</a:t>
            </a:r>
            <a:endParaRPr lang="en-US" sz="1200" dirty="0"/>
          </a:p>
        </p:txBody>
      </p:sp>
      <p:sp>
        <p:nvSpPr>
          <p:cNvPr id="8" name="Shape 6"/>
          <p:cNvSpPr/>
          <p:nvPr/>
        </p:nvSpPr>
        <p:spPr>
          <a:xfrm>
            <a:off x="457200" y="1508760"/>
            <a:ext cx="3576218" cy="1874520"/>
          </a:xfrm>
          <a:prstGeom prst="roundRect">
            <a:avLst>
              <a:gd name="adj" fmla="val 3902"/>
            </a:avLst>
          </a:prstGeom>
          <a:solidFill>
            <a:srgbClr val="FFFFFF"/>
          </a:solidFill>
          <a:ln w="9525">
            <a:solidFill>
              <a:srgbClr val="D9E2EC"/>
            </a:solidFill>
            <a:prstDash val="solid"/>
          </a:ln>
          <a:effectLst>
            <a:outerShdw sx="100000" sy="100000" kx="0" ky="0" algn="bl" rotWithShape="0" blurRad="63500" dist="12700" dir="5400000">
              <a:srgbClr val="9FB0C4">
                <a:alpha val="22000"/>
              </a:srgbClr>
            </a:outerShdw>
          </a:effectLst>
        </p:spPr>
      </p:sp>
      <p:sp>
        <p:nvSpPr>
          <p:cNvPr id="9" name="Shape 7"/>
          <p:cNvSpPr/>
          <p:nvPr/>
        </p:nvSpPr>
        <p:spPr>
          <a:xfrm>
            <a:off x="658368" y="1709928"/>
            <a:ext cx="310896" cy="310896"/>
          </a:xfrm>
          <a:prstGeom prst="ellipse">
            <a:avLst/>
          </a:prstGeom>
          <a:solidFill>
            <a:srgbClr val="10305F"/>
          </a:solidFill>
          <a:ln w="12700">
            <a:solidFill>
              <a:srgbClr val="10305F"/>
            </a:solidFill>
            <a:prstDash val="solid"/>
          </a:ln>
        </p:spPr>
      </p:sp>
      <p:sp>
        <p:nvSpPr>
          <p:cNvPr id="10" name="Text 8"/>
          <p:cNvSpPr txBox="1"/>
          <p:nvPr/>
        </p:nvSpPr>
        <p:spPr>
          <a:xfrm>
            <a:off x="658368" y="1709928"/>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1" name="Text 9"/>
          <p:cNvSpPr txBox="1"/>
          <p:nvPr/>
        </p:nvSpPr>
        <p:spPr>
          <a:xfrm>
            <a:off x="1097280" y="1691640"/>
            <a:ext cx="2753258" cy="274320"/>
          </a:xfrm>
          <a:prstGeom prst="rect">
            <a:avLst/>
          </a:prstGeom>
          <a:noFill/>
          <a:ln/>
        </p:spPr>
        <p:txBody>
          <a:bodyPr wrap="square" lIns="0" tIns="0" rIns="0" bIns="0" rtlCol="0" anchor="ctr"/>
          <a:lstStyle/>
          <a:p>
            <a:pPr indent="0" marL="0">
              <a:buNone/>
            </a:pPr>
            <a:r>
              <a:rPr lang="en-US" sz="1200" b="1" dirty="0">
                <a:solidFill>
                  <a:srgbClr val="10305F"/>
                </a:solidFill>
                <a:latin typeface="Calibri" pitchFamily="34" charset="0"/>
                <a:ea typeface="Calibri" pitchFamily="34" charset="-122"/>
                <a:cs typeface="Calibri" pitchFamily="34" charset="-120"/>
              </a:rPr>
              <a:t>Who &amp; selection criteria</a:t>
            </a:r>
            <a:endParaRPr lang="en-US" sz="1200" dirty="0"/>
          </a:p>
        </p:txBody>
      </p:sp>
      <p:sp>
        <p:nvSpPr>
          <p:cNvPr id="12" name="Text 10"/>
          <p:cNvSpPr txBox="1"/>
          <p:nvPr/>
        </p:nvSpPr>
        <p:spPr>
          <a:xfrm>
            <a:off x="658368" y="2167128"/>
            <a:ext cx="3173882" cy="1051560"/>
          </a:xfrm>
          <a:prstGeom prst="rect">
            <a:avLst/>
          </a:prstGeom>
          <a:noFill/>
          <a:ln/>
        </p:spPr>
        <p:txBody>
          <a:bodyPr wrap="square" lIns="0" tIns="0" rIns="0" bIns="0" rtlCol="0" anchor="t"/>
          <a:lstStyle/>
          <a:p>
            <a:pPr indent="0" marL="0">
              <a:buNone/>
            </a:pPr>
            <a:r>
              <a:rPr lang="en-US" sz="1050" i="1" dirty="0">
                <a:solidFill>
                  <a:srgbClr val="8A96A6"/>
                </a:solidFill>
                <a:latin typeface="Calibri" pitchFamily="34" charset="0"/>
                <a:ea typeface="Calibri" pitchFamily="34" charset="-122"/>
                <a:cs typeface="Calibri" pitchFamily="34" charset="-120"/>
              </a:rPr>
              <a:t>[Profile, foundation required, how candidates are selected]</a:t>
            </a:r>
            <a:endParaRPr lang="en-US" sz="1050" dirty="0"/>
          </a:p>
        </p:txBody>
      </p:sp>
      <p:sp>
        <p:nvSpPr>
          <p:cNvPr id="13" name="Shape 11"/>
          <p:cNvSpPr/>
          <p:nvPr/>
        </p:nvSpPr>
        <p:spPr>
          <a:xfrm>
            <a:off x="4307738" y="1508760"/>
            <a:ext cx="3576218" cy="1874520"/>
          </a:xfrm>
          <a:prstGeom prst="roundRect">
            <a:avLst>
              <a:gd name="adj" fmla="val 3902"/>
            </a:avLst>
          </a:prstGeom>
          <a:solidFill>
            <a:srgbClr val="FFFFFF"/>
          </a:solidFill>
          <a:ln w="9525">
            <a:solidFill>
              <a:srgbClr val="D9E2EC"/>
            </a:solidFill>
            <a:prstDash val="solid"/>
          </a:ln>
          <a:effectLst>
            <a:outerShdw sx="100000" sy="100000" kx="0" ky="0" algn="bl" rotWithShape="0" blurRad="63500" dist="12700" dir="5400000">
              <a:srgbClr val="9FB0C4">
                <a:alpha val="22000"/>
              </a:srgbClr>
            </a:outerShdw>
          </a:effectLst>
        </p:spPr>
      </p:sp>
      <p:sp>
        <p:nvSpPr>
          <p:cNvPr id="14" name="Shape 12"/>
          <p:cNvSpPr/>
          <p:nvPr/>
        </p:nvSpPr>
        <p:spPr>
          <a:xfrm>
            <a:off x="4508906" y="1709928"/>
            <a:ext cx="310896" cy="310896"/>
          </a:xfrm>
          <a:prstGeom prst="ellipse">
            <a:avLst/>
          </a:prstGeom>
          <a:solidFill>
            <a:srgbClr val="10305F"/>
          </a:solidFill>
          <a:ln w="12700">
            <a:solidFill>
              <a:srgbClr val="10305F"/>
            </a:solidFill>
            <a:prstDash val="solid"/>
          </a:ln>
        </p:spPr>
      </p:sp>
      <p:sp>
        <p:nvSpPr>
          <p:cNvPr id="15" name="Text 13"/>
          <p:cNvSpPr txBox="1"/>
          <p:nvPr/>
        </p:nvSpPr>
        <p:spPr>
          <a:xfrm>
            <a:off x="4508906" y="1709928"/>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6" name="Text 14"/>
          <p:cNvSpPr txBox="1"/>
          <p:nvPr/>
        </p:nvSpPr>
        <p:spPr>
          <a:xfrm>
            <a:off x="4947818" y="1691640"/>
            <a:ext cx="2753258" cy="274320"/>
          </a:xfrm>
          <a:prstGeom prst="rect">
            <a:avLst/>
          </a:prstGeom>
          <a:noFill/>
          <a:ln/>
        </p:spPr>
        <p:txBody>
          <a:bodyPr wrap="square" lIns="0" tIns="0" rIns="0" bIns="0" rtlCol="0" anchor="ctr"/>
          <a:lstStyle/>
          <a:p>
            <a:pPr indent="0" marL="0">
              <a:buNone/>
            </a:pPr>
            <a:r>
              <a:rPr lang="en-US" sz="1200" b="1" dirty="0">
                <a:solidFill>
                  <a:srgbClr val="10305F"/>
                </a:solidFill>
                <a:latin typeface="Calibri" pitchFamily="34" charset="0"/>
                <a:ea typeface="Calibri" pitchFamily="34" charset="-122"/>
                <a:cs typeface="Calibri" pitchFamily="34" charset="-120"/>
              </a:rPr>
              <a:t>Technical focus</a:t>
            </a:r>
            <a:endParaRPr lang="en-US" sz="1200" dirty="0"/>
          </a:p>
        </p:txBody>
      </p:sp>
      <p:sp>
        <p:nvSpPr>
          <p:cNvPr id="17" name="Text 15"/>
          <p:cNvSpPr txBox="1"/>
          <p:nvPr/>
        </p:nvSpPr>
        <p:spPr>
          <a:xfrm>
            <a:off x="4508906" y="2167128"/>
            <a:ext cx="3173882" cy="1051560"/>
          </a:xfrm>
          <a:prstGeom prst="rect">
            <a:avLst/>
          </a:prstGeom>
          <a:noFill/>
          <a:ln/>
        </p:spPr>
        <p:txBody>
          <a:bodyPr wrap="square" lIns="0" tIns="0" rIns="0" bIns="0" rtlCol="0" anchor="t"/>
          <a:lstStyle/>
          <a:p>
            <a:pPr indent="0" marL="0">
              <a:buNone/>
            </a:pPr>
            <a:r>
              <a:rPr lang="en-US" sz="1050" i="1" dirty="0">
                <a:solidFill>
                  <a:srgbClr val="8A96A6"/>
                </a:solidFill>
                <a:latin typeface="Calibri" pitchFamily="34" charset="0"/>
                <a:ea typeface="Calibri" pitchFamily="34" charset="-122"/>
                <a:cs typeface="Calibri" pitchFamily="34" charset="-120"/>
              </a:rPr>
              <a:t>[Directions to go deeper: e.g., model adaptation, distillation, evaluation]</a:t>
            </a:r>
            <a:endParaRPr lang="en-US" sz="1050" dirty="0"/>
          </a:p>
        </p:txBody>
      </p:sp>
      <p:sp>
        <p:nvSpPr>
          <p:cNvPr id="18" name="Shape 16"/>
          <p:cNvSpPr/>
          <p:nvPr/>
        </p:nvSpPr>
        <p:spPr>
          <a:xfrm>
            <a:off x="8158277" y="1508760"/>
            <a:ext cx="3576218" cy="1874520"/>
          </a:xfrm>
          <a:prstGeom prst="roundRect">
            <a:avLst>
              <a:gd name="adj" fmla="val 3902"/>
            </a:avLst>
          </a:prstGeom>
          <a:solidFill>
            <a:srgbClr val="FFFFFF"/>
          </a:solidFill>
          <a:ln w="9525">
            <a:solidFill>
              <a:srgbClr val="D9E2EC"/>
            </a:solidFill>
            <a:prstDash val="solid"/>
          </a:ln>
          <a:effectLst>
            <a:outerShdw sx="100000" sy="100000" kx="0" ky="0" algn="bl" rotWithShape="0" blurRad="63500" dist="12700" dir="5400000">
              <a:srgbClr val="9FB0C4">
                <a:alpha val="22000"/>
              </a:srgbClr>
            </a:outerShdw>
          </a:effectLst>
        </p:spPr>
      </p:sp>
      <p:sp>
        <p:nvSpPr>
          <p:cNvPr id="19" name="Shape 17"/>
          <p:cNvSpPr/>
          <p:nvPr/>
        </p:nvSpPr>
        <p:spPr>
          <a:xfrm>
            <a:off x="8359445" y="1709928"/>
            <a:ext cx="310896" cy="310896"/>
          </a:xfrm>
          <a:prstGeom prst="ellipse">
            <a:avLst/>
          </a:prstGeom>
          <a:solidFill>
            <a:srgbClr val="10305F"/>
          </a:solidFill>
          <a:ln w="12700">
            <a:solidFill>
              <a:srgbClr val="10305F"/>
            </a:solidFill>
            <a:prstDash val="solid"/>
          </a:ln>
        </p:spPr>
      </p:sp>
      <p:sp>
        <p:nvSpPr>
          <p:cNvPr id="20" name="Text 18"/>
          <p:cNvSpPr txBox="1"/>
          <p:nvPr/>
        </p:nvSpPr>
        <p:spPr>
          <a:xfrm>
            <a:off x="8359445" y="1709928"/>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1" name="Text 19"/>
          <p:cNvSpPr txBox="1"/>
          <p:nvPr/>
        </p:nvSpPr>
        <p:spPr>
          <a:xfrm>
            <a:off x="8798357" y="1691640"/>
            <a:ext cx="2753258" cy="274320"/>
          </a:xfrm>
          <a:prstGeom prst="rect">
            <a:avLst/>
          </a:prstGeom>
          <a:noFill/>
          <a:ln/>
        </p:spPr>
        <p:txBody>
          <a:bodyPr wrap="square" lIns="0" tIns="0" rIns="0" bIns="0" rtlCol="0" anchor="ctr"/>
          <a:lstStyle/>
          <a:p>
            <a:pPr indent="0" marL="0">
              <a:buNone/>
            </a:pPr>
            <a:r>
              <a:rPr lang="en-US" sz="1200" b="1" dirty="0">
                <a:solidFill>
                  <a:srgbClr val="10305F"/>
                </a:solidFill>
                <a:latin typeface="Calibri" pitchFamily="34" charset="0"/>
                <a:ea typeface="Calibri" pitchFamily="34" charset="-122"/>
                <a:cs typeface="Calibri" pitchFamily="34" charset="-120"/>
              </a:rPr>
              <a:t>Real task or research topic</a:t>
            </a:r>
            <a:endParaRPr lang="en-US" sz="1200" dirty="0"/>
          </a:p>
        </p:txBody>
      </p:sp>
      <p:sp>
        <p:nvSpPr>
          <p:cNvPr id="22" name="Text 20"/>
          <p:cNvSpPr txBox="1"/>
          <p:nvPr/>
        </p:nvSpPr>
        <p:spPr>
          <a:xfrm>
            <a:off x="8359445" y="2167128"/>
            <a:ext cx="3173882" cy="1051560"/>
          </a:xfrm>
          <a:prstGeom prst="rect">
            <a:avLst/>
          </a:prstGeom>
          <a:noFill/>
          <a:ln/>
        </p:spPr>
        <p:txBody>
          <a:bodyPr wrap="square" lIns="0" tIns="0" rIns="0" bIns="0" rtlCol="0" anchor="t"/>
          <a:lstStyle/>
          <a:p>
            <a:pPr indent="0" marL="0">
              <a:buNone/>
            </a:pPr>
            <a:r>
              <a:rPr lang="en-US" sz="1050" i="1" dirty="0">
                <a:solidFill>
                  <a:srgbClr val="8A96A6"/>
                </a:solidFill>
                <a:latin typeface="Calibri" pitchFamily="34" charset="0"/>
                <a:ea typeface="Calibri" pitchFamily="34" charset="-122"/>
                <a:cs typeface="Calibri" pitchFamily="34" charset="-120"/>
              </a:rPr>
              <a:t>[The concrete task the group works on]</a:t>
            </a:r>
            <a:endParaRPr lang="en-US" sz="1050" dirty="0"/>
          </a:p>
        </p:txBody>
      </p:sp>
      <p:sp>
        <p:nvSpPr>
          <p:cNvPr id="23" name="Shape 21"/>
          <p:cNvSpPr/>
          <p:nvPr/>
        </p:nvSpPr>
        <p:spPr>
          <a:xfrm>
            <a:off x="457200" y="3657600"/>
            <a:ext cx="3576218" cy="1874520"/>
          </a:xfrm>
          <a:prstGeom prst="roundRect">
            <a:avLst>
              <a:gd name="adj" fmla="val 3902"/>
            </a:avLst>
          </a:prstGeom>
          <a:solidFill>
            <a:srgbClr val="FFFFFF"/>
          </a:solidFill>
          <a:ln w="9525">
            <a:solidFill>
              <a:srgbClr val="D9E2EC"/>
            </a:solidFill>
            <a:prstDash val="solid"/>
          </a:ln>
          <a:effectLst>
            <a:outerShdw sx="100000" sy="100000" kx="0" ky="0" algn="bl" rotWithShape="0" blurRad="63500" dist="12700" dir="5400000">
              <a:srgbClr val="9FB0C4">
                <a:alpha val="22000"/>
              </a:srgbClr>
            </a:outerShdw>
          </a:effectLst>
        </p:spPr>
      </p:sp>
      <p:sp>
        <p:nvSpPr>
          <p:cNvPr id="24" name="Shape 22"/>
          <p:cNvSpPr/>
          <p:nvPr/>
        </p:nvSpPr>
        <p:spPr>
          <a:xfrm>
            <a:off x="658368" y="3858768"/>
            <a:ext cx="310896" cy="310896"/>
          </a:xfrm>
          <a:prstGeom prst="ellipse">
            <a:avLst/>
          </a:prstGeom>
          <a:solidFill>
            <a:srgbClr val="10305F"/>
          </a:solidFill>
          <a:ln w="12700">
            <a:solidFill>
              <a:srgbClr val="10305F"/>
            </a:solidFill>
            <a:prstDash val="solid"/>
          </a:ln>
        </p:spPr>
      </p:sp>
      <p:sp>
        <p:nvSpPr>
          <p:cNvPr id="25" name="Text 23"/>
          <p:cNvSpPr txBox="1"/>
          <p:nvPr/>
        </p:nvSpPr>
        <p:spPr>
          <a:xfrm>
            <a:off x="658368" y="3858768"/>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6" name="Text 24"/>
          <p:cNvSpPr txBox="1"/>
          <p:nvPr/>
        </p:nvSpPr>
        <p:spPr>
          <a:xfrm>
            <a:off x="1097280" y="3840480"/>
            <a:ext cx="2753258" cy="274320"/>
          </a:xfrm>
          <a:prstGeom prst="rect">
            <a:avLst/>
          </a:prstGeom>
          <a:noFill/>
          <a:ln/>
        </p:spPr>
        <p:txBody>
          <a:bodyPr wrap="square" lIns="0" tIns="0" rIns="0" bIns="0" rtlCol="0" anchor="ctr"/>
          <a:lstStyle/>
          <a:p>
            <a:pPr indent="0" marL="0">
              <a:buNone/>
            </a:pPr>
            <a:r>
              <a:rPr lang="en-US" sz="1200" b="1" dirty="0">
                <a:solidFill>
                  <a:srgbClr val="10305F"/>
                </a:solidFill>
                <a:latin typeface="Calibri" pitchFamily="34" charset="0"/>
                <a:ea typeface="Calibri" pitchFamily="34" charset="-122"/>
                <a:cs typeface="Calibri" pitchFamily="34" charset="-120"/>
              </a:rPr>
              <a:t>Mentors, format &amp; resources</a:t>
            </a:r>
            <a:endParaRPr lang="en-US" sz="1200" dirty="0"/>
          </a:p>
        </p:txBody>
      </p:sp>
      <p:sp>
        <p:nvSpPr>
          <p:cNvPr id="27" name="Text 25"/>
          <p:cNvSpPr txBox="1"/>
          <p:nvPr/>
        </p:nvSpPr>
        <p:spPr>
          <a:xfrm>
            <a:off x="658368" y="4315968"/>
            <a:ext cx="3173882" cy="1051560"/>
          </a:xfrm>
          <a:prstGeom prst="rect">
            <a:avLst/>
          </a:prstGeom>
          <a:noFill/>
          <a:ln/>
        </p:spPr>
        <p:txBody>
          <a:bodyPr wrap="square" lIns="0" tIns="0" rIns="0" bIns="0" rtlCol="0" anchor="t"/>
          <a:lstStyle/>
          <a:p>
            <a:pPr indent="0" marL="0">
              <a:buNone/>
            </a:pPr>
            <a:r>
              <a:rPr lang="en-US" sz="1050" i="1" dirty="0">
                <a:solidFill>
                  <a:srgbClr val="8A96A6"/>
                </a:solidFill>
                <a:latin typeface="Calibri" pitchFamily="34" charset="0"/>
                <a:ea typeface="Calibri" pitchFamily="34" charset="-122"/>
                <a:cs typeface="Calibri" pitchFamily="34" charset="-120"/>
              </a:rPr>
              <a:t>[Mentors, on-site / remote, environment and compute needed]</a:t>
            </a:r>
            <a:endParaRPr lang="en-US" sz="1050" dirty="0"/>
          </a:p>
        </p:txBody>
      </p:sp>
      <p:sp>
        <p:nvSpPr>
          <p:cNvPr id="28" name="Shape 26"/>
          <p:cNvSpPr/>
          <p:nvPr/>
        </p:nvSpPr>
        <p:spPr>
          <a:xfrm>
            <a:off x="4307738" y="3657600"/>
            <a:ext cx="3576218" cy="1874520"/>
          </a:xfrm>
          <a:prstGeom prst="roundRect">
            <a:avLst>
              <a:gd name="adj" fmla="val 3902"/>
            </a:avLst>
          </a:prstGeom>
          <a:solidFill>
            <a:srgbClr val="FFFFFF"/>
          </a:solidFill>
          <a:ln w="9525">
            <a:solidFill>
              <a:srgbClr val="D9E2EC"/>
            </a:solidFill>
            <a:prstDash val="solid"/>
          </a:ln>
          <a:effectLst>
            <a:outerShdw sx="100000" sy="100000" kx="0" ky="0" algn="bl" rotWithShape="0" blurRad="63500" dist="12700" dir="5400000">
              <a:srgbClr val="9FB0C4">
                <a:alpha val="22000"/>
              </a:srgbClr>
            </a:outerShdw>
          </a:effectLst>
        </p:spPr>
      </p:sp>
      <p:sp>
        <p:nvSpPr>
          <p:cNvPr id="29" name="Shape 27"/>
          <p:cNvSpPr/>
          <p:nvPr/>
        </p:nvSpPr>
        <p:spPr>
          <a:xfrm>
            <a:off x="4508906" y="3858768"/>
            <a:ext cx="310896" cy="310896"/>
          </a:xfrm>
          <a:prstGeom prst="ellipse">
            <a:avLst/>
          </a:prstGeom>
          <a:solidFill>
            <a:srgbClr val="10305F"/>
          </a:solidFill>
          <a:ln w="12700">
            <a:solidFill>
              <a:srgbClr val="10305F"/>
            </a:solidFill>
            <a:prstDash val="solid"/>
          </a:ln>
        </p:spPr>
      </p:sp>
      <p:sp>
        <p:nvSpPr>
          <p:cNvPr id="30" name="Text 28"/>
          <p:cNvSpPr txBox="1"/>
          <p:nvPr/>
        </p:nvSpPr>
        <p:spPr>
          <a:xfrm>
            <a:off x="4508906" y="3858768"/>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31" name="Text 29"/>
          <p:cNvSpPr txBox="1"/>
          <p:nvPr/>
        </p:nvSpPr>
        <p:spPr>
          <a:xfrm>
            <a:off x="4947818" y="3840480"/>
            <a:ext cx="2753258" cy="274320"/>
          </a:xfrm>
          <a:prstGeom prst="rect">
            <a:avLst/>
          </a:prstGeom>
          <a:noFill/>
          <a:ln/>
        </p:spPr>
        <p:txBody>
          <a:bodyPr wrap="square" lIns="0" tIns="0" rIns="0" bIns="0" rtlCol="0" anchor="ctr"/>
          <a:lstStyle/>
          <a:p>
            <a:pPr indent="0" marL="0">
              <a:buNone/>
            </a:pPr>
            <a:r>
              <a:rPr lang="en-US" sz="1200" b="1" dirty="0">
                <a:solidFill>
                  <a:srgbClr val="10305F"/>
                </a:solidFill>
                <a:latin typeface="Calibri" pitchFamily="34" charset="0"/>
                <a:ea typeface="Calibri" pitchFamily="34" charset="-122"/>
                <a:cs typeface="Calibri" pitchFamily="34" charset="-120"/>
              </a:rPr>
              <a:t>Outcomes &amp; how verified</a:t>
            </a:r>
            <a:endParaRPr lang="en-US" sz="1200" dirty="0"/>
          </a:p>
        </p:txBody>
      </p:sp>
      <p:sp>
        <p:nvSpPr>
          <p:cNvPr id="32" name="Text 30"/>
          <p:cNvSpPr txBox="1"/>
          <p:nvPr/>
        </p:nvSpPr>
        <p:spPr>
          <a:xfrm>
            <a:off x="4508906" y="4315968"/>
            <a:ext cx="3173882" cy="1051560"/>
          </a:xfrm>
          <a:prstGeom prst="rect">
            <a:avLst/>
          </a:prstGeom>
          <a:noFill/>
          <a:ln/>
        </p:spPr>
        <p:txBody>
          <a:bodyPr wrap="square" lIns="0" tIns="0" rIns="0" bIns="0" rtlCol="0" anchor="t"/>
          <a:lstStyle/>
          <a:p>
            <a:pPr indent="0" marL="0">
              <a:buNone/>
            </a:pPr>
            <a:r>
              <a:rPr lang="en-US" sz="1050" i="1" dirty="0">
                <a:solidFill>
                  <a:srgbClr val="8A96A6"/>
                </a:solidFill>
                <a:latin typeface="Calibri" pitchFamily="34" charset="0"/>
                <a:ea typeface="Calibri" pitchFamily="34" charset="-122"/>
                <a:cs typeface="Calibri" pitchFamily="34" charset="-120"/>
              </a:rPr>
              <a:t>[Capability and tangible result; evidence used to check it]</a:t>
            </a:r>
            <a:endParaRPr lang="en-US" sz="1050" dirty="0"/>
          </a:p>
        </p:txBody>
      </p:sp>
      <p:sp>
        <p:nvSpPr>
          <p:cNvPr id="33" name="Shape 31"/>
          <p:cNvSpPr/>
          <p:nvPr/>
        </p:nvSpPr>
        <p:spPr>
          <a:xfrm>
            <a:off x="8158277" y="3657600"/>
            <a:ext cx="3576218" cy="1874520"/>
          </a:xfrm>
          <a:prstGeom prst="roundRect">
            <a:avLst>
              <a:gd name="adj" fmla="val 3902"/>
            </a:avLst>
          </a:prstGeom>
          <a:solidFill>
            <a:srgbClr val="FFFFFF"/>
          </a:solidFill>
          <a:ln w="9525">
            <a:solidFill>
              <a:srgbClr val="D9E2EC"/>
            </a:solidFill>
            <a:prstDash val="solid"/>
          </a:ln>
          <a:effectLst>
            <a:outerShdw sx="100000" sy="100000" kx="0" ky="0" algn="bl" rotWithShape="0" blurRad="63500" dist="12700" dir="5400000">
              <a:srgbClr val="9FB0C4">
                <a:alpha val="22000"/>
              </a:srgbClr>
            </a:outerShdw>
          </a:effectLst>
        </p:spPr>
      </p:sp>
      <p:sp>
        <p:nvSpPr>
          <p:cNvPr id="34" name="Shape 32"/>
          <p:cNvSpPr/>
          <p:nvPr/>
        </p:nvSpPr>
        <p:spPr>
          <a:xfrm>
            <a:off x="8359445" y="3858768"/>
            <a:ext cx="310896" cy="310896"/>
          </a:xfrm>
          <a:prstGeom prst="ellipse">
            <a:avLst/>
          </a:prstGeom>
          <a:solidFill>
            <a:srgbClr val="B26A00"/>
          </a:solidFill>
          <a:ln w="12700">
            <a:solidFill>
              <a:srgbClr val="B26A00"/>
            </a:solidFill>
            <a:prstDash val="solid"/>
          </a:ln>
        </p:spPr>
      </p:sp>
      <p:sp>
        <p:nvSpPr>
          <p:cNvPr id="35" name="Text 33"/>
          <p:cNvSpPr txBox="1"/>
          <p:nvPr/>
        </p:nvSpPr>
        <p:spPr>
          <a:xfrm>
            <a:off x="8359445" y="3858768"/>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36" name="Text 34"/>
          <p:cNvSpPr txBox="1"/>
          <p:nvPr/>
        </p:nvSpPr>
        <p:spPr>
          <a:xfrm>
            <a:off x="8798357" y="3840480"/>
            <a:ext cx="2753258" cy="274320"/>
          </a:xfrm>
          <a:prstGeom prst="rect">
            <a:avLst/>
          </a:prstGeom>
          <a:noFill/>
          <a:ln/>
        </p:spPr>
        <p:txBody>
          <a:bodyPr wrap="square" lIns="0" tIns="0" rIns="0" bIns="0" rtlCol="0" anchor="ctr"/>
          <a:lstStyle/>
          <a:p>
            <a:pPr indent="0" marL="0">
              <a:buNone/>
            </a:pPr>
            <a:r>
              <a:rPr lang="en-US" sz="1200" b="1" dirty="0">
                <a:solidFill>
                  <a:srgbClr val="10305F"/>
                </a:solidFill>
                <a:latin typeface="Calibri" pitchFamily="34" charset="0"/>
                <a:ea typeface="Calibri" pitchFamily="34" charset="-122"/>
                <a:cs typeface="Calibri" pitchFamily="34" charset="-120"/>
              </a:rPr>
              <a:t>Size · duration · place · price</a:t>
            </a:r>
            <a:endParaRPr lang="en-US" sz="1200" dirty="0"/>
          </a:p>
        </p:txBody>
      </p:sp>
      <p:sp>
        <p:nvSpPr>
          <p:cNvPr id="37" name="Text 35"/>
          <p:cNvSpPr txBox="1"/>
          <p:nvPr/>
        </p:nvSpPr>
        <p:spPr>
          <a:xfrm>
            <a:off x="8359445" y="4315968"/>
            <a:ext cx="3173882" cy="1051560"/>
          </a:xfrm>
          <a:prstGeom prst="rect">
            <a:avLst/>
          </a:prstGeom>
          <a:noFill/>
          <a:ln/>
        </p:spPr>
        <p:txBody>
          <a:bodyPr wrap="square" lIns="0" tIns="0" rIns="0" bIns="0" rtlCol="0" anchor="t"/>
          <a:lstStyle/>
          <a:p>
            <a:pPr indent="0" marL="0">
              <a:buNone/>
            </a:pPr>
            <a:r>
              <a:rPr lang="en-US" sz="1050" i="1" dirty="0">
                <a:solidFill>
                  <a:srgbClr val="8A96A6"/>
                </a:solidFill>
                <a:latin typeface="Calibri" pitchFamily="34" charset="0"/>
                <a:ea typeface="Calibri" pitchFamily="34" charset="-122"/>
                <a:cs typeface="Calibri" pitchFamily="34" charset="-120"/>
              </a:rPr>
              <a:t>[n people]  ·  [weeks]  ·  [location]  ·  [price and conditions]</a:t>
            </a:r>
            <a:endParaRPr lang="en-US" sz="1050" dirty="0"/>
          </a:p>
        </p:txBody>
      </p:sp>
      <p:sp>
        <p:nvSpPr>
          <p:cNvPr id="38" name="Text 36"/>
          <p:cNvSpPr txBox="1"/>
          <p:nvPr/>
        </p:nvSpPr>
        <p:spPr>
          <a:xfrm>
            <a:off x="457200" y="5852160"/>
            <a:ext cx="11277295" cy="365760"/>
          </a:xfrm>
          <a:prstGeom prst="rect">
            <a:avLst/>
          </a:prstGeom>
          <a:noFill/>
          <a:ln/>
        </p:spPr>
        <p:txBody>
          <a:bodyPr wrap="square" lIns="0" tIns="0" rIns="0" bIns="0" rtlCol="0" anchor="t"/>
          <a:lstStyle/>
          <a:p>
            <a:pPr indent="0" marL="0">
              <a:buNone/>
            </a:pPr>
            <a:r>
              <a:rPr lang="en-US" sz="1000" dirty="0">
                <a:solidFill>
                  <a:srgbClr val="6B7A8B"/>
                </a:solidFill>
                <a:latin typeface="Calibri" pitchFamily="34" charset="0"/>
                <a:ea typeface="Calibri" pitchFamily="34" charset="-122"/>
                <a:cs typeface="Calibri" pitchFamily="34" charset="-120"/>
              </a:rPr>
              <a:t>A fee applies only to content and effort beyond the agreed scope. Knowledge transfer already agreed is not re-listed here because it is technically demanding.</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B7A8B"/>
                </a:solidFill>
                <a:latin typeface="Calibri" pitchFamily="34" charset="0"/>
                <a:ea typeface="Calibri" pitchFamily="34" charset="-122"/>
                <a:cs typeface="Calibri" pitchFamily="34" charset="-120"/>
              </a:rPr>
              <a:t>iFLYTEK  ·  RNP technical meeting  ·  Working draft for discussion</a:t>
            </a:r>
            <a:endParaRPr lang="en-US" sz="900" dirty="0"/>
          </a:p>
        </p:txBody>
      </p:sp>
      <p:sp>
        <p:nvSpPr>
          <p:cNvPr id="3" name="Text 1"/>
          <p:cNvSpPr txBox="1"/>
          <p:nvPr/>
        </p:nvSpPr>
        <p:spPr>
          <a:xfrm>
            <a:off x="10637215" y="6446520"/>
            <a:ext cx="1097280" cy="274320"/>
          </a:xfrm>
          <a:prstGeom prst="rect">
            <a:avLst/>
          </a:prstGeom>
          <a:noFill/>
          <a:ln/>
        </p:spPr>
        <p:txBody>
          <a:bodyPr wrap="square" lIns="0" tIns="0" rIns="0" bIns="0" rtlCol="0" anchor="ctr"/>
          <a:lstStyle/>
          <a:p>
            <a:pPr algn="r" indent="0" marL="0">
              <a:buNone/>
            </a:pPr>
            <a:r>
              <a:rPr lang="en-US" sz="900" dirty="0">
                <a:solidFill>
                  <a:srgbClr val="6B7A8B"/>
                </a:solidFill>
                <a:latin typeface="Calibri" pitchFamily="34" charset="0"/>
                <a:ea typeface="Calibri" pitchFamily="34" charset="-122"/>
                <a:cs typeface="Calibri" pitchFamily="34" charset="-120"/>
              </a:rPr>
              <a:t>10 / 10</a:t>
            </a:r>
            <a:endParaRPr lang="en-US" sz="900" dirty="0"/>
          </a:p>
        </p:txBody>
      </p:sp>
      <p:sp>
        <p:nvSpPr>
          <p:cNvPr id="4" name="Text 2"/>
          <p:cNvSpPr txBox="1"/>
          <p:nvPr/>
        </p:nvSpPr>
        <p:spPr>
          <a:xfrm>
            <a:off x="457200" y="347472"/>
            <a:ext cx="11277295" cy="566928"/>
          </a:xfrm>
          <a:prstGeom prst="rect">
            <a:avLst/>
          </a:prstGeom>
          <a:noFill/>
          <a:ln/>
        </p:spPr>
        <p:txBody>
          <a:bodyPr wrap="square" lIns="0" tIns="0" rIns="0" bIns="0" rtlCol="0" anchor="ctr"/>
          <a:lstStyle/>
          <a:p>
            <a:pPr indent="0" marL="0">
              <a:buNone/>
            </a:pPr>
            <a:r>
              <a:rPr lang="en-US" sz="2400" b="1" dirty="0">
                <a:solidFill>
                  <a:srgbClr val="10305F"/>
                </a:solidFill>
                <a:latin typeface="Calibri" pitchFamily="34" charset="0"/>
                <a:ea typeface="Calibri" pitchFamily="34" charset="-122"/>
                <a:cs typeface="Calibri" pitchFamily="34" charset="-120"/>
              </a:rPr>
              <a:t>Scope at a glance and what we confirm today</a:t>
            </a:r>
            <a:endParaRPr lang="en-US" sz="2400" dirty="0"/>
          </a:p>
        </p:txBody>
      </p:sp>
      <p:sp>
        <p:nvSpPr>
          <p:cNvPr id="5" name="Text 3"/>
          <p:cNvSpPr txBox="1"/>
          <p:nvPr/>
        </p:nvSpPr>
        <p:spPr>
          <a:xfrm>
            <a:off x="457200" y="932688"/>
            <a:ext cx="11277295" cy="329184"/>
          </a:xfrm>
          <a:prstGeom prst="rect">
            <a:avLst/>
          </a:prstGeom>
          <a:noFill/>
          <a:ln/>
        </p:spPr>
        <p:txBody>
          <a:bodyPr wrap="square" lIns="0" tIns="0" rIns="0" bIns="0" rtlCol="0" anchor="ctr"/>
          <a:lstStyle/>
          <a:p>
            <a:pPr indent="0" marL="0">
              <a:buNone/>
            </a:pPr>
            <a:r>
              <a:rPr lang="en-US" sz="1300" dirty="0">
                <a:solidFill>
                  <a:srgbClr val="4B5A6B"/>
                </a:solidFill>
                <a:latin typeface="Calibri" pitchFamily="34" charset="0"/>
                <a:ea typeface="Calibri" pitchFamily="34" charset="-122"/>
                <a:cs typeface="Calibri" pitchFamily="34" charset="-120"/>
              </a:rPr>
              <a:t>Every item above mapped to included / optional / not in scope, then the decisions and inputs that let both sides move to planning.</a:t>
            </a:r>
            <a:endParaRPr lang="en-US" sz="1300" dirty="0"/>
          </a:p>
        </p:txBody>
      </p:sp>
      <p:sp>
        <p:nvSpPr>
          <p:cNvPr id="6" name="Shape 4"/>
          <p:cNvSpPr/>
          <p:nvPr/>
        </p:nvSpPr>
        <p:spPr>
          <a:xfrm>
            <a:off x="457200" y="1463040"/>
            <a:ext cx="3576218" cy="1828800"/>
          </a:xfrm>
          <a:prstGeom prst="roundRect">
            <a:avLst>
              <a:gd name="adj" fmla="val 4000"/>
            </a:avLst>
          </a:prstGeom>
          <a:solidFill>
            <a:srgbClr val="E7F3F0"/>
          </a:solidFill>
          <a:ln w="9525">
            <a:solidFill>
              <a:srgbClr val="E7F3F0"/>
            </a:solidFill>
            <a:prstDash val="solid"/>
          </a:ln>
        </p:spPr>
      </p:sp>
      <p:sp>
        <p:nvSpPr>
          <p:cNvPr id="7" name="Text 5"/>
          <p:cNvSpPr txBox="1"/>
          <p:nvPr/>
        </p:nvSpPr>
        <p:spPr>
          <a:xfrm>
            <a:off x="640080" y="1591056"/>
            <a:ext cx="3210458" cy="274320"/>
          </a:xfrm>
          <a:prstGeom prst="rect">
            <a:avLst/>
          </a:prstGeom>
          <a:noFill/>
          <a:ln/>
        </p:spPr>
        <p:txBody>
          <a:bodyPr wrap="square" lIns="0" tIns="0" rIns="0" bIns="0" rtlCol="0" anchor="ctr"/>
          <a:lstStyle/>
          <a:p>
            <a:pPr indent="0" marL="0">
              <a:buNone/>
            </a:pPr>
            <a:r>
              <a:rPr lang="en-US" sz="1200" b="1" dirty="0">
                <a:solidFill>
                  <a:srgbClr val="0E8577"/>
                </a:solidFill>
                <a:latin typeface="Calibri" pitchFamily="34" charset="0"/>
                <a:ea typeface="Calibri" pitchFamily="34" charset="-122"/>
                <a:cs typeface="Calibri" pitchFamily="34" charset="-120"/>
              </a:rPr>
              <a:t>Included in the current proposal</a:t>
            </a:r>
            <a:endParaRPr lang="en-US" sz="1200" dirty="0"/>
          </a:p>
        </p:txBody>
      </p:sp>
      <p:sp>
        <p:nvSpPr>
          <p:cNvPr id="8" name="Text 6"/>
          <p:cNvSpPr txBox="1"/>
          <p:nvPr/>
        </p:nvSpPr>
        <p:spPr>
          <a:xfrm>
            <a:off x="640080" y="1938528"/>
            <a:ext cx="3210458" cy="1234440"/>
          </a:xfrm>
          <a:prstGeom prst="rect">
            <a:avLst/>
          </a:prstGeom>
          <a:noFill/>
          <a:ln/>
        </p:spPr>
        <p:txBody>
          <a:bodyPr wrap="square" lIns="0" tIns="0" rIns="0" bIns="0" rtlCol="0" anchor="t"/>
          <a:lstStyle/>
          <a:p>
            <a:pPr indent="0" marL="0">
              <a:buNone/>
            </a:pPr>
            <a:r>
              <a:rPr lang="en-US" sz="1050" i="1" dirty="0">
                <a:solidFill>
                  <a:srgbClr val="8A96A6"/>
                </a:solidFill>
                <a:latin typeface="Calibri" pitchFamily="34" charset="0"/>
                <a:ea typeface="Calibri" pitchFamily="34" charset="-122"/>
                <a:cs typeface="Calibri" pitchFamily="34" charset="-120"/>
              </a:rPr>
              <a:t>[LLM, APP, DLM deliverables]</a:t>
            </a:r>
            <a:endParaRPr lang="en-US" sz="1050" dirty="0"/>
          </a:p>
          <a:p>
            <a:pPr indent="0" marL="0">
              <a:buNone/>
            </a:pPr>
            <a:r>
              <a:rPr lang="en-US" sz="1050" i="1" dirty="0">
                <a:solidFill>
                  <a:srgbClr val="8A96A6"/>
                </a:solidFill>
                <a:latin typeface="Calibri" pitchFamily="34" charset="0"/>
                <a:ea typeface="Calibri" pitchFamily="34" charset="-122"/>
                <a:cs typeface="Calibri" pitchFamily="34" charset="-120"/>
              </a:rPr>
              <a:t>[In-project knowledge transfer]</a:t>
            </a:r>
            <a:endParaRPr lang="en-US" sz="1050" dirty="0"/>
          </a:p>
          <a:p>
            <a:pPr indent="0" marL="0">
              <a:buNone/>
            </a:pPr>
            <a:r>
              <a:rPr lang="en-US" sz="1050" i="1" dirty="0">
                <a:solidFill>
                  <a:srgbClr val="8A96A6"/>
                </a:solidFill>
                <a:latin typeface="Calibri" pitchFamily="34" charset="0"/>
                <a:ea typeface="Calibri" pitchFamily="34" charset="-122"/>
                <a:cs typeface="Calibri" pitchFamily="34" charset="-120"/>
              </a:rPr>
              <a:t>[Handover package: models, app, documents, licences, support period]</a:t>
            </a:r>
            <a:endParaRPr lang="en-US" sz="1050" dirty="0"/>
          </a:p>
        </p:txBody>
      </p:sp>
      <p:sp>
        <p:nvSpPr>
          <p:cNvPr id="9" name="Shape 7"/>
          <p:cNvSpPr/>
          <p:nvPr/>
        </p:nvSpPr>
        <p:spPr>
          <a:xfrm>
            <a:off x="4307738" y="1463040"/>
            <a:ext cx="3576218" cy="1828800"/>
          </a:xfrm>
          <a:prstGeom prst="roundRect">
            <a:avLst>
              <a:gd name="adj" fmla="val 4000"/>
            </a:avLst>
          </a:prstGeom>
          <a:solidFill>
            <a:srgbClr val="FBF1E1"/>
          </a:solidFill>
          <a:ln w="9525">
            <a:solidFill>
              <a:srgbClr val="FBF1E1"/>
            </a:solidFill>
            <a:prstDash val="solid"/>
          </a:ln>
        </p:spPr>
      </p:sp>
      <p:sp>
        <p:nvSpPr>
          <p:cNvPr id="10" name="Text 8"/>
          <p:cNvSpPr txBox="1"/>
          <p:nvPr/>
        </p:nvSpPr>
        <p:spPr>
          <a:xfrm>
            <a:off x="4490618" y="1591056"/>
            <a:ext cx="3210458" cy="274320"/>
          </a:xfrm>
          <a:prstGeom prst="rect">
            <a:avLst/>
          </a:prstGeom>
          <a:noFill/>
          <a:ln/>
        </p:spPr>
        <p:txBody>
          <a:bodyPr wrap="square" lIns="0" tIns="0" rIns="0" bIns="0" rtlCol="0" anchor="ctr"/>
          <a:lstStyle/>
          <a:p>
            <a:pPr indent="0" marL="0">
              <a:buNone/>
            </a:pPr>
            <a:r>
              <a:rPr lang="en-US" sz="1200" b="1" dirty="0">
                <a:solidFill>
                  <a:srgbClr val="B26A00"/>
                </a:solidFill>
                <a:latin typeface="Calibri" pitchFamily="34" charset="0"/>
                <a:ea typeface="Calibri" pitchFamily="34" charset="-122"/>
                <a:cs typeface="Calibri" pitchFamily="34" charset="-120"/>
              </a:rPr>
              <a:t>Optional  ·  separately quoted</a:t>
            </a:r>
            <a:endParaRPr lang="en-US" sz="1200" dirty="0"/>
          </a:p>
        </p:txBody>
      </p:sp>
      <p:sp>
        <p:nvSpPr>
          <p:cNvPr id="11" name="Text 9"/>
          <p:cNvSpPr txBox="1"/>
          <p:nvPr/>
        </p:nvSpPr>
        <p:spPr>
          <a:xfrm>
            <a:off x="4490618" y="1938528"/>
            <a:ext cx="3210458" cy="1234440"/>
          </a:xfrm>
          <a:prstGeom prst="rect">
            <a:avLst/>
          </a:prstGeom>
          <a:noFill/>
          <a:ln/>
        </p:spPr>
        <p:txBody>
          <a:bodyPr wrap="square" lIns="0" tIns="0" rIns="0" bIns="0" rtlCol="0" anchor="t"/>
          <a:lstStyle/>
          <a:p>
            <a:pPr indent="0" marL="0">
              <a:buNone/>
            </a:pPr>
            <a:r>
              <a:rPr lang="en-US" sz="1050" i="1" dirty="0">
                <a:solidFill>
                  <a:srgbClr val="8A96A6"/>
                </a:solidFill>
                <a:latin typeface="Calibri" pitchFamily="34" charset="0"/>
                <a:ea typeface="Calibri" pitchFamily="34" charset="-122"/>
                <a:cs typeface="Calibri" pitchFamily="34" charset="-120"/>
              </a:rPr>
              <a:t>[Advanced programme for core talents]</a:t>
            </a:r>
            <a:endParaRPr lang="en-US" sz="1050" dirty="0"/>
          </a:p>
          <a:p>
            <a:pPr indent="0" marL="0">
              <a:buNone/>
            </a:pPr>
            <a:r>
              <a:rPr lang="en-US" sz="1050" i="1" dirty="0">
                <a:solidFill>
                  <a:srgbClr val="8A96A6"/>
                </a:solidFill>
                <a:latin typeface="Calibri" pitchFamily="34" charset="0"/>
                <a:ea typeface="Calibri" pitchFamily="34" charset="-122"/>
                <a:cs typeface="Calibri" pitchFamily="34" charset="-120"/>
              </a:rPr>
              <a:t>[Other optional services]</a:t>
            </a:r>
            <a:endParaRPr lang="en-US" sz="1050" dirty="0"/>
          </a:p>
        </p:txBody>
      </p:sp>
      <p:sp>
        <p:nvSpPr>
          <p:cNvPr id="12" name="Shape 10"/>
          <p:cNvSpPr/>
          <p:nvPr/>
        </p:nvSpPr>
        <p:spPr>
          <a:xfrm>
            <a:off x="8158277" y="1463040"/>
            <a:ext cx="3576218" cy="1828800"/>
          </a:xfrm>
          <a:prstGeom prst="roundRect">
            <a:avLst>
              <a:gd name="adj" fmla="val 4000"/>
            </a:avLst>
          </a:prstGeom>
          <a:solidFill>
            <a:srgbClr val="F7F9FC"/>
          </a:solidFill>
          <a:ln w="9525">
            <a:solidFill>
              <a:srgbClr val="DCE4EF"/>
            </a:solidFill>
            <a:prstDash val="solid"/>
          </a:ln>
        </p:spPr>
      </p:sp>
      <p:sp>
        <p:nvSpPr>
          <p:cNvPr id="13" name="Text 11"/>
          <p:cNvSpPr txBox="1"/>
          <p:nvPr/>
        </p:nvSpPr>
        <p:spPr>
          <a:xfrm>
            <a:off x="8341157" y="1591056"/>
            <a:ext cx="3210458" cy="274320"/>
          </a:xfrm>
          <a:prstGeom prst="rect">
            <a:avLst/>
          </a:prstGeom>
          <a:noFill/>
          <a:ln/>
        </p:spPr>
        <p:txBody>
          <a:bodyPr wrap="square" lIns="0" tIns="0" rIns="0" bIns="0" rtlCol="0" anchor="ctr"/>
          <a:lstStyle/>
          <a:p>
            <a:pPr indent="0" marL="0">
              <a:buNone/>
            </a:pPr>
            <a:r>
              <a:rPr lang="en-US" sz="1200" b="1" dirty="0">
                <a:solidFill>
                  <a:srgbClr val="4B5A6B"/>
                </a:solidFill>
                <a:latin typeface="Calibri" pitchFamily="34" charset="0"/>
                <a:ea typeface="Calibri" pitchFamily="34" charset="-122"/>
                <a:cs typeface="Calibri" pitchFamily="34" charset="-120"/>
              </a:rPr>
              <a:t>Not in scope  ·  third party</a:t>
            </a:r>
            <a:endParaRPr lang="en-US" sz="1200" dirty="0"/>
          </a:p>
        </p:txBody>
      </p:sp>
      <p:sp>
        <p:nvSpPr>
          <p:cNvPr id="14" name="Text 12"/>
          <p:cNvSpPr txBox="1"/>
          <p:nvPr/>
        </p:nvSpPr>
        <p:spPr>
          <a:xfrm>
            <a:off x="8341157" y="1938528"/>
            <a:ext cx="3210458" cy="1234440"/>
          </a:xfrm>
          <a:prstGeom prst="rect">
            <a:avLst/>
          </a:prstGeom>
          <a:noFill/>
          <a:ln/>
        </p:spPr>
        <p:txBody>
          <a:bodyPr wrap="square" lIns="0" tIns="0" rIns="0" bIns="0" rtlCol="0" anchor="t"/>
          <a:lstStyle/>
          <a:p>
            <a:pPr indent="0" marL="0">
              <a:buNone/>
            </a:pPr>
            <a:r>
              <a:rPr lang="en-US" sz="1050" i="1" dirty="0">
                <a:solidFill>
                  <a:srgbClr val="8A96A6"/>
                </a:solidFill>
                <a:latin typeface="Calibri" pitchFamily="34" charset="0"/>
                <a:ea typeface="Calibri" pitchFamily="34" charset="-122"/>
                <a:cs typeface="Calibri" pitchFamily="34" charset="-120"/>
              </a:rPr>
              <a:t>[Work packages outside iFLYTEK's SOW]</a:t>
            </a:r>
            <a:endParaRPr lang="en-US" sz="1050" dirty="0"/>
          </a:p>
          <a:p>
            <a:pPr indent="0" marL="0">
              <a:buNone/>
            </a:pPr>
            <a:r>
              <a:rPr lang="en-US" sz="1050" i="1" dirty="0">
                <a:solidFill>
                  <a:srgbClr val="8A96A6"/>
                </a:solidFill>
                <a:latin typeface="Calibri" pitchFamily="34" charset="0"/>
                <a:ea typeface="Calibri" pitchFamily="34" charset="-122"/>
                <a:cs typeface="Calibri" pitchFamily="34" charset="-120"/>
              </a:rPr>
              <a:t>[Third-party licences and services]</a:t>
            </a:r>
            <a:endParaRPr lang="en-US" sz="1050" dirty="0"/>
          </a:p>
          <a:p>
            <a:pPr indent="0" marL="0">
              <a:buNone/>
            </a:pPr>
            <a:r>
              <a:rPr lang="en-US" sz="1050" i="1" dirty="0">
                <a:solidFill>
                  <a:srgbClr val="8A96A6"/>
                </a:solidFill>
                <a:latin typeface="Calibri" pitchFamily="34" charset="0"/>
                <a:ea typeface="Calibri" pitchFamily="34" charset="-122"/>
                <a:cs typeface="Calibri" pitchFamily="34" charset="-120"/>
              </a:rPr>
              <a:t>[Items RNP provides: data, environment, interfaces]</a:t>
            </a:r>
            <a:endParaRPr lang="en-US" sz="1050" dirty="0"/>
          </a:p>
        </p:txBody>
      </p:sp>
      <p:sp>
        <p:nvSpPr>
          <p:cNvPr id="15" name="Text 13"/>
          <p:cNvSpPr txBox="1"/>
          <p:nvPr/>
        </p:nvSpPr>
        <p:spPr>
          <a:xfrm>
            <a:off x="457200" y="3364992"/>
            <a:ext cx="11277295" cy="274320"/>
          </a:xfrm>
          <a:prstGeom prst="rect">
            <a:avLst/>
          </a:prstGeom>
          <a:noFill/>
          <a:ln/>
        </p:spPr>
        <p:txBody>
          <a:bodyPr wrap="square" lIns="0" tIns="0" rIns="0" bIns="0" rtlCol="0" anchor="t"/>
          <a:lstStyle/>
          <a:p>
            <a:pPr indent="0" marL="0">
              <a:buNone/>
            </a:pPr>
            <a:r>
              <a:rPr lang="en-US" sz="950" dirty="0">
                <a:solidFill>
                  <a:srgbClr val="6B7A8B"/>
                </a:solidFill>
                <a:latin typeface="Calibri" pitchFamily="34" charset="0"/>
                <a:ea typeface="Calibri" pitchFamily="34" charset="-122"/>
                <a:cs typeface="Calibri" pitchFamily="34" charset="-120"/>
              </a:rPr>
              <a:t>Each item references the governing document: technical plan, SOW, quotation section and version.</a:t>
            </a:r>
            <a:endParaRPr lang="en-US" sz="9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3675888"/>
          <a:ext cx="11277295" cy="914400"/>
        </p:xfrm>
        <a:graphic>
          <a:graphicData uri="http://schemas.openxmlformats.org/drawingml/2006/table">
            <a:tbl>
              <a:tblPr/>
              <a:tblGrid>
                <a:gridCol w="3291840"/>
                <a:gridCol w="1645920"/>
                <a:gridCol w="2743200"/>
                <a:gridCol w="1188720"/>
                <a:gridCol w="1673352"/>
                <a:gridCol w="731520"/>
              </a:tblGrid>
              <a:tr h="310896">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Item to confirm</a:t>
                      </a:r>
                      <a:endParaRPr lang="en-US" sz="1050" dirty="0">
                        <a:latin typeface="Calibri" charset="0"/>
                        <a:ea typeface="Calibri" charset="0"/>
                        <a:cs typeface="Calibri" charset="0"/>
                      </a:endParaRPr>
                    </a:p>
                  </a:txBody>
                  <a:tcPr marL="73152" marR="73152" marT="45720" marB="45720" anchor="ctr">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solidFill>
                      <a:srgbClr val="10305F"/>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Status</a:t>
                      </a:r>
                      <a:endParaRPr lang="en-US" sz="1050" dirty="0">
                        <a:latin typeface="Calibri" charset="0"/>
                        <a:ea typeface="Calibri" charset="0"/>
                        <a:cs typeface="Calibri" charset="0"/>
                      </a:endParaRPr>
                    </a:p>
                  </a:txBody>
                  <a:tcPr marL="73152" marR="73152" marT="45720" marB="45720" anchor="ctr">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solidFill>
                      <a:srgbClr val="10305F"/>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Conclusion / open question</a:t>
                      </a:r>
                      <a:endParaRPr lang="en-US" sz="1050" dirty="0">
                        <a:latin typeface="Calibri" charset="0"/>
                        <a:ea typeface="Calibri" charset="0"/>
                        <a:cs typeface="Calibri" charset="0"/>
                      </a:endParaRPr>
                    </a:p>
                  </a:txBody>
                  <a:tcPr marL="73152" marR="73152" marT="45720" marB="45720" anchor="ctr">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solidFill>
                      <a:srgbClr val="10305F"/>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Owner</a:t>
                      </a:r>
                      <a:endParaRPr lang="en-US" sz="1050" dirty="0">
                        <a:latin typeface="Calibri" charset="0"/>
                        <a:ea typeface="Calibri" charset="0"/>
                        <a:cs typeface="Calibri" charset="0"/>
                      </a:endParaRPr>
                    </a:p>
                  </a:txBody>
                  <a:tcPr marL="73152" marR="73152" marT="45720" marB="45720" anchor="ctr">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solidFill>
                      <a:srgbClr val="10305F"/>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Input needed</a:t>
                      </a:r>
                      <a:endParaRPr lang="en-US" sz="1050" dirty="0">
                        <a:latin typeface="Calibri" charset="0"/>
                        <a:ea typeface="Calibri" charset="0"/>
                        <a:cs typeface="Calibri" charset="0"/>
                      </a:endParaRPr>
                    </a:p>
                  </a:txBody>
                  <a:tcPr marL="73152" marR="73152" marT="45720" marB="45720" anchor="ctr">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solidFill>
                      <a:srgbClr val="10305F"/>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Due</a:t>
                      </a:r>
                      <a:endParaRPr lang="en-US" sz="1050" dirty="0">
                        <a:latin typeface="Calibri" charset="0"/>
                        <a:ea typeface="Calibri" charset="0"/>
                        <a:cs typeface="Calibri" charset="0"/>
                      </a:endParaRPr>
                    </a:p>
                  </a:txBody>
                  <a:tcPr marL="73152" marR="73152" marT="45720" marB="45720" anchor="ctr">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solidFill>
                      <a:srgbClr val="10305F"/>
                    </a:solidFill>
                  </a:tcPr>
                </a:tc>
              </a:tr>
              <a:tr h="301752">
                <a:tc>
                  <a:txBody>
                    <a:bodyPr/>
                    <a:lstStyle/>
                    <a:p>
                      <a:pPr indent="0" marL="0">
                        <a:buNone/>
                      </a:pPr>
                      <a:r>
                        <a:rPr lang="en-US" sz="1000" b="1" dirty="0">
                          <a:solidFill>
                            <a:srgbClr val="10305F"/>
                          </a:solidFill>
                          <a:latin typeface="Calibri" pitchFamily="34" charset="0"/>
                          <a:ea typeface="Calibri" pitchFamily="34" charset="-122"/>
                          <a:cs typeface="Calibri" pitchFamily="34" charset="-120"/>
                        </a:rPr>
                        <a:t>1.  LLM, APP and DLM objectives and scope</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[aligned / open]</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 ]</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 ]</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 ]</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 ]</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r>
              <a:tr h="301752">
                <a:tc>
                  <a:txBody>
                    <a:bodyPr/>
                    <a:lstStyle/>
                    <a:p>
                      <a:pPr indent="0" marL="0">
                        <a:buNone/>
                      </a:pPr>
                      <a:r>
                        <a:rPr lang="en-US" sz="1000" b="1" dirty="0">
                          <a:solidFill>
                            <a:srgbClr val="10305F"/>
                          </a:solidFill>
                          <a:latin typeface="Calibri" pitchFamily="34" charset="0"/>
                          <a:ea typeface="Calibri" pitchFamily="34" charset="-122"/>
                          <a:cs typeface="Calibri" pitchFamily="34" charset="-120"/>
                        </a:rPr>
                        <a:t>2.  RNP team, resources and preparation</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[aligned / open]</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 ]</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 ]</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 ]</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 ]</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r>
              <a:tr h="301752">
                <a:tc>
                  <a:txBody>
                    <a:bodyPr/>
                    <a:lstStyle/>
                    <a:p>
                      <a:pPr indent="0" marL="0">
                        <a:buNone/>
                      </a:pPr>
                      <a:r>
                        <a:rPr lang="en-US" sz="1000" b="1" dirty="0">
                          <a:solidFill>
                            <a:srgbClr val="10305F"/>
                          </a:solidFill>
                          <a:latin typeface="Calibri" pitchFamily="34" charset="0"/>
                          <a:ea typeface="Calibri" pitchFamily="34" charset="-122"/>
                          <a:cs typeface="Calibri" pitchFamily="34" charset="-120"/>
                        </a:rPr>
                        <a:t>3.  Joint implementation plan</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[aligned / open]</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 ]</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 ]</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 ]</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 ]</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r>
              <a:tr h="301752">
                <a:tc>
                  <a:txBody>
                    <a:bodyPr/>
                    <a:lstStyle/>
                    <a:p>
                      <a:pPr indent="0" marL="0">
                        <a:buNone/>
                      </a:pPr>
                      <a:r>
                        <a:rPr lang="en-US" sz="1000" b="1" dirty="0">
                          <a:solidFill>
                            <a:srgbClr val="10305F"/>
                          </a:solidFill>
                          <a:latin typeface="Calibri" pitchFamily="34" charset="0"/>
                          <a:ea typeface="Calibri" pitchFamily="34" charset="-122"/>
                          <a:cs typeface="Calibri" pitchFamily="34" charset="-120"/>
                        </a:rPr>
                        <a:t>4.  Knowledge transfer &amp; capability targets</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[aligned / open]</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 ]</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 ]</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 ]</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 ]</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r>
              <a:tr h="301752">
                <a:tc>
                  <a:txBody>
                    <a:bodyPr/>
                    <a:lstStyle/>
                    <a:p>
                      <a:pPr indent="0" marL="0">
                        <a:buNone/>
                      </a:pPr>
                      <a:r>
                        <a:rPr lang="en-US" sz="1000" b="1" dirty="0">
                          <a:solidFill>
                            <a:srgbClr val="10305F"/>
                          </a:solidFill>
                          <a:latin typeface="Calibri" pitchFamily="34" charset="0"/>
                          <a:ea typeface="Calibri" pitchFamily="34" charset="-122"/>
                          <a:cs typeface="Calibri" pitchFamily="34" charset="-120"/>
                        </a:rPr>
                        <a:t>5.  Optional advanced programme: refine?</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[aligned / open]</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 ]</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 ]</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 ]</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 ]</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r>
              <a:tr h="301752">
                <a:tc>
                  <a:txBody>
                    <a:bodyPr/>
                    <a:lstStyle/>
                    <a:p>
                      <a:pPr indent="0" marL="0">
                        <a:buNone/>
                      </a:pPr>
                      <a:r>
                        <a:rPr lang="en-US" sz="1000" b="1" dirty="0">
                          <a:solidFill>
                            <a:srgbClr val="10305F"/>
                          </a:solidFill>
                          <a:latin typeface="Calibri" pitchFamily="34" charset="0"/>
                          <a:ea typeface="Calibri" pitchFamily="34" charset="-122"/>
                          <a:cs typeface="Calibri" pitchFamily="34" charset="-120"/>
                        </a:rPr>
                        <a:t>6.  Handover, licences &amp; support</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[aligned / open]</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 ]</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 ]</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 ]</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 ]</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r>
              <a:tr h="301752">
                <a:tc>
                  <a:txBody>
                    <a:bodyPr/>
                    <a:lstStyle/>
                    <a:p>
                      <a:pPr indent="0" marL="0">
                        <a:buNone/>
                      </a:pPr>
                      <a:r>
                        <a:rPr lang="en-US" sz="1000" b="1" dirty="0">
                          <a:solidFill>
                            <a:srgbClr val="10305F"/>
                          </a:solidFill>
                          <a:latin typeface="Calibri" pitchFamily="34" charset="0"/>
                          <a:ea typeface="Calibri" pitchFamily="34" charset="-122"/>
                          <a:cs typeface="Calibri" pitchFamily="34" charset="-120"/>
                        </a:rPr>
                        <a:t>7.  Scope and fee attribution</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[aligned / open]</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 ]</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 ]</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 ]</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c>
                  <a:txBody>
                    <a:bodyPr/>
                    <a:lstStyle/>
                    <a:p>
                      <a:pPr indent="0" marL="0">
                        <a:buNone/>
                      </a:pPr>
                      <a:r>
                        <a:rPr lang="en-US" sz="1000" i="1" dirty="0">
                          <a:solidFill>
                            <a:srgbClr val="8A96A6"/>
                          </a:solidFill>
                          <a:latin typeface="Calibri" pitchFamily="34" charset="0"/>
                          <a:ea typeface="Calibri" pitchFamily="34" charset="-122"/>
                          <a:cs typeface="Calibri" pitchFamily="34" charset="-120"/>
                        </a:rPr>
                        <a:t>[ ]</a:t>
                      </a:r>
                      <a:endParaRPr lang="en-US" sz="1000" dirty="0">
                        <a:latin typeface="Calibri" charset="0"/>
                        <a:ea typeface="Calibri" charset="0"/>
                        <a:cs typeface="Calibri" charset="0"/>
                      </a:endParaRPr>
                    </a:p>
                  </a:txBody>
                  <a:tcPr marL="73152" marR="73152" marT="45720" marB="45720" anchor="t">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iFLYTEK scope, joint implementation and knowledge transfer</dc:title>
  <dc:subject>PptxGenJS Presentation</dc:subject>
  <dc:creator>iFLYTEK</dc:creator>
  <cp:lastModifiedBy>iFLYTEK</cp:lastModifiedBy>
  <cp:revision>1</cp:revision>
  <dcterms:created xsi:type="dcterms:W3CDTF">2026-09-07T05:58:15Z</dcterms:created>
  <dcterms:modified xsi:type="dcterms:W3CDTF">2026-09-07T05:58:15Z</dcterms:modified>
</cp:coreProperties>
</file>