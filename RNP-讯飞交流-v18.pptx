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8.xml"/><Relationship Id="rId3" Type="http://schemas.openxmlformats.org/officeDocument/2006/relationships/slide" Target="slide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9.xml"/><Relationship Id="rId3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8.xml"/><Relationship Id="rId3" Type="http://schemas.openxmlformats.org/officeDocument/2006/relationships/slide" Target="slide2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7.xml"/><Relationship Id="rId3" Type="http://schemas.openxmlformats.org/officeDocument/2006/relationships/slide" Target="slide26.xml"/><Relationship Id="rId4" Type="http://schemas.openxmlformats.org/officeDocument/2006/relationships/slide" Target="slide25.xml"/><Relationship Id="rId5" Type="http://schemas.openxmlformats.org/officeDocument/2006/relationships/slide" Target="slide2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17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slide" Target="slide23.xml"/><Relationship Id="rId10" Type="http://schemas.openxmlformats.org/officeDocument/2006/relationships/slide" Target="slide24.xml"/><Relationship Id="rId11" Type="http://schemas.openxmlformats.org/officeDocument/2006/relationships/slide" Target="slide25.xml"/><Relationship Id="rId12" Type="http://schemas.openxmlformats.org/officeDocument/2006/relationships/slide" Target="slide26.xml"/><Relationship Id="rId13" Type="http://schemas.openxmlformats.org/officeDocument/2006/relationships/slide" Target="slide27.xml"/><Relationship Id="rId14" Type="http://schemas.openxmlformats.org/officeDocument/2006/relationships/slide" Target="slide2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15.xml"/><Relationship Id="rId15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15.xml"/><Relationship Id="rId15" Type="http://schemas.openxmlformats.org/officeDocument/2006/relationships/slide" Target="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17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15.xml"/><Relationship Id="rId15" Type="http://schemas.openxmlformats.org/officeDocument/2006/relationships/slide" Target="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17.xml"/><Relationship Id="rId4" Type="http://schemas.openxmlformats.org/officeDocument/2006/relationships/slide" Target="slide18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15.xml"/><Relationship Id="rId15" Type="http://schemas.openxmlformats.org/officeDocument/2006/relationships/slide" Target="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17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15.xml"/><Relationship Id="rId15" Type="http://schemas.openxmlformats.org/officeDocument/2006/relationships/slide" Target="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17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20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15.xml"/><Relationship Id="rId15" Type="http://schemas.openxmlformats.org/officeDocument/2006/relationships/slide" Target="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17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15.xml"/><Relationship Id="rId15" Type="http://schemas.openxmlformats.org/officeDocument/2006/relationships/slide" Target="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17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15.xml"/><Relationship Id="rId15" Type="http://schemas.openxmlformats.org/officeDocument/2006/relationships/slide" Target="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17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slide" Target="slide23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15.xml"/><Relationship Id="rId15" Type="http://schemas.openxmlformats.org/officeDocument/2006/relationships/slide" Target="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17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slide" Target="slide23.xml"/><Relationship Id="rId10" Type="http://schemas.openxmlformats.org/officeDocument/2006/relationships/slide" Target="slide24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15.xml"/><Relationship Id="rId15" Type="http://schemas.openxmlformats.org/officeDocument/2006/relationships/slide" Target="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17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slide" Target="slide23.xml"/><Relationship Id="rId10" Type="http://schemas.openxmlformats.org/officeDocument/2006/relationships/slide" Target="slide24.xml"/><Relationship Id="rId11" Type="http://schemas.openxmlformats.org/officeDocument/2006/relationships/slide" Target="slide25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15.xml"/><Relationship Id="rId15" Type="http://schemas.openxmlformats.org/officeDocument/2006/relationships/slide" Target="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17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slide" Target="slide23.xml"/><Relationship Id="rId10" Type="http://schemas.openxmlformats.org/officeDocument/2006/relationships/slide" Target="slide24.xml"/><Relationship Id="rId11" Type="http://schemas.openxmlformats.org/officeDocument/2006/relationships/slide" Target="slide25.xml"/><Relationship Id="rId12" Type="http://schemas.openxmlformats.org/officeDocument/2006/relationships/slide" Target="slide26.xml"/><Relationship Id="rId13" Type="http://schemas.openxmlformats.org/officeDocument/2006/relationships/slide" Target="slide28.xml"/><Relationship Id="rId14" Type="http://schemas.openxmlformats.org/officeDocument/2006/relationships/slide" Target="slide15.xml"/><Relationship Id="rId15" Type="http://schemas.openxmlformats.org/officeDocument/2006/relationships/slide" Target="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6.xml"/><Relationship Id="rId3" Type="http://schemas.openxmlformats.org/officeDocument/2006/relationships/slide" Target="slide17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20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slide" Target="slide23.xml"/><Relationship Id="rId10" Type="http://schemas.openxmlformats.org/officeDocument/2006/relationships/slide" Target="slide24.xml"/><Relationship Id="rId11" Type="http://schemas.openxmlformats.org/officeDocument/2006/relationships/slide" Target="slide25.xml"/><Relationship Id="rId12" Type="http://schemas.openxmlformats.org/officeDocument/2006/relationships/slide" Target="slide26.xml"/><Relationship Id="rId13" Type="http://schemas.openxmlformats.org/officeDocument/2006/relationships/slide" Target="slide27.xml"/><Relationship Id="rId14" Type="http://schemas.openxmlformats.org/officeDocument/2006/relationships/slide" Target="slide15.xml"/><Relationship Id="rId15" Type="http://schemas.openxmlformats.org/officeDocument/2006/relationships/slide" Target="slide4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训练与应用开发平台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三项成果都在其上完成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未来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文本、语音识别与合成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讯飞先行增强葡语基座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国民 APP 与运营平台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面向 RNP 批准的用户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讯飞交付，RNP 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训练，讯飞指导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7408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25696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两个轮次，合计 1216 课时、约 158 个工作日，累计学员名额 260 个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　1) 文本大模型（NLP）处理文字的理解与生成　2) 语音识别（ASR）将语音转为文字　3) 语音合成（TTS）将文字转为语音　4) Token 是模型计量文本的单位，约等于一个词或词的一部分　5) Stage 1 / Stage 2 是两批算力对应的两个建设阶段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讯飞交付　1) 平台软件及授权　2) 部署配置　3) API 接入说明　4) 验收报告　5) 运维文档；验收后由 RNP 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三项成果都在平台上完成；四个模块各对应 RNP 的一支团队，本次逐一演示，约 10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959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1436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327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04288"/>
            <a:ext cx="11274552" cy="2066543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43200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834640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200400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导入 2) 清洗 3) 去重 4) 标注 5) 质量统计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3803904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0430" y="2743200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2834640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200400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数据集管理 2) 训练任务 3) 资源配置 4) 评测 5) 发布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6734" y="3803904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60" y="2743200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1364" y="2834640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200400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模型服务与 API 2) 应用配置 3) 运营统计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1364" y="3803904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9690" y="2743200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2834640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200400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审核策略 2) 敏感词库 3) 风险样例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994" y="3803904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443984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3542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901184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产品使用培训：6 个主题、每批 12 名运维工程师，见附录 A12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1636" y="4443984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0236" y="453542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0236" y="4901184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57784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23559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巴西葡语国家模型最终能获得什么？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面向巴西语言、知识、价值与本地需求的国家级基础模型能力；权重、模型卡与评测报告交付 RNP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7448" y="1426464"/>
            <a:ext cx="2734056" cy="259689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810512"/>
            <a:ext cx="2734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448" y="2212848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Brazilian Portuguese 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5276088" y="2578608"/>
            <a:ext cx="163677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1768" y="2688336"/>
            <a:ext cx="2185416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NLP 总参数 ≥290B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语音识别、语音合成各 1 个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本地语料 500 亿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26464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517904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巴葡原生语言能力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847088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理解巴西葡语、本地表达与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区域差异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提升葡语问答、生成与多轮交互能力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2359152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95728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自然表达　|　口语理解　|　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区域多样性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79776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71216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巴西本地知识与语境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200400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结合巴西本地数据、知识与机构语境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体现文化、社会与语言多样性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3712464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749039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本地语料 500 亿 Token　|　巴西知识　|　文化多样性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426464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1517904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价值与责任对齐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1847088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数据存放巴西境内，权限与审计归 RNP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配合 LGPD 合规；安全与价值观数据 2 万条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0688" y="2359152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395728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偏见与安全评测　|　公平包容　|　透明可信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71231" y="2779776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0688" y="2871216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自主可控的 AI 底座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3200400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减少对外部通用模型的长期依赖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权重交付 RNP，支撑本地数据控制与后续 DLM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90688" y="3712464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3749039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权重归 RNP　|　本地部署　|　支撑国家优先领域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133087"/>
            <a:ext cx="11274552" cy="9601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4206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535424"/>
            <a:ext cx="3392424" cy="466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" y="458114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828032"/>
            <a:ext cx="3099816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更懂巴西的语言、知识与需求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133088" y="46680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98264" y="4535424"/>
            <a:ext cx="3392424" cy="466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44568" y="458114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Health / Space / Biodiversity DLM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4828032"/>
            <a:ext cx="3099816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指定的三个领域；基于国家模型或双方确认的基座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845552" y="46680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10728" y="4535424"/>
            <a:ext cx="3392424" cy="466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7032" y="458114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面向巴西的 AI 应用与服务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2" y="4828032"/>
            <a:ext cx="3099816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支持公共服务与国家优先领域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212080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可验证成果</a:t>
            </a:r>
            <a:r>
              <a:rPr sz="1100" b="0">
                <a:solidFill>
                  <a:srgbClr val="1D1D1A"/>
                </a:solidFill>
                <a:latin typeface="微软雅黑"/>
                <a:ea typeface="微软雅黑"/>
              </a:rPr>
              <a:t>　葡语能力测试　·　本地知识与安全对齐测试　·　模型服务 / API　·　知识转移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614416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660136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模型权重、模型卡与评测报告交付 RNP，本地部署、自主使用；效果与覆盖范围按双方确认的评测标准与边界确定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巴西葡语国家模型：讯飞先行增强基座，RNP 提供本地语料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交付 1) 文本大模型（≥290B 参数）　2) 语音识别　3) 语音合成，各 1 个；随附权重、模型卡、评测报告与部署说明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26464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第 1 步两条线同时进行：讯飞在中国境内先行增强基座，RNP 在巴西建设本地语料；本地语料就绪、算力到位后进入第 2 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64718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78308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语料与基座准备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103120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3055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40863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中国境内采集公开葡语语料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自有算力增强基座葡语能力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公开语料一并提交巴西方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3433572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4610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671315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巴西生产语料并取得授权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规模约 500 亿 Token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协调建成前的处理算力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745736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928616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增强后的基座 + 本地语料库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18104" y="2640329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32988" y="1737360"/>
            <a:ext cx="264718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9292" y="178308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1004" y="2103120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9020" y="213055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9020" y="2340863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在增强后的基座上继续训练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产出 NLP、ASR、TTS 模型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按批准的技术方案与里程碑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61004" y="3433572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9020" y="34610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9020" y="3671315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按讯飞规范持续供料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配合抽样质检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路线与次数书面确认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20" y="4745736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9020" y="4928616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NLP ≥290B、ASR、TTS 各 1 个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93892" y="2640329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08776" y="1737360"/>
            <a:ext cx="264718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78308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2103120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213055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2340863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出具评测报告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覆盖回归、鲁棒性、偏见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安全与文化适配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6792" y="3433572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4610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3671315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共同定测试集与通过规则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葡语与领域专家评审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4745736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928616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评测报告，双方签认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869680" y="2640329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84564" y="1737360"/>
            <a:ext cx="2647188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0868" y="178308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本地交付与持续优化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12580" y="2103120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0596" y="213055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0596" y="2340863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巴西环境部署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交付权重与模型卡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12 个月内 NLP 升 3 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语音各升 1 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12580" y="3433572"/>
            <a:ext cx="2391156" cy="127558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40596" y="34610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0596" y="3671315"/>
            <a:ext cx="2135124" cy="1001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组织验收与发布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 A2 的上限提供升级语料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0596" y="4745736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0596" y="4928616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权重、版本清单、模型卡、部署说明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基座增强先行，不占用巴西算力，也不必等本地语料齐备才开始；本地语料和算力到位即可进入训练，工期风险更小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交付 1) 国民 APP（多终端）　2) 数据运营平台，面向 RNP 批准的授权用户；问答 1,000 路并发，语音各 200 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26464"/>
            <a:ext cx="11274552" cy="969264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46304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产品是什么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手机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电脑端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79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数据运营平台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问答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3075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3075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1208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文档分析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9340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研究辅助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67472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7472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语音输入与朗读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5604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5604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笔记与写作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提供标准产品能力清单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说明可配置项与边界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定用户范围、内容规则与品牌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需求与功能设计文档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118104" y="32506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32988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9292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61004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9020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9020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葡语界面与本地化配置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接入 RNP 品牌与内容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61004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89020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9020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提供品牌素材与栏目内容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葡语 PPT 与公文模板待验证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9020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9020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按指定浏览器与操作系统验证通过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993892" y="32506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08776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36792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64808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808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完成接口对接与联调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提供开发者文档与示例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36792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64808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8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提供本地接口与账号凭证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落实第三方 API 额度与许可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8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HTTP/REST/JSON/WebSocket 接口联调通过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8869680" y="32506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084564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0868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12580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0596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40596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1 初步交付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2 扩展运行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移交运维文档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12580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0596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40596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审批用户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产品、运营与审核团队承接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可在交付版本上自主演进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40596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0596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APP 与数据运营平台上线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563270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678424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产品团队在需求阶段即需到位，运营团队在 Stage 1 交付前到位；交付版本可由 RNP 自主演进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领域模型 DLM 最终能获得什么？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 RNP 指定的 Health / Space / Biodiversity 三个领域；每项聚焦 1 个边界清晰的固定场景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75304" cy="2240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1  领域知识理解能力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029968"/>
            <a:ext cx="309981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理解专业术语、领域知识与基本流程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支持知识问答、检索与理解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3300984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355848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专业术语　|　领域知识　|　知识问答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463040"/>
            <a:ext cx="3575304" cy="2240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2  专业任务支持能力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29968"/>
            <a:ext cx="309981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围绕约定场景提供分析与辅助判断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支持报告生成、信息整理等任务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4568" y="3300984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355848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场景分析　|　辅助判断　|　报告生成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463040"/>
            <a:ext cx="3575304" cy="2240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3  场景落地能力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029968"/>
            <a:ext cx="3099816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每项聚焦 1 个边界清晰的固定场景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支撑 RNP 的公共服务与国家优先领域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94192" y="3300984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3355848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固定场景　|　公共服务　|　国家优先领域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86200"/>
            <a:ext cx="11274552" cy="100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9593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88536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33425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4581144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作为基座，或双方确认的其他基座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133088" y="444398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98264" y="4288536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433425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Health / Space / Biodiversity DLM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581144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指定的三个领域，各 1 个固定场景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845552" y="444398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10728" y="4288536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2" y="433425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面向公共服务的应用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4581144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支撑 RNP 的公共服务与国家优先领域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47488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可验证成果</a:t>
            </a:r>
            <a:r>
              <a:rPr sz="1100" b="0">
                <a:solidFill>
                  <a:srgbClr val="1D1D1A"/>
                </a:solidFill>
                <a:latin typeface="微软雅黑"/>
                <a:ea typeface="微软雅黑"/>
              </a:rPr>
              <a:t>　DLM 方案　·　指导记录　·　训练与评测分析报告　·　服务验收确认书　·　模型权重归 RNP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49824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495544"/>
            <a:ext cx="108173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领域由 RNP 指定，训练由 RNP 执行、讯飞提供辅助训练技术服务；效果与范围按双方确认的场景边界与评测标准确定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四个步骤都由 RNP 执行、讯飞在旁指导——这与国家模型相反，是 RNP 第一次自己训练模型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0817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服务范围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94914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个边界清晰的固定场景；领域由 RNP 提出、讯飞评估可行性；模型权重由 RNP 训练产生并归 RNP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评估领域可行性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出具技术方案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核实基座版本、规模与许可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提出领域与场景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明确用户、输入输出和边界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签署《DLM 场景及技术方案确认书》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18104" y="273634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32988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9292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1004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9020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9020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给出训练路线建议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LoRA-SFT、SFT、GRPO 等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每项确认 1 条主要路线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61004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9020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20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提供训练、验证与安全数据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提供独立评测数据与环境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9020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9020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数据与训练路线书面确认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3892" y="273634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08776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6792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按约定工作量提供参数建议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查看训练日志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协助分析问题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36792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在模型训练中心执行训练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完成评测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指导记录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869680" y="273634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84564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0868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12580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0596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0596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完成分析报告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580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0596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0596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核对指导记录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完成业务验收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0596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40596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服务验收，与模型效果目标分开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23036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生产部署、API 开发与应用集成不在本服务内，可另行约定。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54126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5586983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　1) 华为出算力　2) 讯飞出软件和模型　3) 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99232"/>
            <a:ext cx="9354311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平台验收 2) 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55472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0058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0058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文本模型评测通过 2) 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36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636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APP Stage 1 交付 2) 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231886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7214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7214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570463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移交确认签署 2) 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114800"/>
            <a:ext cx="9354311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78808"/>
            <a:ext cx="9354311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　1) 生产葡语语料并取得授权　2) 自主训练和评测 DLM　3) 审批用户并运营 APP　4) 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数据团队 2) 葡语专家 3) 合规审核 4) 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采集与标注 2) 质检语料 3) 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算法工程师 2) 测试工程师 3) 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参与国家模型训练评测 2) 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应用开发与运营 2) 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承接 APP 运营 2) 用户审批 3) 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首批组建数据团队与葡语专家，其次配置算法工程师，应用运营团队第三批到位；知识转移的核心学员从三批人员中指定：每轮奠基 50 人、跟岗与实操各 20 人、移交 40 人，共两轮，名额另计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知识转移：两个轮次，合计 1216 课时、约 158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四个阶段每轮共 608 课时，实施两个轮次；移交后 RNP 能独立完成　1) 平台运维　2) 训练提交　3) 模型部署　4) 版本发布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10 个工作日 · 50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大模型基础与项目架构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语料到服务全流程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安全与运维基础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5868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5868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45 个工作日 · 20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5868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覆盖国家模型训练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12 个月内的模型升级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3 项 DLM 训练等真实任务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3 个工作日 · 20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模型部署、监控与故障处理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双方签实操记录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4564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7444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7444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7444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21 个工作日 · 40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交接生产环境与运维流程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移交资产许可与运行手册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验证独立操作，双方签确认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62272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919472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4462272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4919472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96128"/>
            <a:ext cx="11274552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641848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卡片为单轮数字，两轮合计 1216 课时、约 158 个工作日；工作日是培训活动天数，分散在实施期内，不是连续工期。另有面向运维团队的产品使用培训，不计入这里的课时，见附录 A12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7781544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大模型基础 2) 项目架构 3) 语料到服务全流程 4) 安全与运维基础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模型与数据评测 2) 软件栈与生命周期 3) 规模化训练与推理 4) 检索、智能体与安全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需另行预算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集群调度 2) 模型训练 3) 语料 4) 推理；另有专家研讨、一对一咨询、中国考察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基础课与专题课在项目范围内，不另收费；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高端研修需先完成华为 AI Developer 全部课程并另行预算，见附录 A11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验收依据　1) SOW　2) BOQ　3) 功能清单　4) 批准方案；新增需求按书面变更处理。会中记录结论，会后形成双方行动清单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附录：13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附录内容除在“项目”中注明“方案”外，均为已写入工作范围（SOW）的口径；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蓝字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实施前双方共同确定的待确认项。每页底部导航条可在 13 页附录之间直接互跳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谁能用、能接入什么？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应用：服务、容量与接口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  <p:sp>
        <p:nvSpPr>
          <p:cNvPr id="53" name="Rounded Rectangle 52">
            <a:hlinkClick action="ppaction://hlinksldjump" r:id="rId14"/>
          </p:cNvPr>
          <p:cNvSpPr/>
          <p:nvPr/>
        </p:nvSpPr>
        <p:spPr>
          <a:xfrm>
            <a:off x="457200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平台交付后运维从哪里上手？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产品使用培训：主题、天数与人数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2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932688"/>
          <a:ext cx="11274552" cy="3493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57200" y="4535424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590288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每轮 608 课时、约 79 个工作日：奠基 60、跟岗 360、指导实操 20、正式移交 168 课时，每轮学员 50 / 20 / 20 / 40 人；实施两个轮次，合计 1216 课时、约 158 个工作日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1206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2029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175503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5099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3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5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基座通用葡语增强（方案）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与本地语料生产并行：讯飞在中国境内投入自有算力，采集公开葡语语料并继续训练基础模型，提升其通用葡语能力，作为国家模型训练的起点；不占用巴西侧算力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504688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5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分工与前置算力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数据中心建成前用于语料采集与处理的算力，由 RNP 在巴西本地协调提供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讯飞公开语料投入（方案）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讯飞在中国境内投入自有算力，采集并处理公开葡语语料，用于增强基础模型的通用葡语能力；该批公开语料一并提交巴西方。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规模与提交方式实施前确认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6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8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12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11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703320"/>
                <a:gridCol w="1371600"/>
                <a:gridCol w="169164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课时跨主题只计一次；实施两个轮次，学员分批参加；阶段日期按批准的知识转移计划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608 课时 / 约 79 工作日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1216 课时 / 约 158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50/20/20/40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260 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表中课时与人数为单轮口径，实施两个轮次；工作日是培训活动天数之和，不是连续工期；百分比是合格核心学员的培养目标，不是验收阈值；正式移交至少在一年陪伴运维结束前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两轮学员分批参加，各阶段不要求为同一批人，由 RNP 指定稳定且具备基础的学员；正式移交面向运维团队，人数相应放宽；口径：SOW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12 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访问讯飞团队与算力设施；华为方案已含 6 天中国行（100 人），此处为讯飞技术交流形式，避免重复安排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5、6、12。讲授方法不等于所有交付模型都支持该方法，也不包含新增优化任务；口径：SOW。交流形式中只有高级 AI 研讨在项目范围内，其余三项另行约定。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12 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12 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896112"/>
            <a:ext cx="1127455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核心研发人员与高校课题组，内容可从架构与原理讲到工程经验与源码实践。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准入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：需先完成华为 AI Developer 全部课程　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预算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：不在本项目范围与报价内，需另行预算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专家研讨与案例研究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在选定方向上做专家研讨、工程案例复盘与实践讲解；内容结合 RNP 的实际环境定制，例如模型迁移、平台架构与实现原理、在华为算力上的训练适配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工程师提出的具体研发问题做技术问答、方案讨论与工程经验交流，按时长约定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中国考察与技术交流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可选形式，结合专家学习与现场技术交流；语言、行程与相关费用另行确定。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与华为方案中的 6 天中国行（100 人）分属不同安排，避免重复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以上与基础知识转移（四阶段两轮合计 1216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A12 · 产品使用培训：交付后运维怎么上手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问：平台交付后运维从哪里上手？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736092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8686800" y="60350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3 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9144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讯飞对已交付的软件、模型与安全产品做操作演示、配置指导与移交说明；面向 RNP 运维团队，随陪伴运维启动，与四阶段知识转移并行、不重复计课时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298448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6885432"/>
                <a:gridCol w="868680"/>
                <a:gridCol w="1188720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每批人数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语料与模型训练平台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数据集流程、质量检查与血缘；容器镜像、训练任务、日志与模型产物；已交付的语音工具与断点续训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算力管理与集群运维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租户、角色、资源池、配额与调度；集群健康、节点状态、日志与告警；资源用量、事件信息与升级路径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应用服务、API 与数据运营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服务凭证、权限、限流与用量；已开通的知识问答与检索服务；API 调用与错误处理；门户配置、应用发布、用户与反馈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基础模型与国家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模型文件、加载、调用与配置；已知限制与运行检查；登录、问答、文档与语音交互；已开通的笔记、写作与演示功能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内容安全与安全产品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风险标签、审核规则、词库与快修；审核日志与已开通功能验证；所供安全产品的接入、策略与日志；基本操作与厂商支持渠道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配置、文档与支持移交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已部署版本、关键配置与文档；支持的备份与恢复方法；遗留问题、支持工单与升级路径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57200" y="497433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2920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时间安排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029200"/>
            <a:ext cx="97200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陪伴运维启动时开展产品使用培训，之后 12 个月陪伴运维期内穿插知识转移活动；正式移交在陪伴运维结束前至少 3 个月启动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6811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六个主题是 SOW 第 7.5 节十二项产品使用主题的归并展示，不构成六门独立计量的课程；培训使用已交付版本与经授权的样本。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批次、天数、参训人数、语言与线上/线下方式实施前双方确定；各主题工作日合计 9 天，联合材料横幅标注约 10 天，实施前确认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　口径：SOW 7.5 / 8.3 / 9.4。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