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2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78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17</a:t>
            </a:r>
            <a:r>
              <a:rPr lang="zh-CN" altLang="en-US" dirty="0"/>
              <a:t>，</a:t>
            </a:r>
            <a:r>
              <a:rPr lang="en-US" altLang="zh-CN" dirty="0"/>
              <a:t>81</a:t>
            </a:r>
            <a:r>
              <a:rPr lang="zh-CN" altLang="en-US" dirty="0"/>
              <a:t>，</a:t>
            </a:r>
            <a:r>
              <a:rPr lang="en-US" altLang="zh-CN" dirty="0"/>
              <a:t>249</a:t>
            </a:r>
            <a:br>
              <a:rPr lang="en-US" altLang="zh-CN" dirty="0"/>
            </a:b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82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标题 1">
            <a:extLst>
              <a:ext uri="{FF2B5EF4-FFF2-40B4-BE49-F238E27FC236}">
                <a16:creationId xmlns:a16="http://schemas.microsoft.com/office/drawing/2014/main" id="{BF5D86BF-5A86-4A87-B883-78B875C278FF}"/>
              </a:ext>
            </a:extLst>
          </p:cNvPr>
          <p:cNvSpPr txBox="1">
            <a:spLocks/>
          </p:cNvSpPr>
          <p:nvPr/>
        </p:nvSpPr>
        <p:spPr>
          <a:xfrm>
            <a:off x="586532" y="224952"/>
            <a:ext cx="11088548" cy="8192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6373">
              <a:lnSpc>
                <a:spcPct val="100000"/>
              </a:lnSpc>
              <a:spcBef>
                <a:spcPts val="1296"/>
              </a:spcBef>
              <a:buFont typeface="Arial" panose="020B0604020202020204" pitchFamily="34" charset="0"/>
              <a:buNone/>
              <a:defRPr sz="2798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6"/>
            </a:lvl2pPr>
            <a:lvl3pPr marL="118684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6"/>
            </a:lvl3pPr>
            <a:lvl4pPr marL="1780274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4pPr>
            <a:lvl5pPr marL="23736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5pPr>
            <a:lvl6pPr marL="2967122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6pPr>
            <a:lvl7pPr marL="356054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7pPr>
            <a:lvl8pPr marL="4153972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8pPr>
            <a:lvl9pPr marL="47473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7"/>
            </a:lvl9pPr>
          </a:lstStyle>
          <a:p>
            <a:pPr algn="just" defTabSz="1184950">
              <a:spcBef>
                <a:spcPts val="1293"/>
              </a:spcBef>
              <a:defRPr/>
            </a:pPr>
            <a:endParaRPr lang="zh-CN" altLang="en-US" sz="2795" dirty="0">
              <a:sym typeface="微软雅黑" panose="020B0503020204020204" pitchFamily="34" charset="-122"/>
            </a:endParaRPr>
          </a:p>
        </p:txBody>
      </p:sp>
      <p:sp>
        <p:nvSpPr>
          <p:cNvPr id="77" name="副标题 1">
            <a:extLst>
              <a:ext uri="{FF2B5EF4-FFF2-40B4-BE49-F238E27FC236}">
                <a16:creationId xmlns:a16="http://schemas.microsoft.com/office/drawing/2014/main" id="{FD3303A6-C8DB-43E5-8E79-30936D40C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824" y="266252"/>
            <a:ext cx="11844517" cy="502923"/>
          </a:xfrm>
        </p:spPr>
        <p:txBody>
          <a:bodyPr>
            <a:normAutofit/>
          </a:bodyPr>
          <a:lstStyle/>
          <a:p>
            <a:r>
              <a:rPr lang="zh-CN" altLang="en-US" sz="2398" dirty="0">
                <a:solidFill>
                  <a:srgbClr val="950008"/>
                </a:solidFill>
              </a:rPr>
              <a:t>全球聚焦</a:t>
            </a:r>
            <a:r>
              <a:rPr lang="en-US" altLang="zh-CN" sz="2398" dirty="0">
                <a:solidFill>
                  <a:srgbClr val="950008"/>
                </a:solidFill>
              </a:rPr>
              <a:t>17</a:t>
            </a:r>
            <a:r>
              <a:rPr lang="zh-CN" altLang="en-US" sz="2398" dirty="0">
                <a:solidFill>
                  <a:srgbClr val="950008"/>
                </a:solidFill>
              </a:rPr>
              <a:t>灯塔，</a:t>
            </a:r>
            <a:r>
              <a:rPr lang="en-US" altLang="zh-CN" sz="2398" dirty="0">
                <a:solidFill>
                  <a:srgbClr val="950008"/>
                </a:solidFill>
              </a:rPr>
              <a:t>81</a:t>
            </a:r>
            <a:r>
              <a:rPr lang="zh-CN" altLang="en-US" sz="2398" dirty="0">
                <a:solidFill>
                  <a:srgbClr val="950008"/>
                </a:solidFill>
              </a:rPr>
              <a:t>标杆，</a:t>
            </a:r>
            <a:r>
              <a:rPr lang="en-US" altLang="zh-CN" sz="2398" dirty="0">
                <a:solidFill>
                  <a:srgbClr val="950008"/>
                </a:solidFill>
              </a:rPr>
              <a:t>249</a:t>
            </a:r>
            <a:r>
              <a:rPr lang="zh-CN" altLang="en-US" sz="2398" dirty="0">
                <a:solidFill>
                  <a:srgbClr val="950008"/>
                </a:solidFill>
              </a:rPr>
              <a:t>目标靶作战，以专项行动、复盘训战使能区域复制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767DB96-61DA-4F80-AD8D-8BC64002DF9B}"/>
              </a:ext>
            </a:extLst>
          </p:cNvPr>
          <p:cNvSpPr/>
          <p:nvPr/>
        </p:nvSpPr>
        <p:spPr>
          <a:xfrm>
            <a:off x="1514263" y="5519652"/>
            <a:ext cx="9856278" cy="395711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>
            <a:noAutofit/>
          </a:bodyPr>
          <a:lstStyle/>
          <a:p>
            <a:pPr algn="ctr" defTabSz="913623" fontAlgn="ctr">
              <a:defRPr/>
            </a:pPr>
            <a:endParaRPr lang="en-US" altLang="zh-CN" sz="1200" b="1" kern="0" spc="5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BA65BC9-CE7F-42A7-89FB-9FEB8334A554}"/>
              </a:ext>
            </a:extLst>
          </p:cNvPr>
          <p:cNvSpPr/>
          <p:nvPr/>
        </p:nvSpPr>
        <p:spPr>
          <a:xfrm>
            <a:off x="1499782" y="3294164"/>
            <a:ext cx="3141852" cy="1129213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>
            <a:noAutofit/>
          </a:bodyPr>
          <a:lstStyle/>
          <a:p>
            <a:pPr algn="ctr" defTabSz="913623" fontAlgn="ctr">
              <a:defRPr/>
            </a:pPr>
            <a:endParaRPr lang="en-US" altLang="zh-CN" sz="1200" b="1" kern="0" spc="5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D4B17DF-63F9-446A-AC8C-73EED04C048A}"/>
              </a:ext>
            </a:extLst>
          </p:cNvPr>
          <p:cNvSpPr/>
          <p:nvPr/>
        </p:nvSpPr>
        <p:spPr>
          <a:xfrm>
            <a:off x="4856546" y="3293949"/>
            <a:ext cx="3141852" cy="1129213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>
            <a:noAutofit/>
          </a:bodyPr>
          <a:lstStyle/>
          <a:p>
            <a:pPr algn="ctr" defTabSz="913623" fontAlgn="ctr">
              <a:defRPr/>
            </a:pPr>
            <a:endParaRPr lang="en-US" altLang="zh-CN" sz="1200" b="1" kern="0" spc="5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8968857-3DD2-40EB-9278-1F2B85432E1C}"/>
              </a:ext>
            </a:extLst>
          </p:cNvPr>
          <p:cNvSpPr/>
          <p:nvPr/>
        </p:nvSpPr>
        <p:spPr>
          <a:xfrm>
            <a:off x="8228688" y="3301672"/>
            <a:ext cx="3141852" cy="1121490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>
            <a:noAutofit/>
          </a:bodyPr>
          <a:lstStyle/>
          <a:p>
            <a:pPr algn="ctr" defTabSz="913623" fontAlgn="ctr">
              <a:defRPr/>
            </a:pPr>
            <a:endParaRPr lang="en-US" altLang="zh-CN" sz="1200" b="1" kern="0" spc="5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B56F0F-5BFF-401A-B05B-CB6746707B20}"/>
              </a:ext>
            </a:extLst>
          </p:cNvPr>
          <p:cNvGrpSpPr/>
          <p:nvPr/>
        </p:nvGrpSpPr>
        <p:grpSpPr>
          <a:xfrm>
            <a:off x="987177" y="1530628"/>
            <a:ext cx="10519252" cy="1171347"/>
            <a:chOff x="764290" y="1603119"/>
            <a:chExt cx="7601789" cy="1013372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260C06FE-47AB-489C-86C5-6FD2ABC79F87}"/>
                </a:ext>
              </a:extLst>
            </p:cNvPr>
            <p:cNvSpPr/>
            <p:nvPr/>
          </p:nvSpPr>
          <p:spPr>
            <a:xfrm rot="16200000">
              <a:off x="4445555" y="-1304032"/>
              <a:ext cx="862019" cy="6979028"/>
            </a:xfrm>
            <a:prstGeom prst="triangle">
              <a:avLst/>
            </a:prstGeom>
            <a:gradFill>
              <a:gsLst>
                <a:gs pos="0">
                  <a:schemeClr val="bg1">
                    <a:lumMod val="20000"/>
                    <a:lumOff val="80000"/>
                  </a:schemeClr>
                </a:gs>
                <a:gs pos="100000">
                  <a:schemeClr val="tx2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49F9698D-5AD8-4C87-AEB2-78F3ABC66748}"/>
                </a:ext>
              </a:extLst>
            </p:cNvPr>
            <p:cNvSpPr/>
            <p:nvPr/>
          </p:nvSpPr>
          <p:spPr>
            <a:xfrm rot="16200000">
              <a:off x="3192918" y="-134084"/>
              <a:ext cx="591333" cy="4625596"/>
            </a:xfrm>
            <a:prstGeom prst="triangl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5FF43442-2F9E-45E9-B27D-D2B8B144B334}"/>
                </a:ext>
              </a:extLst>
            </p:cNvPr>
            <p:cNvSpPr/>
            <p:nvPr/>
          </p:nvSpPr>
          <p:spPr>
            <a:xfrm rot="16200000">
              <a:off x="1875560" y="876577"/>
              <a:ext cx="373579" cy="2596120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pic>
          <p:nvPicPr>
            <p:cNvPr id="17" name="Picture 5">
              <a:extLst>
                <a:ext uri="{FF2B5EF4-FFF2-40B4-BE49-F238E27FC236}">
                  <a16:creationId xmlns:a16="http://schemas.microsoft.com/office/drawing/2014/main" id="{563906E8-477D-4591-B951-1358008B79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505" y="1811256"/>
              <a:ext cx="694765" cy="5876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FCA6F9F-501F-4910-9867-A5E939E4DEB5}"/>
                </a:ext>
              </a:extLst>
            </p:cNvPr>
            <p:cNvGrpSpPr/>
            <p:nvPr/>
          </p:nvGrpSpPr>
          <p:grpSpPr>
            <a:xfrm>
              <a:off x="3535153" y="2053939"/>
              <a:ext cx="206811" cy="243496"/>
              <a:chOff x="6171127" y="4089448"/>
              <a:chExt cx="328089" cy="618797"/>
            </a:xfrm>
          </p:grpSpPr>
          <p:sp>
            <p:nvSpPr>
              <p:cNvPr id="32" name="流程图: 资料带 31">
                <a:extLst>
                  <a:ext uri="{FF2B5EF4-FFF2-40B4-BE49-F238E27FC236}">
                    <a16:creationId xmlns:a16="http://schemas.microsoft.com/office/drawing/2014/main" id="{872B5328-79FC-42C3-8F74-E0929D1776E3}"/>
                  </a:ext>
                </a:extLst>
              </p:cNvPr>
              <p:cNvSpPr/>
              <p:nvPr/>
            </p:nvSpPr>
            <p:spPr>
              <a:xfrm flipH="1">
                <a:off x="6171127" y="4089448"/>
                <a:ext cx="328089" cy="380967"/>
              </a:xfrm>
              <a:prstGeom prst="flowChartPunchedTap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defTabSz="914034">
                  <a:lnSpc>
                    <a:spcPct val="120000"/>
                  </a:lnSpc>
                  <a:spcBef>
                    <a:spcPts val="600"/>
                  </a:spcBef>
                  <a:defRPr/>
                </a:pPr>
                <a:endParaRPr lang="zh-CN" altLang="en-US" sz="1599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EE1CA61-8905-44BE-B14A-EFB727EDA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6357" y="4141813"/>
                <a:ext cx="7155" cy="566432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EF45FEF-D733-4C63-A693-F66BCBF70D87}"/>
                </a:ext>
              </a:extLst>
            </p:cNvPr>
            <p:cNvSpPr txBox="1"/>
            <p:nvPr/>
          </p:nvSpPr>
          <p:spPr>
            <a:xfrm>
              <a:off x="1825547" y="2071796"/>
              <a:ext cx="1474236" cy="186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zh-CN" altLang="en-US" sz="1399" b="1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灯塔</a:t>
              </a:r>
              <a:r>
                <a:rPr kumimoji="1" lang="en-US" altLang="zh-CN" sz="1399" b="1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</a:t>
              </a:r>
              <a:r>
                <a:rPr kumimoji="1" lang="zh-CN" altLang="en-US" sz="1399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标杆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BD5BD39-CDC3-4EEF-AD16-F19E34B91466}"/>
                </a:ext>
              </a:extLst>
            </p:cNvPr>
            <p:cNvSpPr txBox="1"/>
            <p:nvPr/>
          </p:nvSpPr>
          <p:spPr>
            <a:xfrm>
              <a:off x="4009815" y="2071466"/>
              <a:ext cx="1132560" cy="186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目标靶</a:t>
              </a: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50F00AA-2E81-4E53-B924-A48091F8DA04}"/>
                </a:ext>
              </a:extLst>
            </p:cNvPr>
            <p:cNvGrpSpPr/>
            <p:nvPr/>
          </p:nvGrpSpPr>
          <p:grpSpPr>
            <a:xfrm>
              <a:off x="5953224" y="2028079"/>
              <a:ext cx="513751" cy="333675"/>
              <a:chOff x="5482115" y="1641585"/>
              <a:chExt cx="572877" cy="401393"/>
            </a:xfrm>
          </p:grpSpPr>
          <p:sp>
            <p:nvSpPr>
              <p:cNvPr id="26" name="Freeform 587">
                <a:extLst>
                  <a:ext uri="{FF2B5EF4-FFF2-40B4-BE49-F238E27FC236}">
                    <a16:creationId xmlns:a16="http://schemas.microsoft.com/office/drawing/2014/main" id="{2730D5EC-BEE5-4809-8E4D-069B9A3E1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7804" y="1787104"/>
                <a:ext cx="207188" cy="185549"/>
              </a:xfrm>
              <a:custGeom>
                <a:avLst/>
                <a:gdLst>
                  <a:gd name="T0" fmla="*/ 141 w 162"/>
                  <a:gd name="T1" fmla="*/ 17 h 145"/>
                  <a:gd name="T2" fmla="*/ 105 w 162"/>
                  <a:gd name="T3" fmla="*/ 0 h 145"/>
                  <a:gd name="T4" fmla="*/ 81 w 162"/>
                  <a:gd name="T5" fmla="*/ 9 h 145"/>
                  <a:gd name="T6" fmla="*/ 57 w 162"/>
                  <a:gd name="T7" fmla="*/ 0 h 145"/>
                  <a:gd name="T8" fmla="*/ 0 w 162"/>
                  <a:gd name="T9" fmla="*/ 56 h 145"/>
                  <a:gd name="T10" fmla="*/ 0 w 162"/>
                  <a:gd name="T11" fmla="*/ 59 h 145"/>
                  <a:gd name="T12" fmla="*/ 30 w 162"/>
                  <a:gd name="T13" fmla="*/ 109 h 145"/>
                  <a:gd name="T14" fmla="*/ 30 w 162"/>
                  <a:gd name="T15" fmla="*/ 140 h 145"/>
                  <a:gd name="T16" fmla="*/ 73 w 162"/>
                  <a:gd name="T17" fmla="*/ 145 h 145"/>
                  <a:gd name="T18" fmla="*/ 88 w 162"/>
                  <a:gd name="T19" fmla="*/ 145 h 145"/>
                  <a:gd name="T20" fmla="*/ 162 w 162"/>
                  <a:gd name="T21" fmla="*/ 118 h 145"/>
                  <a:gd name="T22" fmla="*/ 162 w 162"/>
                  <a:gd name="T23" fmla="*/ 56 h 145"/>
                  <a:gd name="T24" fmla="*/ 141 w 162"/>
                  <a:gd name="T25" fmla="*/ 1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2" h="145">
                    <a:moveTo>
                      <a:pt x="141" y="17"/>
                    </a:moveTo>
                    <a:cubicBezTo>
                      <a:pt x="130" y="8"/>
                      <a:pt x="116" y="3"/>
                      <a:pt x="105" y="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35" y="5"/>
                      <a:pt x="0" y="20"/>
                      <a:pt x="0" y="56"/>
                    </a:cubicBezTo>
                    <a:cubicBezTo>
                      <a:pt x="0" y="57"/>
                      <a:pt x="0" y="58"/>
                      <a:pt x="0" y="59"/>
                    </a:cubicBezTo>
                    <a:cubicBezTo>
                      <a:pt x="16" y="69"/>
                      <a:pt x="30" y="85"/>
                      <a:pt x="30" y="109"/>
                    </a:cubicBezTo>
                    <a:cubicBezTo>
                      <a:pt x="30" y="121"/>
                      <a:pt x="30" y="132"/>
                      <a:pt x="30" y="140"/>
                    </a:cubicBezTo>
                    <a:cubicBezTo>
                      <a:pt x="40" y="143"/>
                      <a:pt x="54" y="145"/>
                      <a:pt x="73" y="145"/>
                    </a:cubicBezTo>
                    <a:cubicBezTo>
                      <a:pt x="88" y="145"/>
                      <a:pt x="88" y="145"/>
                      <a:pt x="88" y="145"/>
                    </a:cubicBezTo>
                    <a:cubicBezTo>
                      <a:pt x="160" y="145"/>
                      <a:pt x="162" y="118"/>
                      <a:pt x="162" y="118"/>
                    </a:cubicBezTo>
                    <a:cubicBezTo>
                      <a:pt x="162" y="118"/>
                      <a:pt x="162" y="109"/>
                      <a:pt x="162" y="56"/>
                    </a:cubicBezTo>
                    <a:cubicBezTo>
                      <a:pt x="162" y="38"/>
                      <a:pt x="153" y="26"/>
                      <a:pt x="141" y="1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27" name="Oval 588">
                <a:extLst>
                  <a:ext uri="{FF2B5EF4-FFF2-40B4-BE49-F238E27FC236}">
                    <a16:creationId xmlns:a16="http://schemas.microsoft.com/office/drawing/2014/main" id="{EF9B0A60-C2DB-4842-97E8-3E1409C7B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8654" y="1641585"/>
                <a:ext cx="104946" cy="121175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28" name="Freeform 589">
                <a:extLst>
                  <a:ext uri="{FF2B5EF4-FFF2-40B4-BE49-F238E27FC236}">
                    <a16:creationId xmlns:a16="http://schemas.microsoft.com/office/drawing/2014/main" id="{4E9F8FC2-8BBE-47EC-8978-6B1450F61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2255" y="1856346"/>
                <a:ext cx="207188" cy="186632"/>
              </a:xfrm>
              <a:custGeom>
                <a:avLst/>
                <a:gdLst>
                  <a:gd name="T0" fmla="*/ 145 w 162"/>
                  <a:gd name="T1" fmla="*/ 20 h 146"/>
                  <a:gd name="T2" fmla="*/ 132 w 162"/>
                  <a:gd name="T3" fmla="*/ 11 h 146"/>
                  <a:gd name="T4" fmla="*/ 105 w 162"/>
                  <a:gd name="T5" fmla="*/ 0 h 146"/>
                  <a:gd name="T6" fmla="*/ 81 w 162"/>
                  <a:gd name="T7" fmla="*/ 9 h 146"/>
                  <a:gd name="T8" fmla="*/ 57 w 162"/>
                  <a:gd name="T9" fmla="*/ 0 h 146"/>
                  <a:gd name="T10" fmla="*/ 34 w 162"/>
                  <a:gd name="T11" fmla="*/ 9 h 146"/>
                  <a:gd name="T12" fmla="*/ 21 w 162"/>
                  <a:gd name="T13" fmla="*/ 17 h 146"/>
                  <a:gd name="T14" fmla="*/ 0 w 162"/>
                  <a:gd name="T15" fmla="*/ 57 h 146"/>
                  <a:gd name="T16" fmla="*/ 0 w 162"/>
                  <a:gd name="T17" fmla="*/ 82 h 146"/>
                  <a:gd name="T18" fmla="*/ 0 w 162"/>
                  <a:gd name="T19" fmla="*/ 96 h 146"/>
                  <a:gd name="T20" fmla="*/ 0 w 162"/>
                  <a:gd name="T21" fmla="*/ 119 h 146"/>
                  <a:gd name="T22" fmla="*/ 74 w 162"/>
                  <a:gd name="T23" fmla="*/ 146 h 146"/>
                  <a:gd name="T24" fmla="*/ 88 w 162"/>
                  <a:gd name="T25" fmla="*/ 146 h 146"/>
                  <a:gd name="T26" fmla="*/ 162 w 162"/>
                  <a:gd name="T27" fmla="*/ 119 h 146"/>
                  <a:gd name="T28" fmla="*/ 162 w 162"/>
                  <a:gd name="T29" fmla="*/ 96 h 146"/>
                  <a:gd name="T30" fmla="*/ 162 w 162"/>
                  <a:gd name="T31" fmla="*/ 82 h 146"/>
                  <a:gd name="T32" fmla="*/ 162 w 162"/>
                  <a:gd name="T33" fmla="*/ 57 h 146"/>
                  <a:gd name="T34" fmla="*/ 145 w 162"/>
                  <a:gd name="T35" fmla="*/ 2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2" h="146">
                    <a:moveTo>
                      <a:pt x="145" y="20"/>
                    </a:moveTo>
                    <a:cubicBezTo>
                      <a:pt x="141" y="17"/>
                      <a:pt x="137" y="14"/>
                      <a:pt x="132" y="11"/>
                    </a:cubicBezTo>
                    <a:cubicBezTo>
                      <a:pt x="123" y="6"/>
                      <a:pt x="113" y="3"/>
                      <a:pt x="105" y="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0" y="2"/>
                      <a:pt x="42" y="5"/>
                      <a:pt x="34" y="9"/>
                    </a:cubicBezTo>
                    <a:cubicBezTo>
                      <a:pt x="29" y="11"/>
                      <a:pt x="25" y="14"/>
                      <a:pt x="21" y="17"/>
                    </a:cubicBezTo>
                    <a:cubicBezTo>
                      <a:pt x="9" y="26"/>
                      <a:pt x="0" y="39"/>
                      <a:pt x="0" y="57"/>
                    </a:cubicBezTo>
                    <a:cubicBezTo>
                      <a:pt x="0" y="67"/>
                      <a:pt x="0" y="75"/>
                      <a:pt x="0" y="82"/>
                    </a:cubicBezTo>
                    <a:cubicBezTo>
                      <a:pt x="0" y="87"/>
                      <a:pt x="0" y="92"/>
                      <a:pt x="0" y="96"/>
                    </a:cubicBezTo>
                    <a:cubicBezTo>
                      <a:pt x="0" y="115"/>
                      <a:pt x="0" y="119"/>
                      <a:pt x="0" y="119"/>
                    </a:cubicBezTo>
                    <a:cubicBezTo>
                      <a:pt x="0" y="119"/>
                      <a:pt x="2" y="146"/>
                      <a:pt x="74" y="146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160" y="146"/>
                      <a:pt x="162" y="119"/>
                      <a:pt x="162" y="119"/>
                    </a:cubicBezTo>
                    <a:cubicBezTo>
                      <a:pt x="162" y="119"/>
                      <a:pt x="162" y="114"/>
                      <a:pt x="162" y="96"/>
                    </a:cubicBezTo>
                    <a:cubicBezTo>
                      <a:pt x="162" y="92"/>
                      <a:pt x="162" y="87"/>
                      <a:pt x="162" y="82"/>
                    </a:cubicBezTo>
                    <a:cubicBezTo>
                      <a:pt x="162" y="75"/>
                      <a:pt x="162" y="67"/>
                      <a:pt x="162" y="57"/>
                    </a:cubicBezTo>
                    <a:cubicBezTo>
                      <a:pt x="162" y="41"/>
                      <a:pt x="155" y="29"/>
                      <a:pt x="145" y="20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29" name="Oval 590">
                <a:extLst>
                  <a:ext uri="{FF2B5EF4-FFF2-40B4-BE49-F238E27FC236}">
                    <a16:creationId xmlns:a16="http://schemas.microsoft.com/office/drawing/2014/main" id="{5CF7F6EF-B249-4EAB-A857-5A8E11AD4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3647" y="1711910"/>
                <a:ext cx="104405" cy="121175"/>
              </a:xfrm>
              <a:prstGeom prst="ellipse">
                <a:avLst/>
              </a:pr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30" name="Freeform 591">
                <a:extLst>
                  <a:ext uri="{FF2B5EF4-FFF2-40B4-BE49-F238E27FC236}">
                    <a16:creationId xmlns:a16="http://schemas.microsoft.com/office/drawing/2014/main" id="{787746B9-4B61-4826-BA1E-A5597E95E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2115" y="1786021"/>
                <a:ext cx="207188" cy="185009"/>
              </a:xfrm>
              <a:custGeom>
                <a:avLst/>
                <a:gdLst>
                  <a:gd name="T0" fmla="*/ 162 w 162"/>
                  <a:gd name="T1" fmla="*/ 57 h 145"/>
                  <a:gd name="T2" fmla="*/ 162 w 162"/>
                  <a:gd name="T3" fmla="*/ 57 h 145"/>
                  <a:gd name="T4" fmla="*/ 142 w 162"/>
                  <a:gd name="T5" fmla="*/ 17 h 145"/>
                  <a:gd name="T6" fmla="*/ 105 w 162"/>
                  <a:gd name="T7" fmla="*/ 0 h 145"/>
                  <a:gd name="T8" fmla="*/ 81 w 162"/>
                  <a:gd name="T9" fmla="*/ 9 h 145"/>
                  <a:gd name="T10" fmla="*/ 57 w 162"/>
                  <a:gd name="T11" fmla="*/ 0 h 145"/>
                  <a:gd name="T12" fmla="*/ 0 w 162"/>
                  <a:gd name="T13" fmla="*/ 57 h 145"/>
                  <a:gd name="T14" fmla="*/ 0 w 162"/>
                  <a:gd name="T15" fmla="*/ 118 h 145"/>
                  <a:gd name="T16" fmla="*/ 74 w 162"/>
                  <a:gd name="T17" fmla="*/ 145 h 145"/>
                  <a:gd name="T18" fmla="*/ 88 w 162"/>
                  <a:gd name="T19" fmla="*/ 145 h 145"/>
                  <a:gd name="T20" fmla="*/ 129 w 162"/>
                  <a:gd name="T21" fmla="*/ 141 h 145"/>
                  <a:gd name="T22" fmla="*/ 129 w 162"/>
                  <a:gd name="T23" fmla="*/ 110 h 145"/>
                  <a:gd name="T24" fmla="*/ 162 w 162"/>
                  <a:gd name="T25" fmla="*/ 5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2" h="145">
                    <a:moveTo>
                      <a:pt x="162" y="57"/>
                    </a:moveTo>
                    <a:cubicBezTo>
                      <a:pt x="162" y="57"/>
                      <a:pt x="162" y="57"/>
                      <a:pt x="162" y="57"/>
                    </a:cubicBezTo>
                    <a:cubicBezTo>
                      <a:pt x="162" y="39"/>
                      <a:pt x="153" y="26"/>
                      <a:pt x="142" y="17"/>
                    </a:cubicBezTo>
                    <a:cubicBezTo>
                      <a:pt x="130" y="8"/>
                      <a:pt x="116" y="3"/>
                      <a:pt x="105" y="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35" y="6"/>
                      <a:pt x="0" y="21"/>
                      <a:pt x="0" y="57"/>
                    </a:cubicBezTo>
                    <a:cubicBezTo>
                      <a:pt x="0" y="109"/>
                      <a:pt x="0" y="118"/>
                      <a:pt x="0" y="118"/>
                    </a:cubicBezTo>
                    <a:cubicBezTo>
                      <a:pt x="0" y="118"/>
                      <a:pt x="2" y="145"/>
                      <a:pt x="74" y="145"/>
                    </a:cubicBezTo>
                    <a:cubicBezTo>
                      <a:pt x="88" y="145"/>
                      <a:pt x="88" y="145"/>
                      <a:pt x="88" y="145"/>
                    </a:cubicBezTo>
                    <a:cubicBezTo>
                      <a:pt x="105" y="145"/>
                      <a:pt x="118" y="143"/>
                      <a:pt x="129" y="141"/>
                    </a:cubicBezTo>
                    <a:cubicBezTo>
                      <a:pt x="129" y="133"/>
                      <a:pt x="129" y="122"/>
                      <a:pt x="129" y="110"/>
                    </a:cubicBezTo>
                    <a:cubicBezTo>
                      <a:pt x="129" y="84"/>
                      <a:pt x="144" y="68"/>
                      <a:pt x="162" y="5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31" name="Oval 592">
                <a:extLst>
                  <a:ext uri="{FF2B5EF4-FFF2-40B4-BE49-F238E27FC236}">
                    <a16:creationId xmlns:a16="http://schemas.microsoft.com/office/drawing/2014/main" id="{57EC3004-8001-4FED-8515-4BCA9E501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2965" y="1641585"/>
                <a:ext cx="104946" cy="12117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68553" tIns="34277" rIns="68553" bIns="34277" numCol="1" anchor="t" anchorCtr="0" compatLnSpc="1">
                <a:prstTxWarp prst="textNoShape">
                  <a:avLst/>
                </a:prstTxWarp>
              </a:bodyPr>
              <a:lstStyle/>
              <a:p>
                <a:pPr defTabSz="914112">
                  <a:defRPr/>
                </a:pPr>
                <a:endParaRPr lang="zh-CN" altLang="en-US" sz="1013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CC846B1-66F9-4566-B771-89F887525160}"/>
                </a:ext>
              </a:extLst>
            </p:cNvPr>
            <p:cNvSpPr txBox="1"/>
            <p:nvPr/>
          </p:nvSpPr>
          <p:spPr>
            <a:xfrm>
              <a:off x="2128622" y="1787674"/>
              <a:ext cx="860647" cy="1862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0-1</a:t>
              </a:r>
              <a:endParaRPr kumimoji="1" lang="zh-CN" altLang="en-US" sz="13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1087BFB-1E8D-4051-BD43-0235E0DF7DDF}"/>
                </a:ext>
              </a:extLst>
            </p:cNvPr>
            <p:cNvSpPr txBox="1"/>
            <p:nvPr/>
          </p:nvSpPr>
          <p:spPr>
            <a:xfrm>
              <a:off x="4115772" y="1696294"/>
              <a:ext cx="860647" cy="1862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1-3</a:t>
              </a:r>
              <a:endParaRPr kumimoji="1" lang="zh-CN" altLang="en-US" sz="13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F115648-092B-45E4-9AFB-86386B744E95}"/>
                </a:ext>
              </a:extLst>
            </p:cNvPr>
            <p:cNvSpPr txBox="1"/>
            <p:nvPr/>
          </p:nvSpPr>
          <p:spPr>
            <a:xfrm>
              <a:off x="6444656" y="1603119"/>
              <a:ext cx="860647" cy="1862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3-N</a:t>
              </a:r>
              <a:endParaRPr kumimoji="1" lang="zh-CN" altLang="en-US" sz="13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E3504BFC-79CC-4DEB-87F3-C565D3C35CB6}"/>
              </a:ext>
            </a:extLst>
          </p:cNvPr>
          <p:cNvSpPr/>
          <p:nvPr/>
        </p:nvSpPr>
        <p:spPr>
          <a:xfrm>
            <a:off x="2706288" y="2613254"/>
            <a:ext cx="6736776" cy="415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zh-CN" altLang="en-US" sz="1599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联合作战：边攻关，边复盘，边建能力</a:t>
            </a:r>
          </a:p>
        </p:txBody>
      </p:sp>
      <p:sp>
        <p:nvSpPr>
          <p:cNvPr id="57" name="矩形 14">
            <a:extLst>
              <a:ext uri="{FF2B5EF4-FFF2-40B4-BE49-F238E27FC236}">
                <a16:creationId xmlns:a16="http://schemas.microsoft.com/office/drawing/2014/main" id="{A45133B8-0CBF-473A-B223-09C7BD65E0D3}"/>
              </a:ext>
            </a:extLst>
          </p:cNvPr>
          <p:cNvSpPr/>
          <p:nvPr/>
        </p:nvSpPr>
        <p:spPr>
          <a:xfrm>
            <a:off x="1363692" y="3391293"/>
            <a:ext cx="3583960" cy="2978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3" tIns="45691" rIns="91383" bIns="456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29">
              <a:defRPr/>
            </a:pPr>
            <a:r>
              <a:rPr lang="en-US" altLang="zh-CN" sz="1399" b="1" kern="0" dirty="0">
                <a:solidFill>
                  <a:srgbClr val="C00000"/>
                </a:solidFill>
                <a:latin typeface="微软雅黑"/>
                <a:ea typeface="微软雅黑"/>
                <a:cs typeface="+mn-ea"/>
                <a:sym typeface="+mn-lt"/>
              </a:rPr>
              <a:t>17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灯塔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/</a:t>
            </a:r>
            <a:r>
              <a:rPr lang="en-US" altLang="zh-CN" sz="1399" b="1" kern="0" dirty="0">
                <a:solidFill>
                  <a:srgbClr val="C00000"/>
                </a:solidFill>
                <a:latin typeface="微软雅黑"/>
                <a:ea typeface="微软雅黑"/>
                <a:cs typeface="+mn-ea"/>
                <a:sym typeface="+mn-lt"/>
              </a:rPr>
              <a:t>81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标杆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DA6EF94-A0E9-4BEA-89BA-08090A3BC07A}"/>
              </a:ext>
            </a:extLst>
          </p:cNvPr>
          <p:cNvSpPr/>
          <p:nvPr/>
        </p:nvSpPr>
        <p:spPr>
          <a:xfrm>
            <a:off x="1734485" y="3669961"/>
            <a:ext cx="2743344" cy="700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多方联合项目任命，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合成作战</a:t>
            </a:r>
            <a:endParaRPr lang="en-US" altLang="zh-CN" sz="1399" b="1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打造武器，形成基线</a:t>
            </a:r>
            <a:endParaRPr lang="en-US" altLang="zh-CN" sz="1399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D37A7B0-9025-40C7-9854-72DE1059DCB9}"/>
              </a:ext>
            </a:extLst>
          </p:cNvPr>
          <p:cNvSpPr/>
          <p:nvPr/>
        </p:nvSpPr>
        <p:spPr>
          <a:xfrm>
            <a:off x="5005564" y="3687603"/>
            <a:ext cx="2853577" cy="700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代表处互锁，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协同作战</a:t>
            </a:r>
            <a:endParaRPr lang="en-US" altLang="zh-CN" sz="1399" b="1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迭代打法策略，使能区域赋能</a:t>
            </a:r>
            <a:endParaRPr lang="en-US" altLang="zh-CN" sz="1399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60" name="矩形 14">
            <a:extLst>
              <a:ext uri="{FF2B5EF4-FFF2-40B4-BE49-F238E27FC236}">
                <a16:creationId xmlns:a16="http://schemas.microsoft.com/office/drawing/2014/main" id="{BC292AFC-C654-4373-80AA-ECC301739ED1}"/>
              </a:ext>
            </a:extLst>
          </p:cNvPr>
          <p:cNvSpPr/>
          <p:nvPr/>
        </p:nvSpPr>
        <p:spPr>
          <a:xfrm>
            <a:off x="4680537" y="3392892"/>
            <a:ext cx="3583960" cy="2978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3" tIns="45691" rIns="91383" bIns="456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29">
              <a:defRPr/>
            </a:pPr>
            <a:r>
              <a:rPr lang="en-US" altLang="zh-CN" sz="1399" b="1" kern="0" dirty="0">
                <a:solidFill>
                  <a:srgbClr val="C00000"/>
                </a:solidFill>
                <a:latin typeface="微软雅黑"/>
                <a:ea typeface="微软雅黑"/>
                <a:cs typeface="+mn-ea"/>
                <a:sym typeface="+mn-lt"/>
              </a:rPr>
              <a:t>249</a:t>
            </a:r>
            <a:r>
              <a:rPr lang="zh-CN" altLang="en-US" sz="1399" b="1" kern="0" dirty="0">
                <a:solidFill>
                  <a:srgbClr val="C00000"/>
                </a:solidFill>
                <a:latin typeface="微软雅黑"/>
                <a:ea typeface="微软雅黑"/>
                <a:cs typeface="+mn-ea"/>
                <a:sym typeface="+mn-lt"/>
              </a:rPr>
              <a:t>个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目标靶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20A35F3-A9F2-4433-825D-3F51A3A8AC05}"/>
              </a:ext>
            </a:extLst>
          </p:cNvPr>
          <p:cNvSpPr txBox="1"/>
          <p:nvPr/>
        </p:nvSpPr>
        <p:spPr>
          <a:xfrm>
            <a:off x="343592" y="3713083"/>
            <a:ext cx="1056079" cy="246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599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军团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2DFF59-97AE-49F4-89D9-FE3346986CD9}"/>
              </a:ext>
            </a:extLst>
          </p:cNvPr>
          <p:cNvSpPr/>
          <p:nvPr/>
        </p:nvSpPr>
        <p:spPr>
          <a:xfrm>
            <a:off x="6340812" y="5592194"/>
            <a:ext cx="5000515" cy="238376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zh-CN" altLang="en-US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区域内辐射复制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DBE4D8-D710-42B2-BD04-5A21B495DD42}"/>
              </a:ext>
            </a:extLst>
          </p:cNvPr>
          <p:cNvGrpSpPr/>
          <p:nvPr/>
        </p:nvGrpSpPr>
        <p:grpSpPr>
          <a:xfrm>
            <a:off x="2102980" y="4376376"/>
            <a:ext cx="8764236" cy="1102124"/>
            <a:chOff x="-1082692" y="7194234"/>
            <a:chExt cx="4389628" cy="877256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A0F7B5B-1EE5-4CD8-BCDE-B3F0FE7BE14C}"/>
                </a:ext>
              </a:extLst>
            </p:cNvPr>
            <p:cNvSpPr txBox="1"/>
            <p:nvPr/>
          </p:nvSpPr>
          <p:spPr>
            <a:xfrm>
              <a:off x="-1082692" y="7333225"/>
              <a:ext cx="943494" cy="1469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2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150+</a:t>
              </a:r>
              <a:r>
                <a:rPr kumimoji="1" lang="en-US" altLang="zh-CN" sz="12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SA</a:t>
              </a:r>
            </a:p>
          </p:txBody>
        </p:sp>
        <p:sp>
          <p:nvSpPr>
            <p:cNvPr id="50" name="箭头: 上下 49">
              <a:extLst>
                <a:ext uri="{FF2B5EF4-FFF2-40B4-BE49-F238E27FC236}">
                  <a16:creationId xmlns:a16="http://schemas.microsoft.com/office/drawing/2014/main" id="{53C97D1B-2028-44DD-9960-D58D1C496A34}"/>
                </a:ext>
              </a:extLst>
            </p:cNvPr>
            <p:cNvSpPr/>
            <p:nvPr/>
          </p:nvSpPr>
          <p:spPr>
            <a:xfrm>
              <a:off x="806845" y="7223803"/>
              <a:ext cx="142067" cy="847687"/>
            </a:xfrm>
            <a:prstGeom prst="upDownArrow">
              <a:avLst/>
            </a:prstGeom>
            <a:solidFill>
              <a:srgbClr val="FFE2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E485649-6D9D-4B0B-8C99-C2DEBB99F8E6}"/>
                </a:ext>
              </a:extLst>
            </p:cNvPr>
            <p:cNvSpPr txBox="1"/>
            <p:nvPr/>
          </p:nvSpPr>
          <p:spPr>
            <a:xfrm>
              <a:off x="546792" y="7369542"/>
              <a:ext cx="1155977" cy="1469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2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200+ </a:t>
              </a:r>
              <a:r>
                <a:rPr kumimoji="1" lang="en-US" altLang="zh-CN" sz="12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VSE</a:t>
              </a:r>
              <a:r>
                <a:rPr kumimoji="1" lang="zh-CN" altLang="en-US" sz="12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endParaRPr kumimoji="1" lang="en-US" altLang="zh-CN" sz="12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2" name="箭头: 下 51">
              <a:extLst>
                <a:ext uri="{FF2B5EF4-FFF2-40B4-BE49-F238E27FC236}">
                  <a16:creationId xmlns:a16="http://schemas.microsoft.com/office/drawing/2014/main" id="{5D17C0EA-4B1C-47CF-B882-36E629397058}"/>
                </a:ext>
              </a:extLst>
            </p:cNvPr>
            <p:cNvSpPr/>
            <p:nvPr/>
          </p:nvSpPr>
          <p:spPr>
            <a:xfrm>
              <a:off x="2061164" y="7223802"/>
              <a:ext cx="120921" cy="822499"/>
            </a:xfrm>
            <a:prstGeom prst="downArrow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CD8449-FF73-465C-9033-CA6BBC0AFBBE}"/>
                </a:ext>
              </a:extLst>
            </p:cNvPr>
            <p:cNvSpPr txBox="1"/>
            <p:nvPr/>
          </p:nvSpPr>
          <p:spPr>
            <a:xfrm>
              <a:off x="2236012" y="7364663"/>
              <a:ext cx="1070924" cy="1469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112">
                <a:defRPr/>
              </a:pPr>
              <a:r>
                <a:rPr kumimoji="1" lang="en-US" altLang="zh-CN" sz="12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50</a:t>
              </a:r>
              <a:r>
                <a:rPr kumimoji="1" lang="zh-CN" altLang="en-US" sz="12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场 </a:t>
              </a:r>
              <a:r>
                <a:rPr kumimoji="1" lang="en-US" altLang="zh-CN" sz="12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3000</a:t>
              </a:r>
              <a:r>
                <a:rPr kumimoji="1" lang="zh-CN" altLang="en-US" sz="12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人次 </a:t>
              </a:r>
              <a:endParaRPr kumimoji="1" lang="en-US" altLang="zh-CN" sz="12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4" name="箭头: 上下 53">
              <a:extLst>
                <a:ext uri="{FF2B5EF4-FFF2-40B4-BE49-F238E27FC236}">
                  <a16:creationId xmlns:a16="http://schemas.microsoft.com/office/drawing/2014/main" id="{1DE121AF-7FB3-4C54-AD96-D5D86A14D0B1}"/>
                </a:ext>
              </a:extLst>
            </p:cNvPr>
            <p:cNvSpPr/>
            <p:nvPr/>
          </p:nvSpPr>
          <p:spPr>
            <a:xfrm>
              <a:off x="-895774" y="7194234"/>
              <a:ext cx="135371" cy="852068"/>
            </a:xfrm>
            <a:prstGeom prst="upDown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B3DE1384-646E-4049-B2F8-D36C0FD2B81F}"/>
              </a:ext>
            </a:extLst>
          </p:cNvPr>
          <p:cNvSpPr/>
          <p:nvPr/>
        </p:nvSpPr>
        <p:spPr>
          <a:xfrm>
            <a:off x="8216814" y="3686389"/>
            <a:ext cx="3228605" cy="700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联合复盘与训战</a:t>
            </a:r>
            <a:endParaRPr lang="en-US" altLang="zh-CN" sz="1399" b="1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  <a:p>
            <a:pPr algn="ctr" defTabSz="913929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能力开发与传递</a:t>
            </a:r>
            <a:endParaRPr lang="en-US" altLang="zh-CN" sz="1399" kern="0" dirty="0">
              <a:solidFill>
                <a:srgbClr val="1D1D1A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62" name="矩形 14">
            <a:extLst>
              <a:ext uri="{FF2B5EF4-FFF2-40B4-BE49-F238E27FC236}">
                <a16:creationId xmlns:a16="http://schemas.microsoft.com/office/drawing/2014/main" id="{54540F34-50E0-4A2A-9550-11671F764545}"/>
              </a:ext>
            </a:extLst>
          </p:cNvPr>
          <p:cNvSpPr/>
          <p:nvPr/>
        </p:nvSpPr>
        <p:spPr>
          <a:xfrm>
            <a:off x="7957435" y="3404371"/>
            <a:ext cx="3583960" cy="2978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3" tIns="45691" rIns="91383" bIns="456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29"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作战复盘 建能力 </a:t>
            </a:r>
            <a:r>
              <a:rPr lang="en-US" altLang="zh-CN" sz="1399" b="1" kern="0" dirty="0">
                <a:solidFill>
                  <a:srgbClr val="C00000"/>
                </a:solidFill>
                <a:latin typeface="微软雅黑"/>
                <a:ea typeface="微软雅黑"/>
                <a:cs typeface="+mn-ea"/>
                <a:sym typeface="+mn-lt"/>
              </a:rPr>
              <a:t>50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场训战 赋能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5381871-9868-450B-B386-FF0F1015381C}"/>
              </a:ext>
            </a:extLst>
          </p:cNvPr>
          <p:cNvSpPr txBox="1"/>
          <p:nvPr/>
        </p:nvSpPr>
        <p:spPr>
          <a:xfrm>
            <a:off x="403665" y="5575152"/>
            <a:ext cx="1003665" cy="246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599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代表处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AE8D0D7-D976-49AF-BC88-0B826A250D86}"/>
              </a:ext>
            </a:extLst>
          </p:cNvPr>
          <p:cNvSpPr txBox="1"/>
          <p:nvPr/>
        </p:nvSpPr>
        <p:spPr>
          <a:xfrm>
            <a:off x="1776427" y="5615965"/>
            <a:ext cx="5606801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政府与公共事业 系统部、业务模块、专</a:t>
            </a:r>
            <a:r>
              <a: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兼职人员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125EE3A-4611-4DCB-97E1-B78F0EF3D98F}"/>
              </a:ext>
            </a:extLst>
          </p:cNvPr>
          <p:cNvSpPr txBox="1"/>
          <p:nvPr/>
        </p:nvSpPr>
        <p:spPr>
          <a:xfrm>
            <a:off x="370051" y="4919032"/>
            <a:ext cx="1003665" cy="4922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599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行业</a:t>
            </a:r>
            <a:endParaRPr kumimoji="1" lang="en-US" altLang="zh-CN" sz="1599" b="1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914112">
              <a:defRPr/>
            </a:pPr>
            <a:r>
              <a:rPr kumimoji="1" lang="zh-CN" altLang="en-US" sz="1599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总部</a:t>
            </a:r>
            <a:endParaRPr kumimoji="1" lang="en-US" altLang="zh-CN" sz="1599" b="1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7D642C0-2848-4A56-AB85-152686C587AF}"/>
              </a:ext>
            </a:extLst>
          </p:cNvPr>
          <p:cNvSpPr txBox="1"/>
          <p:nvPr/>
        </p:nvSpPr>
        <p:spPr>
          <a:xfrm>
            <a:off x="4537941" y="1047711"/>
            <a:ext cx="3081041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战役攻关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4DAA937-7B54-4356-87E6-EA07D3D75FE1}"/>
              </a:ext>
            </a:extLst>
          </p:cNvPr>
          <p:cNvSpPr txBox="1"/>
          <p:nvPr/>
        </p:nvSpPr>
        <p:spPr>
          <a:xfrm>
            <a:off x="8274696" y="1050476"/>
            <a:ext cx="2308392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战场赋能       </a:t>
            </a:r>
            <a:endParaRPr kumimoji="1" lang="zh-CN" altLang="en-US" sz="1799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7E3195-A3FB-4E14-82A3-F72196CF7CD4}"/>
              </a:ext>
            </a:extLst>
          </p:cNvPr>
          <p:cNvSpPr txBox="1"/>
          <p:nvPr/>
        </p:nvSpPr>
        <p:spPr>
          <a:xfrm>
            <a:off x="9170820" y="2183879"/>
            <a:ext cx="2267549" cy="2228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399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3000</a:t>
            </a:r>
            <a:r>
              <a:rPr kumimoji="1" lang="zh-CN" altLang="en-US" sz="13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人次 训战赋能</a:t>
            </a: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1FB310C8-7AB9-4ED9-9A3E-7C55A0749F04}"/>
              </a:ext>
            </a:extLst>
          </p:cNvPr>
          <p:cNvSpPr/>
          <p:nvPr/>
        </p:nvSpPr>
        <p:spPr>
          <a:xfrm>
            <a:off x="8480456" y="929772"/>
            <a:ext cx="1936001" cy="483552"/>
          </a:xfrm>
          <a:prstGeom prst="ellipse">
            <a:avLst/>
          </a:prstGeom>
          <a:noFill/>
          <a:ln w="12700" cap="flat" cmpd="sng" algn="ctr">
            <a:gradFill>
              <a:gsLst>
                <a:gs pos="0">
                  <a:srgbClr val="FFFFFF"/>
                </a:gs>
                <a:gs pos="70000">
                  <a:srgbClr val="FFFFFF">
                    <a:lumMod val="75000"/>
                  </a:srgbClr>
                </a:gs>
                <a:gs pos="100000">
                  <a:srgbClr val="FFFFFF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71" tIns="45685" rIns="91371" bIns="45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60" fontAlgn="ctr">
              <a:defRPr/>
            </a:pPr>
            <a:endParaRPr lang="zh-CN" altLang="en-US" sz="1200" b="1" kern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98903DB-9E1F-4033-A071-1349320290B9}"/>
              </a:ext>
            </a:extLst>
          </p:cNvPr>
          <p:cNvSpPr/>
          <p:nvPr/>
        </p:nvSpPr>
        <p:spPr>
          <a:xfrm>
            <a:off x="5095823" y="937149"/>
            <a:ext cx="1936001" cy="483552"/>
          </a:xfrm>
          <a:prstGeom prst="ellipse">
            <a:avLst/>
          </a:prstGeom>
          <a:noFill/>
          <a:ln w="12700" cap="flat" cmpd="sng" algn="ctr">
            <a:gradFill>
              <a:gsLst>
                <a:gs pos="0">
                  <a:srgbClr val="FFFFFF"/>
                </a:gs>
                <a:gs pos="70000">
                  <a:srgbClr val="FFFFFF">
                    <a:lumMod val="75000"/>
                  </a:srgbClr>
                </a:gs>
                <a:gs pos="100000">
                  <a:srgbClr val="FFFFFF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71" tIns="45685" rIns="91371" bIns="45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60" fontAlgn="ctr">
              <a:defRPr/>
            </a:pPr>
            <a:endParaRPr lang="zh-CN" altLang="en-US" sz="1200" b="1" kern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688D0B2-4465-49BF-8F0D-90BF59FD8251}"/>
              </a:ext>
            </a:extLst>
          </p:cNvPr>
          <p:cNvSpPr txBox="1"/>
          <p:nvPr/>
        </p:nvSpPr>
        <p:spPr>
          <a:xfrm>
            <a:off x="1127823" y="1037011"/>
            <a:ext cx="3081041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战略扩张</a:t>
            </a: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AEDAE433-71D4-4084-AB49-B0F6C5937703}"/>
              </a:ext>
            </a:extLst>
          </p:cNvPr>
          <p:cNvSpPr/>
          <p:nvPr/>
        </p:nvSpPr>
        <p:spPr>
          <a:xfrm>
            <a:off x="1734238" y="926449"/>
            <a:ext cx="1936001" cy="483552"/>
          </a:xfrm>
          <a:prstGeom prst="ellipse">
            <a:avLst/>
          </a:prstGeom>
          <a:noFill/>
          <a:ln w="12700" cap="flat" cmpd="sng" algn="ctr">
            <a:gradFill>
              <a:gsLst>
                <a:gs pos="0">
                  <a:srgbClr val="FFFFFF"/>
                </a:gs>
                <a:gs pos="70000">
                  <a:srgbClr val="FFFFFF">
                    <a:lumMod val="75000"/>
                  </a:srgbClr>
                </a:gs>
                <a:gs pos="100000">
                  <a:srgbClr val="FFFFFF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71" tIns="45685" rIns="91371" bIns="45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60" fontAlgn="ctr">
              <a:defRPr/>
            </a:pPr>
            <a:endParaRPr lang="zh-CN" altLang="en-US" sz="1200" b="1" kern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D7622F1-0F0F-41AE-811D-0D2583C757E0}"/>
              </a:ext>
            </a:extLst>
          </p:cNvPr>
          <p:cNvSpPr txBox="1"/>
          <p:nvPr/>
        </p:nvSpPr>
        <p:spPr>
          <a:xfrm>
            <a:off x="9172653" y="1894230"/>
            <a:ext cx="2267549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399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区域内辐射复制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B585FD0-C7C9-4F7A-A634-18E91F6C1522}"/>
              </a:ext>
            </a:extLst>
          </p:cNvPr>
          <p:cNvSpPr/>
          <p:nvPr/>
        </p:nvSpPr>
        <p:spPr>
          <a:xfrm>
            <a:off x="1514263" y="4975312"/>
            <a:ext cx="9856278" cy="376124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>
            <a:noAutofit/>
          </a:bodyPr>
          <a:lstStyle/>
          <a:p>
            <a:pPr algn="ctr" defTabSz="913623" fontAlgn="ctr">
              <a:defRPr/>
            </a:pPr>
            <a:endParaRPr lang="en-US" altLang="zh-CN" sz="1200" b="1" kern="0" spc="5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2518013-9170-44B1-B763-91C288330BFA}"/>
              </a:ext>
            </a:extLst>
          </p:cNvPr>
          <p:cNvSpPr/>
          <p:nvPr/>
        </p:nvSpPr>
        <p:spPr>
          <a:xfrm>
            <a:off x="1737911" y="5059023"/>
            <a:ext cx="2669940" cy="234075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zh-CN" altLang="en-US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协同攻关，标准牵引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5DEA64D-2A10-4328-9B94-21DB08B0AB8D}"/>
              </a:ext>
            </a:extLst>
          </p:cNvPr>
          <p:cNvSpPr/>
          <p:nvPr/>
        </p:nvSpPr>
        <p:spPr>
          <a:xfrm>
            <a:off x="5194555" y="5068645"/>
            <a:ext cx="2501274" cy="224453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zh-CN" altLang="en-US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圈子营销，二次上市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57F1044-AE55-44F3-AAEE-6B10C7019FCE}"/>
              </a:ext>
            </a:extLst>
          </p:cNvPr>
          <p:cNvSpPr/>
          <p:nvPr/>
        </p:nvSpPr>
        <p:spPr>
          <a:xfrm>
            <a:off x="8258687" y="5059023"/>
            <a:ext cx="3082640" cy="234075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zh-CN" altLang="en-US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联合复盘</a:t>
            </a:r>
            <a:r>
              <a:rPr lang="en-US" altLang="zh-CN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区域赋能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C0F318-F31F-4EB2-89C7-EEF20579BA71}"/>
              </a:ext>
            </a:extLst>
          </p:cNvPr>
          <p:cNvSpPr txBox="1"/>
          <p:nvPr/>
        </p:nvSpPr>
        <p:spPr>
          <a:xfrm>
            <a:off x="660692" y="1789766"/>
            <a:ext cx="483148" cy="738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599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对齐价值场景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343A6B1-0BC5-4621-A1E2-0E0008F0DBBC}"/>
              </a:ext>
            </a:extLst>
          </p:cNvPr>
          <p:cNvSpPr txBox="1"/>
          <p:nvPr/>
        </p:nvSpPr>
        <p:spPr>
          <a:xfrm>
            <a:off x="1363691" y="6087780"/>
            <a:ext cx="9387933" cy="246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/>
            <a:r>
              <a:rPr kumimoji="1" lang="zh-CN" altLang="en-US" sz="1599" b="1" dirty="0">
                <a:solidFill>
                  <a:srgbClr val="7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目前固定靶已完成伙伴初选的项目中涉及科大讯飞</a:t>
            </a:r>
            <a:r>
              <a:rPr kumimoji="1" lang="en-US" altLang="zh-CN" sz="1599" b="1" dirty="0">
                <a:solidFill>
                  <a:srgbClr val="7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15+</a:t>
            </a:r>
            <a:r>
              <a:rPr kumimoji="1" lang="zh-CN" altLang="en-US" sz="1599" b="1" dirty="0">
                <a:solidFill>
                  <a:srgbClr val="7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项目， 分布在海外政府、国内安平、教育、医疗</a:t>
            </a:r>
          </a:p>
        </p:txBody>
      </p:sp>
    </p:spTree>
    <p:extLst>
      <p:ext uri="{BB962C8B-B14F-4D97-AF65-F5344CB8AC3E}">
        <p14:creationId xmlns:p14="http://schemas.microsoft.com/office/powerpoint/2010/main" val="2005386092"/>
      </p:ext>
    </p:extLst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