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147483630" r:id="rId8"/>
    <p:sldId id="2147483631" r:id="rId9"/>
    <p:sldId id="2147483632" r:id="rId10"/>
    <p:sldId id="2147483633" r:id="rId11"/>
    <p:sldId id="2147483634" r:id="rId12"/>
    <p:sldId id="2147483635" r:id="rId13"/>
    <p:sldId id="2147483636" r:id="rId14"/>
    <p:sldId id="2147483637" r:id="rId15"/>
    <p:sldId id="2147483638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24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D33DA-F32C-4BB5-A35D-C2C64315327B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69E06-539E-443E-9D9E-DA313339D2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360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本次交流讲四件事：讯飞交付什么、怎么做、双方怎么分工、巴方人员怎样学会并接手。依据 Mota 电话中 RNP 的诉求。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先回答最基本的问题：讯飞这部分最终形成什么，各有什么用，巴方要做什么。展示材料要标明是案例还是本项目交付。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 RNP 明白模型怎样形成、讯飞负责什么、巴方要提供和参与什么。不预设从零训练，不展开技术选型依据。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从使用者角度讲：谁用、完成什么工作、得到什么。要有界面或视频，标明是案例还是本项目交付。听众不需要技术栈。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领域是否选对、数据是否可用、专家能否参与评价，决定工作能否推进。候选领域标明候选状态。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回答“这些工作怎样安排在一起”。Mota 原话是三方责任，华为平台依赖单列，避免 RNP 把算力、环境的事算到讯飞头上。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 Mota 电话最直接的回应：巴方要安排多少人、什么人、什么时候投入。区分承担项目任务的人和只上课的人。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第一层是项目内、已在报价中的知识转移；第二层是可选、单独报价的深入研修。学完能做什么要正面写清，避免客户期望学完就能自己做国家模型。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让交流形成推进：哪些已对齐、哪些未定、谁负责补什么。这次会相当于锁定 SOW，争取技术部分当场基本谈定。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简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894" y="145343"/>
            <a:ext cx="10440017" cy="48684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2797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lvl="0" defTabSz="913303">
              <a:spcBef>
                <a:spcPct val="0"/>
              </a:spcBef>
            </a:pPr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6144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1186848" rtl="0" eaLnBrk="1" latinLnBrk="0" hangingPunct="1">
        <a:lnSpc>
          <a:spcPct val="90000"/>
        </a:lnSpc>
        <a:spcBef>
          <a:spcPct val="0"/>
        </a:spcBef>
        <a:buNone/>
        <a:defRPr sz="57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712" indent="-296712" algn="l" defTabSz="1186848" rtl="0" eaLnBrk="1" latinLnBrk="0" hangingPunct="1">
        <a:lnSpc>
          <a:spcPct val="90000"/>
        </a:lnSpc>
        <a:spcBef>
          <a:spcPts val="1297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13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6" kern="1200">
          <a:solidFill>
            <a:schemeClr val="tx1"/>
          </a:solidFill>
          <a:latin typeface="+mn-lt"/>
          <a:ea typeface="+mn-ea"/>
          <a:cs typeface="+mn-cs"/>
        </a:defRPr>
      </a:lvl2pPr>
      <a:lvl3pPr marL="1483560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6" kern="1200">
          <a:solidFill>
            <a:schemeClr val="tx1"/>
          </a:solidFill>
          <a:latin typeface="+mn-lt"/>
          <a:ea typeface="+mn-ea"/>
          <a:cs typeface="+mn-cs"/>
        </a:defRPr>
      </a:lvl3pPr>
      <a:lvl4pPr marL="2076986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670409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3263834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857258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450682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504410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1pPr>
      <a:lvl2pPr marL="59342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2pPr>
      <a:lvl3pPr marL="118684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3pPr>
      <a:lvl4pPr marL="1780274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37369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296712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560546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15397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474739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666666"/>
                </a:solidFill>
                <a:latin typeface="微软雅黑"/>
                <a:ea typeface="微软雅黑"/>
              </a:rPr>
              <a:t>RNP × 科大讯飞 · 技术交流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C00000"/>
                </a:solidFill>
                <a:latin typeface="微软雅黑"/>
                <a:ea typeface="微软雅黑"/>
              </a:rPr>
              <a:t>葡语大模型、应用与领域模型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D1D1A"/>
                </a:solidFill>
                <a:latin typeface="微软雅黑"/>
                <a:ea typeface="微软雅黑"/>
              </a:rPr>
              <a:t>讯飞交付什么、双方怎么分工、能力如何转移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里约热内卢 ·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示例：2026 年 9 月 9 日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汇报：科大讯飞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示例：陈浩、方案架构师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讨论稿，内容以 SOW、报价与技术方案为准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49240"/>
            <a:ext cx="7772400" cy="50292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7498079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图例：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蓝色文字</a:t>
            </a: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 = 示例内容，需按实际情况替换（日期、人名、数字、场景、口径）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2066543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182880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D1D1A"/>
                </a:solidFill>
                <a:latin typeface="微软雅黑"/>
                <a:ea typeface="微软雅黑"/>
              </a:rPr>
              <a:t>葡语基础模型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852928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3090672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852928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D1D1A"/>
                </a:solidFill>
                <a:latin typeface="微软雅黑"/>
                <a:ea typeface="微软雅黑"/>
              </a:rPr>
              <a:t>应用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3877056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0" y="4114800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3877056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D1D1A"/>
                </a:solidFill>
                <a:latin typeface="微软雅黑"/>
                <a:ea typeface="微软雅黑"/>
              </a:rPr>
              <a:t>领域模型 DLM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901184"/>
            <a:ext cx="2651760" cy="685800"/>
          </a:xfrm>
          <a:prstGeom prst="roundRect">
            <a:avLst>
              <a:gd name="adj" fmla="val 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4901184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知识转移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讯飞交付什么：三项成果，一套能力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3544824" cy="32004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" y="130759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52728"/>
            <a:ext cx="263042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D1D1A"/>
                </a:solidFill>
                <a:latin typeface="微软雅黑"/>
                <a:ea typeface="微软雅黑"/>
              </a:rPr>
              <a:t>葡语基础模型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30876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葡语政务问答与文本处理的基础能力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308762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巴方提供语料并参与评测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051560"/>
            <a:ext cx="3544824" cy="32004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0664" y="130759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584" y="1252728"/>
            <a:ext cx="263042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D1D1A"/>
                </a:solidFill>
                <a:latin typeface="微软雅黑"/>
                <a:ea typeface="微软雅黑"/>
              </a:rPr>
              <a:t>应用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01168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0664" y="2350008"/>
            <a:ext cx="30876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政务人员直接使用的葡语智能应用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场景：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示例：政策咨询问答、公文辅助起草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324612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3584448"/>
            <a:ext cx="308762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巴方提供系统接口并确认业务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6928" y="1051560"/>
            <a:ext cx="3544824" cy="32004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5528" y="130759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8448" y="1252728"/>
            <a:ext cx="263042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D1D1A"/>
                </a:solidFill>
                <a:latin typeface="微软雅黑"/>
                <a:ea typeface="微软雅黑"/>
              </a:rPr>
              <a:t>领域模型 DLM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5528" y="201168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5528" y="2350008"/>
            <a:ext cx="30876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面向具体业务问题的专用模型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领域：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示例：教育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5528" y="324612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5528" y="3584448"/>
            <a:ext cx="308762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巴方选定领域、提供数据与专家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11274552" cy="9144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01768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巴方人员在参与以上三项工作的过程中，学会数据处理、模型训练与调优、应用开发与运行。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6928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以上四项均在当前方案范围内；范围口径以 SOW 与报价核对为准。第 3–5 页逐项展开。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葡语基础模型：怎么建、谁来做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69848"/>
            <a:ext cx="96286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葡语政务问答与文本处理的基础能力，作为 APP 与领域模型的共同底座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收集与清洗葡语语料；巴方提供政务语料并落实授权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训练与适配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示例：在星火底座上做葡语增量训练与指令微调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葡语通用基准 + 政务任务评测集，双方共同评审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交付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模型包、推理服务、评测报告与操作文档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数据处理、训练与调优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评测与报告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打包、文档与交付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提供语料并落实授权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参与评测评审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5229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交付物与验收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04688"/>
            <a:ext cx="92628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示例：模型权重 + 推理服务镜像；评测达标后试运行 4 周，通过即验收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应用 APP：给谁用、怎么建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69848"/>
            <a:ext cx="96286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政务人员直接使用的葡语智能应用；场景：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示例：政策咨询问答、公文辅助起草、材料摘要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需求确认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确认用户、场景与功能清单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开发与本地化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葡语界面、账号权限、模型调用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系统对接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对接巴方业务系统与数据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测试上线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联合测试、试运行、上线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3291840" cy="12801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86200"/>
            <a:ext cx="3017520" cy="1280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界面截图 / 演示视频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示例位：现场演示一段完整操作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59" y="3886200"/>
            <a:ext cx="3717035" cy="12801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59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4343400"/>
            <a:ext cx="3259835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应用开发与本地化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系统对接与上线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使用培训与支持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4715" y="3886200"/>
            <a:ext cx="3717035" cy="128016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3315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315" y="4343400"/>
            <a:ext cx="3259835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提供接口与测试数据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确认业务流程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组织测试与验收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5229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功能与规模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504688"/>
            <a:ext cx="92628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示例：问答、摘要、公文生成；支持 500 用户、并发 50；参考案例另附截图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领域模型 DLM：选什么领域、怎么共同开发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69848"/>
            <a:ext cx="96286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面向具体业务问题的专用模型；候选领域：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示例：教育</a:t>
            </a: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（按业务问题、数据可用性与专家投入选定）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选定领域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双方共同确定业务问题与成功标准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数据与专家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巴方提供领域数据与授权，安排领域专家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开发与适配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基于葡语底座做领域适配与应用开发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评价与验收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专家评价、业务验收，移交更新方法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数据规格与领域适配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评测报告与问题修复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移交更新方法与工具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提出业务问题，指定负责人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提供数据与授权，安排专家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评价验收，接手后自行更新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5229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交付物与验收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04688"/>
            <a:ext cx="92628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示例：教育领域模型 + 领域应用 + 数据说明与更新指南；专家评价通过即验收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整体路径：五个阶段，一条时间线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2050084" cy="26517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53642" y="1307592"/>
            <a:ext cx="457200" cy="45720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867204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数据准备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39"/>
            <a:ext cx="1684324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语料收集清洗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授权落实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68432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示例：M1–M2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34716" y="196596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3316" y="1051560"/>
            <a:ext cx="2050084" cy="26517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59759" y="1307592"/>
            <a:ext cx="457200" cy="45720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4756" y="1874519"/>
            <a:ext cx="1867204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模型训练与评测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196" y="2377439"/>
            <a:ext cx="1684324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训练葡语底座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共同评审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6196" y="3200400"/>
            <a:ext cx="168432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示例：M3–M5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40833" y="196596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69433" y="1051560"/>
            <a:ext cx="2050084" cy="26517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65876" y="1307592"/>
            <a:ext cx="457200" cy="45720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873" y="1874519"/>
            <a:ext cx="1867204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应用与领域开发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2313" y="2377439"/>
            <a:ext cx="1684324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APP 与领域模型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巴方一起做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2313" y="3200400"/>
            <a:ext cx="168432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示例：M5–M8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46950" y="196596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75550" y="1051560"/>
            <a:ext cx="2050084" cy="26517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71992" y="1307592"/>
            <a:ext cx="457200" cy="45720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6990" y="1874519"/>
            <a:ext cx="1867204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部署与验收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8430" y="2377439"/>
            <a:ext cx="1684324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部署到华为平台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试运行、验收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8430" y="3200400"/>
            <a:ext cx="168432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示例：M9–M10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3067" y="196596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81667" y="1051560"/>
            <a:ext cx="2050084" cy="26517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78109" y="1307592"/>
            <a:ext cx="457200" cy="457200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3107" y="1874519"/>
            <a:ext cx="1867204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交接与支持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4547" y="2377439"/>
            <a:ext cx="1684324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移交模型、应用、文档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支持期响应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4547" y="3200400"/>
            <a:ext cx="1684324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示例：M11–M12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977639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05655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华为平台依赖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4087368"/>
            <a:ext cx="9171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训练与推理算力　·　部署环境与网络　·　数据中心运维衔接　　（单列，不计入讯飞责任）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75488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882896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关键里程碑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864608"/>
            <a:ext cx="9171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示例：M2 语料到位　·　M5 底座通过评测　·　M8 应用联调通过　·　M10 验收　·　M12 交接完成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阶段名称、数量与时间按实际方案确定。RNP 据此编制本方项目计划。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需要投入的人员与资源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2" cy="3154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4023360"/>
                <a:gridCol w="3108960"/>
                <a:gridCol w="2130552"/>
              </a:tblGrid>
              <a:tr h="41148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基础要求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统筹巴方资源，对接讯飞与华为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项目管理，英语沟通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领域专家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定义业务问题，评价领域成果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领域业务经验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示例：每领域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语料收集、清洗、标注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Python，数据处理基础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参与训练、评测与调优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Python，机器学习基础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参与应用开发与系统对接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软件开发经验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部署、运行与监控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Linux 与容器基础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709160"/>
            <a:ext cx="11274552" cy="6858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896612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4818888"/>
            <a:ext cx="9811512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数据与授权　·　环境与访问　·　业务系统接口　·　测试条件　　到位时间：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示例：合同生效后 4 周内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RNP 据此编制本方参与计划；角色按实际任务取舍。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知识转移：两层安排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54396" cy="3931920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61B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已包含在当前报价 · 不另收费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3B7A1A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05756" cy="23774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方式：讲解、示范、共同操作、指导实践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对象：参与项目的巴方人员，名额 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示例：每阶段 10 人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结果：能独立完成数据处理、模型微调、应用部署与运行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语言：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示例：英语授课，配葡语助教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7356" y="1097280"/>
            <a:ext cx="5454396" cy="3931920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51676" y="137160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D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可选 · 单独报价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6" y="1874519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B35400"/>
                </a:solidFill>
                <a:latin typeface="微软雅黑"/>
                <a:ea typeface="微软雅黑"/>
              </a:rPr>
              <a:t>核心人才深入研修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6" y="2468880"/>
            <a:ext cx="4905756" cy="237743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对象：少数有编程与模型基础的人员，人数 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示例：6–8 人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方向：模型训练与调优、蒸馏、评测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形式与周期：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示例：合肥现场 4 周 + 远程 8 周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价格：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示例：按人数与周期单独报价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不覆盖：讯飞 SOW 以外的工作包。“已包含”口径以 SOW 与报价核对为准。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本次需要确认的事项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2" cy="3703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1645920"/>
                <a:gridCol w="5422392"/>
              </a:tblGrid>
              <a:tr h="41148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事项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承接方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结论 / 下一步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 模型、应用与领域工作的目标与范围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周讯飞提交评测集与候选领域清单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 RNP 参与人员与资源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2 周 RNP 提交人员名单与到位时间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3. 实施阶段与时间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周提交实施计划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4. 知识转移名额与能力目标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示例：按 SOW 核对名额，会后 1 周确认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5. 可选研修是否需要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 内部评估后答复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6. 范围与费用归属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 SOW 与报价核对表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会中记录结论，会后形成双方行动；材料中出现的内容不等于双方已承诺。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7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PresentationFormat>宽屏</PresentationFormat>
  <Paragraphs>37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楷体</vt:lpstr>
      <vt:lpstr>Microsoft YaHei</vt:lpstr>
      <vt:lpstr>Microsoft YaHei</vt:lpstr>
      <vt:lpstr>Arial</vt:lpstr>
      <vt:lpstr>Calibri</vt:lpstr>
      <vt:lpstr>7_章节页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Hao</dc:creator>
  <cp:lastModifiedBy>Chen Hao</cp:lastModifiedBy>
  <cp:revision>1</cp:revision>
  <dcterms:created xsi:type="dcterms:W3CDTF">2026-08-27T14:04:28Z</dcterms:created>
  <dcterms:modified xsi:type="dcterms:W3CDTF">2026-08-27T14:04:38Z</dcterms:modified>
</cp:coreProperties>
</file>