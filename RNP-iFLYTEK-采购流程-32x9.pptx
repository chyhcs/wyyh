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5143500"/>
  <p:notesSz cx="51435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RNP-iFLYTEK 正式采购流程一页概览（32:9）。左侧 A 区为尚未进入正式采购的前期准备：A1 Proposal Draft 先行，A4 RNP 提前分析随后；A2 合同结构讨论、A3 巴西主体与 CNPJ/CNAE/NBS 准备、A5 外部条件释放三线并行。进入正式采购的硬触发条件只有两项：外部条件释放与 Proposal 完全谈妥。右侧 B 区为串行的正式采购五步，整体按 1 个月测算，目标 9/30 完成签约。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188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RNP-iFLYTEK 正式采购流程（1页概览）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93192" y="6035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2026/08/04 采购会议纪要（修正版）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595360" y="146304"/>
            <a:ext cx="9372600" cy="768096"/>
          </a:xfrm>
          <a:prstGeom prst="roundRect">
            <a:avLst>
              <a:gd name="adj" fmla="val 7143"/>
            </a:avLst>
          </a:prstGeom>
          <a:solidFill>
            <a:srgbClr val="F2F6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0" y="54864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10305F"/>
          </a:solidFill>
          <a:ln w="12700">
            <a:solidFill>
              <a:srgbClr val="10305F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0" y="54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796528" y="4206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indent="0" marL="0">
              <a:buNone/>
            </a:pPr>
            <a:r>
              <a:rPr lang="en-US" sz="950" dirty="0">
                <a:solidFill>
                  <a:srgbClr val="2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阶段：A1 → A4 有先后顺序；A2 / A3 / A5 可并行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796528" y="64922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indent="0" marL="0">
              <a:buNone/>
            </a:pPr>
            <a:r>
              <a:rPr lang="en-US" sz="950" dirty="0">
                <a:solidFill>
                  <a:srgbClr val="2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部分需包含：讯飞自行聘请会计师事务所评估 CNAE / NBS 代码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030200" y="4206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indent="0" marL="0">
              <a:buNone/>
            </a:pPr>
            <a:r>
              <a:rPr lang="en-US" sz="950" dirty="0">
                <a:solidFill>
                  <a:srgbClr val="2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进入正式采购的触发条件仅两项：外部条件释放；Proposal 完全谈妥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030200" y="649224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indent="0" marL="0">
              <a:buNone/>
            </a:pPr>
            <a:r>
              <a:rPr lang="en-US" sz="950" dirty="0">
                <a:solidFill>
                  <a:srgbClr val="2B3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 编制前可无 CNPJ；最迟正式报价前需具备有效 CNPJ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005840"/>
            <a:ext cx="7498080" cy="3218688"/>
          </a:xfrm>
          <a:prstGeom prst="roundRect">
            <a:avLst>
              <a:gd name="adj" fmla="val 852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005840"/>
            <a:ext cx="7498080" cy="347472"/>
          </a:xfrm>
          <a:prstGeom prst="roundRect">
            <a:avLst>
              <a:gd name="adj" fmla="val 13158"/>
            </a:avLst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A. 前期准备（部分串行 + 部分并行，尚未进入正式采购）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6344" y="1389888"/>
            <a:ext cx="7205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6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顺序关系：先 A1，后 A4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" y="15910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1682496"/>
            <a:ext cx="256032" cy="256032"/>
          </a:xfrm>
          <a:prstGeom prst="ellipse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" y="1664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Draft 草案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" y="18836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 RNP 理解范围</a:t>
            </a:r>
            <a:endParaRPr lang="en-US" sz="85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可先无 CNPJ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31336" y="1865376"/>
            <a:ext cx="466344" cy="164592"/>
          </a:xfrm>
          <a:prstGeom prst="rightArrow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25696" y="1591056"/>
            <a:ext cx="32461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35424" y="1682496"/>
            <a:ext cx="256032" cy="256032"/>
          </a:xfrm>
          <a:prstGeom prst="ellipse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64608" y="16642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RNP 提前分析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188366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初步理解 TR 范围</a:t>
            </a:r>
            <a:endParaRPr lang="en-US" sz="85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预判 CAPEX / OPEX、NBS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" y="2322576"/>
            <a:ext cx="7205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6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可并行推进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" y="2523744"/>
            <a:ext cx="232257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2615184"/>
            <a:ext cx="237744" cy="237744"/>
          </a:xfrm>
          <a:prstGeom prst="ellipse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9536" y="259689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MoU / Proposal / 合同结构讨论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292608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继续谈 MoU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确认范围、结构、核心商务条款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双语文本、服务、租赁结构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07792" y="2523744"/>
            <a:ext cx="232257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008376" y="2615184"/>
            <a:ext cx="237744" cy="237744"/>
          </a:xfrm>
          <a:prstGeom prst="ellipse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08376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00984" y="259689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巴西主体 / CNPJ / 税务代码准备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35808" y="292608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公司设立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CNPJ、CNAE、授权准备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讯飞聘请会计师事务所评估 CNAE / NBS 代码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349240" y="2523744"/>
            <a:ext cx="232257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49824" y="2615184"/>
            <a:ext cx="237744" cy="237744"/>
          </a:xfrm>
          <a:prstGeom prst="ellipse">
            <a:avLst/>
          </a:prstGeom>
          <a:solidFill>
            <a:srgbClr val="0E8577"/>
          </a:solidFill>
          <a:ln w="12700">
            <a:solidFill>
              <a:srgbClr val="0E85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2615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42432" y="259689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外部条件释放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477256" y="292608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 / 部门 / Casa Civil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地点、项目条件明确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66344" y="3602736"/>
            <a:ext cx="7205472" cy="420624"/>
          </a:xfrm>
          <a:prstGeom prst="roundRect">
            <a:avLst>
              <a:gd name="adj" fmla="val 10870"/>
            </a:avLst>
          </a:prstGeom>
          <a:solidFill>
            <a:srgbClr val="E7F3F0"/>
          </a:solidFill>
          <a:ln w="9525">
            <a:solidFill>
              <a:srgbClr val="0E85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3630168"/>
            <a:ext cx="2926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66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进入正式采购阶段的触发条件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0664" y="3813048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34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外部条件释放 / 项目条件基本明确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69664" y="3813048"/>
            <a:ext cx="3108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341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Proposal 完全谈妥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" y="4050792"/>
            <a:ext cx="7205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注：A3（CNPJ / CNAE / NBS 评估）应尽快推进，但不是进入正式采购的硬触发条件；最迟需在正式报价前准备到位。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06740" y="1051560"/>
            <a:ext cx="0" cy="3127248"/>
          </a:xfrm>
          <a:prstGeom prst="line">
            <a:avLst/>
          </a:prstGeom>
          <a:noFill/>
          <a:ln w="15875">
            <a:solidFill>
              <a:srgbClr val="C6282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8074152" y="1874520"/>
            <a:ext cx="265176" cy="26517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8124444" y="1961388"/>
            <a:ext cx="164592" cy="91440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18120" y="22128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从这里开始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进入正式采购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595360" y="1005840"/>
            <a:ext cx="9372600" cy="3218688"/>
          </a:xfrm>
          <a:prstGeom prst="roundRect">
            <a:avLst>
              <a:gd name="adj" fmla="val 852"/>
            </a:avLst>
          </a:prstGeom>
          <a:solidFill>
            <a:srgbClr val="F7F9FC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95360" y="1005840"/>
            <a:ext cx="9372600" cy="347472"/>
          </a:xfrm>
          <a:prstGeom prst="roundRect">
            <a:avLst>
              <a:gd name="adj" fmla="val 13158"/>
            </a:avLst>
          </a:prstGeom>
          <a:solidFill>
            <a:srgbClr val="1A5FBF"/>
          </a:solidFill>
          <a:ln w="12700">
            <a:solidFill>
              <a:srgbClr val="1A5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1005840"/>
            <a:ext cx="9372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B. 正式采购流程（串行推进）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8741664" y="1444752"/>
            <a:ext cx="1640434" cy="1810512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860536" y="1554480"/>
            <a:ext cx="274320" cy="274320"/>
          </a:xfrm>
          <a:prstGeom prst="ellipse">
            <a:avLst/>
          </a:prstGeom>
          <a:solidFill>
            <a:srgbClr val="0F3D80"/>
          </a:solidFill>
          <a:ln w="12700">
            <a:solidFill>
              <a:srgbClr val="0F3D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860536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860536" y="1883664"/>
            <a:ext cx="1402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RNP 在 ERP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发起需求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860536" y="2468880"/>
            <a:ext cx="1402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正式内部流程启动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601554" y="1444752"/>
            <a:ext cx="1640434" cy="1810512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0720426" y="1554480"/>
            <a:ext cx="274320" cy="274320"/>
          </a:xfrm>
          <a:prstGeom prst="ellipse">
            <a:avLst/>
          </a:prstGeom>
          <a:solidFill>
            <a:srgbClr val="0F3D80"/>
          </a:solidFill>
          <a:ln w="12700">
            <a:solidFill>
              <a:srgbClr val="0F3D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720426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720426" y="1883664"/>
            <a:ext cx="1402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正式编制 TR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720426" y="2468880"/>
            <a:ext cx="1402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明确范围、交付物、技术要求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编制阶段本身可不依赖 CNPJ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2461443" y="1444752"/>
            <a:ext cx="1640434" cy="1810512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2580315" y="1554480"/>
            <a:ext cx="274320" cy="274320"/>
          </a:xfrm>
          <a:prstGeom prst="ellipse">
            <a:avLst/>
          </a:prstGeom>
          <a:solidFill>
            <a:srgbClr val="0F3D80"/>
          </a:solidFill>
          <a:ln w="12700">
            <a:solidFill>
              <a:srgbClr val="0F3D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580315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580315" y="1883664"/>
            <a:ext cx="1402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RNP 正式索取报价 /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iFLYTEK 提交正式报价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12580315" y="2468880"/>
            <a:ext cx="1402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需具备有效 CNPJ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服务内容需匹配 CNAE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4321333" y="1444752"/>
            <a:ext cx="1640434" cy="1810512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4440205" y="1554480"/>
            <a:ext cx="274320" cy="274320"/>
          </a:xfrm>
          <a:prstGeom prst="ellipse">
            <a:avLst/>
          </a:prstGeom>
          <a:solidFill>
            <a:srgbClr val="0F3D80"/>
          </a:solidFill>
          <a:ln w="12700">
            <a:solidFill>
              <a:srgbClr val="0F3D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440205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4440205" y="1883664"/>
            <a:ext cx="1402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正式报价 + 内部审查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合同定稿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4440205" y="2468880"/>
            <a:ext cx="1402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/ 项目 / 法务 / 控制部门审查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重点：CNAE / NBS、CAPEX vs OPEX、软件权利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6181222" y="1444752"/>
            <a:ext cx="1640434" cy="1810512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16300094" y="1554480"/>
            <a:ext cx="274320" cy="274320"/>
          </a:xfrm>
          <a:prstGeom prst="ellipse">
            <a:avLst/>
          </a:prstGeom>
          <a:solidFill>
            <a:srgbClr val="0F3D80"/>
          </a:solidFill>
          <a:ln w="12700">
            <a:solidFill>
              <a:srgbClr val="0F3D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300094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6300094" y="1883664"/>
            <a:ext cx="14026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签署完成 →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 / 开票 / 付款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6300094" y="2468880"/>
            <a:ext cx="1402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签约后进入履约与付款</a:t>
            </a:r>
            <a:endParaRPr lang="en-US" sz="800" dirty="0"/>
          </a:p>
          <a:p>
            <a:pPr marL="114300" indent="-114300">
              <a:lnSpc>
                <a:spcPct val="112000"/>
              </a:lnSpc>
              <a:spcAft>
                <a:spcPts val="150"/>
              </a:spcAft>
              <a:buSzPct val="100000"/>
              <a:buChar char="–"/>
            </a:pPr>
            <a:r>
              <a:rPr lang="en-US" sz="80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开票通常仍需市政登记 / ISS 条件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0404958" y="2258568"/>
            <a:ext cx="173736" cy="155448"/>
          </a:xfrm>
          <a:prstGeom prst="rightArrow">
            <a:avLst/>
          </a:prstGeom>
          <a:solidFill>
            <a:srgbClr val="1A5FBF"/>
          </a:solidFill>
          <a:ln w="12700">
            <a:solidFill>
              <a:srgbClr val="1A5FB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264847" y="2258568"/>
            <a:ext cx="173736" cy="155448"/>
          </a:xfrm>
          <a:prstGeom prst="rightArrow">
            <a:avLst/>
          </a:prstGeom>
          <a:solidFill>
            <a:srgbClr val="1A5FBF"/>
          </a:solidFill>
          <a:ln w="12700">
            <a:solidFill>
              <a:srgbClr val="1A5FB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4124737" y="2258568"/>
            <a:ext cx="173736" cy="155448"/>
          </a:xfrm>
          <a:prstGeom prst="rightArrow">
            <a:avLst/>
          </a:prstGeom>
          <a:solidFill>
            <a:srgbClr val="1A5FBF"/>
          </a:solidFill>
          <a:ln w="12700">
            <a:solidFill>
              <a:srgbClr val="1A5FB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5984626" y="2258568"/>
            <a:ext cx="173736" cy="155448"/>
          </a:xfrm>
          <a:prstGeom prst="rightArrow">
            <a:avLst/>
          </a:prstGeom>
          <a:solidFill>
            <a:srgbClr val="1A5FBF"/>
          </a:solidFill>
          <a:ln w="12700">
            <a:solidFill>
              <a:srgbClr val="1A5FB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41664" y="3310128"/>
            <a:ext cx="4443984" cy="859536"/>
          </a:xfrm>
          <a:prstGeom prst="roundRect">
            <a:avLst>
              <a:gd name="adj" fmla="val 6383"/>
            </a:avLst>
          </a:prstGeom>
          <a:solidFill>
            <a:srgbClr val="EEF4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8887968" y="338328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正式采购流程整体周期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887968" y="360273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1 个月测算。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 9 月初进入正式流程，则可按约 1 个月推进至签约完成。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3377672" y="3310128"/>
            <a:ext cx="4443984" cy="859536"/>
          </a:xfrm>
          <a:prstGeom prst="roundRect">
            <a:avLst>
              <a:gd name="adj" fmla="val 6383"/>
            </a:avLst>
          </a:prstGeom>
          <a:solidFill>
            <a:srgbClr val="EEF4FC"/>
          </a:solidFill>
          <a:ln w="9525">
            <a:solidFill>
              <a:srgbClr val="D9E2EC"/>
            </a:solidFill>
            <a:prstDash val="solid"/>
          </a:ln>
          <a:effectLst>
            <a:outerShdw sx="100000" sy="100000" kx="0" ky="0" algn="bl" rotWithShape="0" blurRad="76200" dist="12700" dir="5400000">
              <a:srgbClr val="9FB0C4">
                <a:alpha val="28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13523976" y="3383280"/>
            <a:ext cx="4151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9/30 倒排目标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13523976" y="3602736"/>
            <a:ext cx="4151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月完成 A 区关键准备；9 月进入 B 流程；</a:t>
            </a:r>
            <a:endParaRPr lang="en-US" sz="8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B5A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9/30 完成签约为目标。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320040" y="4297680"/>
            <a:ext cx="17647920" cy="310896"/>
          </a:xfrm>
          <a:prstGeom prst="roundRect">
            <a:avLst>
              <a:gd name="adj" fmla="val 14706"/>
            </a:avLst>
          </a:prstGeom>
          <a:solidFill>
            <a:srgbClr val="EEF3FA"/>
          </a:solidFill>
          <a:ln w="9525">
            <a:solidFill>
              <a:srgbClr val="DCE6F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645920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66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月：A 区关键准备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7132320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月：B 流程（整体约 1 个月）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2618720" y="42976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0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9/30：签约完成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897880" y="4416552"/>
            <a:ext cx="1005840" cy="82296"/>
          </a:xfrm>
          <a:prstGeom prst="rightArrow">
            <a:avLst/>
          </a:prstGeom>
          <a:solidFill>
            <a:srgbClr val="9AB2CE"/>
          </a:solidFill>
          <a:ln w="12700">
            <a:solidFill>
              <a:srgbClr val="9AB2C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384280" y="4416552"/>
            <a:ext cx="1005840" cy="82296"/>
          </a:xfrm>
          <a:prstGeom prst="rightArrow">
            <a:avLst/>
          </a:prstGeom>
          <a:solidFill>
            <a:srgbClr val="9AB2CE"/>
          </a:solidFill>
          <a:ln w="12700">
            <a:solidFill>
              <a:srgbClr val="9AB2C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0040" y="4645152"/>
            <a:ext cx="17647920" cy="384048"/>
          </a:xfrm>
          <a:prstGeom prst="roundRect">
            <a:avLst>
              <a:gd name="adj" fmla="val 11905"/>
            </a:avLst>
          </a:prstGeom>
          <a:solidFill>
            <a:srgbClr val="10305F"/>
          </a:solidFill>
          <a:ln w="12700">
            <a:solidFill>
              <a:srgbClr val="10305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0040" y="4645152"/>
            <a:ext cx="1764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建议：尽快完成 Proposal Draft 与 Proposal 谈判，并同步推进 CNPJ / CNAE / NBS 准备，争取 9 月进入正式采购流程、9/30 完成签约。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2026-08-06T20:16:17Z</dcterms:created>
  <dcterms:modified xsi:type="dcterms:W3CDTF">2026-08-06T20:16:17Z</dcterms:modified>
</cp:coreProperties>
</file>