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6.xml"/><Relationship Id="rId3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6.xml"/><Relationship Id="rId14" Type="http://schemas.openxmlformats.org/officeDocument/2006/relationships/slide" Target="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Relationship Id="rId14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文本大模型加语音识别、语音合成；讯飞先行增强葡语基座并训练，权重交付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7904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1847088"/>
            <a:ext cx="2425446" cy="3108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1847088"/>
            <a:ext cx="242544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9654" y="1847088"/>
            <a:ext cx="2425446" cy="3108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9654" y="1847088"/>
            <a:ext cx="242544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7980" y="1847088"/>
            <a:ext cx="2425446" cy="3108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7980" y="1847088"/>
            <a:ext cx="242544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6306" y="1847088"/>
            <a:ext cx="2425446" cy="3108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6306" y="1847088"/>
            <a:ext cx="242544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12848"/>
            <a:ext cx="914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12848"/>
            <a:ext cx="914400" cy="137160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1328" y="2212848"/>
            <a:ext cx="2425446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2304288"/>
            <a:ext cx="213283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在中国境内投入自有算力，采集并处理公开葡语语料，继续训练讯飞基础模型，提升其通用葡语能力；采集到的公开语料一并提交巴西方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9654" y="2212848"/>
            <a:ext cx="2425446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5958" y="2304288"/>
            <a:ext cx="213283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在已具备通用葡语能力的基础模型上继续训练，产出 NLP、ASR、TTS 三个模型；按批准的模型技术方案与里程碑执行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97980" y="2212848"/>
            <a:ext cx="2425446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4284" y="2304288"/>
            <a:ext cx="213283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出具评测报告，覆盖回归、鲁棒性、偏见、安全、幻觉与文化适配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6306" y="2212848"/>
            <a:ext cx="2425446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2610" y="2304288"/>
            <a:ext cx="213283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在巴西环境部署，交付权重、版本清单、模型卡与部署说明；交付后 12 个月内 NLP 升级 3 次、ASR 与 TTS 各 1 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657600"/>
            <a:ext cx="914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57600"/>
            <a:ext cx="914400" cy="1371600"/>
          </a:xfrm>
          <a:prstGeom prst="rect">
            <a:avLst/>
          </a:prstGeom>
          <a:noFill/>
        </p:spPr>
        <p:txBody>
          <a:bodyPr wrap="square" lIns="36576" tIns="0" rIns="36576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81328" y="3657600"/>
            <a:ext cx="2425446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3749039"/>
            <a:ext cx="213283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在巴西生产葡语语料并取得授权，约 500 亿 Token；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协调数据中心建成前用于语料采集与处理的算力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89654" y="3657600"/>
            <a:ext cx="2425446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35958" y="3749039"/>
            <a:ext cx="213283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按讯飞的规范、工具与试批要求持续供料并配合抽样质检；技术路线、次数与初始交付时间实施前书面确认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97980" y="3657600"/>
            <a:ext cx="2425446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4284" y="3749039"/>
            <a:ext cx="213283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与讯飞共同确定测试集与通过规则；组织葡语与领域专家参与评审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06306" y="3657600"/>
            <a:ext cx="2425446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52610" y="3749039"/>
            <a:ext cx="213283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组织验收与发布；持续优化期内按 A2 的数据上限提供升级语料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23036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276088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基座增强先行，不占用巴西算力，也不必等本地语料齐备才开始；本地语料和算力到位即可进入国家模型训练，工期风险更小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与数据运营平台，面向 RNP 批准的授权用户；问答 1,000 路并发、语音识别与合成各 200 路，按服务分别配置并实测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17904"/>
            <a:ext cx="11274552" cy="10972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9105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609344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09344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1609344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23113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3113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3075" y="223113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3075" y="223113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23113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1208" y="223113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23113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23113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研究辅助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7472" y="223113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7472" y="223113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5604" y="2231136"/>
            <a:ext cx="1708404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5604" y="2231136"/>
            <a:ext cx="17084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70662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66666"/>
                </a:solidFill>
                <a:latin typeface="微软雅黑"/>
                <a:ea typeface="微软雅黑"/>
              </a:rPr>
              <a:t>怎么落地 · 四步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632" y="270662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70662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99232"/>
            <a:ext cx="2011680" cy="58521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999232"/>
            <a:ext cx="1828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2999232"/>
            <a:ext cx="4480560" cy="5852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0632" y="3044951"/>
            <a:ext cx="41513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提供标准产品能力清单与可配置项，输出需求与功能设计文档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2999232"/>
            <a:ext cx="4507992" cy="5852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3044951"/>
            <a:ext cx="4178808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参与产品定义与功能设计；确定用户范围、内容规则与品牌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639311"/>
            <a:ext cx="2011680" cy="58521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639311"/>
            <a:ext cx="1828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6040" y="3639311"/>
            <a:ext cx="4480560" cy="5852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0632" y="3685031"/>
            <a:ext cx="41513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葡语界面与本地化配置，接入 RNP 品牌与内容；按指定浏览器与操作系统验证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3639311"/>
            <a:ext cx="4507992" cy="5852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3685031"/>
            <a:ext cx="4178808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提供品牌素材、栏目内容；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生成与本地公文模板待适配验证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79392"/>
            <a:ext cx="2011680" cy="58521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279392"/>
            <a:ext cx="1828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06040" y="4279392"/>
            <a:ext cx="4480560" cy="5852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70632" y="4325112"/>
            <a:ext cx="41513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完成接口对接与联调；提供开发者文档与示例（HTTP/REST/JSON/WebSocket）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279392"/>
            <a:ext cx="4507992" cy="5852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88352" y="4325112"/>
            <a:ext cx="4178808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提供本地系统接口与账号凭证；落实搜索等第三方 API 的额度、许可与费用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19471"/>
            <a:ext cx="2011680" cy="58521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4919471"/>
            <a:ext cx="1828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06040" y="4919471"/>
            <a:ext cx="4480560" cy="5852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70632" y="4965191"/>
            <a:ext cx="41513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扩展运行；配置平台并移交运维文档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4919471"/>
            <a:ext cx="4507992" cy="5852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88352" y="4965191"/>
            <a:ext cx="4178808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审批用户；由产品、运营与审核团队承接，可在交付版本上自主演进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65099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6967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11274552" cy="457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36192"/>
            <a:ext cx="9491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2996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66666"/>
                </a:solidFill>
                <a:latin typeface="微软雅黑"/>
                <a:ea typeface="微软雅黑"/>
              </a:rPr>
              <a:t>步骤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20299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0299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8632" y="20299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40864"/>
            <a:ext cx="169164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340864"/>
            <a:ext cx="14173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2340864"/>
            <a:ext cx="35204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6584" y="2386584"/>
            <a:ext cx="32278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评估领域可行性并出技术方案；核实基座版本、规模、许可与工具链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2340864"/>
            <a:ext cx="3520440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2386584"/>
            <a:ext cx="32278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提出领域与场景，明确用户、输入输出和边界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340864"/>
            <a:ext cx="2267712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0344" y="2386584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逐项签署《DLM 场景及技术方案确认书》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54096"/>
            <a:ext cx="169164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54096"/>
            <a:ext cx="14173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3054096"/>
            <a:ext cx="35204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6584" y="3099815"/>
            <a:ext cx="32278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给出训练路线建议（LoRA-SFT、SFT、GRPO 等），每项确认 1 条主要路线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054096"/>
            <a:ext cx="3520440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8464" y="3099815"/>
            <a:ext cx="32278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提供合法、足量、有代表性的训练、验证、安全与独立评测数据及环境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3054096"/>
            <a:ext cx="2267712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0344" y="3099815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数据与训练路线双方书面确认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67328"/>
            <a:ext cx="169164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767328"/>
            <a:ext cx="14173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" y="3767328"/>
            <a:ext cx="35204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6584" y="3813048"/>
            <a:ext cx="32278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按约定工作量提供参数建议、查看训练日志、协助分析问题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3767328"/>
            <a:ext cx="3520440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3813048"/>
            <a:ext cx="32278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在模型训练中心执行训练与评测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3767328"/>
            <a:ext cx="2267712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0344" y="3813048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指导记录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80560"/>
            <a:ext cx="169164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480560"/>
            <a:ext cx="14173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40280" y="4480560"/>
            <a:ext cx="35204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86584" y="4526280"/>
            <a:ext cx="32278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的实际结果完成分析报告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4480560"/>
            <a:ext cx="3520440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8464" y="4526280"/>
            <a:ext cx="32278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核对指导记录，完成业务验收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4480560"/>
            <a:ext cx="2267712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10344" y="4526280"/>
            <a:ext cx="1975104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服务验收；模型效果目标与讯飞服务验收分开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248656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开发与应用集成不在本服务内，可另行约定；模型效果目标由 RNP 的训练结果决定，与讯飞的服务验收分开。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596128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641848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课时，实施两个轮次；每轮 50 人建立基础，20 人深入实操，40 人承接运维移交，移交后能独立完成约定的平台运维、训练提交、模型部署与发布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64208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64208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64208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50468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50407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集群调度、模型训练、语料、推理四个方向；专家研讨、一对一咨询、中国考察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附录：13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13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14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