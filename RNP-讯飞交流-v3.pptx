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页一页看全，附录按需翻阅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7863840" cy="868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75895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图例：</a:t>
            </a: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= 待确认，实施前双方书面确认的数字或范围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黑色文字 = 已写入工作范围（SOW）或讯飞技术方案的做法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1792224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1600200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国家 AI 能力中心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0" y="2670048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2478024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3547872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3355848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4425696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4233672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领域模型 DLM ×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一页看全：讯飞交四样东西，你们拿到什么、谁做什么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你们拿到什么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讯飞做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RNP 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语料构建、模型训练、应用创新三个中心和一个安全审核平台；三项成果都在上面做，以后你们也在上面做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个固定场景；模型由你们训练，权重归你们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75488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83717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80974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四阶段共 578 小时：奠基 30、跟岗 360、指导实操 20、正式移交 168 小时；核心学员 30 / 10 / 10 / 10 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009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4223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394959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为准；容量按服务分别验证；后面各页逐项展开，细节见附录。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能力中心：三项成果都在这个平台上做，以后你们也在这里做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你们拿到什么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一套软件平台，含授权、部署配置、API 接入说明、测试验收报告与运维文档；验收后由你们管理，讯飞现场陪伴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四个模块 · 各对应你们的一支团队 · 今天逐个演示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9385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语料构建中心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语料导入、清洗、去重、标注与质量统计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145536"/>
            <a:ext cx="23545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你们的数据团队与葡语专家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566160"/>
            <a:ext cx="23545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演示：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导入葡语文本，看清洗与质量统计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9385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9292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提交训练任务、看日志与指标、评测与发布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3145536"/>
            <a:ext cx="23545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你们的模型工程师，DLM 在此自训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9292" y="3566160"/>
            <a:ext cx="23545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演示：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提交一个小微调任务，跑一次评测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9385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45536"/>
            <a:ext cx="23545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你们的应用与运营团队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66160"/>
            <a:ext cx="23545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演示：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API 调一次模型，葡语版 APP 提问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9385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安全审核平台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0868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文本审核策略、词库、风险样例与快修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3145536"/>
            <a:ext cx="23545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你们的审核与合规团队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0868" y="3566160"/>
            <a:ext cx="23545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演示：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看一条被拦截的例子和策略配置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425696"/>
            <a:ext cx="5500116" cy="9144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4988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809744"/>
            <a:ext cx="50429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软件方案、部署配置与接口联调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测试整改、文档和操作培训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1636" y="4425696"/>
            <a:ext cx="5500116" cy="9144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0236" y="44988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4809744"/>
            <a:ext cx="50429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协调基础环境、数据与外部接口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确认权限与安全规则；验收后日常运营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6811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8698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522976"/>
            <a:ext cx="93085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跟岗和指导实操阶段，你们的人就在这四个界面上操作；今天演示的每一步，都是你们以后要自己做的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06247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演示约 10 分钟，英文界面、巴西葡语数据；容量与验收口径见附录 A1。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巴西葡语国家模型：讯飞训练，你们出语料，权重交给你们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你们拿到什么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NLP 基础模型（总参数 ≥290B）、亿级参数 ASR 模型、TTS 模型（男/女各 1 套发音人）；交付权重或可部署模型包、配置与版本清单、模型卡、评测报告、部署说明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语料准备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你们组织数据、授权和全量生产；讯飞提供规范、工具、试批和抽样质检。在语料构建中心完成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训练与适配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按双方书面确认的技术路线训练；模型范围、训练次数和里程碑实施前确认。在模型训练中心完成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分模型评测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测试集、指标、环境和通过规则实施前确认；讯飞出技术评测，你们的专家评审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本地交付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在你们指定的巴西环境加载运行；交付权重与部署材料。之后 12 个月内 NLP 升级 3 次、ASR 1 次、TTS 1 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68496"/>
            <a:ext cx="5500116" cy="11887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52544"/>
            <a:ext cx="5042916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训练与适配执行、技术评测及回归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模型产物、版本和部署资料交付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个月持续优化，按约定次数与数据上限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968496"/>
            <a:ext cx="5500116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352544"/>
            <a:ext cx="5042916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合格语料与独立评测集、必要授权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本地专家评审、环境、验收与发布批准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035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498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358383"/>
            <a:ext cx="930859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第一阶段最重的活是语料：无监督文本 50B Token、监督 20 万条、安全 2 万条、语音 1 万小时、TTS 100 小时（最低参考量）；数据团队和葡语专家要最早到位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61888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规格与升级见附录 A2，语料规模与数据控制见附录 A3。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应用：讯飞交软件，你们定内容、审用户、做运营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你们拿到什么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国民 APP 多终端软件与数据运营平台，面向 RNP 批准的授权用户；功能：问答、检索、文档分析、语音输入与朗读、笔记与写作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需求与场景定义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功能、终端、用户范围、内容规则与验收方法实施前双方确认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本地化定制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按你们批准的品牌、界面和内容做巴西葡语配置；待验证功能按确认清单启用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本地系统集成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你们提供接口、凭证与外部依赖；讯飞按产品支持方式完成约定联调。在应用创新中心完成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扩展运行；按确认的功能与容量方案验收，之后你们运营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68496"/>
            <a:ext cx="5500116" cy="11887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52544"/>
            <a:ext cx="5042916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应用交付、约定接口联调与功能验证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模型服务及数据运营平台配置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968496"/>
            <a:ext cx="5500116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352544"/>
            <a:ext cx="5042916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内容、品牌、接口及授权条件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用户审批、上线决策与日常运营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搜索和第三方 API 的额度、许可与费用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035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498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358383"/>
            <a:ext cx="930859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容量按服务分别配置与实测：NLP 1,000 路、ASR 200 路、TTS 200 路、安全审核 400 路；上线后需要你们的产品、运营和审核团队接手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61888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APP 演示已在第 3 页平台演示中安排；服务、容量与接口见附录 A4。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DLM：你们训练，讯飞指导；3 项服务，每项 1 个场景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你们拿到什么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3 项 DLM 辅助训练技术服务，每项针对 1 个固定场景；交付方案、指导记录、训练与评测分析报告；模型权重由你们训练产生、归你们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场景确认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明确用户、输入输出和边界；逐项签署《DLM 场景及技术方案确认书》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数据与路线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你们落实数据、授权与训练环境；双方确认基座和 1 条主要训练路线（如 LoRA-SFT、SFT、GRPO）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训练与评测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你们执行训练与评测；讯飞给参数建议、日志分析和过程指导。在模型训练中心完成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4813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服务验收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51760"/>
            <a:ext cx="23545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基于你们的实际结果完成分析；核对方案、指导记录与评测分析材料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68496"/>
            <a:ext cx="5500116" cy="11887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52544"/>
            <a:ext cx="5042916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可行性分析、技术方案与参数建议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过程指导、问题分析及评测分析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968496"/>
            <a:ext cx="5500116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352544"/>
            <a:ext cx="5042916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场景、数据授权、训练环境与专家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执行训练、评测与业务验收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035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498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358383"/>
            <a:ext cx="930859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这是你们第一次独立训模型：需要自己的算法工程师和领域专家，知识转移的跟岗与指导实操就为此设计；生产部署与应用集成如需要可另行约定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61888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范围、投入与服务验收见附录 A5。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Stage、五步走，三方各管什么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4356201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408188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9433" y="960120"/>
            <a:ext cx="6662318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06593" y="960120"/>
            <a:ext cx="63879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050084" cy="1874519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9362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17757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方案确认、平台部署、语料试批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77576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17757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T0 起，月份待确认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34716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63316" y="1463040"/>
            <a:ext cx="2050084" cy="187451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5479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6468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476" y="2395728"/>
            <a:ext cx="17757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按模型方案训练、适配与评测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0476" y="2834640"/>
            <a:ext cx="177576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0476" y="3072384"/>
            <a:ext cx="17757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月份待确认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40833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9433" y="1463040"/>
            <a:ext cx="2050084" cy="187451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11596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2585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AI 应用与 DLM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6593" y="2395728"/>
            <a:ext cx="17757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APP 初交付与扩展运行；DLM 按专项计划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6593" y="2834640"/>
            <a:ext cx="177576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→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6593" y="3072384"/>
            <a:ext cx="17757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月份待确认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46950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75550" y="1463040"/>
            <a:ext cx="2050084" cy="187451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17712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分项与阶段验收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2710" y="2395728"/>
            <a:ext cx="17757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用例确认、联合验证、整改确认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2710" y="2834640"/>
            <a:ext cx="177576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每个 Stage 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2710" y="3072384"/>
            <a:ext cx="17757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月份待确认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453067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81667" y="1463040"/>
            <a:ext cx="2050084" cy="187451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23829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4819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移交与运营支持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8827" y="2395728"/>
            <a:ext cx="177576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移交合同资产、配置与运行资料；进入支持期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8827" y="2834640"/>
            <a:ext cx="177576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8827" y="3072384"/>
            <a:ext cx="17757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月份待确认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47472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三方各管什么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785615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399592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85876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两批算力、机房、存储、网络与软件环境（由 RNP 协调落实）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06824" y="3785615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399592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21224" y="385876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平台软件、模型训练与交付、应用交付、知识转移与交付后支持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56448" y="3785615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57616" y="399592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385876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训练执行、验收与发布批准、用户与日常运营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6634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7457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11680" y="47183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四阶段贯穿五步：</a:t>
            </a: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待确认：奠基对应第 1 步，跟岗第 2、3 步，指导实操第 3、4 步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；正式移交在陪伴运维结束前至少 3 个月启动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24865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33095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交接与运营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80" y="5303520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 12 个月与远程支持 60 个月，首 12 个月重合；移交后你们主导日常运营，讯飞远程支持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T0 = 第一批算力就绪。五步是实施活动归纳，各步起止月份和两批算力到位时间实施前双方确认，你们据此排人力计划。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需要投入什么：SOW 规定你们做的事，和建议配的人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017520" cy="3611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SOW 规定由 RNP 承担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615184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语料的取得、授权与全量生产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的训练与评测执行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应用的内容、用户审批与日常运营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基础环境协调（含华为算力）、验收与发布批准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搜索和第三方 API 的额度、许可与费用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49039" y="960120"/>
          <a:ext cx="7982711" cy="3602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74519"/>
                <a:gridCol w="3063240"/>
                <a:gridCol w="1691640"/>
                <a:gridCol w="135331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最早何时需要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参考人数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0233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启动即需要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组织数据取得、标注与质量检查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确认葡语质量、标注与语音规范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内容、安全与法律合规审核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 DLM 效果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场景确认时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参与训练评测；执行 DLM 训练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应用集成、内容运营与用户管理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平台日常运行、部署与问题升级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验收移交前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75488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7375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809744"/>
            <a:ext cx="93085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人力计划先排三类人：数据团队与葡语专家（第 1 步）、算法工程师（第 2 步和 DLM）、应用运营团队（第 3 步）；培训学员名额另计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参考人数为量级，来自讯飞早期按全流程交付模式的非约束估算；各职能峰值可跨活动复用，不是同时在岗人数；最终按 SOW 分工与工作量确认。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各角色职能构成见附录 A7。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知识转移：你们学到什么、最后手里有什么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454396" cy="342900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61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能力层 · 四阶段 578 小时 · 12 项课程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18488"/>
            <a:ext cx="49057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B7A1A"/>
                </a:solidFill>
                <a:latin typeface="微软雅黑"/>
                <a:ea typeface="微软雅黑"/>
              </a:rPr>
              <a:t>从跟岗到独立操作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4905756" cy="224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奠基 30 小时 / 30 人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：AI 基础、项目架构、平台与职责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跟岗 360 小时 / 10 人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：讯飞操作，你们观察并协助实际交付与运维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指导实操 20 小时 / 10 人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：你们操作约定任务，讯飞指导并检查关键步骤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正式移交 168 小时 / 10 人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：验证独立完成约定任务，双方签认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四个方向：模型与数据评测、软件栈与生命周期、规模化训练与推理、检索智能体与安全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7356" y="960120"/>
            <a:ext cx="5454396" cy="342900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51676" y="118872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ED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资产层 · 交付后你们手里有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6" y="1618488"/>
            <a:ext cx="49057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35400"/>
                </a:solidFill>
                <a:latin typeface="微软雅黑"/>
                <a:ea typeface="微软雅黑"/>
              </a:rPr>
              <a:t>权重、平台、文档、支持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2075688"/>
            <a:ext cx="4905756" cy="224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模型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：基础权重与训练后权重分别列明交付与许可；DLM 权重归你们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平台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：平台软件按许可使用；定制开发部分按清单交付源码与修改权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文档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：模型卡、评测报告、部署与运维文档，英语或巴西葡语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：现场陪伴 12 个月（5×8）+ 远程 60 个月（7×24）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可移植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：按许可与技术可行性导出迁移；2 项第三方模型推理适配服务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53712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0001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对你们的 Capacity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608576"/>
            <a:ext cx="843991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核心学员 30 人起步、10 人深入，阶段学员可重合；六类岗位（语料、语言标注、模型工程、应用、运维、行业专家）各有学习任务，见附录 A8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85232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正式移交在一年陪伴运维结束前至少 3 个月启动；前三阶段培养目标 ≥80% / ≥70% / ≥50% 的核心学员达到阶段要求，是培养目标不是验收阈值。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拟议赴华参访、一对一专家交流及战略圆桌另行约定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。交接、许可与运营支持见附录 A6。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本次需确认：范围三栏和六件事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3B7A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62456"/>
            <a:ext cx="324612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能力中心、NLP / ASR / TTS、AI 应用及 BOQ 安全产品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项第三方模型推理适配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四阶段知识转移；现场 12 个月、远程 60 个月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1416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B35400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416" y="1362456"/>
            <a:ext cx="324612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新增模型、场景、终端、接口与额外训练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额外语言、学员批次及计划外专题培训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扩容、续期及第三方许可费用按 BOQ 与许可确认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362456"/>
            <a:ext cx="324612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合法数据、授权、专家、训练与运行环境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接口及第三方搜索 / API 的许可与调用条件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DLM 执行、业务验收、用户管理与日常运营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743200"/>
          <a:ext cx="11274552" cy="28895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1920240"/>
                <a:gridCol w="606247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确认事项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承接方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下一步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 资产、交付与许可矩阵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确认版本、数量、交付形式、权利及费用；</a:t>
                      </a: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时间待定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 模型与容量验收规则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确认测试集、通过规则、硬件与负载；按服务分别实测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3. 三项 DLM 专项范围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逐项确认固定场景、数据、主要路线与服务验收边界；签确认书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4. 资源与实施计划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/ 华为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确认两批环境到位条件、依赖、责任人与里程碑月份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5. 培训与正式移交计划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批准四阶段课时、核心学员名单、语言、日程与独立操作验证安排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6. SOW 待对齐条款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 + 华为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待确认：是否本次讨论；涉及现场 SLA 计时、DLM 责任表、权重开放对象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验收按 SOW、BOQ、功能清单及批准方案执行；新增需求按书面变更处理。会中记录结论，会后形成双方行动清单。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附录：技术口径明细，被问到再翻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840480" cy="4023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表格“口径”列的三种标记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38328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SOW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：已写入工作范围的内容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方案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：讯飞技术方案的做法，SOW 未逐条规定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：实施前双方书面确认的数字或范围，蓝字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附录每页右上角写着“被问到什么时翻这页”。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会后可整理为技术口径文档提供 RNP。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005840"/>
          <a:ext cx="7159752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3566160"/>
                <a:gridCol w="29535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被问到什么时翻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能力中心：容量与验收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平台多大、怎么验收？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国家模型：规格与升级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模型多大、之后怎么升级？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语料：规模、质量与数据控制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语料要多少、谁出、放在哪？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应用：服务、容量与接口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APP 谁能用、能接什么？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DLM：范围、投入与服务验收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到底谁做、做到哪一步？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交接、许可与运营支持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以后会不会被锁定、要花什么钱？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人员配置明细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每类人具体几个？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知识转移学习路径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我们的人具体学什么？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问：平台多大、怎么验收？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问：模型多大、之后怎么升级？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问：语料要多少、谁出、放在哪？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通用语料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待确认：讯飞通用语料的投入方式与规模（5/8 答复曾写 300B 以上）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到底谁做、做到哪一步？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问：以后会不会被锁定、要花什么钱？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人员配置明细：按职能归组、跨活动复用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问：每类人具体几个？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743200"/>
                <a:gridCol w="173736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参与环节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全程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语料建设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语料与评测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治理与评测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需求与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训练与测试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应用与运营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部署与运营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参考名额来自讯飞早期按全流程交付模式的非约束估算；八组合计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本 SOW 下 RNP 承担全量数据生产、DLM 训练与日常运营，人数与投入时长按实际分工复核；与培训学员名额分别管理。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知识转移学习路径：岗位、任务与验证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问：我们的人具体学什么？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任务按 SOW 知识转移章节归纳；岗位分配和练习由批准的知识转移计划明确；专项 DLM 指导、推理适配交流及实施培训不重复计入。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