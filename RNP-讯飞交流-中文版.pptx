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本页作用：确定本次交流范围——讯飞的模型、应用、领域模型工作，双方共同实施，以及知识转移。让 RNP 一开始就知道后面既谈交付成果，也谈本方如何组织人员参与。</a:t>
            </a:r>
          </a:p>
          <a:p>
            <a:r>
              <a:t>需填：日期、汇报人、版本状态。</a:t>
            </a:r>
          </a:p>
          <a:p>
            <a:r>
              <a:t>依据：Mota 电话 01:03–02:29（解释 LLM/APP/DLM 怎么做、双方责任、巴方要安排人并写自己的计划）。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本页作用：先回答最基本的问题——讯飞这部分最终形成什么、各有什么用、巴方要做什么。让后面每页有明确位置。</a:t>
            </a:r>
          </a:p>
          <a:p>
            <a:r>
              <a:t>要求：巴方参与要能看出实际工作，不能只写参加培训。</a:t>
            </a:r>
          </a:p>
          <a:p>
            <a:r>
              <a:t>材料：讯飞技术方案、SOW 与交付清单；展示材料要标明是案例、中间版本还是正式交付。</a:t>
            </a:r>
          </a:p>
          <a:p>
            <a:r>
              <a:t>衔接：第 3–5 页展开 LLM/APP/DLM，第 8 页展开知识转移。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本页作用：把第 2 页的“葡语 LLM”展开，让 RNP 明白模型怎样形成、讯飞负责什么、巴方要提供和参与什么。同时服务成果理解和实施安排。</a:t>
            </a:r>
          </a:p>
          <a:p>
            <a:r>
              <a:t>口径：不预设必须从零训练；不展开技术选型依据，听众需要的是阶段、分工和结果。模型能力与数据处理都要有明确承担方。</a:t>
            </a:r>
          </a:p>
          <a:p>
            <a:r>
              <a:t>材料：模型方案、数据要求、评测材料、交付形式、双方任务说明。</a:t>
            </a:r>
          </a:p>
          <a:p>
            <a:r>
              <a:t>依据：Mota 电话（怎么做、责任）；9 月 4 日会议（讲结果，客户不查技术栈）。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本页作用：让 RNP 从使用者角度理解交付——谁用、完成什么工作、得到什么结果。功能要放进真实使用过程，听众不需要技术栈。</a:t>
            </a:r>
          </a:p>
          <a:p>
            <a:r>
              <a:t>必须展示：一段完整操作过程的界面或视频，并标明性质；功能与结果；规模与性能（按确认值）；对应的政务用例。</a:t>
            </a:r>
          </a:p>
          <a:p>
            <a:r>
              <a:t>保留一行接入条件，便于 RNP 技术团队安排系统、数据和测试（Mota：讲清 APP 怎么做、谁做什么）。</a:t>
            </a:r>
          </a:p>
          <a:p>
            <a:r>
              <a:t>依据：9 月 4 日会议 34:06–34:46（能接多少人、哪些功能、有视频或图片、解决哪些政务应用；可拿中国案例照着讲）。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本页作用：让 RNP 明白领域成果要围绕具体业务问题形成，巴方需要组织数据、专家和技术人员参与。</a:t>
            </a:r>
          </a:p>
          <a:p>
            <a:r>
              <a:t>要回答：拟开展的领域或选择机制；业务问题与预期成果；数据、专家等条件；讯飞的开发或适配工作；巴方的工作；成果怎样评价、验收、更新。</a:t>
            </a:r>
          </a:p>
          <a:p>
            <a:r>
              <a:t>口径：候选案例标明候选状态；领域数量和技术路线由实际方案确定；模型、应用、资料分别讲清。</a:t>
            </a:r>
          </a:p>
          <a:p>
            <a:r>
              <a:t>依据：Mota 电话（DLM 怎么做、责任）；框架第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本页作用：回答“这些工作怎样安排在一起，双方什么时候做什么”。直接回应 Mota 电话中 RNP 要据此编制本方计划的要求；只给讯飞内部排期不够。</a:t>
            </a:r>
          </a:p>
          <a:p>
            <a:r>
              <a:t>三方：Mota 原话是 ours / yours / theirs。华为平台依赖（算力、环境、接口、昇腾栈）单列一行，避免 RNP 把它算到讯飞头上。</a:t>
            </a:r>
          </a:p>
          <a:p>
            <a:r>
              <a:t>材料：实施计划、阶段成果、双方责任、资源依赖、评审安排。</a:t>
            </a:r>
          </a:p>
          <a:p>
            <a:r>
              <a:t>衔接：第 7 页说明巴方要安排什么人、准备什么资源来执行这份计划。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本页作用：客户看完应能回去组织本方人员和资源，而不是只拿到课程报名要求。这是对 Mota 电话最直接的回应（they need to allocate people… how many people… write down this program）。</a:t>
            </a:r>
          </a:p>
          <a:p>
            <a:r>
              <a:t>要回答：按实际工作确定的角色、任务、基础（语言、编程、学历）、参与阶段与人数；数据与授权；环境与访问；接口与测试条件；提供方、到位时间、未就绪影响。</a:t>
            </a:r>
          </a:p>
          <a:p>
            <a:r>
              <a:t>口径：说明双方共同处理的工作，不把数据质量或实施条件笼统交给 RNP；格式与华为第一层人才表格兼容，便于合稿核对总人数。</a:t>
            </a:r>
          </a:p>
          <a:p>
            <a:r>
              <a:t>依据：Mota 电话 01:03–02:29；9 月 4 日会议（入门门槛、语言）。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本页作用：回答“巴方人员参与项目以后，讯飞怎样帮助他们掌握工作，最后用什么证明确实掌握了”。知识转移与实际交付结合：任务、指导、实践、能力结果；课程名称和课时只是其中一部分。</a:t>
            </a:r>
          </a:p>
          <a:p>
            <a:r>
              <a:t>标题口径：这一层已在项目报价中（9 月 4 日会议：已报过价、包含在项目里、培训上免费）。发给客户前必须回到 SOW 与报价核对，不能扩展成“所有能力建设都已包含”，也不等于客户已接受。</a:t>
            </a:r>
          </a:p>
          <a:p>
            <a:r>
              <a:t>边界：正面写清学完能做什么、不能做什么。本页不能代替 TR 中整个国家软件栈的研发支持，也不默认讯飞承担全部 FP1–FP9。</a:t>
            </a:r>
          </a:p>
          <a:p>
            <a:r>
              <a:t>格式：表格与华为第一层课程表（对象、基础、名额、内容、效果）保持一致，合并稿才像一个 program。</a:t>
            </a:r>
          </a:p>
          <a:p>
            <a:r>
              <a:t>依据：9 月 4 日会议 23:13–24:16、26:07、44:41；Mota 电话（to be with you and to learn）。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本页作用：在项目内知识转移之外，回答“如果希望少数有基础的人进一步深入，需要增加什么内容和投入”。对应内部会议讨论的可选高端研修（少数人、单独定价、私人订制，将来作为项目看得见的成果）。</a:t>
            </a:r>
          </a:p>
          <a:p>
            <a:r>
              <a:t>要回答：适合谁、入选基础；深入方向；围绕什么课题；导师、方式、资源；预期能力和成果、怎样检查；人数、周期、地点、价格、实施条件。</a:t>
            </a:r>
          </a:p>
          <a:p>
            <a:r>
              <a:t>口径：相对第 8 页增加了什么要写清，客户才能判断是否购买；已约定内容不能挪到这里收费。</a:t>
            </a:r>
          </a:p>
          <a:p>
            <a:r>
              <a:t>依据：9 月 4 日会议 09:18–09:50、24:59–26:43、44:59。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本页作用：让交流形成实际推进——哪些已对齐、哪些未定、下一步谁补什么、什么时候反馈。也再次回应 RNP 编制本方计划的需要。</a:t>
            </a:r>
          </a:p>
          <a:p>
            <a:r>
              <a:t>范围块：前面先讲内容和价值（第 2–9 页），这里再谈范围与费用，RNP 才能知道每项费用对应什么工作，识别重复或遗漏。按核实结果标明已包含 / 单独报价 / 可选 / 待确认。“知识转移已在报价中”必须回到文件核对，不能扩展成“都已包含”或“客户已接受”。</a:t>
            </a:r>
          </a:p>
          <a:p>
            <a:r>
              <a:t>交接（并入本页）：模型、应用、配置、脚本、接口文档、操作权限、许可与迁移条件、巴方接手后的任务、交接完成判断、后续支持与联系机制。不默认全部源码开放或无限期支持。</a:t>
            </a:r>
          </a:p>
          <a:p>
            <a:r>
              <a:t>确认表：会前准备清单，会中记录决定，会后形成双方行动。已确认、建议方案、待讨论要区分；材料中出现某项内容不等于双方已承诺。</a:t>
            </a:r>
          </a:p>
          <a:p>
            <a:r>
              <a:t>依据：9 月 4 日会议 32:22–33:53（这次会相当于锁定 SOW；材料提前发；争取技术部分当场基本谈定）。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680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C00000"/>
                </a:solidFill>
                <a:latin typeface="微软雅黑"/>
                <a:ea typeface="微软雅黑"/>
              </a:rPr>
              <a:t>葡语大模型、应用与领域模型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讯飞交付范围、共同实施与知识转移方案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讨论稿 v0.1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会议：RNP 技术交流 · 里约热内卢 · 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2026 年 9 月 9 日（周三）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汇报：科大讯飞 陈浩、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方案架构师姓名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参会：RNP  Yara 及技术团队；华为  路易斯、郑丽雪、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董阳光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本材料内容以 SOW、报价与技术方案核对结果为准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94960"/>
            <a:ext cx="7680960" cy="5669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 = 待按 SOW、报价、技术方案核实或替换的内容（日期、人名、数字、技术路线、范围口径）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743200" cy="80467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06840" y="1837943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600200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葡语基础模型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587752"/>
            <a:ext cx="2743200" cy="80467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2825496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587752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应用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575304"/>
            <a:ext cx="2743200" cy="80467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06840" y="3813048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575304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562856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56285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项目内知识转移 · 共同实施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讯飞交付成果总览：四项成果各自的用途与巴方参与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2647188" cy="4709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112471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69848"/>
            <a:ext cx="196138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葡语基础模型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交付物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29384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葡语大模型，含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模型权重、推理服务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、评测报告与操作文档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88920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44952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政务场景的葡语问答、文本生成与理解；作为 APP 与领域模型的共同底座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904487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60520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提供葡语语料并落实授权；参与评测与验收；指定联合团队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5120640"/>
            <a:ext cx="2318004" cy="36576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5120640"/>
            <a:ext cx="21717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61B230"/>
                </a:solidFill>
                <a:latin typeface="微软雅黑"/>
                <a:ea typeface="微软雅黑"/>
              </a:rPr>
              <a:t>状态：已包含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988" y="960120"/>
            <a:ext cx="2647188" cy="4709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7580" y="112471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9915" y="1069848"/>
            <a:ext cx="196138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应用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1673352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交付物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7580" y="1929384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面向政务人员的葡语智能应用，含账号权限、模型调用与业务系统对接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7580" y="2788920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7580" y="3044952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政策咨询问答、公文辅助起草、材料摘要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7580" y="3904487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4160520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提供业务系统接口与测试数据；确认业务流程并组织验收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7580" y="5120640"/>
            <a:ext cx="2318004" cy="36576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0732" y="5120640"/>
            <a:ext cx="21717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61B230"/>
                </a:solidFill>
                <a:latin typeface="微软雅黑"/>
                <a:ea typeface="微软雅黑"/>
              </a:rPr>
              <a:t>状态：已包含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960120"/>
            <a:ext cx="2647188" cy="4709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73368" y="112471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1069848"/>
            <a:ext cx="196138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1673352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交付物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929384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1–2 个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领域模型及配套应用与文档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88920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044952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解决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教育、医疗或公共安全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领域的具体业务问题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904487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160520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选定领域；提供领域数据与专家；参与评价与验收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73368" y="5120640"/>
            <a:ext cx="2318004" cy="36576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20640"/>
            <a:ext cx="21717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61B230"/>
                </a:solidFill>
                <a:latin typeface="微软雅黑"/>
                <a:ea typeface="微软雅黑"/>
              </a:rPr>
              <a:t>状态：已包含 · </a:t>
            </a:r>
            <a:r>
              <a:rPr sz="950" b="1">
                <a:solidFill>
                  <a:srgbClr val="0070C0"/>
                </a:solidFill>
                <a:latin typeface="微软雅黑"/>
                <a:ea typeface="微软雅黑"/>
              </a:rPr>
              <a:t>领域数量待确认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84564" y="960120"/>
            <a:ext cx="2647188" cy="4709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9156" y="112471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1492" y="1069848"/>
            <a:ext cx="196138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项目内知识转移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9156" y="1673352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交付物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9156" y="1929384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讲解、示范、共同操作与指导实践；配套资料与实践记录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9156" y="2788920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9156" y="3044952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巴方团队掌握数据处理、模型训练调优、应用开发与运行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9156" y="3904487"/>
            <a:ext cx="23180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9156" y="4160520"/>
            <a:ext cx="231800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按角色投入人员承担实际任务，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各阶段名额按 SOW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49156" y="5120640"/>
            <a:ext cx="2318004" cy="36576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2308" y="5120640"/>
            <a:ext cx="21717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61B230"/>
                </a:solidFill>
                <a:latin typeface="微软雅黑"/>
                <a:ea typeface="微软雅黑"/>
              </a:rPr>
              <a:t>状态：已包含在报价 · </a:t>
            </a:r>
            <a:r>
              <a:rPr sz="950" b="1">
                <a:solidFill>
                  <a:srgbClr val="0070C0"/>
                </a:solidFill>
                <a:latin typeface="微软雅黑"/>
                <a:ea typeface="微软雅黑"/>
              </a:rPr>
              <a:t>需核对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80644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材料中的案例、功能示例、中间版本与本项目交付物分别标注；每项成果在第 3–5、8 页展开。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葡语基础模型：交付什么、如何共同建设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建设路径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612898" cy="1005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34416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206425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数据准备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239344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收集与清洗葡语语料；巴方提供政务语料并落实授权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15818" y="164592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4418" y="1234440"/>
            <a:ext cx="2612898" cy="1005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4146" y="134416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1618" y="1307592"/>
            <a:ext cx="206425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适配 / 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4146" y="1709928"/>
            <a:ext cx="239344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以讯飞星火底座做葡语增量预训练与指令微调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3036" y="164592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1636" y="1234440"/>
            <a:ext cx="2612898" cy="1005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1364" y="134416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8836" y="1307592"/>
            <a:ext cx="206425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1364" y="1709928"/>
            <a:ext cx="239344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葡语通用基准 + 政务任务评测集，双方共同评审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90254" y="164592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18854" y="1234440"/>
            <a:ext cx="2612898" cy="1005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8582" y="134416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6054" y="1307592"/>
            <a:ext cx="206425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8582" y="1709928"/>
            <a:ext cx="239344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模型包、推理服务、评测报告、操作文档与验收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14600"/>
            <a:ext cx="3575304" cy="2514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64261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目标能力与衡量方式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990088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葡语政务问答、公文起草、信息抽取与摘要</a:t>
            </a:r>
          </a:p>
          <a:p>
            <a:pPr algn="l" marL="137160" indent="-137160">
              <a:lnSpc>
                <a:spcPct val="110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评测：葡语通用基准 + 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N 个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政务任务评测集，达标线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待定</a:t>
            </a:r>
          </a:p>
          <a:p>
            <a:pPr algn="l" marL="137160" indent="-137160">
              <a:lnSpc>
                <a:spcPct val="110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交付前提供样例对比与评测报告，供 RNP 评审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514600"/>
            <a:ext cx="3575304" cy="2514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264261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数据与条件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990088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来源：公开葡语语料 + RNP 及政府部门提供的政务语料，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规模待定</a:t>
            </a:r>
          </a:p>
          <a:p>
            <a:pPr algn="l" marL="137160" indent="-137160">
              <a:lnSpc>
                <a:spcPct val="110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授权与脱敏由巴方负责，数据处理由讯飞负责</a:t>
            </a:r>
          </a:p>
          <a:p>
            <a:pPr algn="l" marL="137160" indent="-137160">
              <a:lnSpc>
                <a:spcPct val="110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依赖：华为算力与训练环境按计划到位，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算力规模待定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2514600"/>
            <a:ext cx="3575304" cy="2514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64261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双方分工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90088"/>
            <a:ext cx="1568196" cy="1874519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98963" y="2990088"/>
            <a:ext cx="1568196" cy="1874519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13853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0404" y="3044952"/>
            <a:ext cx="13853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319272"/>
            <a:ext cx="1385316" cy="149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数据处理与清洗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模型训练与调优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评测与报告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打包、文档与交付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0404" y="3319272"/>
            <a:ext cx="1385316" cy="149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需求确认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语料供给与授权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参与评测评审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组织验收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30368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2852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交付与验收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559552"/>
            <a:ext cx="109453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交付形式：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模型权重 + 推理服务镜像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  ·  验收：评测达标 + 试运行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N 周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  ·  配套：训练数据说明、评测报告、操作指南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应用 APP：谁来用、解决什么问题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4846320" cy="397763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4602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界面截图 · 演示视频 · 真实操作流程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0322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此处插入本项目 APP 或参考案例的界面与端到端流程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70831"/>
            <a:ext cx="429768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70831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标注材料性质：现有案例 / 功能示例 / 本项目交付</a:t>
            </a:r>
          </a:p>
        </p:txBody>
      </p:sp>
      <p:sp>
        <p:nvSpPr>
          <p:cNvPr id="8" name="Oval 7"/>
          <p:cNvSpPr/>
          <p:nvPr/>
        </p:nvSpPr>
        <p:spPr>
          <a:xfrm>
            <a:off x="5669280" y="98755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8192" y="960120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用户与场景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9304"/>
            <a:ext cx="56052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政府部门业务人员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；场景：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政策咨询、公文办理、材料审阅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0" y="199339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965960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功能与结果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295144"/>
            <a:ext cx="56052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葡语对话问答、文档摘要与审阅、公文模板生成、知识库检索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；结果：可直接使用的文稿与答复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299923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971800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规模与性能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300984"/>
            <a:ext cx="56052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支持 N 用户、并发 N、平均响应 N 秒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，以双方确认值为准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40050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977640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对应的政务用例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306824"/>
            <a:ext cx="56052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参考中国政务案例：××部门智能办公助手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（标注为案例，非本项目交付）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66360"/>
            <a:ext cx="11274552" cy="7772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2303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巴方为应用接入提供的条件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504688"/>
            <a:ext cx="10945368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业务系统接口  ·  测试数据  ·  测试与业务确认  ·  接入范围待确认：葡语本地化、账号权限、模型调用方式、业务系统对接边界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领域模型 DLM：围绕真实业务问题共同开发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32688"/>
            <a:ext cx="11274552" cy="53035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候选领域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515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教育、医疗、公共安全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——按业务问题、数据可用性与专家投入选定，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领域数量与技术路线按实际方案确定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4312" y="1060704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D1D1A"/>
                </a:solidFill>
                <a:latin typeface="微软雅黑"/>
                <a:ea typeface="微软雅黑"/>
              </a:rPr>
              <a:t>状态：</a:t>
            </a:r>
            <a:r>
              <a:rPr sz="950" b="1">
                <a:solidFill>
                  <a:srgbClr val="0070C0"/>
                </a:solidFill>
                <a:latin typeface="微软雅黑"/>
                <a:ea typeface="微软雅黑"/>
              </a:rPr>
              <a:t>候选 / 已确认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072030" cy="5486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81965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5416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业务问题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6662" y="1874519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404872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68880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34056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与业务部门共同定义任务与成功标准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630168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95344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提出业务问题，指定业务负责人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57830" y="1691640"/>
            <a:ext cx="2072030" cy="548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9270" y="181965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5030" y="1691640"/>
            <a:ext cx="15416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数据与领域专家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57292" y="1874519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57830" y="2404872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7558" y="2468880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7558" y="2734056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提出数据规格与标注要求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57830" y="3566160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67558" y="3630168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7558" y="3895344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提供领域数据与授权，安排领域专家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8460" y="1691640"/>
            <a:ext cx="2072030" cy="548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49900" y="181965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5660" y="1691640"/>
            <a:ext cx="15416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开发与适配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57923" y="1874519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58460" y="2404872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8188" y="2468880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8188" y="2734056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基于葡语底座做领域适配与应用开发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58460" y="3566160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188" y="3630168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8188" y="3895344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技术人员参与开发，共同操作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59091" y="1691640"/>
            <a:ext cx="2072030" cy="548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50531" y="181965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6291" y="1691640"/>
            <a:ext cx="15416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评价与验收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458553" y="1874519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59091" y="2404872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68819" y="2468880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8819" y="2734056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出具评测报告，修复问题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59091" y="3566160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68819" y="3630168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8819" y="3895344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专家评价，业务验收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59721" y="1691640"/>
            <a:ext cx="2072030" cy="548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51161" y="181965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16921" y="1691640"/>
            <a:ext cx="15416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更新与维护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59721" y="2404872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69449" y="2468880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9449" y="2734056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移交更新方法与工具，支持期内支持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59721" y="3566160"/>
            <a:ext cx="2072030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69449" y="3630168"/>
            <a:ext cx="185257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9449" y="3895344"/>
            <a:ext cx="1852574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接手后自行更新与维护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9560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成果分别列出，不混成笼统的“解决方案”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266944"/>
            <a:ext cx="3575304" cy="457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266944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模型成果：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领域模型及评测报告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06824" y="5266944"/>
            <a:ext cx="3575304" cy="457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43984" y="5266944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应用成果：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领域应用与接口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56448" y="5266944"/>
            <a:ext cx="3575304" cy="457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93608" y="5266944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资料成果：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数据说明、操作与更新指南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85216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领域是否选对、数据是否可用、专家能否参与评价，直接决定工作能否推进；这一页是双方共同实施关系的落点。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共同实施计划：双方何时做什么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一条时间线、三方任务。RNP 据此编制本方项目计划；华为平台依赖单列，避免计入讯飞责任。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74550" cy="39593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934870"/>
                <a:gridCol w="1934870"/>
                <a:gridCol w="1934870"/>
                <a:gridCol w="1934870"/>
                <a:gridCol w="1934870"/>
              </a:tblGrid>
              <a:tr h="548640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阶段 1 · 启动与数据准备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M1–M2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阶段 2 · 底座训练与评测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M3–M5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阶段 3 · 应用与领域模型开发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M5–M8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阶段 4 · 部署与验收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M9–M10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阶段 5 · 交接与支持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M11–M12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66928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阶段目标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确认需求，组建联合团队，语料到位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完成葡语底座训练并通过评测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完成 APP 与领域模型开发和联调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生产部署、试运行、验收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资产交接、能力验证，进入支持期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5E9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需求分析、数据规格、环境准备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5E9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数据处理、训练、评测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5E9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应用开发、领域适配、联调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5E9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部署、优化、验收支持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5E9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交接资料，支持期响应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5E9"/>
                    </a:solidFill>
                  </a:tcPr>
                </a:tc>
              </a:tr>
              <a:tr h="621792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指定团队，提供语料与授权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参与数据处理与评测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提供接口与专家，参与开发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组织测试与验收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接手运行，自行更新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</a:tr>
              <a:tr h="566928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华为平台依赖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BD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算力与训练环境到位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BD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训练算力稳定供给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BD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部署环境与网络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BD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生产环境与运维衔接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BDA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运维支持衔接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BDA"/>
                    </a:solidFill>
                  </a:tcPr>
                </a:tc>
              </a:tr>
              <a:tr h="530352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阶段成果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需求确认书、数据清单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模型包、评测报告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应用与领域模型版本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验收报告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交接清单、能力评估报告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启动条件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合同生效，团队到位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语料与算力到位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底座通过评测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联调通过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验收完成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阶段名称、数量与时间按实际方案确定；数据准备、模型与应用建设、评测、部署、知识转移之间的先后关系需在计划中体现。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巴方需要准备的人员与资源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把“巴方配合”拆成能够安排的事情：谁参与、承担什么、什么时候投入、需要什么基础。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7360920" cy="3108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2148840"/>
                <a:gridCol w="1600200"/>
                <a:gridCol w="1463040"/>
                <a:gridCol w="731520"/>
              </a:tblGrid>
              <a:tr h="365760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项目中的任务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应具备的基础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参与阶段与投入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项目负责人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统筹巴方资源，对接讯飞与华为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项目管理经验，英语沟通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全程，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≥30% 投入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 / 领域专家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定义业务问题，评价领域成果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领域业务经验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阶段 1、3、4，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按需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每领域 2–3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语料收集、清洗、标注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Python，数据处理基础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阶段 1–2，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2–3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参与训练、评测与调优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Python，机器学习基础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阶段 2–3，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2–4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 APP 与领域应用开发、系统对接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软件开发经验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阶段 3–4，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2–3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部署、运行与监控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Linux 与容器基础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阶段 4–5，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≥50% 投入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1–2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1772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区分承担项目任务的人员与仅参加课程的人员；角色按实际任务取舍，不预设固定组织结构。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593591" cy="3886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444752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资源准备</a:t>
            </a:r>
          </a:p>
        </p:txBody>
      </p:sp>
      <p:sp>
        <p:nvSpPr>
          <p:cNvPr id="8" name="Oval 7"/>
          <p:cNvSpPr/>
          <p:nvPr/>
        </p:nvSpPr>
        <p:spPr>
          <a:xfrm>
            <a:off x="8321040" y="184708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28800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数据与授权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21408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政务语料与领域数据；授权与脱敏责任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0" y="267004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51760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环境与访问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44368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账号、网络、测试与实验环境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349300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74720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接口与测试条件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767328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业务系统接口、测试数据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4315968"/>
            <a:ext cx="274320" cy="27432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97680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责任人 · 到位时间 · 未就绪影响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590288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各项待填</a:t>
            </a: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，未到位时对应阶段顺延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49240"/>
            <a:ext cx="11274552" cy="457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349240"/>
            <a:ext cx="1094536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本页是 RNP 编制本方参与计划的输入：角色、人数、时间；人员口径与华为</a:t>
            </a:r>
            <a:r>
              <a:rPr sz="1050" b="1">
                <a:solidFill>
                  <a:srgbClr val="0070C0"/>
                </a:solidFill>
                <a:latin typeface="微软雅黑"/>
                <a:ea typeface="微软雅黑"/>
              </a:rPr>
              <a:t>2900 人</a:t>
            </a: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能力计划对齐，由董阳光合稿时核对总人数。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项目内知识转移：在真实任务中边做边学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已包含在当前报价 · 不另收费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9144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口径需与 SOW 及报价核对后定稿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53312"/>
          <a:ext cx="11274552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640080"/>
                <a:gridCol w="2331720"/>
                <a:gridCol w="2148840"/>
                <a:gridCol w="2240280"/>
                <a:gridCol w="2359152"/>
              </a:tblGrid>
              <a:tr h="365760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参与对象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承担的项目任务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能力结果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语料清洗、标注、数据集构建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讲解 · 示范 · 共同操作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独立完成数据集构建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提交一个可用数据集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参与训练、评测、微调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共同操作 · 指导实践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独立完成一次微调与评测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微调实验与评测报告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参与应用开发与系统对接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示范 · 指导实践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独立开发并集成新功能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交付一个功能模块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部署、监控、故障处理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讲解 · 共同操作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独立完成部署与运行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完成一次生产部署演练</a:t>
                      </a:r>
                    </a:p>
                  </a:txBody>
                  <a:tcPr anchor="t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703320"/>
            <a:ext cx="3575304" cy="150876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81304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B7A1A"/>
                </a:solidFill>
                <a:latin typeface="微软雅黑"/>
                <a:ea typeface="微软雅黑"/>
              </a:rPr>
              <a:t>项目结束后巴方团队能够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142231"/>
            <a:ext cx="324612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独立完成数据处理与模型微调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部署并运行应用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评测并更新领域模型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3703320"/>
            <a:ext cx="3575304" cy="150876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381304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本次转移不覆盖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4142231"/>
            <a:ext cx="324612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讯飞 SOW 以外的工作包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国家 AI 软件栈自研（TR 中非讯飞承担的 FP 部分）</a:t>
            </a: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，措辞待定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3703320"/>
            <a:ext cx="3575304" cy="1508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1304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语言、资料与记录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42231"/>
            <a:ext cx="324612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英语授课，配葡语助教或同传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资料随交付移交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实践记录与技术成果由巴方留存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与讯飞交付相关的开发、适配、测试与优化支持落实到具体任务；名额、时间、语言与技术指导投入以 SOW 为准。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可选：核心人才深入研修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可选 · 单独报价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896112"/>
            <a:ext cx="89428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在项目内知识转移之外，为少数有基础的人员增加的深入研修；不替代任何已约定内容。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75304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155448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对象与选拔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954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5–10 人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，具备编程与模型基础，从项目参与人员中选拔；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需通过入学测评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371600"/>
            <a:ext cx="3575304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9704" y="155448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55448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技术方向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011680"/>
            <a:ext cx="320954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模型训练与调优、模型蒸馏、评测体系建设；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可按 RNP 需求增加数据工程方向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371600"/>
            <a:ext cx="3575304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7" y="155448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155448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真实课题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011680"/>
            <a:ext cx="320954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围绕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巴西自有葡语模型或某一领域模型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的实际课题开展，产出可用于项目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10712"/>
            <a:ext cx="3575304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59359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593592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导师与形式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0791"/>
            <a:ext cx="320954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讯飞研发导师带教；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合肥或里约现场 + 远程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；配套算力与实验环境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3410712"/>
            <a:ext cx="3575304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9704" y="359359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593592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成果与验证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4050791"/>
            <a:ext cx="320954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独立完成一次模型训练或微调，形成技术报告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或论文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；导师评审并出具能力评估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3410712"/>
            <a:ext cx="3575304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39327" y="3593592"/>
            <a:ext cx="310896" cy="310896"/>
          </a:xfrm>
          <a:prstGeom prst="ellipse">
            <a:avLst/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3593592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 · 周期 · 地点 · 价格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050791"/>
            <a:ext cx="320954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N 人 · N 周 · 地点 · 价格与实施条件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仅对既定范围以外的内容与投入收费；已约定的知识转移或研发支持不因技术难度改列为收费增项。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范围一览与本次需确认事项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575304" cy="169164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B7A1A"/>
                </a:solidFill>
                <a:latin typeface="微软雅黑"/>
                <a:ea typeface="微软雅黑"/>
              </a:rPr>
              <a:t>已包含在当前方案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葡语大模型、APP、领域模型交付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项目内知识转移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交接包：模型、应用、文档、许可条件，支持期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N 个月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914400"/>
            <a:ext cx="3575304" cy="169164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1416" y="10241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B35400"/>
                </a:solidFill>
                <a:latin typeface="微软雅黑"/>
                <a:ea typeface="微软雅黑"/>
              </a:rPr>
              <a:t>可选 · 单独报价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1353312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核心人才深入研修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其他可选服务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914400"/>
            <a:ext cx="3575304" cy="169164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241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不在范围 · 第三方 · 客户提供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353312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讯飞 SOW 以外的工作包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第三方许可与服务</a:t>
            </a:r>
          </a:p>
          <a:p>
            <a:pPr algn="l" marL="137160" indent="-137160">
              <a:lnSpc>
                <a:spcPct val="110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巴方提供的数据、环境与接口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各项对应的技术方案、SOW、报价章节与版本：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待补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；按核实结果标明已包含、单独报价、可选或待确认。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63240"/>
                <a:gridCol w="868680"/>
                <a:gridCol w="2514600"/>
                <a:gridCol w="1143000"/>
                <a:gridCol w="2148840"/>
                <a:gridCol w="1536192"/>
              </a:tblGrid>
              <a:tr h="329184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确认事项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 / 待决问题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承接方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需补充材料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完成时间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模型、应用与领域工作的目标与范围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领域数量、评测达标线、APP 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技术方案、评测集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会后 1 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巴方参与人员、资源与准备条件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各角色人数、到位时间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人员名单、资源清单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会后 2 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共同实施安排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阶段划分与时间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会后 1 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知识转移与能力目标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名额、语言、能力验证方式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 名额、能力目标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会后 1 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可选研修是否继续细化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是否需要、人数与预算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决定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研修方案与报价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成果交接、许可与后续支持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交付形式、许可条件、支持期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交接清单、许可条款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会后 2 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7. 工作范围与费用归属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待对齐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已包含 / 可选 / 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 与报价核对表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 rIns="54864" bIns="36576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会后 1 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