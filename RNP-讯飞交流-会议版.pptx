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147483630" r:id="rId8"/>
    <p:sldId id="2147483631" r:id="rId9"/>
    <p:sldId id="2147483632" r:id="rId10"/>
    <p:sldId id="2147483633" r:id="rId11"/>
    <p:sldId id="2147483634" r:id="rId12"/>
    <p:sldId id="2147483635" r:id="rId13"/>
    <p:sldId id="2147483636" r:id="rId14"/>
    <p:sldId id="2147483637" r:id="rId15"/>
    <p:sldId id="2147483638" r:id="rId16"/>
    <p:sldId id="2147483639" r:id="rId17"/>
    <p:sldId id="2147483640" r:id="rId18"/>
    <p:sldId id="2147483641" r:id="rId19"/>
    <p:sldId id="2147483642" r:id="rId20"/>
    <p:sldId id="2147483643" r:id="rId21"/>
    <p:sldId id="2147483644" r:id="rId22"/>
    <p:sldId id="2147483645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24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D33DA-F32C-4BB5-A35D-C2C64315327B}" type="datetimeFigureOut">
              <a:rPr lang="zh-CN" altLang="en-US" smtClean="0"/>
              <a:t>2026/8/27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A69E06-539E-443E-9D9E-DA313339D2A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3607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本次交流讲四件事：讯飞交付什么、怎么做、双方怎么分工、巴方人员怎样学会并接手。顺序按 Mota 电话中 RNP 的诉求。</a:t>
            </a:r>
          </a:p>
          <a:p>
            <a:r>
              <a:t>黑字口径与四份书面答复一致；蓝字待 SOW。DLM 数量 3 个为最新口径，8/13 答复写的是 1 个，会上要主动说明。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一页讲完：交付什么、怎么建、谁做、多大。RNP 可以直接用这一页向上汇报。六个锚点数字：300B、50B+300B、3 个 DLM、1000 万/500 并发、280P/560P、6 个月一版。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规模、周期来自 8/13 答复；语料分工来自 5/4、5/8 答复；底座与权重归属来自 4/29 答复。数字只留锚点，其余在后两页。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8/13 答复 Q2、5/4 答复 Q4 Q5、5/8 答复 Q1、4/29 清单 L4 答复整理。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5/4 答复 Q2、Q3、Q6、Q7 与 4/29 清单答复整理。500B 语料是 5/4 早期口径，会上若被问到按 50B 本地 + 300B 通用说明。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基线与本地化来自 5/8 答复 Q4；用户规模与并发来自 8/13 答复 Q2。要有界面或视频。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5/8 答复 Q4、8/13 答复 Q2、5/4 答复 Q11、4/29 清单答复 f 项整理。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实施条件与分工来自 8/13 答复 Q1；数量 3 个为最新口径（8/13 为 1 个），会上要说明。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8/13 答复 Q1 原文整理，数量按最新口径。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Stage 与算力来自 8/13 答复 Q2；运维阶段分工来自 5/8 答复 Q2。五个阶段与月份是示意，待 SOW。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对应 RNP 关心的运营主权与防止供应商依赖：5/4 答复 Q5、Q9、Q10、Q14；5/8 答复 Q2；4/29 清单答复。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 Mota 电话最直接的回应：巴方要出多少人、什么人、什么时候。人数待 SOW。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Mota：they need to write down this program, how many people。这张表就是那个 program 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知识包与方式来自 5/4 答复 Q10；结果来自 5/8 答复。第一层已在报价中，第二层可选单独报价。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对应 Mota：Huawei 在写 capacity program，这张表是讯飞给的输入。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范围三栏把 RNP 历次提问的书面结论带进来。这次会相当于锁定 SOW，争取技术部分当场基本谈定。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简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76894" y="145343"/>
            <a:ext cx="10440017" cy="48684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2797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pPr marL="0" lvl="0" defTabSz="913303">
              <a:spcBef>
                <a:spcPct val="0"/>
              </a:spcBef>
            </a:pPr>
            <a:r>
              <a:rPr lang="zh-CN" altLang="en-US" dirty="0"/>
              <a:t>单击此处添加标题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6144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tif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041" y="6356939"/>
            <a:ext cx="350259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0" kern="1200" baseline="0" dirty="0">
                <a:solidFill>
                  <a:srgbClr val="1D1D1B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Huawei Proprietary - Restricted Distribution</a:t>
            </a:r>
            <a:endParaRPr lang="en-US" sz="900" b="0" kern="1200" baseline="0" dirty="0">
              <a:solidFill>
                <a:srgbClr val="1D1D1B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3846" y="6402809"/>
            <a:ext cx="499534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13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00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13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00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8" name="Group 87">
            <a:extLst>
              <a:ext uri="{FF2B5EF4-FFF2-40B4-BE49-F238E27FC236}">
                <a16:creationId xmlns:a16="http://schemas.microsoft.com/office/drawing/2014/main" id="{37333705-F8D6-2847-B3CB-F2FAB51E2A3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285671" y="2625392"/>
            <a:ext cx="1967204" cy="4233515"/>
            <a:chOff x="5343885" y="-48857"/>
            <a:chExt cx="3271316" cy="7037279"/>
          </a:xfrm>
        </p:grpSpPr>
        <p:sp>
          <p:nvSpPr>
            <p:cNvPr id="89" name="矩形 13">
              <a:extLst>
                <a:ext uri="{FF2B5EF4-FFF2-40B4-BE49-F238E27FC236}">
                  <a16:creationId xmlns:a16="http://schemas.microsoft.com/office/drawing/2014/main" id="{B14DFA89-D483-CF47-82CC-DD86D7CAB09E}"/>
                </a:ext>
              </a:extLst>
            </p:cNvPr>
            <p:cNvSpPr/>
            <p:nvPr userDrawn="1"/>
          </p:nvSpPr>
          <p:spPr>
            <a:xfrm>
              <a:off x="5356401" y="1934171"/>
              <a:ext cx="791510" cy="664397"/>
            </a:xfrm>
            <a:prstGeom prst="rect">
              <a:avLst/>
            </a:prstGeom>
            <a:solidFill>
              <a:srgbClr val="C4005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196/0/84</a:t>
              </a:r>
            </a:p>
          </p:txBody>
        </p:sp>
        <p:sp>
          <p:nvSpPr>
            <p:cNvPr id="90" name="文本框 15">
              <a:extLst>
                <a:ext uri="{FF2B5EF4-FFF2-40B4-BE49-F238E27FC236}">
                  <a16:creationId xmlns:a16="http://schemas.microsoft.com/office/drawing/2014/main" id="{8223ADA0-340A-794B-93B7-24AFF612A719}"/>
                </a:ext>
              </a:extLst>
            </p:cNvPr>
            <p:cNvSpPr txBox="1"/>
            <p:nvPr userDrawn="1"/>
          </p:nvSpPr>
          <p:spPr>
            <a:xfrm>
              <a:off x="5352723" y="1694497"/>
              <a:ext cx="1052647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公司辅助色</a:t>
              </a:r>
            </a:p>
          </p:txBody>
        </p:sp>
        <p:sp>
          <p:nvSpPr>
            <p:cNvPr id="91" name="矩形 13">
              <a:extLst>
                <a:ext uri="{FF2B5EF4-FFF2-40B4-BE49-F238E27FC236}">
                  <a16:creationId xmlns:a16="http://schemas.microsoft.com/office/drawing/2014/main" id="{5F63E0E3-4F22-7948-AB1A-40A84ECA92EC}"/>
                </a:ext>
              </a:extLst>
            </p:cNvPr>
            <p:cNvSpPr/>
            <p:nvPr userDrawn="1"/>
          </p:nvSpPr>
          <p:spPr>
            <a:xfrm>
              <a:off x="6184680" y="1934171"/>
              <a:ext cx="791510" cy="664397"/>
            </a:xfrm>
            <a:prstGeom prst="rect">
              <a:avLst/>
            </a:prstGeom>
            <a:solidFill>
              <a:srgbClr val="CB37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203/55/120</a:t>
              </a:r>
            </a:p>
          </p:txBody>
        </p:sp>
        <p:sp>
          <p:nvSpPr>
            <p:cNvPr id="92" name="矩形 13">
              <a:extLst>
                <a:ext uri="{FF2B5EF4-FFF2-40B4-BE49-F238E27FC236}">
                  <a16:creationId xmlns:a16="http://schemas.microsoft.com/office/drawing/2014/main" id="{29C4A3C6-7C7B-7140-8F73-591E9F49143F}"/>
                </a:ext>
              </a:extLst>
            </p:cNvPr>
            <p:cNvSpPr/>
            <p:nvPr userDrawn="1"/>
          </p:nvSpPr>
          <p:spPr>
            <a:xfrm>
              <a:off x="5356401" y="3403061"/>
              <a:ext cx="791510" cy="664397"/>
            </a:xfrm>
            <a:prstGeom prst="rect">
              <a:avLst/>
            </a:prstGeom>
            <a:solidFill>
              <a:srgbClr val="ED6D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237/109/0</a:t>
              </a:r>
            </a:p>
          </p:txBody>
        </p:sp>
        <p:sp>
          <p:nvSpPr>
            <p:cNvPr id="93" name="矩形 13">
              <a:extLst>
                <a:ext uri="{FF2B5EF4-FFF2-40B4-BE49-F238E27FC236}">
                  <a16:creationId xmlns:a16="http://schemas.microsoft.com/office/drawing/2014/main" id="{BE4C9A8D-46B0-5B40-BC47-DB6C4899227F}"/>
                </a:ext>
              </a:extLst>
            </p:cNvPr>
            <p:cNvSpPr/>
            <p:nvPr userDrawn="1"/>
          </p:nvSpPr>
          <p:spPr>
            <a:xfrm>
              <a:off x="6184680" y="2673360"/>
              <a:ext cx="791510" cy="664397"/>
            </a:xfrm>
            <a:prstGeom prst="rect">
              <a:avLst/>
            </a:prstGeom>
            <a:solidFill>
              <a:srgbClr val="99363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153/54/54</a:t>
              </a:r>
            </a:p>
          </p:txBody>
        </p:sp>
        <p:sp>
          <p:nvSpPr>
            <p:cNvPr id="94" name="矩形 13">
              <a:extLst>
                <a:ext uri="{FF2B5EF4-FFF2-40B4-BE49-F238E27FC236}">
                  <a16:creationId xmlns:a16="http://schemas.microsoft.com/office/drawing/2014/main" id="{612F2ED4-F7A4-9E48-95E1-8D07B3BBE962}"/>
                </a:ext>
              </a:extLst>
            </p:cNvPr>
            <p:cNvSpPr/>
            <p:nvPr userDrawn="1"/>
          </p:nvSpPr>
          <p:spPr>
            <a:xfrm>
              <a:off x="5356401" y="4866463"/>
              <a:ext cx="791510" cy="664397"/>
            </a:xfrm>
            <a:prstGeom prst="rect">
              <a:avLst/>
            </a:prstGeom>
            <a:solidFill>
              <a:srgbClr val="62B23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98/178/48</a:t>
              </a:r>
            </a:p>
          </p:txBody>
        </p:sp>
        <p:sp>
          <p:nvSpPr>
            <p:cNvPr id="95" name="矩形 13">
              <a:extLst>
                <a:ext uri="{FF2B5EF4-FFF2-40B4-BE49-F238E27FC236}">
                  <a16:creationId xmlns:a16="http://schemas.microsoft.com/office/drawing/2014/main" id="{A9E1D476-C288-8945-A68A-1F20C557294B}"/>
                </a:ext>
              </a:extLst>
            </p:cNvPr>
            <p:cNvSpPr/>
            <p:nvPr userDrawn="1"/>
          </p:nvSpPr>
          <p:spPr>
            <a:xfrm>
              <a:off x="6184680" y="3415851"/>
              <a:ext cx="791510" cy="664397"/>
            </a:xfrm>
            <a:prstGeom prst="rect">
              <a:avLst/>
            </a:prstGeom>
            <a:solidFill>
              <a:srgbClr val="F2894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242/137/68</a:t>
              </a:r>
              <a:endParaRPr kumimoji="1" lang="mr-IN" altLang="zh-CN" sz="500" b="1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96" name="矩形 13">
              <a:extLst>
                <a:ext uri="{FF2B5EF4-FFF2-40B4-BE49-F238E27FC236}">
                  <a16:creationId xmlns:a16="http://schemas.microsoft.com/office/drawing/2014/main" id="{42823EBB-E62E-F149-AC9A-09950051F283}"/>
                </a:ext>
              </a:extLst>
            </p:cNvPr>
            <p:cNvSpPr/>
            <p:nvPr userDrawn="1"/>
          </p:nvSpPr>
          <p:spPr>
            <a:xfrm>
              <a:off x="5353240" y="184963"/>
              <a:ext cx="791510" cy="664397"/>
            </a:xfrm>
            <a:prstGeom prst="rect">
              <a:avLst/>
            </a:prstGeom>
            <a:solidFill>
              <a:srgbClr val="C7000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185C</a:t>
              </a:r>
            </a:p>
            <a:p>
              <a:pPr algn="ctr">
                <a:lnSpc>
                  <a:spcPts val="620"/>
                </a:lnSpc>
                <a:spcBef>
                  <a:spcPts val="0"/>
                </a:spcBef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199/0/11  </a:t>
              </a:r>
            </a:p>
          </p:txBody>
        </p:sp>
        <p:sp>
          <p:nvSpPr>
            <p:cNvPr id="97" name="文本框 15">
              <a:extLst>
                <a:ext uri="{FF2B5EF4-FFF2-40B4-BE49-F238E27FC236}">
                  <a16:creationId xmlns:a16="http://schemas.microsoft.com/office/drawing/2014/main" id="{EA01C299-6FF2-3642-AAEC-A1DF62D9C654}"/>
                </a:ext>
              </a:extLst>
            </p:cNvPr>
            <p:cNvSpPr txBox="1"/>
            <p:nvPr userDrawn="1"/>
          </p:nvSpPr>
          <p:spPr>
            <a:xfrm>
              <a:off x="5343885" y="-48857"/>
              <a:ext cx="726488" cy="204645"/>
            </a:xfrm>
            <a:prstGeom prst="rect">
              <a:avLst/>
            </a:prstGeom>
            <a:noFill/>
          </p:spPr>
          <p:txBody>
            <a:bodyPr wrap="square" lIns="0" tIns="0" rIns="0" bIns="0" rtlCol="0" anchor="b" anchorCtr="0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kumimoji="1" lang="zh-CN" altLang="en-US" sz="800" b="0" i="0" dirty="0">
                  <a:solidFill>
                    <a:schemeClr val="tx1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公司色</a:t>
              </a:r>
            </a:p>
          </p:txBody>
        </p:sp>
        <p:sp>
          <p:nvSpPr>
            <p:cNvPr id="98" name="矩形 13">
              <a:extLst>
                <a:ext uri="{FF2B5EF4-FFF2-40B4-BE49-F238E27FC236}">
                  <a16:creationId xmlns:a16="http://schemas.microsoft.com/office/drawing/2014/main" id="{B84AB502-165F-764A-9621-65CA8CBBEAEA}"/>
                </a:ext>
              </a:extLst>
            </p:cNvPr>
            <p:cNvSpPr/>
            <p:nvPr userDrawn="1"/>
          </p:nvSpPr>
          <p:spPr>
            <a:xfrm>
              <a:off x="5352600" y="918047"/>
              <a:ext cx="791510" cy="664397"/>
            </a:xfrm>
            <a:prstGeom prst="rect">
              <a:avLst/>
            </a:prstGeom>
            <a:solidFill>
              <a:srgbClr val="C8102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PANTONE 186C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rPr>
                <a:t>200/16/46  </a:t>
              </a:r>
            </a:p>
          </p:txBody>
        </p:sp>
        <p:sp>
          <p:nvSpPr>
            <p:cNvPr id="99" name="矩形 13">
              <a:extLst>
                <a:ext uri="{FF2B5EF4-FFF2-40B4-BE49-F238E27FC236}">
                  <a16:creationId xmlns:a16="http://schemas.microsoft.com/office/drawing/2014/main" id="{CB8870E8-3E95-764C-B621-A168E194CC7A}"/>
                </a:ext>
              </a:extLst>
            </p:cNvPr>
            <p:cNvSpPr/>
            <p:nvPr userDrawn="1"/>
          </p:nvSpPr>
          <p:spPr>
            <a:xfrm>
              <a:off x="5354164" y="2665974"/>
              <a:ext cx="791510" cy="664397"/>
            </a:xfrm>
            <a:prstGeom prst="rect">
              <a:avLst/>
            </a:prstGeom>
            <a:solidFill>
              <a:srgbClr val="7F000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127/0/1</a:t>
              </a:r>
            </a:p>
          </p:txBody>
        </p:sp>
        <p:sp>
          <p:nvSpPr>
            <p:cNvPr id="100" name="矩形 13">
              <a:extLst>
                <a:ext uri="{FF2B5EF4-FFF2-40B4-BE49-F238E27FC236}">
                  <a16:creationId xmlns:a16="http://schemas.microsoft.com/office/drawing/2014/main" id="{356EF69A-1936-544F-A95F-0664F4E186D5}"/>
                </a:ext>
              </a:extLst>
            </p:cNvPr>
            <p:cNvSpPr/>
            <p:nvPr userDrawn="1"/>
          </p:nvSpPr>
          <p:spPr>
            <a:xfrm>
              <a:off x="5354164" y="4134866"/>
              <a:ext cx="791510" cy="664397"/>
            </a:xfrm>
            <a:prstGeom prst="rect">
              <a:avLst/>
            </a:prstGeom>
            <a:solidFill>
              <a:srgbClr val="FCC8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52/200/0</a:t>
              </a:r>
            </a:p>
          </p:txBody>
        </p:sp>
        <p:sp>
          <p:nvSpPr>
            <p:cNvPr id="101" name="矩形 13">
              <a:extLst>
                <a:ext uri="{FF2B5EF4-FFF2-40B4-BE49-F238E27FC236}">
                  <a16:creationId xmlns:a16="http://schemas.microsoft.com/office/drawing/2014/main" id="{03EBAB43-95A5-1C4A-8458-B86EB3D51FCA}"/>
                </a:ext>
              </a:extLst>
            </p:cNvPr>
            <p:cNvSpPr/>
            <p:nvPr userDrawn="1"/>
          </p:nvSpPr>
          <p:spPr>
            <a:xfrm>
              <a:off x="5354164" y="5596166"/>
              <a:ext cx="791510" cy="664397"/>
            </a:xfrm>
            <a:prstGeom prst="rect">
              <a:avLst/>
            </a:prstGeom>
            <a:solidFill>
              <a:srgbClr val="30B5C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48/181/197</a:t>
              </a:r>
            </a:p>
          </p:txBody>
        </p:sp>
        <p:sp>
          <p:nvSpPr>
            <p:cNvPr id="102" name="矩形 13">
              <a:extLst>
                <a:ext uri="{FF2B5EF4-FFF2-40B4-BE49-F238E27FC236}">
                  <a16:creationId xmlns:a16="http://schemas.microsoft.com/office/drawing/2014/main" id="{371A8520-F934-304C-B57F-B49F768694E2}"/>
                </a:ext>
              </a:extLst>
            </p:cNvPr>
            <p:cNvSpPr/>
            <p:nvPr userDrawn="1"/>
          </p:nvSpPr>
          <p:spPr>
            <a:xfrm>
              <a:off x="6184543" y="4866463"/>
              <a:ext cx="791510" cy="664398"/>
            </a:xfrm>
            <a:prstGeom prst="rect">
              <a:avLst/>
            </a:prstGeom>
            <a:solidFill>
              <a:srgbClr val="81C15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129/193/95</a:t>
              </a:r>
            </a:p>
          </p:txBody>
        </p:sp>
        <p:sp>
          <p:nvSpPr>
            <p:cNvPr id="103" name="矩形 13">
              <a:extLst>
                <a:ext uri="{FF2B5EF4-FFF2-40B4-BE49-F238E27FC236}">
                  <a16:creationId xmlns:a16="http://schemas.microsoft.com/office/drawing/2014/main" id="{B83004D7-279B-C14E-9FCF-870FA1B74FDF}"/>
                </a:ext>
              </a:extLst>
            </p:cNvPr>
            <p:cNvSpPr/>
            <p:nvPr userDrawn="1"/>
          </p:nvSpPr>
          <p:spPr>
            <a:xfrm>
              <a:off x="6182308" y="4134866"/>
              <a:ext cx="791510" cy="664398"/>
            </a:xfrm>
            <a:prstGeom prst="rect">
              <a:avLst/>
            </a:prstGeom>
            <a:solidFill>
              <a:srgbClr val="FDD35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253/211/81</a:t>
              </a:r>
            </a:p>
          </p:txBody>
        </p:sp>
        <p:sp>
          <p:nvSpPr>
            <p:cNvPr id="104" name="矩形 13">
              <a:extLst>
                <a:ext uri="{FF2B5EF4-FFF2-40B4-BE49-F238E27FC236}">
                  <a16:creationId xmlns:a16="http://schemas.microsoft.com/office/drawing/2014/main" id="{99635968-4E69-CC41-9D78-6DF253FE3035}"/>
                </a:ext>
              </a:extLst>
            </p:cNvPr>
            <p:cNvSpPr/>
            <p:nvPr userDrawn="1"/>
          </p:nvSpPr>
          <p:spPr>
            <a:xfrm>
              <a:off x="6177324" y="5596166"/>
              <a:ext cx="791510" cy="664398"/>
            </a:xfrm>
            <a:prstGeom prst="rect">
              <a:avLst/>
            </a:prstGeom>
            <a:solidFill>
              <a:srgbClr val="56C4D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86/196/210</a:t>
              </a:r>
            </a:p>
          </p:txBody>
        </p:sp>
        <p:sp>
          <p:nvSpPr>
            <p:cNvPr id="105" name="矩形 13">
              <a:extLst>
                <a:ext uri="{FF2B5EF4-FFF2-40B4-BE49-F238E27FC236}">
                  <a16:creationId xmlns:a16="http://schemas.microsoft.com/office/drawing/2014/main" id="{BDBE4949-07B7-F046-AD95-68E4B0C11CCD}"/>
                </a:ext>
              </a:extLst>
            </p:cNvPr>
            <p:cNvSpPr/>
            <p:nvPr/>
          </p:nvSpPr>
          <p:spPr>
            <a:xfrm>
              <a:off x="6186245" y="184963"/>
              <a:ext cx="791510" cy="664397"/>
            </a:xfrm>
            <a:prstGeom prst="rect">
              <a:avLst/>
            </a:prstGeom>
            <a:solidFill>
              <a:srgbClr val="D339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211/57/65</a:t>
              </a:r>
            </a:p>
          </p:txBody>
        </p:sp>
        <p:sp>
          <p:nvSpPr>
            <p:cNvPr id="106" name="矩形 13">
              <a:extLst>
                <a:ext uri="{FF2B5EF4-FFF2-40B4-BE49-F238E27FC236}">
                  <a16:creationId xmlns:a16="http://schemas.microsoft.com/office/drawing/2014/main" id="{AA9F9E00-6A31-F14B-A2E4-79908835FD14}"/>
                </a:ext>
              </a:extLst>
            </p:cNvPr>
            <p:cNvSpPr/>
            <p:nvPr/>
          </p:nvSpPr>
          <p:spPr>
            <a:xfrm>
              <a:off x="6185604" y="918047"/>
              <a:ext cx="791510" cy="664397"/>
            </a:xfrm>
            <a:prstGeom prst="rect">
              <a:avLst/>
            </a:prstGeom>
            <a:solidFill>
              <a:srgbClr val="D3385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211/56/89</a:t>
              </a:r>
            </a:p>
          </p:txBody>
        </p:sp>
        <p:sp>
          <p:nvSpPr>
            <p:cNvPr id="107" name="矩形 13">
              <a:extLst>
                <a:ext uri="{FF2B5EF4-FFF2-40B4-BE49-F238E27FC236}">
                  <a16:creationId xmlns:a16="http://schemas.microsoft.com/office/drawing/2014/main" id="{38715A31-485E-B744-B409-43F9F04B48F7}"/>
                </a:ext>
              </a:extLst>
            </p:cNvPr>
            <p:cNvSpPr/>
            <p:nvPr/>
          </p:nvSpPr>
          <p:spPr>
            <a:xfrm>
              <a:off x="6996262" y="1934171"/>
              <a:ext cx="791510" cy="664397"/>
            </a:xfrm>
            <a:prstGeom prst="rect">
              <a:avLst/>
            </a:prstGeom>
            <a:solidFill>
              <a:srgbClr val="DD80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221/128/170</a:t>
              </a:r>
            </a:p>
          </p:txBody>
        </p:sp>
        <p:sp>
          <p:nvSpPr>
            <p:cNvPr id="108" name="矩形 13">
              <a:extLst>
                <a:ext uri="{FF2B5EF4-FFF2-40B4-BE49-F238E27FC236}">
                  <a16:creationId xmlns:a16="http://schemas.microsoft.com/office/drawing/2014/main" id="{4AE1609B-25DD-2C4A-B05B-D18ADBC39C71}"/>
                </a:ext>
              </a:extLst>
            </p:cNvPr>
            <p:cNvSpPr/>
            <p:nvPr/>
          </p:nvSpPr>
          <p:spPr>
            <a:xfrm>
              <a:off x="6996262" y="2673360"/>
              <a:ext cx="791510" cy="664397"/>
            </a:xfrm>
            <a:prstGeom prst="rect">
              <a:avLst/>
            </a:prstGeom>
            <a:solidFill>
              <a:srgbClr val="BF808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191/128/130</a:t>
              </a:r>
            </a:p>
          </p:txBody>
        </p:sp>
        <p:sp>
          <p:nvSpPr>
            <p:cNvPr id="109" name="矩形 13">
              <a:extLst>
                <a:ext uri="{FF2B5EF4-FFF2-40B4-BE49-F238E27FC236}">
                  <a16:creationId xmlns:a16="http://schemas.microsoft.com/office/drawing/2014/main" id="{ECE90F9F-DBBC-0B49-A42C-8B62397E473E}"/>
                </a:ext>
              </a:extLst>
            </p:cNvPr>
            <p:cNvSpPr/>
            <p:nvPr/>
          </p:nvSpPr>
          <p:spPr>
            <a:xfrm>
              <a:off x="6996262" y="3415851"/>
              <a:ext cx="791510" cy="664397"/>
            </a:xfrm>
            <a:prstGeom prst="rect">
              <a:avLst/>
            </a:prstGeom>
            <a:solidFill>
              <a:srgbClr val="F6B7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246/183/140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0" name="矩形 13">
              <a:extLst>
                <a:ext uri="{FF2B5EF4-FFF2-40B4-BE49-F238E27FC236}">
                  <a16:creationId xmlns:a16="http://schemas.microsoft.com/office/drawing/2014/main" id="{D5B387BA-F8B8-B54E-966E-F24E271747C4}"/>
                </a:ext>
              </a:extLst>
            </p:cNvPr>
            <p:cNvSpPr/>
            <p:nvPr/>
          </p:nvSpPr>
          <p:spPr>
            <a:xfrm>
              <a:off x="7006093" y="4866463"/>
              <a:ext cx="791510" cy="664397"/>
            </a:xfrm>
            <a:prstGeom prst="rect">
              <a:avLst/>
            </a:prstGeom>
            <a:solidFill>
              <a:srgbClr val="AFD89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176/216/156</a:t>
              </a:r>
            </a:p>
          </p:txBody>
        </p:sp>
        <p:sp>
          <p:nvSpPr>
            <p:cNvPr id="111" name="矩形 13">
              <a:extLst>
                <a:ext uri="{FF2B5EF4-FFF2-40B4-BE49-F238E27FC236}">
                  <a16:creationId xmlns:a16="http://schemas.microsoft.com/office/drawing/2014/main" id="{E6C9B99E-8C1C-2B49-B82E-3C754B8E5C02}"/>
                </a:ext>
              </a:extLst>
            </p:cNvPr>
            <p:cNvSpPr/>
            <p:nvPr/>
          </p:nvSpPr>
          <p:spPr>
            <a:xfrm>
              <a:off x="7003856" y="4134866"/>
              <a:ext cx="791510" cy="664397"/>
            </a:xfrm>
            <a:prstGeom prst="rect">
              <a:avLst/>
            </a:prstGeom>
            <a:solidFill>
              <a:srgbClr val="FDE3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253/227/181</a:t>
              </a:r>
            </a:p>
          </p:txBody>
        </p:sp>
        <p:sp>
          <p:nvSpPr>
            <p:cNvPr id="112" name="矩形 13">
              <a:extLst>
                <a:ext uri="{FF2B5EF4-FFF2-40B4-BE49-F238E27FC236}">
                  <a16:creationId xmlns:a16="http://schemas.microsoft.com/office/drawing/2014/main" id="{0106BFA2-9DE1-3A42-A6C6-69BCE0FA34F4}"/>
                </a:ext>
              </a:extLst>
            </p:cNvPr>
            <p:cNvSpPr/>
            <p:nvPr/>
          </p:nvSpPr>
          <p:spPr>
            <a:xfrm>
              <a:off x="7003856" y="5596166"/>
              <a:ext cx="791510" cy="664397"/>
            </a:xfrm>
            <a:prstGeom prst="rect">
              <a:avLst/>
            </a:prstGeom>
            <a:solidFill>
              <a:srgbClr val="94DAE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148/218/226</a:t>
              </a:r>
            </a:p>
          </p:txBody>
        </p:sp>
        <p:sp>
          <p:nvSpPr>
            <p:cNvPr id="113" name="矩形 13">
              <a:extLst>
                <a:ext uri="{FF2B5EF4-FFF2-40B4-BE49-F238E27FC236}">
                  <a16:creationId xmlns:a16="http://schemas.microsoft.com/office/drawing/2014/main" id="{F760C1C5-4342-C346-A7D2-D101978EDF66}"/>
                </a:ext>
              </a:extLst>
            </p:cNvPr>
            <p:cNvSpPr/>
            <p:nvPr/>
          </p:nvSpPr>
          <p:spPr>
            <a:xfrm>
              <a:off x="6997826" y="184963"/>
              <a:ext cx="791510" cy="664397"/>
            </a:xfrm>
            <a:prstGeom prst="rect">
              <a:avLst/>
            </a:prstGeom>
            <a:solidFill>
              <a:srgbClr val="E281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226/129/137</a:t>
              </a:r>
            </a:p>
          </p:txBody>
        </p:sp>
        <p:sp>
          <p:nvSpPr>
            <p:cNvPr id="114" name="矩形 13">
              <a:extLst>
                <a:ext uri="{FF2B5EF4-FFF2-40B4-BE49-F238E27FC236}">
                  <a16:creationId xmlns:a16="http://schemas.microsoft.com/office/drawing/2014/main" id="{5BB50A4A-0B64-7E4C-824C-1EBCA1A992CF}"/>
                </a:ext>
              </a:extLst>
            </p:cNvPr>
            <p:cNvSpPr/>
            <p:nvPr/>
          </p:nvSpPr>
          <p:spPr>
            <a:xfrm>
              <a:off x="6997185" y="918047"/>
              <a:ext cx="791510" cy="664397"/>
            </a:xfrm>
            <a:prstGeom prst="rect">
              <a:avLst/>
            </a:prstGeom>
            <a:solidFill>
              <a:srgbClr val="E2819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226/129/152</a:t>
              </a:r>
            </a:p>
          </p:txBody>
        </p:sp>
        <p:sp>
          <p:nvSpPr>
            <p:cNvPr id="115" name="矩形 13">
              <a:extLst>
                <a:ext uri="{FF2B5EF4-FFF2-40B4-BE49-F238E27FC236}">
                  <a16:creationId xmlns:a16="http://schemas.microsoft.com/office/drawing/2014/main" id="{756A7E25-6C44-8A44-A8C5-61D19BC9EDAF}"/>
                </a:ext>
              </a:extLst>
            </p:cNvPr>
            <p:cNvSpPr/>
            <p:nvPr userDrawn="1"/>
          </p:nvSpPr>
          <p:spPr>
            <a:xfrm>
              <a:off x="7806130" y="1934171"/>
              <a:ext cx="791510" cy="664397"/>
            </a:xfrm>
            <a:prstGeom prst="rect">
              <a:avLst/>
            </a:prstGeom>
            <a:solidFill>
              <a:srgbClr val="EBB3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235/179/204</a:t>
              </a:r>
            </a:p>
          </p:txBody>
        </p:sp>
        <p:sp>
          <p:nvSpPr>
            <p:cNvPr id="116" name="矩形 13">
              <a:extLst>
                <a:ext uri="{FF2B5EF4-FFF2-40B4-BE49-F238E27FC236}">
                  <a16:creationId xmlns:a16="http://schemas.microsoft.com/office/drawing/2014/main" id="{96588389-39CD-DF4E-B9AC-92091E25724E}"/>
                </a:ext>
              </a:extLst>
            </p:cNvPr>
            <p:cNvSpPr/>
            <p:nvPr/>
          </p:nvSpPr>
          <p:spPr>
            <a:xfrm>
              <a:off x="7806130" y="2673360"/>
              <a:ext cx="791510" cy="664397"/>
            </a:xfrm>
            <a:prstGeom prst="rect">
              <a:avLst/>
            </a:prstGeom>
            <a:solidFill>
              <a:srgbClr val="D8B3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marL="0" marR="0" lvl="0" indent="0" algn="ctr" defTabSz="913746" rtl="0" eaLnBrk="1" fontAlgn="auto" latinLnBrk="0" hangingPunct="1">
                <a:lnSpc>
                  <a:spcPts val="62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216/179/179</a:t>
              </a:r>
            </a:p>
          </p:txBody>
        </p:sp>
        <p:sp>
          <p:nvSpPr>
            <p:cNvPr id="117" name="矩形 13">
              <a:extLst>
                <a:ext uri="{FF2B5EF4-FFF2-40B4-BE49-F238E27FC236}">
                  <a16:creationId xmlns:a16="http://schemas.microsoft.com/office/drawing/2014/main" id="{20725C9F-31AE-DB44-B70A-B4ECDEC0BC00}"/>
                </a:ext>
              </a:extLst>
            </p:cNvPr>
            <p:cNvSpPr/>
            <p:nvPr/>
          </p:nvSpPr>
          <p:spPr>
            <a:xfrm>
              <a:off x="7811114" y="3415851"/>
              <a:ext cx="791510" cy="664398"/>
            </a:xfrm>
            <a:prstGeom prst="rect">
              <a:avLst/>
            </a:prstGeom>
            <a:solidFill>
              <a:srgbClr val="FAD3B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250/211/187</a:t>
              </a:r>
              <a:endParaRPr kumimoji="1" lang="mr-IN" altLang="zh-CN" sz="500" b="1" dirty="0">
                <a:solidFill>
                  <a:srgbClr val="595757"/>
                </a:solidFill>
                <a:latin typeface="Arial" charset="0"/>
                <a:ea typeface="Arial" charset="0"/>
                <a:cs typeface="Arial" charset="0"/>
              </a:endParaRPr>
            </a:p>
          </p:txBody>
        </p:sp>
        <p:sp>
          <p:nvSpPr>
            <p:cNvPr id="118" name="矩形 13">
              <a:extLst>
                <a:ext uri="{FF2B5EF4-FFF2-40B4-BE49-F238E27FC236}">
                  <a16:creationId xmlns:a16="http://schemas.microsoft.com/office/drawing/2014/main" id="{AC5BCC27-B68D-0743-8E0B-E25F8D01C3A4}"/>
                </a:ext>
              </a:extLst>
            </p:cNvPr>
            <p:cNvSpPr/>
            <p:nvPr/>
          </p:nvSpPr>
          <p:spPr>
            <a:xfrm>
              <a:off x="7820945" y="4866463"/>
              <a:ext cx="791510" cy="664398"/>
            </a:xfrm>
            <a:prstGeom prst="rect">
              <a:avLst/>
            </a:prstGeom>
            <a:solidFill>
              <a:srgbClr val="D0E8C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208/232/196</a:t>
              </a:r>
            </a:p>
          </p:txBody>
        </p:sp>
        <p:sp>
          <p:nvSpPr>
            <p:cNvPr id="119" name="矩形 13">
              <a:extLst>
                <a:ext uri="{FF2B5EF4-FFF2-40B4-BE49-F238E27FC236}">
                  <a16:creationId xmlns:a16="http://schemas.microsoft.com/office/drawing/2014/main" id="{51C2E83A-C975-6945-B2FD-5B22BBB53DB7}"/>
                </a:ext>
              </a:extLst>
            </p:cNvPr>
            <p:cNvSpPr/>
            <p:nvPr/>
          </p:nvSpPr>
          <p:spPr>
            <a:xfrm>
              <a:off x="7818707" y="4134866"/>
              <a:ext cx="791510" cy="664398"/>
            </a:xfrm>
            <a:prstGeom prst="rect">
              <a:avLst/>
            </a:prstGeom>
            <a:solidFill>
              <a:srgbClr val="FEEE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254/238/193</a:t>
              </a:r>
            </a:p>
          </p:txBody>
        </p:sp>
        <p:sp>
          <p:nvSpPr>
            <p:cNvPr id="120" name="矩形 13">
              <a:extLst>
                <a:ext uri="{FF2B5EF4-FFF2-40B4-BE49-F238E27FC236}">
                  <a16:creationId xmlns:a16="http://schemas.microsoft.com/office/drawing/2014/main" id="{BEE9A95F-6965-354F-A2C7-2E8C81DDA52F}"/>
                </a:ext>
              </a:extLst>
            </p:cNvPr>
            <p:cNvSpPr/>
            <p:nvPr/>
          </p:nvSpPr>
          <p:spPr>
            <a:xfrm>
              <a:off x="7823691" y="5596166"/>
              <a:ext cx="791510" cy="664398"/>
            </a:xfrm>
            <a:prstGeom prst="rect">
              <a:avLst/>
            </a:prstGeom>
            <a:solidFill>
              <a:srgbClr val="BEE9E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190/233/238</a:t>
              </a:r>
            </a:p>
          </p:txBody>
        </p:sp>
        <p:sp>
          <p:nvSpPr>
            <p:cNvPr id="121" name="矩形 13">
              <a:extLst>
                <a:ext uri="{FF2B5EF4-FFF2-40B4-BE49-F238E27FC236}">
                  <a16:creationId xmlns:a16="http://schemas.microsoft.com/office/drawing/2014/main" id="{509164EB-3DC4-7A4F-9E7C-06EBC981CD0A}"/>
                </a:ext>
              </a:extLst>
            </p:cNvPr>
            <p:cNvSpPr/>
            <p:nvPr/>
          </p:nvSpPr>
          <p:spPr>
            <a:xfrm>
              <a:off x="7807694" y="184963"/>
              <a:ext cx="791510" cy="664397"/>
            </a:xfrm>
            <a:prstGeom prst="rect">
              <a:avLst/>
            </a:prstGeom>
            <a:solidFill>
              <a:srgbClr val="EEB3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239/178/184</a:t>
              </a:r>
            </a:p>
          </p:txBody>
        </p:sp>
        <p:sp>
          <p:nvSpPr>
            <p:cNvPr id="122" name="矩形 13">
              <a:extLst>
                <a:ext uri="{FF2B5EF4-FFF2-40B4-BE49-F238E27FC236}">
                  <a16:creationId xmlns:a16="http://schemas.microsoft.com/office/drawing/2014/main" id="{667867DD-D3E6-3040-A7B5-39345C0CE2E3}"/>
                </a:ext>
              </a:extLst>
            </p:cNvPr>
            <p:cNvSpPr/>
            <p:nvPr/>
          </p:nvSpPr>
          <p:spPr>
            <a:xfrm>
              <a:off x="7807054" y="918047"/>
              <a:ext cx="791510" cy="664397"/>
            </a:xfrm>
            <a:prstGeom prst="rect">
              <a:avLst/>
            </a:prstGeom>
            <a:solidFill>
              <a:srgbClr val="EEB3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238/179/193</a:t>
              </a:r>
            </a:p>
          </p:txBody>
        </p:sp>
        <p:sp>
          <p:nvSpPr>
            <p:cNvPr id="123" name="矩形 13">
              <a:extLst>
                <a:ext uri="{FF2B5EF4-FFF2-40B4-BE49-F238E27FC236}">
                  <a16:creationId xmlns:a16="http://schemas.microsoft.com/office/drawing/2014/main" id="{9EE10597-3782-AB46-8453-89FA049C6C46}"/>
                </a:ext>
              </a:extLst>
            </p:cNvPr>
            <p:cNvSpPr/>
            <p:nvPr userDrawn="1"/>
          </p:nvSpPr>
          <p:spPr>
            <a:xfrm>
              <a:off x="5354169" y="6324025"/>
              <a:ext cx="513579" cy="664397"/>
            </a:xfrm>
            <a:prstGeom prst="rect">
              <a:avLst/>
            </a:prstGeom>
            <a:solidFill>
              <a:srgbClr val="22181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0/0/0</a:t>
              </a:r>
            </a:p>
          </p:txBody>
        </p:sp>
        <p:sp>
          <p:nvSpPr>
            <p:cNvPr id="124" name="矩形 13">
              <a:extLst>
                <a:ext uri="{FF2B5EF4-FFF2-40B4-BE49-F238E27FC236}">
                  <a16:creationId xmlns:a16="http://schemas.microsoft.com/office/drawing/2014/main" id="{966B3529-B594-884C-BED0-5887B34BBBB8}"/>
                </a:ext>
              </a:extLst>
            </p:cNvPr>
            <p:cNvSpPr/>
            <p:nvPr userDrawn="1"/>
          </p:nvSpPr>
          <p:spPr>
            <a:xfrm>
              <a:off x="5900626" y="6324025"/>
              <a:ext cx="513579" cy="664397"/>
            </a:xfrm>
            <a:prstGeom prst="rect">
              <a:avLst/>
            </a:prstGeom>
            <a:solidFill>
              <a:srgbClr val="59575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 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89/87/87</a:t>
              </a:r>
            </a:p>
          </p:txBody>
        </p:sp>
        <p:sp>
          <p:nvSpPr>
            <p:cNvPr id="125" name="矩形 13">
              <a:extLst>
                <a:ext uri="{FF2B5EF4-FFF2-40B4-BE49-F238E27FC236}">
                  <a16:creationId xmlns:a16="http://schemas.microsoft.com/office/drawing/2014/main" id="{0B0545C9-147F-584F-80D2-EF13876D7D33}"/>
                </a:ext>
              </a:extLst>
            </p:cNvPr>
            <p:cNvSpPr/>
            <p:nvPr userDrawn="1"/>
          </p:nvSpPr>
          <p:spPr>
            <a:xfrm>
              <a:off x="6445335" y="6324024"/>
              <a:ext cx="513579" cy="664398"/>
            </a:xfrm>
            <a:prstGeom prst="rect">
              <a:avLst/>
            </a:prstGeom>
            <a:solidFill>
              <a:srgbClr val="88888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137/137/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137</a:t>
              </a:r>
            </a:p>
          </p:txBody>
        </p:sp>
        <p:sp>
          <p:nvSpPr>
            <p:cNvPr id="126" name="矩形 13">
              <a:extLst>
                <a:ext uri="{FF2B5EF4-FFF2-40B4-BE49-F238E27FC236}">
                  <a16:creationId xmlns:a16="http://schemas.microsoft.com/office/drawing/2014/main" id="{44FD0A0B-0D45-3340-A523-465AC24134BF}"/>
                </a:ext>
              </a:extLst>
            </p:cNvPr>
            <p:cNvSpPr/>
            <p:nvPr userDrawn="1"/>
          </p:nvSpPr>
          <p:spPr>
            <a:xfrm>
              <a:off x="7003279" y="6324024"/>
              <a:ext cx="513579" cy="664398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181/181/</a:t>
              </a:r>
              <a:b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FFFFFF"/>
                  </a:solidFill>
                  <a:latin typeface="Arial" charset="0"/>
                  <a:ea typeface="Arial" charset="0"/>
                  <a:cs typeface="Arial" charset="0"/>
                </a:rPr>
                <a:t>181</a:t>
              </a:r>
            </a:p>
          </p:txBody>
        </p:sp>
        <p:sp>
          <p:nvSpPr>
            <p:cNvPr id="127" name="矩形 13">
              <a:extLst>
                <a:ext uri="{FF2B5EF4-FFF2-40B4-BE49-F238E27FC236}">
                  <a16:creationId xmlns:a16="http://schemas.microsoft.com/office/drawing/2014/main" id="{2C404A07-276B-3648-BB25-4EDB5905448C}"/>
                </a:ext>
              </a:extLst>
            </p:cNvPr>
            <p:cNvSpPr/>
            <p:nvPr userDrawn="1"/>
          </p:nvSpPr>
          <p:spPr>
            <a:xfrm>
              <a:off x="7551547" y="6324024"/>
              <a:ext cx="513579" cy="664398"/>
            </a:xfrm>
            <a:prstGeom prst="rect">
              <a:avLst/>
            </a:prstGeom>
            <a:solidFill>
              <a:srgbClr val="DDDDD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 221/221/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221</a:t>
              </a:r>
            </a:p>
          </p:txBody>
        </p:sp>
        <p:sp>
          <p:nvSpPr>
            <p:cNvPr id="128" name="矩形 13">
              <a:extLst>
                <a:ext uri="{FF2B5EF4-FFF2-40B4-BE49-F238E27FC236}">
                  <a16:creationId xmlns:a16="http://schemas.microsoft.com/office/drawing/2014/main" id="{72B0F29C-A346-8946-9B8E-8F1B9DFF7AD0}"/>
                </a:ext>
              </a:extLst>
            </p:cNvPr>
            <p:cNvSpPr/>
            <p:nvPr userDrawn="1"/>
          </p:nvSpPr>
          <p:spPr>
            <a:xfrm>
              <a:off x="8098559" y="6324024"/>
              <a:ext cx="513579" cy="664398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5B5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RGB</a:t>
              </a:r>
            </a:p>
            <a:p>
              <a:pPr algn="ctr">
                <a:lnSpc>
                  <a:spcPts val="620"/>
                </a:lnSpc>
              </a:pP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255/255/</a:t>
              </a:r>
              <a:b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</a:br>
              <a:r>
                <a:rPr kumimoji="1" lang="en-US" altLang="zh-CN" sz="500" b="1" dirty="0">
                  <a:solidFill>
                    <a:srgbClr val="595757"/>
                  </a:solidFill>
                  <a:latin typeface="Arial" charset="0"/>
                  <a:ea typeface="Arial" charset="0"/>
                  <a:cs typeface="Arial" charset="0"/>
                </a:rPr>
                <a:t>255</a:t>
              </a:r>
            </a:p>
          </p:txBody>
        </p:sp>
      </p:grpSp>
      <p:pic>
        <p:nvPicPr>
          <p:cNvPr id="47" name="Picture 46">
            <a:extLst>
              <a:ext uri="{FF2B5EF4-FFF2-40B4-BE49-F238E27FC236}">
                <a16:creationId xmlns:a16="http://schemas.microsoft.com/office/drawing/2014/main" id="{92D9040A-3082-2F49-987E-B51574332EF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2194" y="6323416"/>
            <a:ext cx="1270304" cy="275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631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hdr="0" ftr="0" dt="0"/>
  <p:txStyles>
    <p:titleStyle>
      <a:lvl1pPr algn="l" defTabSz="1186848" rtl="0" eaLnBrk="1" latinLnBrk="0" hangingPunct="1">
        <a:lnSpc>
          <a:spcPct val="90000"/>
        </a:lnSpc>
        <a:spcBef>
          <a:spcPct val="0"/>
        </a:spcBef>
        <a:buNone/>
        <a:defRPr sz="57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712" indent="-296712" algn="l" defTabSz="1186848" rtl="0" eaLnBrk="1" latinLnBrk="0" hangingPunct="1">
        <a:lnSpc>
          <a:spcPct val="90000"/>
        </a:lnSpc>
        <a:spcBef>
          <a:spcPts val="1297"/>
        </a:spcBef>
        <a:buFont typeface="Arial" panose="020B0604020202020204" pitchFamily="34" charset="0"/>
        <a:buChar char="•"/>
        <a:defRPr sz="3634" kern="1200">
          <a:solidFill>
            <a:schemeClr val="tx1"/>
          </a:solidFill>
          <a:latin typeface="+mn-lt"/>
          <a:ea typeface="+mn-ea"/>
          <a:cs typeface="+mn-cs"/>
        </a:defRPr>
      </a:lvl1pPr>
      <a:lvl2pPr marL="89013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6" kern="1200">
          <a:solidFill>
            <a:schemeClr val="tx1"/>
          </a:solidFill>
          <a:latin typeface="+mn-lt"/>
          <a:ea typeface="+mn-ea"/>
          <a:cs typeface="+mn-cs"/>
        </a:defRPr>
      </a:lvl2pPr>
      <a:lvl3pPr marL="1483560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6" kern="1200">
          <a:solidFill>
            <a:schemeClr val="tx1"/>
          </a:solidFill>
          <a:latin typeface="+mn-lt"/>
          <a:ea typeface="+mn-ea"/>
          <a:cs typeface="+mn-cs"/>
        </a:defRPr>
      </a:lvl3pPr>
      <a:lvl4pPr marL="2076986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670409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3263834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857258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450682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5044107" indent="-296712" algn="l" defTabSz="118684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1pPr>
      <a:lvl2pPr marL="59342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2pPr>
      <a:lvl3pPr marL="118684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3pPr>
      <a:lvl4pPr marL="1780274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4pPr>
      <a:lvl5pPr marL="2373698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5pPr>
      <a:lvl6pPr marL="296712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6pPr>
      <a:lvl7pPr marL="3560546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7pPr>
      <a:lvl8pPr marL="4153972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8pPr>
      <a:lvl9pPr marL="4747395" algn="l" defTabSz="1186848" rtl="0" eaLnBrk="1" latinLnBrk="0" hangingPunct="1">
        <a:defRPr sz="23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86384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666666"/>
                </a:solidFill>
                <a:latin typeface="微软雅黑"/>
                <a:ea typeface="微软雅黑"/>
              </a:rPr>
              <a:t>RNP × 科大讯飞 · 技术交流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400" b="1">
                <a:solidFill>
                  <a:srgbClr val="C00000"/>
                </a:solidFill>
                <a:latin typeface="微软雅黑"/>
                <a:ea typeface="微软雅黑"/>
              </a:rPr>
              <a:t>国家大模型、国家 APP 与行业模型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>
                <a:solidFill>
                  <a:srgbClr val="1D1D1A"/>
                </a:solidFill>
                <a:latin typeface="微软雅黑"/>
                <a:ea typeface="微软雅黑"/>
              </a:rPr>
              <a:t>讯飞交付什么、双方怎么分工、能力如何转移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49039"/>
            <a:ext cx="7863840" cy="11887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里约热内卢 ·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示例：2026 年 9 月 9 日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汇报：科大讯飞 </a:t>
            </a:r>
            <a:r>
              <a:rPr sz="1300" b="0">
                <a:solidFill>
                  <a:srgbClr val="0070C0"/>
                </a:solidFill>
                <a:latin typeface="微软雅黑"/>
                <a:ea typeface="微软雅黑"/>
              </a:rPr>
              <a:t>示例：陈浩、方案架构师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微软雅黑"/>
                <a:ea typeface="微软雅黑"/>
              </a:rPr>
              <a:t>讨论稿，内容以 SOW、报价与技术方案为准；第 2 页一页看全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120640"/>
            <a:ext cx="7863840" cy="86868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120640"/>
            <a:ext cx="7589520" cy="8686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图例：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蓝色文字</a:t>
            </a: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 = 示例或待核实，需按 SOW、报价与技术方案替换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黑色文字与讯飞给 RNP 的四份书面答复一致（4/29 清单答复、5/4、5/8、8/13 技术答复）；DLM 数量按最新口径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1737360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235440" y="1975104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8360" y="1737360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国家大模型 + 葡语语音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2761488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0" y="2999232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2761488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国家 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785616"/>
            <a:ext cx="2651760" cy="82296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0" y="4023360"/>
            <a:ext cx="347472" cy="347472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38360" y="3785616"/>
            <a:ext cx="1874519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1D1D1A"/>
                </a:solidFill>
                <a:latin typeface="微软雅黑"/>
                <a:ea typeface="微软雅黑"/>
              </a:rPr>
              <a:t>行业模型 DLM ×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0" y="4809744"/>
            <a:ext cx="2651760" cy="685800"/>
          </a:xfrm>
          <a:prstGeom prst="roundRect">
            <a:avLst>
              <a:gd name="adj" fmla="val 4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4809744"/>
            <a:ext cx="2651760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知识转移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一页看全：三项成果，怎么建、谁来做、关键数字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1274552" cy="3127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2743200"/>
                <a:gridCol w="2606040"/>
                <a:gridCol w="2697480"/>
                <a:gridCol w="1490472"/>
              </a:tblGrid>
              <a:tr h="384048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成果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是什么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怎么建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谁做什么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关键数字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9144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国家大模型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（含葡语语音）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基于讯飞星火基础模型的约 300B 巴西主权大模型，加巴西葡语 ASR/TTS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语料构建 → 预训练与后训练 → 评测 → 交付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讯飞：主导训练与语料加工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RNP：采集本地语料，参与训练与验收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300B 参数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本地 50B + 通用 300B 语料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6 个月一版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国家 APP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以讯飞星火 APP 为基线做巴西本地化的公众 AI 服务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需求定义 → 本地化 → 系统集成 → 上线运营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讯飞：基线产品、本地化与平台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RNP：定义场景，提供接口，验收与运营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1000 万级用户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500 路峰值并发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行业模型 DLM × 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 个行业模型，各面向 1 个固定场景；方向由 RNP/MCTI 提出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确定场景 → 数据与基座 → 训练与评测 → 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讯飞：可行性评估、路线与指导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RNP：数据与专家，自主训练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 个</a:t>
                      </a:r>
                    </a:p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70B 以内基座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251960"/>
            <a:ext cx="11274552" cy="54864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370832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承载平台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4325112"/>
            <a:ext cx="9628632" cy="4206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三大中心（软件平台）：语料库构建中心 · 模型训练中心 · AI 应用创新中心　｜　Stage 1 基础能力建设约 280P，Stage 2 全面运营合计约 560P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937760"/>
            <a:ext cx="11274552" cy="5486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056632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知识转移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5010912"/>
            <a:ext cx="9628632" cy="4206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贯穿全程，巴方人员边做边学；DLM 由 RNP 自主训练、讯飞辅助；完成后巴方可自主研发 DLM 与其他尺寸模型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口径与讯飞给 RNP 的四份书面答复一致；范围以 SOW 与报价核对为准。后续各页逐项展开。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国家大模型：怎么建、谁来做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基于讯飞星火基础模型训练的约 300B 巴西主权大模型，含巴西葡语 ASR/TTS；约 6 个月完成一个正式版本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语料构建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采集 50B 本地语料；讯飞提供 300B 通用语料并加工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预训练与后训练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星火底座，约 300B 参数级；多轮优化与版本迭代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本土基准 + 国际基准；讯飞准备，RNP 审核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交付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权重归巴西；基模源码、导出格式与 MaaS 平台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主导训练；语料加工与质检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评测方案、交付与文档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采集本地语料并落实授权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工程师参与训练；组织验收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模型权重、基模结构源码、评测报告、文档　·　规格、语料与评测见后两页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国家大模型：规格与算力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1513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参数规模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300B 参数级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底座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讯飞星火基础模型；星火基础模型权重在双方约定范围内受限开放给巴西（参考 Qwen、Llama 开源范围）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本地构建 50B tokens 高质量巴西葡语语料；讯飞免费提供 300B 以上通用预训练语料；合计超 350B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训练内容与周期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预训练、后训练、测试评估、多轮优化与版本迭代；约 6 个月完成一个正式版本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训练算力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210P（Stage 1），并为数据调整、断点续训及回归验证保留资源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语料构建算力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17.5P：OCR、文本识别、清洗、格式转换、质检等大规模数据处理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葡语语音模型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巴西葡萄牙语 ASR/TTS 的训练、实验、评测与持续优化：35P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部署平台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昇腾平台深度优化、性能最佳；模型可 ONNX 导出并部署于英伟达平台，效率低于昇腾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不在范围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VLM（视觉语言模型）训练与推理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48640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算力为容量规划基准，全部 NPU 统一池化调度。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国家大模型：语料、评测与数据主权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4805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语料分工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采集原始语料；讯飞设计语料体系、输出采集与标注规范，负责清洗、去重、分词、配比、入库与抽样质检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有监督与安全数据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有监督数据不少于 20 万条；安全与价值观对齐数据不少于 2 万条（RNP 依本国官方表述提供原始内容）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语音语料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ASR 不少于 1 万小时（覆盖区域口音、录音环境）；TTS 不少于 100 小时（标准发音人由 RNP 协调）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本土权威媒体、政府公开数据、高校科研、公开数据集；RNP 对接高校、SoberanIA、WideLabs、国家图书馆等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本土基准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ENEM、BlueX、HateBR、OAB、ASSIN2（候选）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国际基准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M-MMLU、MGSM、Xwinogrande、Belebele、FLORES（公开、可复现）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评测流程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数据采集阶段与 RNP 工程团队联合构建测试集；评测方法与验收条件由讯飞准备、RNP 审核；达标线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数据主权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全部采集、训练、微调、推理、运维在巴西境内；遵守 LGPD；禁止未授权跨境传输；本土数据集 RNP 完全控制，讯飞通用语料“可用不可见”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答复、4/29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合规组织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讯飞承诺遵守 LGPD；建议 RNP 指派 LGPD 合规专员共同细化要求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 APP：给谁用、怎么建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以讯飞星火 APP 为基线做巴西本地化的公众 AI 服务：问答、语音交互、文档理解、内容创作；约 1000 万级用户、500 路峰值并发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需求与场景定义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与巴西伙伴共同定义需求、场景与功能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本地化定制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巴西葡语界面、语音、内容；本地场景适配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本地系统集成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与巴西本地系统集成；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待核：接口清单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Stage 2 在线推理；多副本、高可用、弹性扩容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3108960" cy="13716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950208"/>
            <a:ext cx="2834640" cy="1371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666666"/>
                </a:solidFill>
                <a:latin typeface="微软雅黑"/>
                <a:ea typeface="微软雅黑"/>
              </a:rPr>
              <a:t>界面截图 / 演示视频</a:t>
            </a:r>
          </a:p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示例位：现场演示星火 APP 一段完整操作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3950208"/>
            <a:ext cx="3808475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6908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69080" y="4370832"/>
            <a:ext cx="3351275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星火 APP 基线与平台；本地化与集成开发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MaaS 平台与推理服务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3275" y="3950208"/>
            <a:ext cx="3808475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1875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1875" y="4370832"/>
            <a:ext cx="3351275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定义本地场景与功能，提供系统接口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050" b="0">
                <a:solidFill>
                  <a:srgbClr val="333333"/>
                </a:solidFill>
                <a:latin typeface="微软雅黑"/>
                <a:ea typeface="微软雅黑"/>
              </a:rPr>
              <a:t>组织测试验收；运维期主导运营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服务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问答 · 语音交互 · 文档理解 · 内容创作 · Embedding · Reranking　·　容量与接口见下页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国家 APP：服务、容量与接口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基线产品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讯飞星火 APP（中国已上线运营）：自然语言问答、语音交互、文档理解、内容创作（写作、PPT 生成）等 Chatbot 核心能力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本地化范围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巴西葡语本地化（界面、语音、内容）、本地应用场景适配、与巴西本地系统集成；需本地团队深度参与定义需求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服务类型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NLP 问答、ASR/TTS 语音交互、OCR 文档处理、Embedding、Reranking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用户规模与并发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约 1000 万级用户；约 500 路峰值并发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推理算力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105P（Stage 2）；多模型混合调用、多副本、高可用、故障切换、弹性扩容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国家大模型 + AI 能力中心导入的第三方开源模型（DeepSeek、Qwen 等已兼容）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程序化访问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MaaS 平台：OpenAI 兼容 REST API、Python/JS/Java SDK、OpenAPI 文档、Docker/K8s 部署、认证、限流、监控、审计日志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其他本地应用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其他本地聊天机器人与应用可由巴西本地企业与讯飞联合开发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性能与可用性指标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示例：平均响应 N 秒，可用性 99.9%；按 SOW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行业模型 DLM：选什么领域、怎么共同开发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11274552" cy="60350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06424"/>
            <a:ext cx="11887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用途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1033272"/>
            <a:ext cx="9628632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3 个行业模型，每个面向 1 个边界清晰的固定场景；行业方向由 RNP/MCTI 提出，讯飞做可行性评估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907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怎么做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确定场景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RNP/MCTI 确定行业、场景、目标与使用边界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2676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32988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97580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8204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数据与基座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7580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提供授权数据与专家；70B 以内基座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98464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08776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3368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训练与评测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RNP 自主训练，讯飞辅助与持续咨询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74252" y="2267712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84564" y="2029968"/>
            <a:ext cx="2647188" cy="146304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49156" y="2194560"/>
            <a:ext cx="329184" cy="329184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9780" y="2157984"/>
            <a:ext cx="1915667" cy="40233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D1D1A"/>
                </a:solidFill>
                <a:latin typeface="微软雅黑"/>
                <a:ea typeface="微软雅黑"/>
              </a:rPr>
              <a:t>验收与演进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49156" y="2670048"/>
            <a:ext cx="231800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独立评测集验收；实施前签场景与方案确认书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639312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谁做什么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C00000"/>
                </a:solidFill>
                <a:latin typeface="微软雅黑"/>
                <a:ea typeface="微软雅黑"/>
              </a:rPr>
              <a:t>讯飞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可行性评估；基座与训练路线建议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C00000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训练过程技术指导与优化建议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31636" y="3950208"/>
            <a:ext cx="5500116" cy="1371600"/>
          </a:xfrm>
          <a:prstGeom prst="roundRect">
            <a:avLst>
              <a:gd name="adj" fmla="val 4000"/>
            </a:avLst>
          </a:prstGeom>
          <a:solidFill>
            <a:srgbClr val="E8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0236" y="404164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RNP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0236" y="4370832"/>
            <a:ext cx="5042916" cy="8961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确定场景；提供数据、标注与专家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F4E79"/>
              </a:buClr>
              <a:buSzPct val="100000"/>
              <a:buFont typeface="Arial"/>
              <a:buChar char="•"/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自主训练与评测；组织验收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486400"/>
            <a:ext cx="11274552" cy="566928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61441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交付物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5559552"/>
            <a:ext cx="926287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技术方案、指导记录、问题清单、评测分析与演进建议　·　实施条件与数据规格见下页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行业模型 DLM：实施条件与数据规格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315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数量与范围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 个行业模型；每个面向 1 个边界清晰的固定业务场景，含业务目标、目标用户、输入输出与使用边界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最新口径（8/13 为 1 个）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基础模型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70B 参数以内的星火模型或主流开源模型（DeepSeek、Qwen）；采用第三方开源基座时 RNP 需确保使用、修改及再训练权利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数据规模参考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LoRA 微调最少约 200–1k 条，建议 5k–50k 条；SFT 微调最少约 1k–5k 条，建议 20k–200k+ 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RNP 数据责任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训练、标注、独立评测数据的合法使用权；采集、采购、清洗、标注、翻译、来源授权、内容审核及 LGPD 合规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RNP 专家资源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巴西葡萄牙语、行业、安全及法律合规本地专家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实施环境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训练、评测、部署所需算力、存储、网络；算力 70P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待核：按 1 个 DLM 规划，3 个需重估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实施模式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优先“RNP 自主训练 + 讯飞辅助训练及持续咨询”；不足时可调整为讯飞进一步参与或直接承担训练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验收依据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双方确认的独立评测数据集；场景、基座、路线、评测方法与验收条件写入《DLM 场景及技术方案确认书》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8/13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行业方向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候选：政务服务、法律、医疗、教育（讯飞有经验）；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待核：由 RNP/MCTI 提出 3 个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53212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讯飞交付文档：技术方案、指导记录、问题清单、评测分析、演进建议。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整体路径：两个 Stage，五个阶段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4356201" cy="38404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4081881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Stage 1 · 国家 AI 基础能力建设 · 约 280P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69433" y="960120"/>
            <a:ext cx="6662318" cy="384048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06593" y="960120"/>
            <a:ext cx="6387998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Stage 2 · 国家级全面运营 · 合计约 560P　</a:t>
            </a: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待核：阶段与 Stage 的对应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90218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语料与数据准备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本地语料采集与加工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示例：M1–M3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34716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763316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96335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6468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国家大模型训练与评测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476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预训练、后训练与评测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0476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示例：M2–M8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840833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69433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902452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42585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国家 APP 与 DLM 开发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6593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APP 本地化；DLM 自主训练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6593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示例：M6–M11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46950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75550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08568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8702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部署与验收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2710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部署、试运行、验收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2710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示例：M10–M13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53067" y="2240280"/>
            <a:ext cx="201168" cy="201168"/>
          </a:xfrm>
          <a:prstGeom prst="right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81667" y="1463040"/>
            <a:ext cx="2050084" cy="20116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4685" y="1645920"/>
            <a:ext cx="384048" cy="384048"/>
          </a:xfrm>
          <a:prstGeom prst="ellipse">
            <a:avLst/>
          </a:prstGeom>
          <a:solidFill>
            <a:srgbClr val="E90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54819" y="2121408"/>
            <a:ext cx="190378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1D1D1A"/>
                </a:solidFill>
                <a:latin typeface="微软雅黑"/>
                <a:ea typeface="微软雅黑"/>
              </a:rPr>
              <a:t>交接与运营支持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8827" y="2514600"/>
            <a:ext cx="1775764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移交权重、代码、文档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8827" y="3017520"/>
            <a:ext cx="1775764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0070C0"/>
                </a:solidFill>
                <a:latin typeface="微软雅黑"/>
                <a:ea typeface="微软雅黑"/>
              </a:rPr>
              <a:t>示例：M13–M15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703320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803904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华为提供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776472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Stage 1 约 280P，Stage 2 合计约 560P，统一池化调度　·　部署环境与网络　·　数据中心运维衔接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370832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B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471416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知识转移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4443984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贯穿五个阶段，巴方人员每个阶段与讯飞一起做；DLM 以 RNP 自主训练为主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038344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138928"/>
            <a:ext cx="13716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交接与运营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111496"/>
            <a:ext cx="944575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交接后 RNP 主导三大中心日常运营，讯飞持续支持；许可、年费与长期路径见下页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571500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阶段名称、数量与月份为示例，按实际方案确定。RNP 据此编制本方计划。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交接、许可与运营支持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4572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7863840"/>
                <a:gridCol w="149047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内容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来源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6E6E6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永久授权（项目范围内）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巴西主权大模型权重；巴西本土构建的专属语料；本项目定制开发的训练、微调、推理基础代码；项目范围内交付的平台与应用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权重归属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基于星火训练的巴西主权大模型权重可协商 100% 归巴西；本地定制知识产权归属巴西；权重在巴西本土数据中心部署、存储、维护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星火底座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星火基础模型权重在约定范围内受限开放给巴西（参考 Qwen、Llama 开源范围）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代码权利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训练、微调、评估、对齐、推理服务、MLOps 定制代码：永久使用权与修改权；对外再分发需另行商业条款约定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开源边界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三大中心与国民 APP 为讯飞核心商业资产，不开源；本项目定制部分源码可开放；完全控制可付费买断，商务协商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可移植性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模型支持 ONNX 等标准格式导出；交付基模结构源码（PyTorch、DeepSpeed，推理适配 vLLM）；英伟达平台可运行，性能低于昇腾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运维阶段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 主导三大中心日常运营；讯飞提供系统运维支持、模型持续迭代、运营团队能力培训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5/8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持续费用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基础模型与平台组件软件运维年费、模型持续优化年费，另行商务约定，不影响软件使用；金额 </a:t>
                      </a: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待核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长期路径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1–3 年：商业授权 + 本地增训 + 知识转移；3–5 年及以后：巴方主导补齐算力、算法、数据短板，具备从零预训练能力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5/4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文档语言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官方交付文档以英文提供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4/29 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需要投入什么：人员与资源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60120"/>
          <a:ext cx="11274552" cy="35112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3931920"/>
                <a:gridCol w="2194560"/>
                <a:gridCol w="1463040"/>
                <a:gridCol w="176479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做什么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基础要求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参与 Stage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人数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统筹资源；确认方案、评测与验收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项目管理，英语沟通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执行本地语料采集，对接来源机构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数据采集与版权基础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语料审核、标注质量、发音人协调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巴西葡语母语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LGPD 合规专员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数据来源分类、版权与 LGPD 审核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法律合规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全部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确定 DLM 场景；评价领域成果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行业业务经验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示例：每领域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参与大模型训练；DLM 自主训练与评测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Python，机器学习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定义 APP 本地场景；参与本地化与集成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软件开发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三大中心日常运营；部署与监控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Linux 与容器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Stage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57200" y="4572000"/>
            <a:ext cx="11274552" cy="548640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4690872"/>
            <a:ext cx="91440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4645152"/>
            <a:ext cx="9902952" cy="4206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333333"/>
                </a:solidFill>
                <a:latin typeface="微软雅黑"/>
                <a:ea typeface="微软雅黑"/>
              </a:rPr>
              <a:t>本地语料 50B 及授权　·　标注与评测数据　·　实施环境　·　本地系统接口　·　到位时间 </a:t>
            </a:r>
            <a:r>
              <a:rPr sz="1100" b="0">
                <a:solidFill>
                  <a:srgbClr val="0070C0"/>
                </a:solidFill>
                <a:latin typeface="微软雅黑"/>
                <a:ea typeface="微软雅黑"/>
              </a:rPr>
              <a:t>示例：合同生效后 4 周内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角色按 5/4、8/13 答复中 RNP 的责任整理，人数为示例。RNP 据此编制本方参与计划；本页角色即知识转移的对象，分阶段人数见下页。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参与矩阵：角色 × 阶段 × 人数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86000"/>
                <a:gridCol w="1600200"/>
                <a:gridCol w="1600200"/>
                <a:gridCol w="1600200"/>
                <a:gridCol w="1600200"/>
                <a:gridCol w="1600200"/>
                <a:gridCol w="987552"/>
              </a:tblGrid>
              <a:tr h="54864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1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语料与数据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2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大模型训练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3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APP 与 DLM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4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部署验收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 5</a:t>
                      </a: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交接支持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项目负责人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示例：4–6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葡语语言与标注专家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LGPD 合规专员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示例：3–6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–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02920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666666"/>
                </a:solidFill>
                <a:latin typeface="微软雅黑"/>
                <a:ea typeface="微软雅黑"/>
              </a:rPr>
              <a:t>供 RNP 直接抄成本方参与计划：格子为该阶段同时投入的人数（示例）。名额与阶段以 SOW 为准；同一人可跨阶段、跨成果。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RNP 能带走什么：知识转移两层安排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05840"/>
            <a:ext cx="5454396" cy="3383280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61872"/>
            <a:ext cx="3108960" cy="329184"/>
          </a:xfrm>
          <a:prstGeom prst="roundRect">
            <a:avLst>
              <a:gd name="adj" fmla="val 50000"/>
            </a:avLst>
          </a:prstGeom>
          <a:solidFill>
            <a:srgbClr val="61B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已包含在当前报价 · 不另收费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3B7A1A"/>
                </a:solidFill>
                <a:latin typeface="微软雅黑"/>
                <a:ea typeface="微软雅黑"/>
              </a:rPr>
              <a:t>项目内知识转移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0575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五个知识包：语料采集、数据工程、训练方法、模型评估、部署运维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方式：现场培训、工作坊、边做边学；名额 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示例：每阶段 10 人</a:t>
            </a: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，语言 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示例：英语加葡语助教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结果：巴方可自主研发 DLM 与其他尺寸模型，并主导三大中心运营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7356" y="1005840"/>
            <a:ext cx="5454396" cy="3383280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51676" y="1261872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D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可选 · 单独报价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1676" y="1737360"/>
            <a:ext cx="4905756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B35400"/>
                </a:solidFill>
                <a:latin typeface="微软雅黑"/>
                <a:ea typeface="微软雅黑"/>
              </a:rPr>
              <a:t>核心人才深入研修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1676" y="2286000"/>
            <a:ext cx="4905756" cy="2011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对象：少数有编程与模型基础的人员，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示例：6–8 人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方向：模型训练与调优、蒸馏、评测体系</a:t>
            </a:r>
          </a:p>
          <a:p>
            <a:pPr algn="l" marL="164592" indent="-164592">
              <a:lnSpc>
                <a:spcPct val="115000"/>
              </a:lnSpc>
              <a:spcAft>
                <a:spcPts val="7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200" b="0">
                <a:solidFill>
                  <a:srgbClr val="333333"/>
                </a:solidFill>
                <a:latin typeface="微软雅黑"/>
                <a:ea typeface="微软雅黑"/>
              </a:rPr>
              <a:t>形式、周期与价格：</a:t>
            </a:r>
            <a:r>
              <a:rPr sz="1200" b="0">
                <a:solidFill>
                  <a:srgbClr val="0070C0"/>
                </a:solidFill>
                <a:latin typeface="微软雅黑"/>
                <a:ea typeface="微软雅黑"/>
              </a:rPr>
              <a:t>示例：现场 4 周 + 远程 8 周，按人数与周期报价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572000"/>
            <a:ext cx="11274552" cy="512064"/>
          </a:xfrm>
          <a:prstGeom prst="roundRect">
            <a:avLst>
              <a:gd name="adj" fmla="val 4000"/>
            </a:avLst>
          </a:prstGeom>
          <a:solidFill>
            <a:srgbClr val="F7F7F7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72584"/>
            <a:ext cx="16459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C00000"/>
                </a:solidFill>
                <a:latin typeface="微软雅黑"/>
                <a:ea typeface="微软雅黑"/>
              </a:rPr>
              <a:t>整体中的位置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645152"/>
            <a:ext cx="9171432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本页是华为能力建设计划（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示例：2900 人</a:t>
            </a:r>
            <a:r>
              <a:rPr sz="1150" b="0">
                <a:solidFill>
                  <a:srgbClr val="333333"/>
                </a:solidFill>
                <a:latin typeface="微软雅黑"/>
                <a:ea typeface="微软雅黑"/>
              </a:rPr>
              <a:t>）中讯飞承担的部分，由华为统一汇总为一份 program；</a:t>
            </a:r>
            <a:r>
              <a:rPr sz="1150" b="0">
                <a:solidFill>
                  <a:srgbClr val="0070C0"/>
                </a:solidFill>
                <a:latin typeface="微软雅黑"/>
                <a:ea typeface="微软雅黑"/>
              </a:rPr>
              <a:t>待核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软件栈研发与验证算力及兼容性验证在范围内，软件栈自研的主体工作由 RNP 承担，</a:t>
            </a:r>
            <a:r>
              <a:rPr sz="1000" b="0">
                <a:solidFill>
                  <a:srgbClr val="0070C0"/>
                </a:solidFill>
                <a:latin typeface="微软雅黑"/>
                <a:ea typeface="微软雅黑"/>
              </a:rPr>
              <a:t>待核口径</a:t>
            </a: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。各角色的学习路径见下页。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知识转移学习路径：角色 × 阶段 × 任务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02952" y="274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>
            <a:no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50" b="1">
                <a:solidFill>
                  <a:srgbClr val="1D1D1A"/>
                </a:solidFill>
                <a:latin typeface="微软雅黑"/>
                <a:ea typeface="微软雅黑"/>
              </a:rPr>
              <a:t>详情 · 按需展开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11274552" cy="36758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00200"/>
                <a:gridCol w="731520"/>
                <a:gridCol w="3108960"/>
                <a:gridCol w="3566160"/>
                <a:gridCol w="2267712"/>
              </a:tblGrid>
              <a:tr h="384048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角色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参与的项目任务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讯飞支持方式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能力验证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语料采集团队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按讯飞采集规范执行本地语料采集；来源对接与授权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采集规范与方法论输出、抽样质检、不合格回退、迭代反馈；现场培训与工作坊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示例：独立交付一批合规入库语料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语言与标注专家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1–3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SFT 数据标注、语音标注、价值观对齐内容审核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SFT 标注规范、质量标准与样例库；ASR/TTS 标注规范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示例：标注抽检合格率达标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模型工程师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2–4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通过知识转移参与国家大模型训练；DLM 自主训练与评测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训练方法论；基座选型、后训练路线、评测方法建议；日志分析与问题排查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示例：独立完成一次 SFT 微调与评测报告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应用开发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国民 APP 本地场景定义、本地化与系统集成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AI 应用创新中心平台、MaaS 接口与 SDK 使用指导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示例：独立集成一个本地系统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运维工程师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4–5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三大中心部署、监控、故障处理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部署运维知识包；运维阶段运营团队能力培训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示例：完成一次生产部署演练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行业专家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3–4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DLM 场景定义、数据审核、效果评价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评测方法设计与效果分析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示例：完成一轮独立评测评价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5120640"/>
            <a:ext cx="11274552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讯飞支持方式来自 5/4 答复 Q3、Q10 与 8/13 答复 Q1；名额与验证方式待 SOW。供华为编制整体能力计划时使用。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 wrap="square" lIns="45720" tIns="0" rIns="45720" bIns="0" anchor="b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C00000"/>
                </a:solidFill>
                <a:latin typeface="微软雅黑"/>
                <a:ea typeface="微软雅黑"/>
              </a:rPr>
              <a:t>范围一览与本次需确认事项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960120"/>
            <a:ext cx="3575304" cy="1600200"/>
          </a:xfrm>
          <a:prstGeom prst="roundRect">
            <a:avLst>
              <a:gd name="adj" fmla="val 4000"/>
            </a:avLst>
          </a:prstGeom>
          <a:solidFill>
            <a:srgbClr val="EAF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21792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3B7A1A"/>
                </a:solidFill>
                <a:latin typeface="微软雅黑"/>
                <a:ea typeface="微软雅黑"/>
              </a:rPr>
              <a:t>已包含在当前方案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62456"/>
            <a:ext cx="32461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国家大模型（含葡语语音）、国家 APP、3 个 DLM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项目内知识转移；永久授权的权重、语料、定制代码与平台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3B7A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开源模型导入与 2 次迁移适配；MaaS、导出与基模源码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06824" y="960120"/>
            <a:ext cx="3575304" cy="1600200"/>
          </a:xfrm>
          <a:prstGeom prst="roundRect">
            <a:avLst>
              <a:gd name="adj" fmla="val 4000"/>
            </a:avLst>
          </a:prstGeom>
          <a:solidFill>
            <a:srgbClr val="FDEB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1416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B35400"/>
                </a:solidFill>
                <a:latin typeface="微软雅黑"/>
                <a:ea typeface="微软雅黑"/>
              </a:rPr>
              <a:t>可选 · 另行约定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1416" y="1362456"/>
            <a:ext cx="32461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核心人才深入研修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清单外模型适配；微调、性能优化与定制开发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B35400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运维年费与模型优化年费；代码再分发；全量开源买断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960120"/>
            <a:ext cx="3575304" cy="1600200"/>
          </a:xfrm>
          <a:prstGeom prst="roundRect">
            <a:avLst>
              <a:gd name="adj" fmla="val 4000"/>
            </a:avLst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051560"/>
            <a:ext cx="3246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1D1D1A"/>
                </a:solidFill>
                <a:latin typeface="微软雅黑"/>
                <a:ea typeface="微软雅黑"/>
              </a:rPr>
              <a:t>不在范围 · RNP 负责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362456"/>
            <a:ext cx="3246120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VLM；国家级技术验证实验室；全量非昇腾兼容测试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333333"/>
                </a:solidFill>
                <a:latin typeface="微软雅黑"/>
                <a:ea typeface="微软雅黑"/>
              </a:rPr>
              <a:t>RNP：本地语料与授权、LGPD 合规、场景确定、本地专家</a:t>
            </a:r>
          </a:p>
          <a:p>
            <a:pPr algn="l" marL="164592" indent="-164592">
              <a:lnSpc>
                <a:spcPct val="115000"/>
              </a:lnSpc>
              <a:spcAft>
                <a:spcPts val="200"/>
              </a:spcAft>
              <a:buClr>
                <a:srgbClr val="1D1D1A"/>
              </a:buClr>
              <a:buSzPct val="100000"/>
              <a:buFont typeface="Arial"/>
              <a:buChar char="•"/>
            </a:pPr>
            <a:r>
              <a:rPr sz="1000" b="0">
                <a:solidFill>
                  <a:srgbClr val="0070C0"/>
                </a:solidFill>
                <a:latin typeface="微软雅黑"/>
                <a:ea typeface="微软雅黑"/>
              </a:rPr>
              <a:t>待核：其他按 SOW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788920"/>
          <a:ext cx="11274552" cy="27797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657600"/>
                <a:gridCol w="1737360"/>
                <a:gridCol w="5879592"/>
              </a:tblGrid>
              <a:tr h="365760"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确认事项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承接方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wrap="square" lIns="73152" tIns="18288" rIns="73152" bIns="18288" anchor="ctr">
                      <a:noAutofit/>
                    </a:bodyPr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结论 / 下一步</a:t>
                      </a:r>
                    </a:p>
                  </a:txBody>
                  <a:tcPr anchor="ctr">
                    <a:lnL w="6350" cap="flat" cmpd="sng" algn="ctr">
                      <a:solidFill>
                        <a:srgbClr val="C00000"/>
                      </a:solidFill>
                      <a:prstDash val="solid"/>
                    </a:lnL>
                    <a:lnR w="6350" cap="flat" cmpd="sng" algn="ctr">
                      <a:solidFill>
                        <a:srgbClr val="C00000"/>
                      </a:solidFill>
                      <a:prstDash val="solid"/>
                    </a:lnR>
                    <a:lnT w="6350" cap="flat" cmpd="sng" algn="ctr">
                      <a:solidFill>
                        <a:srgbClr val="C00000"/>
                      </a:solidFill>
                      <a:prstDash val="solid"/>
                    </a:lnT>
                    <a:lnB w="6350" cap="flat" cmpd="sng" algn="ctr">
                      <a:solidFill>
                        <a:srgbClr val="C00000"/>
                      </a:solidFill>
                      <a:prstDash val="solid"/>
                    </a:lnB>
                    <a:solidFill>
                      <a:srgbClr val="C00000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1. 三项成果的目标与范围；3 个 DLM 的行业方向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RNP/MCTI + 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示例：RNP/MCTI 提出 3 个方向；会后 2 周签《DLM 场景及技术方案确认书》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2. RNP 参与人员与资源；语料采集计划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2 周提交人员名单、到位时间与采集计划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3. 实施阶段与时间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周提交实施计划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4. 知识转移名额与能力目标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示例：按 SOW 核对名额，会后 1 周确认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5. 可选研修是否需要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RNP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示例：RNP 内部评估后答复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1">
                          <a:solidFill>
                            <a:srgbClr val="1D1D1A"/>
                          </a:solidFill>
                          <a:latin typeface="微软雅黑"/>
                          <a:ea typeface="微软雅黑"/>
                        </a:rPr>
                        <a:t>6. 范围与费用归属；许可与年费条款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333333"/>
                          </a:solidFill>
                          <a:latin typeface="微软雅黑"/>
                          <a:ea typeface="微软雅黑"/>
                        </a:rPr>
                        <a:t>讯飞 + 华为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tIns="36576" rIns="73152" bIns="36576" anchor="ctr">
                      <a:noAutofit/>
                    </a:bodyPr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70C0"/>
                          </a:solidFill>
                          <a:latin typeface="微软雅黑"/>
                          <a:ea typeface="微软雅黑"/>
                        </a:rPr>
                        <a:t>示例：会后 1 周提交 SOW 与报价核对表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9D9D9"/>
                      </a:solidFill>
                      <a:prstDash val="soli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5623560"/>
            <a:ext cx="11274552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666666"/>
                </a:solidFill>
                <a:latin typeface="微软雅黑"/>
                <a:ea typeface="微软雅黑"/>
              </a:rPr>
              <a:t>范围栏与 4/29、5/4、8/13 答复一致；会中记录结论，会后形成双方行动。材料中出现的内容不等于双方已承诺。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7_章节页">
  <a:themeElements>
    <a:clrScheme name="HuaWei colour 3">
      <a:dk1>
        <a:srgbClr val="1D1D1A"/>
      </a:dk1>
      <a:lt1>
        <a:srgbClr val="666666"/>
      </a:lt1>
      <a:dk2>
        <a:srgbClr val="FFFFFF"/>
      </a:dk2>
      <a:lt2>
        <a:srgbClr val="DDDDDD"/>
      </a:lt2>
      <a:accent1>
        <a:srgbClr val="E9002F"/>
      </a:accent1>
      <a:accent2>
        <a:srgbClr val="7F0000"/>
      </a:accent2>
      <a:accent3>
        <a:srgbClr val="ED6D00"/>
      </a:accent3>
      <a:accent4>
        <a:srgbClr val="FCC800"/>
      </a:accent4>
      <a:accent5>
        <a:srgbClr val="61B230"/>
      </a:accent5>
      <a:accent6>
        <a:srgbClr val="30B5C5"/>
      </a:accent6>
      <a:hlink>
        <a:srgbClr val="C7000B"/>
      </a:hlink>
      <a:folHlink>
        <a:srgbClr val="666666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kumimoji="1" dirty="0" smtClean="0">
            <a:solidFill>
              <a:srgbClr val="000000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PT 模板" id="{9BBB633E-5E45-41C7-B61B-A7FDDADD335C}" vid="{FC34AD67-7538-4717-9A73-50191031DBF3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307</Words>
  <Application>Microsoft Office PowerPoint</Application>
  <PresentationFormat>宽屏</PresentationFormat>
  <Paragraphs>37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楷体</vt:lpstr>
      <vt:lpstr>Microsoft YaHei</vt:lpstr>
      <vt:lpstr>Microsoft YaHei</vt:lpstr>
      <vt:lpstr>Arial</vt:lpstr>
      <vt:lpstr>Calibri</vt:lpstr>
      <vt:lpstr>7_章节页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Hao</dc:creator>
  <cp:lastModifiedBy>Chen Hao</cp:lastModifiedBy>
  <cp:revision>1</cp:revision>
  <dcterms:created xsi:type="dcterms:W3CDTF">2026-08-27T14:04:28Z</dcterms:created>
  <dcterms:modified xsi:type="dcterms:W3CDTF">2026-08-27T14:04:38Z</dcterms:modified>
</cp:coreProperties>
</file>