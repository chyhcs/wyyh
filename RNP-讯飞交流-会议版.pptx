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147483630" r:id="rId8"/>
    <p:sldId id="2147483631" r:id="rId9"/>
    <p:sldId id="2147483632" r:id="rId10"/>
    <p:sldId id="2147483633" r:id="rId11"/>
    <p:sldId id="2147483634" r:id="rId12"/>
    <p:sldId id="2147483635" r:id="rId13"/>
    <p:sldId id="2147483636" r:id="rId14"/>
    <p:sldId id="2147483637" r:id="rId15"/>
    <p:sldId id="2147483638" r:id="rId16"/>
    <p:sldId id="2147483639" r:id="rId17"/>
    <p:sldId id="2147483640" r:id="rId18"/>
    <p:sldId id="2147483641" r:id="rId19"/>
    <p:sldId id="2147483642" r:id="rId20"/>
    <p:sldId id="2147483643" r:id="rId21"/>
    <p:sldId id="2147483644" r:id="rId22"/>
    <p:sldId id="2147483645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24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D33DA-F32C-4BB5-A35D-C2C64315327B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69E06-539E-443E-9D9E-DA313339D2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360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本次交流讲四件事：讯飞交付什么、怎么做、双方怎么分工、巴方人员怎样学会并接手。顺序按 Mota 电话中 RNP 的诉求。</a:t>
            </a:r>
          </a:p>
          <a:p>
            <a:r>
              <a:t>黑字口径与四份书面答复一致；蓝字待 SOW。DLM 数量 3 个为最新口径，8/13 答复写的是 1 个，会上要主动说明。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先回答最基本的问题：讯飞这部分最终形成什么，各有什么用，巴方要做什么。三大中心是 RNP 已经熟悉的框架（HLD），要用这个词。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规模、周期、算力来自 8/13 答复；语料分工与规模来自 5/4、5/8 答复；底座与权重归属来自 4/29 清单答复；评测来自 5/4 Q6、Q7。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8/13 答复 Q2、5/4 答复 Q4 Q5、5/8 答复 Q1、4/29 清单 L4 答复整理。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5/4 答复 Q2、Q3、Q6、Q7 与 4/29 清单答复整理。500B 语料是 5/4 早期口径，会上若被问到按 50B 本地 + 300B 通用说明。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基线产品与本地化范围来自 5/8 答复 Q4；服务与容量来自 8/13 答复 Q2。要有界面或视频，标明是星火 APP 案例还是本项目版本。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5/8 答复 Q4、8/13 答复 Q2、5/4 答复 Q11、4/29 清单答复 f 项整理。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实施条件与分工来自 8/13 答复 Q1；DLM 数量 3 个为最新口径，8/13 写的是 1 个，算力 70P 也是按 1 个规划，会上要说明。领域经验来自 5/8 答复 Q3。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8/13 答复 Q1 原文整理，数量按最新口径。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与算力数字来自 8/13 答复 Q2；运维阶段分工来自 5/8 答复 Q2；两段式发展来自 5/4 答复 Q10。五个阶段与月份是示意，待 SOW。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对应 RNP 关心的运营主权与防止供应商依赖：5/4 答复 Q5、Q9、Q10、Q14；5/8 答复 Q2；4/29 清单答复。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 Mota 电话最直接的回应：巴方要出多少人、什么人、什么时候。RNP 主导事项来自 5/4 答复 Q3；LGPD 合规专员来自 4/29 答复建议；人数待 SOW。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Mota：they need to write down this program, how many people。这张表就是那个 program 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知识包、交付物、培训方式来自 5/4 答复 Q10 保障 2；结果来自 5/8 答复 Q1、Q3 与 Q2 运维阶段。第一层已在报价中，第二层可选单独报价。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对应 Mota：Huawei 在写 capacity program，这张表是讯飞给的输入。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范围三栏把 RNP 历次提问（开源、许可、依赖、算力、DLM、开源模型）的书面结论带进来。这次会相当于锁定 SOW，争取技术部分当场基本谈定。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简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894" y="145343"/>
            <a:ext cx="10440017" cy="48684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2797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lvl="0" defTabSz="913303">
              <a:spcBef>
                <a:spcPct val="0"/>
              </a:spcBef>
            </a:pPr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6144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1186848" rtl="0" eaLnBrk="1" latinLnBrk="0" hangingPunct="1">
        <a:lnSpc>
          <a:spcPct val="90000"/>
        </a:lnSpc>
        <a:spcBef>
          <a:spcPct val="0"/>
        </a:spcBef>
        <a:buNone/>
        <a:defRPr sz="57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712" indent="-296712" algn="l" defTabSz="1186848" rtl="0" eaLnBrk="1" latinLnBrk="0" hangingPunct="1">
        <a:lnSpc>
          <a:spcPct val="90000"/>
        </a:lnSpc>
        <a:spcBef>
          <a:spcPts val="1297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13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6" kern="1200">
          <a:solidFill>
            <a:schemeClr val="tx1"/>
          </a:solidFill>
          <a:latin typeface="+mn-lt"/>
          <a:ea typeface="+mn-ea"/>
          <a:cs typeface="+mn-cs"/>
        </a:defRPr>
      </a:lvl2pPr>
      <a:lvl3pPr marL="1483560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6" kern="1200">
          <a:solidFill>
            <a:schemeClr val="tx1"/>
          </a:solidFill>
          <a:latin typeface="+mn-lt"/>
          <a:ea typeface="+mn-ea"/>
          <a:cs typeface="+mn-cs"/>
        </a:defRPr>
      </a:lvl3pPr>
      <a:lvl4pPr marL="2076986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670409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3263834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857258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450682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504410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1pPr>
      <a:lvl2pPr marL="59342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2pPr>
      <a:lvl3pPr marL="118684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3pPr>
      <a:lvl4pPr marL="1780274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37369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296712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560546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15397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474739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666666"/>
                </a:solidFill>
                <a:latin typeface="微软雅黑"/>
                <a:ea typeface="微软雅黑"/>
              </a:rPr>
              <a:t>RNP × 科大讯飞 · 技术交流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C00000"/>
                </a:solidFill>
                <a:latin typeface="微软雅黑"/>
                <a:ea typeface="微软雅黑"/>
              </a:rPr>
              <a:t>国家大模型、国家 APP 与行业模型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D1D1A"/>
                </a:solidFill>
                <a:latin typeface="微软雅黑"/>
                <a:ea typeface="微软雅黑"/>
              </a:rPr>
              <a:t>讯飞交付什么、双方怎么分工、能力如何转移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里约热内卢 ·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示例：2026 年 9 月 9 日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汇报：科大讯飞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示例：陈浩、方案架构师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讨论稿，内容以 SOW、报价与技术方案为准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7863840" cy="86868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图例：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蓝色文字</a:t>
            </a: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 = 示例或待核实，需按 SOW、报价与技术方案替换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黑色文字与讯飞给 RNP 的四份书面答复一致（4/29 清单答复、5/4、5/8、8/13 技术答复）；DLM 数量按最新口径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737360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0" y="1975104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173736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国家大模型 + 葡语语音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2761488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0" y="2999232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2761488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国家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785616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0" y="4023360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3785616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行业模型 DLM ×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4809744"/>
            <a:ext cx="2651760" cy="685800"/>
          </a:xfrm>
          <a:prstGeom prst="roundRect">
            <a:avLst>
              <a:gd name="adj" fmla="val 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4809744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知识转移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讯飞交付什么：三项成果，一套能力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3544824" cy="278892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" y="1161288"/>
            <a:ext cx="365760" cy="36576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1115568"/>
            <a:ext cx="267614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D1D1A"/>
                </a:solidFill>
                <a:latin typeface="微软雅黑"/>
                <a:ea typeface="微软雅黑"/>
              </a:rPr>
              <a:t>国家大模型（含葡语语音）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087624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3087624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约 300B 参数级巴西主权大模型，基于讯飞星火基础模型训练；加巴西葡语 ASR/TTS；是国家 APP 与行业模型的底座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90088"/>
            <a:ext cx="3087624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82696"/>
            <a:ext cx="308762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采集 50B 本地语料并落实授权；工程师通过知识转移参与训练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960120"/>
            <a:ext cx="3544824" cy="278892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0664" y="1161288"/>
            <a:ext cx="365760" cy="36576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5296" y="1115568"/>
            <a:ext cx="267614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D1D1A"/>
                </a:solidFill>
                <a:latin typeface="微软雅黑"/>
                <a:ea typeface="微软雅黑"/>
              </a:rPr>
              <a:t>国家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1737360"/>
            <a:ext cx="3087624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0664" y="2029967"/>
            <a:ext cx="3087624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以讯飞星火 APP 为基线做巴西本地化：问答、语音交互、文档理解、内容创作；面向公众，约 1000 万级用户、500 路峰值并发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2990088"/>
            <a:ext cx="3087624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3282696"/>
            <a:ext cx="308762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与巴西伙伴共同定义需求、场景与功能；提供本地系统接口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6928" y="960120"/>
            <a:ext cx="3544824" cy="278892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5528" y="1161288"/>
            <a:ext cx="365760" cy="36576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0160" y="1115568"/>
            <a:ext cx="267614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D1D1A"/>
                </a:solidFill>
                <a:latin typeface="微软雅黑"/>
                <a:ea typeface="微软雅黑"/>
              </a:rPr>
              <a:t>行业模型 DLM ×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5528" y="1737360"/>
            <a:ext cx="3087624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5528" y="2029967"/>
            <a:ext cx="3087624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3 个行业模型，每个面向 1 个边界清晰的固定场景；行业方向由 RNP/MCTI 提出，讯飞做可行性评估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5528" y="2990088"/>
            <a:ext cx="3087624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5528" y="3282696"/>
            <a:ext cx="308762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提供数据与专家；RNP 团队自主训练，讯飞辅助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74552" cy="77724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65091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承载平台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4005072"/>
            <a:ext cx="9628632" cy="6492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三大中心（软件平台，非物理设施）：语料库构建中心 · 模型训练中心 · AI 应用创新中心。建设期讯飞主导方法论、训练与核心平台，RNP 主导本地语料采集、参与训练并定义本地应用；运维期 RNP 主导日常运营，讯飞持续支持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846320"/>
            <a:ext cx="11274552" cy="713232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901184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212080"/>
            <a:ext cx="10725912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巴方人员在参与以上工作的过程中掌握语料采集、数据工程、训练方法、模型评估、部署运维；完成知识转移后可自主研发 DLM 与其他尺寸模型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66928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三大中心与分工见 5/8 答复，责任矩阵在 HLD；范围以 SOW 与报价核对为准。第 3、6、8 页逐项展开。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国家大模型：怎么建、谁来做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基于讯飞星火基础模型训练的约 300B 参数级巴西主权大模型，约 6 个月完成一个正式版本；另含巴西葡语 ASR/TTS；是国家 APP 与行业模型的底座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语料构建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采集 50B 本地葡语语料；讯飞提供 300B 以上通用语料，并把原始语料加工为 AI Ready 语料库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预训练与后训练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以星火基础模型为底座，约 300B 参数级；Stage 1 分配 210P；多轮优化与版本迭代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巴西本土基准（ENEM、OAB 等）+ 国际多语种基准；测试集联合构建，讯飞准备、RNP 审核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交付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主权模型权重 100% 归巴西；基模结构源码、ONNX 导出；MaaS 平台与文档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主导训练（模型训练中心）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语料加工、质检与方法论输出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评测集与验收方案准备；文档与交付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采集 50B 本地语料，落实版权与 LGPD 授权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工程师通过知识转移参与训练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审核评测方案，组织验收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交付物与验收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权重、基模结构源码（PyTorch/DeepSpeed，推理适配 vLLM）、评测报告、文档；验收达标线 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待核：按评测方案确定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国家大模型：规格与算力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151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参数规模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300B 参数级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底座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讯飞星火基础模型；星火基础模型权重在双方约定范围内受限开放给巴西（参考 Qwen、Llama 开源范围）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本地构建 50B tokens 高质量巴西葡语语料；讯飞免费提供 300B 以上通用预训练语料；合计超 350B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训练内容与周期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预训练、后训练、测试评估、多轮优化与版本迭代；约 6 个月完成一个正式版本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210P（Stage 1），并为数据调整、断点续训及回归验证保留资源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语料构建算力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17.5P：OCR、文本识别、清洗、格式转换、质检等大规模数据处理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葡语语音模型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巴西葡萄牙语 ASR/TTS 的训练、实验、评测与持续优化：35P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部署平台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昇腾平台深度优化、性能最佳；模型可 ONNX 导出并部署于英伟达平台，效率低于昇腾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不在范围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VLM（视觉语言模型）训练与推理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8640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算力为容量规划基准，全部 NPU 统一池化调度。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国家大模型：语料、评测与数据主权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48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语料分工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采集原始语料；讯飞设计语料体系、输出采集与标注规范，负责清洗、去重、分词、配比、入库与抽样质检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有监督与安全数据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有监督数据不少于 20 万条；安全与价值观对齐数据不少于 2 万条（RNP 依本国官方表述提供原始内容）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语音语料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ASR 不少于 1 万小时（覆盖区域口音、录音环境）；TTS 不少于 100 小时（标准发音人由 RNP 协调）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本土权威媒体、政府公开数据、高校科研、公开数据集；RNP 对接高校、SoberanIA、WideLabs、国家图书馆等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本土基准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ENEM、BlueX、HateBR、OAB、ASSIN2（候选）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国际基准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M-MMLU、MGSM、Xwinogrande、Belebele、FLORES（公开、可复现）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评测流程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数据采集阶段与 RNP 工程团队联合构建测试集；评测方法与验收条件由讯飞准备、RNP 审核；达标线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数据主权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全部采集、训练、微调、推理、运维在巴西境内；遵守 LGPD；禁止未授权跨境传输；本土数据集 RNP 完全控制，讯飞通用语料“可用不可见”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答复、4/29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合规组织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讯飞承诺遵守 LGPD；建议 RNP 指派 LGPD 合规专员共同细化要求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 APP：给谁用、怎么建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面向公众的国家级 AI 服务入口，以讯飞星火 APP 为基线做巴西本地化：问答、语音交互、文档理解、内容创作；约 1000 万级用户、500 路峰值并发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需求与场景定义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与巴西伙伴深度参与，共同定义需求、使用场景与功能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本地化定制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巴西葡语本地化：界面、语音、内容；本地应用场景适配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本地系统集成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与巴西本地系统集成；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待核：接口清单与测试数据按 SOW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在线推理 105P（Stage 2）；多模型混合调用、多副本、高可用、弹性扩容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950208"/>
            <a:ext cx="28346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界面截图 / 演示视频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示例位：现场演示星火 APP 一段完整操作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3950208"/>
            <a:ext cx="3808475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6908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80" y="4370832"/>
            <a:ext cx="3351275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交付星火 APP 基线与 AI 应用创新中心核心平台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本地化定制与系统集成开发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MaaS 平台与推理服务；运营团队培训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5" y="3950208"/>
            <a:ext cx="3808475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1875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875" y="4370832"/>
            <a:ext cx="3351275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定义本地应用场景与功能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提供本地系统接口与测试数据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组织测试与验收；运维期主导日常运营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服务与规模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NLP 问答 · 语音交互 · 文档理解与 OCR · 内容创作 · Embedding · Reranking；约 1000 万级用户，约 500 路峰值并发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 APP：服务、容量与接口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基线产品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讯飞星火 APP（中国已上线运营）：自然语言问答、语音交互、文档理解、内容创作（写作、PPT 生成）等 Chatbot 核心能力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本地化范围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巴西葡语本地化（界面、语音、内容）、本地应用场景适配、与巴西本地系统集成；需本地团队深度参与定义需求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服务类型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NLP 问答、ASR/TTS 语音交互、OCR 文档处理、Embedding、Reranking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用户规模与并发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1000 万级用户；约 500 路峰值并发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推理算力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105P（Stage 2）；多模型混合调用、多副本、高可用、故障切换、弹性扩容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国家大模型 + AI 能力中心导入的第三方开源模型（DeepSeek、Qwen 等已兼容）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程序化访问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MaaS 平台：OpenAI 兼容 REST API、Python/JS/Java SDK、OpenAPI 文档、Docker/K8s 部署、认证、限流、监控、审计日志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其他本地应用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其他本地聊天机器人与应用可由巴西本地企业与讯飞联合开发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性能与可用性指标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示例：平均响应 N 秒，可用性 99.9%；按 SOW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行业模型 DLM：选什么领域、怎么共同开发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3 个行业模型，每个面向 1 个边界清晰的固定场景；行业方向由 RNP/MCTI 提出，讯飞做可行性评估；讯飞在政务、法律、医疗、教育领域有 DLM 经验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确定场景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RNP/MCTI 确定行业与固定场景、业务目标、目标用户、输入输出与使用边界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数据与基座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提供或协调授权数据、标注与独立评测数据；共同确定 70B 以内基座（星火或 DeepSeek、Qwen）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训练与评测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自主训练，讯飞辅助训练与持续咨询；LoRA-SFT / SFT / GRPO 路线；Stage 2 分配 70P 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待核：按 1 个规划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验收与演进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基于双方确认的独立评测集验收；实施前签《DLM 场景及技术方案确认书》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需求分析与可行性评估，基座选型建议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语料规划、数据治理、标注体系与配比建议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后训练路线与评测方法设计；训练过程技术指导、日志分析与优化建议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确定行业与场景，指定业务负责人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提供授权数据、标注与评测数据，落实 LGPD 合规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安排葡语、行业、安全、法律专家；技术团队参与数据集构建、训练与评测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交付物与验收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技术方案、指导记录、问题清单、评测分析与演进建议；按独立评测集在约定场景下评测验收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行业模型 DLM：实施条件与数据规格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数量与范围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个行业模型；每个面向 1 个边界清晰的固定业务场景，含业务目标、目标用户、输入输出与使用边界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最新口径（8/13 为 1 个）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基础模型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70B 参数以内的星火模型或主流开源模型（DeepSeek、Qwen）；采用第三方开源基座时 RNP 需确保使用、修改及再训练权利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数据规模参考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LoRA 微调最少约 200–1k 条，建议 5k–50k 条；SFT 微调最少约 1k–5k 条，建议 20k–200k+ 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RNP 数据责任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训练、标注、独立评测数据的合法使用权；采集、采购、清洗、标注、翻译、来源授权、内容审核及 LGPD 合规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RNP 专家资源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巴西葡萄牙语、行业、安全及法律合规本地专家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实施环境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训练、评测、部署所需算力、存储、网络；算力 70P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待核：按 1 个 DLM 规划，3 个需重估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实施模式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优先“RNP 自主训练 + 讯飞辅助训练及持续咨询”；不足时可调整为讯飞进一步参与或直接承担训练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验收依据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双方确认的独立评测数据集；场景、基座、路线、评测方法与验收条件写入《DLM 场景及技术方案确认书》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行业方向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候选：政务服务、法律、医疗、教育（讯飞有经验）；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待核：由 RNP/MCTI 提出 3 个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讯飞交付文档：技术方案、指导记录、问题清单、评测分析、演进建议。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整体路径：两个 Stage，五个阶段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4356201" cy="38404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40818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Stage 1 · 国家 AI 基础能力建设 · 约 280P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69433" y="960120"/>
            <a:ext cx="6662318" cy="38404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06593" y="960120"/>
            <a:ext cx="638799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Stage 2 · 国家级全面运营 · 新增约 280P，合计约 560P　</a:t>
            </a: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待核：阶段与 Stage 的对应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050084" cy="21488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90218" y="162763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84832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语料与数据准备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87168"/>
            <a:ext cx="177576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RNP 采集 50B 本地语料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讯飞加工与质检；授权落实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18688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示例：M1–M3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4716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3316" y="1463040"/>
            <a:ext cx="2050084" cy="21488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96335" y="162763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6468" y="2084832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国家大模型训练与评测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476" y="2487168"/>
            <a:ext cx="177576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约 300B 预训练与后训练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葡语 ASR/TTS；联合评测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0476" y="3218688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示例：M2–M8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40833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9433" y="1463040"/>
            <a:ext cx="2050084" cy="21488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02452" y="162763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2585" y="2084832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国家 APP 与 DLM 开发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6593" y="2487168"/>
            <a:ext cx="177576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APP 本地化与集成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DLM：RNP 自主训练，讯飞辅助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6593" y="3218688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示例：M6–M11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46950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75550" y="1463040"/>
            <a:ext cx="2050084" cy="21488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08568" y="162763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702" y="2084832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部署与验收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2710" y="2487168"/>
            <a:ext cx="177576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部署到华为平台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国家 APP 在线推理；验收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2710" y="3218688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示例：M10–M13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53067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81667" y="1463040"/>
            <a:ext cx="2050084" cy="21488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4685" y="162763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4819" y="2084832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交接与运营支持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8827" y="2487168"/>
            <a:ext cx="177576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权重、代码、文档移交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RNP 主导运营，讯飞支持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8827" y="3218688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示例：M13–M15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794760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895344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华为提供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867912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Stage 1 约 280P，Stage 2 合计约 560P，全部 NPU 统一池化调度　·　部署环境与网络　·　数据中心运维衔接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443984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54456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知识转移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4517136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贯穿五个阶段：巴方人员每个阶段与讯飞一起做；DLM 以 RNP 自主训练为主，讯飞辅助与持续咨询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093208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221224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交接与运营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166360"/>
            <a:ext cx="944575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交接后 RNP 主导三大中心日常运营，讯飞持续提供运维支持、模型迭代与运营团队培训（年费另行约定）；1–3 年授权 + 本地增训 + 知识转移，3–5 年及以后巴方主导自主研发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779008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阶段名称、数量与月份为示例，按实际方案确定；里程碑示例：</a:t>
            </a:r>
            <a:r>
              <a:rPr sz="1000" b="0">
                <a:solidFill>
                  <a:srgbClr val="0070C0"/>
                </a:solidFill>
                <a:latin typeface="微软雅黑"/>
                <a:ea typeface="微软雅黑"/>
              </a:rPr>
              <a:t>M3 语料到位 · M8 底座通过评测 · M11 应用联调通过 · M13 验收</a:t>
            </a: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。RNP 据此编制本方计划。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交接、许可与运营支持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572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永久授权（项目范围内）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巴西主权大模型权重；巴西本土构建的专属语料；本项目定制开发的训练、微调、推理基础代码；项目范围内交付的平台与应用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权重归属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基于星火训练的巴西主权大模型权重可协商 100% 归巴西；本地定制知识产权归属巴西；权重在巴西本土数据中心部署、存储、维护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星火底座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星火基础模型权重在约定范围内受限开放给巴西（参考 Qwen、Llama 开源范围）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代码权利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训练、微调、评估、对齐、推理服务、MLOps 定制代码：永久使用权与修改权；对外再分发需另行商业条款约定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开源边界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三大中心与国民 APP 为讯飞核心商业资产，不开源；本项目定制部分源码可开放；完全控制可付费买断，商务协商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可移植性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模型支持 ONNX 等标准格式导出；交付基模结构源码（PyTorch、DeepSpeed，推理适配 vLLM）；英伟达平台可运行，性能低于昇腾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主导三大中心日常运营；讯飞提供系统运维支持、模型持续迭代、运营团队能力培训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持续费用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基础模型与平台组件软件运维年费、模型持续优化年费，另行商务约定，不影响软件使用；金额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长期路径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1–3 年：商业授权 + 本地增训 + 知识转移；3–5 年及以后：巴方主导补齐算力、算法、数据短板，具备从零预训练能力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文档语言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官方交付文档以英文提供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需要投入什么：人员与资源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1274552" cy="3511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3794760"/>
                <a:gridCol w="1920240"/>
                <a:gridCol w="2286000"/>
                <a:gridCol w="144475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基础要求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参与哪项 · Stage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统筹巴方资源，对接讯飞与华为；确认训练方案、评测、发布与验收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项目管理，英语沟通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 · Stage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执行本地语料采集；对接高校、SoberanIA、WideLabs、国家图书馆等来源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数据采集与版权基础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大模型 · Stage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语料审核、SFT 标注质量、TTS 标准发音人协调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巴西葡语母语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大模型 · Stage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LGPD 合规专员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数据来源分类、版权与 LGPD 审核、授权文件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法律合规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确定 DLM 场景与目标；评价领域成果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行业业务经验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DLM · 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示例：每领域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通过知识转移参与国家大模型训练；DLM 自主训练与评测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Python，机器学习基础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大模型、DLM · Stage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定义国民 APP 本地场景与功能；参与本地化与系统集成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软件开发经验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国家 APP · 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三大中心日常运营；部署、监控、故障处理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Linux 与容器基础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 · 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572000"/>
            <a:ext cx="11274552" cy="65836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745736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4645152"/>
            <a:ext cx="9902952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本地语料 50B 及授权　·　有监督 20 万条、安全对齐 2 万条　·　ASR 1 万小时、TTS 100 小时　·　实施环境　·　本地系统接口　·　到位时间 </a:t>
            </a:r>
            <a:r>
              <a:rPr sz="1050" b="0">
                <a:solidFill>
                  <a:srgbClr val="0070C0"/>
                </a:solidFill>
                <a:latin typeface="微软雅黑"/>
                <a:ea typeface="微软雅黑"/>
              </a:rPr>
              <a:t>示例：合同生效后 4 周内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角色与责任按 5/4 答复 Q3 的 RNP 主导事项及 8/13 答复 Q1 整理，人数为示例。RNP 据此编制本方参与计划；本页角色即知识转移的对象。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参与矩阵：角色 × 阶段 × 人数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6000"/>
                <a:gridCol w="1600200"/>
                <a:gridCol w="1600200"/>
                <a:gridCol w="1600200"/>
                <a:gridCol w="1600200"/>
                <a:gridCol w="1600200"/>
                <a:gridCol w="987552"/>
              </a:tblGrid>
              <a:tr h="54864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1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语料与数据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2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大模型训练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3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APP 与 DLM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4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部署验收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5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交接支持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LGPD 合规专员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供 RNP 直接抄成本方参与计划：格子为该阶段同时投入的人数（示例）。名额与阶段以 SOW 为准；同一人可跨阶段、跨成果。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能带走什么：知识转移两层安排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5454396" cy="3611880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6187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61B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已包含在当前报价 · 不另收费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3B7A1A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4905756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五个知识包：语料采集方法论、数据工程、训练方法论、模型评估、部署运维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方式：现场培训、工作坊、联合工作机制；边做边学，DLM 由 RNP 自主训练、讯飞辅助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交付：运维文档、产品文档、定制代码、集成脚本、接口文档、专属语料、工具链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对象：上一页的参与人员，名额 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示例：每阶段 10 人；待 SOW</a:t>
            </a: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；语言 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示例：英语授课，配葡语助教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结果：完成知识转移后，巴方可自主研发 DLM 与其他尺寸模型，并主导三大中心运营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7356" y="1005840"/>
            <a:ext cx="5454396" cy="3611880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51676" y="126187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D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可选 · 单独报价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6" y="173736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B35400"/>
                </a:solidFill>
                <a:latin typeface="微软雅黑"/>
                <a:ea typeface="微软雅黑"/>
              </a:rPr>
              <a:t>核心人才深入研修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6" y="2240280"/>
            <a:ext cx="4905756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对象：少数有编程与模型基础的人员，人数 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示例：6–8 人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方向：模型训练与调优、蒸馏、评测体系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形式与周期：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示例：合肥现场 4 周 + 远程 8 周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价格：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示例：按人数与周期单独报价</a:t>
            </a:r>
          </a:p>
          <a:p>
            <a:pPr algn="l" marL="164592" indent="-164592">
              <a:lnSpc>
                <a:spcPct val="115000"/>
              </a:lnSpc>
              <a:spcAft>
                <a:spcPts val="4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与已包含内容的边界：开源模型微调、性能优化与定制开发属另行评估报价（8/13 答复 Q3）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54880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855464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整体中的位置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828032"/>
            <a:ext cx="9171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本页是华为能力建设计划（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示例：2900 人</a:t>
            </a: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）中讯飞承担的部分，由华为统一汇总为一份 program；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待核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13248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软件栈：研发与验证算力（17.5P）及兼容性验证在范围内；软件栈自研的主体工作由 RNP 承担，</a:t>
            </a:r>
            <a:r>
              <a:rPr sz="1000" b="0">
                <a:solidFill>
                  <a:srgbClr val="0070C0"/>
                </a:solidFill>
                <a:latin typeface="微软雅黑"/>
                <a:ea typeface="微软雅黑"/>
              </a:rPr>
              <a:t>待核口径</a:t>
            </a: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。讯飞 SOW 以外的工作包不在本页。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知识转移学习路径：角色 × 阶段 × 任务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36758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731520"/>
                <a:gridCol w="3108960"/>
                <a:gridCol w="3566160"/>
                <a:gridCol w="2267712"/>
              </a:tblGrid>
              <a:tr h="384048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参与的项目任务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讯飞支持方式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能力验证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按讯飞采集规范执行本地语料采集；来源对接与授权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采集规范与方法论输出、抽样质检、不合格回退、迭代反馈；现场培训与工作坊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示例：独立交付一批合规入库语料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SFT 数据标注、语音标注、价值观对齐内容审核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SFT 标注规范、质量标准与样例库；ASR/TTS 标注规范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示例：标注抽检合格率达标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2–4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通过知识转移参与国家大模型训练；DLM 自主训练与评测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训练方法论；基座选型、后训练路线、评测方法建议；日志分析与问题排查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示例：独立完成一次 SFT 微调与评测报告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国民 APP 本地场景定义、本地化与系统集成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AI 应用创新中心平台、MaaS 接口与 SDK 使用指导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示例：独立集成一个本地系统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4–5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三大中心部署、监控、故障处理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部署运维知识包；运维阶段运营团队能力培训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示例：完成一次生产部署演练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DLM 场景定义、数据审核、效果评价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评测方法设计与效果分析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示例：完成一轮独立评测评价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讯飞支持方式来自 5/4 答复 Q3、Q10 与 8/13 答复 Q1；名额与验证方式待 SOW。供华为编制整体能力计划时使用。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范围一览与本次需确认事项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3575304" cy="1874519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3B7A1A"/>
                </a:solidFill>
                <a:latin typeface="微软雅黑"/>
                <a:ea typeface="微软雅黑"/>
              </a:rPr>
              <a:t>已包含在当前方案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62456"/>
            <a:ext cx="3246120" cy="14173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国家大模型（含葡语语音）、国家 APP、3 个 DLM；项目内知识转移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永久授权：模型权重、本土语料、定制代码、平台与应用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MaaS 平台、ONNX 导出、基模结构源码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开源模型导入与不超过 2 次推理迁移适配；软件栈研发与验证算力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6824" y="960120"/>
            <a:ext cx="3575304" cy="1874519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1416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B35400"/>
                </a:solidFill>
                <a:latin typeface="微软雅黑"/>
                <a:ea typeface="微软雅黑"/>
              </a:rPr>
              <a:t>可选 · 另行约定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1416" y="1362456"/>
            <a:ext cx="3246120" cy="14173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核心人才深入研修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清单外开源模型适配；微调、性能优化与定制开发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软件运维年费、模型持续优化年费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定制代码对外再分发；核心产品全量开源买断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960120"/>
            <a:ext cx="3575304" cy="1874519"/>
          </a:xfrm>
          <a:prstGeom prst="roundRect">
            <a:avLst>
              <a:gd name="adj" fmla="val 4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不在范围 · RNP 负责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362456"/>
            <a:ext cx="3246120" cy="14173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VLM；国家级技术验证实验室；全量非昇腾兼容测试（范围可议）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RNP：本地语料采集与授权、LGPD 合规、行业与场景确定、本地专家</a:t>
            </a:r>
          </a:p>
          <a:p>
            <a:pPr algn="l" marL="164592" indent="-164592">
              <a:lnSpc>
                <a:spcPct val="115000"/>
              </a:lnSpc>
              <a:spcAft>
                <a:spcPts val="1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950" b="0">
                <a:solidFill>
                  <a:srgbClr val="0070C0"/>
                </a:solidFill>
                <a:latin typeface="微软雅黑"/>
                <a:ea typeface="微软雅黑"/>
              </a:rPr>
              <a:t>待核：其他按 SOW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017520"/>
          <a:ext cx="11274552" cy="2670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57600"/>
                <a:gridCol w="1737360"/>
                <a:gridCol w="587959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确认事项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承接方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结论 / 下一步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384048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 三项成果的目标与范围；3 个 DLM 的行业方向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RNP/MCTI + 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示例：RNP/MCTI 提出 3 个方向；会后 2 周签《DLM 场景及技术方案确认书》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 RNP 参与人员与资源；语料采集计划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2 周提交人员名单、到位时间与采集计划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3. 实施阶段与时间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周提交实施计划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4. 知识转移名额与能力目标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示例：按 SOW 核对名额，会后 1 周确认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5. 可选研修是否需要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 内部评估后答复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6. 范围与费用归属；许可与年费条款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 SOW 与报价核对表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范围栏与 4/29、5/4、8/13 答复一致；会中记录结论，会后形成双方行动。材料中出现的内容不等于双方已承诺。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7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PresentationFormat>宽屏</PresentationFormat>
  <Paragraphs>37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楷体</vt:lpstr>
      <vt:lpstr>Microsoft YaHei</vt:lpstr>
      <vt:lpstr>Microsoft YaHei</vt:lpstr>
      <vt:lpstr>Arial</vt:lpstr>
      <vt:lpstr>Calibri</vt:lpstr>
      <vt:lpstr>7_章节页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Hao</dc:creator>
  <cp:lastModifiedBy>Chen Hao</cp:lastModifiedBy>
  <cp:revision>1</cp:revision>
  <dcterms:created xsi:type="dcterms:W3CDTF">2026-08-27T14:04:28Z</dcterms:created>
  <dcterms:modified xsi:type="dcterms:W3CDTF">2026-08-27T14:04:38Z</dcterms:modified>
</cp:coreProperties>
</file>