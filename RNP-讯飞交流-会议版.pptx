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  <p:sldId id="2147483632" r:id="rId10"/>
    <p:sldId id="2147483633" r:id="rId11"/>
    <p:sldId id="2147483634" r:id="rId12"/>
    <p:sldId id="2147483635" r:id="rId13"/>
    <p:sldId id="2147483636" r:id="rId14"/>
    <p:sldId id="2147483637" r:id="rId15"/>
    <p:sldId id="2147483638" r:id="rId16"/>
    <p:sldId id="2147483639" r:id="rId17"/>
    <p:sldId id="2147483640" r:id="rId18"/>
    <p:sldId id="2147483641" r:id="rId19"/>
    <p:sldId id="2147483642" r:id="rId20"/>
    <p:sldId id="2147483643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本次交流讲四件事：讯飞交付什么、怎么做、双方怎么分工、巴方人员怎样学会并接手。顺序按 Mota 电话中 RNP 的诉求。</a:t>
            </a:r>
          </a:p>
          <a:p>
            <a:r>
              <a:t>黑字口径与 8 月 13 日技术澄清答复一致，蓝字待 SOW。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先回答最基本的问题：讯飞这部分最终形成什么，各有什么用，巴方要做什么。三项成果的名称与规模来自澄清答复 Q1、Q2。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规模、周期、算力来自澄清答复 Q2。训练数据来源、执行分工、评测方法与交付形式答复中没有，待 SOW 与 HLD。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澄清答复 Q2 Stage 1 部分原文整理。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服务类型、用户规模、并发与推理算力来自澄清答复 Q2 Stage 2。建设步骤、本地化、系统对接和分工答复中没有，待 SOW。要有界面或视频。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澄清答复 Q2 Stage 2 国家 APP 部分，加 Q3 开源模型支持。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全部来自澄清答复 Q1。实施模式是 RNP 自主训练加讯飞辅助，正是 Mota 说的 to be with you and to learn。行业方向待 RNP/MCTI 提出。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澄清答复 Q1 原文整理。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1 / Stage 2 与算力数字来自澄清答复 Q2。五个阶段与月份是示意，待 SOW。华为单列，避免 RNP 把算力、环境算到讯飞头上。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 Mota 电话最直接的回应：巴方要出多少人、什么人、什么时候。RNP 责任清单来自澄清答复 Q1；人数与名额待 SOW。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Mota：they need to write down this program, how many people。这张表就是那个 program 的骨架。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第一层已在报价中，第二层可选单独报价。学完能做什么按角色正面写，避免客户期望学完就能自己做国家模型。软件栈口径按澄清答复 Q2 的 17.5P 改写，不能再写“不覆盖”。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 Mota：Huawei 在写 capacity program，这张表是讯飞给的输入。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范围三栏把 RNP 8 月 11 日问的三个问题（DLM 范围与前提、算力理由、开源模型包含与另收费）的结论带进来。这次会相当于锁定 SOW，争取技术部分当场基本谈定。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微软雅黑"/>
                <a:ea typeface="微软雅黑"/>
              </a:rPr>
              <a:t>RNP × 科大讯飞 · 技术交流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400" b="1">
                <a:solidFill>
                  <a:srgbClr val="C00000"/>
                </a:solidFill>
                <a:latin typeface="微软雅黑"/>
                <a:ea typeface="微软雅黑"/>
              </a:rPr>
              <a:t>国家大模型、国家 APP 与行业模型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D1D1A"/>
                </a:solidFill>
                <a:latin typeface="微软雅黑"/>
                <a:ea typeface="微软雅黑"/>
              </a:rPr>
              <a:t>讯飞交付什么、双方怎么分工、能力如何转移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里约热内卢 ·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示例：2026 年 9 月 9 日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汇报：科大讯飞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示例：陈浩、方案架构师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讨论稿，内容以 SOW、报价、技术方案及 8 月 13 日技术澄清答复为准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7863840" cy="7315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212080"/>
            <a:ext cx="7589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图例：</a:t>
            </a: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蓝色文字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 = 示例或待核实，需按 SOW、报价与技术方案替换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黑色文字与 2026 年 8 月 13 日《RNP 技术澄清问题书面答复》口径一致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737360"/>
            <a:ext cx="2651760" cy="8229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35440" y="1975104"/>
            <a:ext cx="347472" cy="347472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1737360"/>
            <a:ext cx="1874519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国家大模型 + 葡语语音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2761488"/>
            <a:ext cx="2651760" cy="8229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35440" y="2999232"/>
            <a:ext cx="347472" cy="347472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761488"/>
            <a:ext cx="1874519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国家 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3785616"/>
            <a:ext cx="2651760" cy="82296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5440" y="4023360"/>
            <a:ext cx="347472" cy="347472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3785616"/>
            <a:ext cx="1874519" cy="8229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行业模型 DLM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4809744"/>
            <a:ext cx="2651760" cy="685800"/>
          </a:xfrm>
          <a:prstGeom prst="roundRect">
            <a:avLst>
              <a:gd name="adj" fmla="val 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4809744"/>
            <a:ext cx="265176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知识转移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讯飞交付什么：三项成果，一套能力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544824" cy="3291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" y="1261872"/>
            <a:ext cx="384048" cy="38404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207008"/>
            <a:ext cx="2630424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D1D1A"/>
                </a:solidFill>
                <a:latin typeface="微软雅黑"/>
                <a:ea typeface="微软雅黑"/>
              </a:rPr>
              <a:t>国家大模型（含葡语语音）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308762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用途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9424"/>
            <a:ext cx="3087624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约 300B 参数级国家基础模型，加巴西葡语语音识别与合成；是国家 APP 与行业模型的共同底座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91840"/>
            <a:ext cx="308762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巴方参与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21024"/>
            <a:ext cx="3087624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提供本地语料并参与评测；</a:t>
            </a:r>
            <a:r>
              <a:rPr sz="1150" b="0">
                <a:solidFill>
                  <a:srgbClr val="0070C0"/>
                </a:solidFill>
                <a:latin typeface="微软雅黑"/>
                <a:ea typeface="微软雅黑"/>
              </a:rPr>
              <a:t>待核：分工按 SOW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064" y="1005840"/>
            <a:ext cx="3544824" cy="3291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50664" y="1261872"/>
            <a:ext cx="384048" cy="38404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3584" y="1207008"/>
            <a:ext cx="2630424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D1D1A"/>
                </a:solidFill>
                <a:latin typeface="微软雅黑"/>
                <a:ea typeface="微软雅黑"/>
              </a:rPr>
              <a:t>国家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0664" y="1920240"/>
            <a:ext cx="308762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用途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0664" y="2249424"/>
            <a:ext cx="3087624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面向公众的 AI 服务：问答、语音交互、OCR 文档处理等；约 1000 万级用户、500 路峰值并发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0664" y="3291840"/>
            <a:ext cx="308762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巴方参与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0664" y="3621024"/>
            <a:ext cx="3087624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0070C0"/>
                </a:solidFill>
                <a:latin typeface="微软雅黑"/>
                <a:ea typeface="微软雅黑"/>
              </a:rPr>
              <a:t>待核：接口、数据与业务确认，按 SOW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6928" y="1005840"/>
            <a:ext cx="3544824" cy="3291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15528" y="1261872"/>
            <a:ext cx="384048" cy="38404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8448" y="1207008"/>
            <a:ext cx="2630424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D1D1A"/>
                </a:solidFill>
                <a:latin typeface="微软雅黑"/>
                <a:ea typeface="微软雅黑"/>
              </a:rPr>
              <a:t>行业模型 DLM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5528" y="1920240"/>
            <a:ext cx="308762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用途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5528" y="2249424"/>
            <a:ext cx="3087624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1 个行业、1 个边界清晰的固定场景；行业方向由 RNP/MCTI 提出，讯飞做可行性评估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5528" y="3291840"/>
            <a:ext cx="308762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巴方参与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5528" y="3621024"/>
            <a:ext cx="3087624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提供数据与专家；RNP 团队自主训练，讯飞辅助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26280"/>
            <a:ext cx="11274552" cy="8686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9943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C00000"/>
                </a:solidFill>
                <a:latin typeface="微软雅黑"/>
                <a:ea typeface="微软雅黑"/>
              </a:rPr>
              <a:t>项目内知识转移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983480"/>
            <a:ext cx="1072591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巴方人员在参与以上工作的过程中，学会数据处理、模型训练与调优、应用开发与运行；DLM 以 RNP 自主训练为主。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6235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以上口径与 8 月 13 日技术澄清答复一致；范围以 SOW 与报价核对为准。第 3–5 页逐项展开。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国家大模型：怎么建、谁来做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11274552" cy="60350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06424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用途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033272"/>
            <a:ext cx="962863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约 300B 参数级国家基础模型，约 6 个月完成一个正式版本；另含巴西葡语 ASR/TTS；作为国家 APP 与行业模型的底座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1907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怎么做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29968"/>
            <a:ext cx="2647188" cy="14630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1792" y="2194560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157984"/>
            <a:ext cx="1915667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语料构建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70048"/>
            <a:ext cx="231800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OCR、文本识别、清洗、格式转换、质检；本地训练数据约 50B tokens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22676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32988" y="2029968"/>
            <a:ext cx="2647188" cy="14630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97580" y="2194560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8204" y="2157984"/>
            <a:ext cx="1915667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预训练与后训练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7580" y="2670048"/>
            <a:ext cx="231800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约 300B 参数级；Stage 1 分配 210P；多轮优化与版本迭代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98464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08776" y="2029968"/>
            <a:ext cx="2647188" cy="14630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73368" y="2194560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2157984"/>
            <a:ext cx="1915667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评测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670048"/>
            <a:ext cx="231800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示例：葡语通用基准 + 场景评测集，双方共同评审；评测方法待 SOW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74252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84564" y="2029968"/>
            <a:ext cx="2647188" cy="14630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49156" y="2194560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69780" y="2157984"/>
            <a:ext cx="1915667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交付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9156" y="2670048"/>
            <a:ext cx="231800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示例：模型包、推理服务、评测报告与文档；交付形式待 SOW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63931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谁做什么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950208"/>
            <a:ext cx="5500116" cy="13716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04164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370832"/>
            <a:ext cx="5042916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算力与训练方案设计（与华为共同规划）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待核：预训练与后训练的执行分工，按 SOW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评测、版本迭代与文档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3950208"/>
            <a:ext cx="5500116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0236" y="404164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0236" y="4370832"/>
            <a:ext cx="5042916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待核：提供本地语料并落实授权，按 SOW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参与评测评审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组织验收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486400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614416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交付物与验收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5559552"/>
            <a:ext cx="926287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0070C0"/>
                </a:solidFill>
                <a:latin typeface="微软雅黑"/>
                <a:ea typeface="微软雅黑"/>
              </a:rPr>
              <a:t>示例：模型权重 + 推理服务；评测达标后试运行 4 周，通过即验收；待 SOW 确认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国家大模型：规格与算力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02952" y="27432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D1D1A"/>
                </a:solidFill>
                <a:latin typeface="微软雅黑"/>
                <a:ea typeface="微软雅黑"/>
              </a:rPr>
              <a:t>详情 · 按需展开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43159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11680"/>
                <a:gridCol w="7589520"/>
                <a:gridCol w="167335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来源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参数规模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300B 参数级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8/13 澄清答复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训练数据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50B tokens 本地训练数据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8/13 澄清答复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训练内容与周期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预训练、后训练、测试评估、多轮优化与版本迭代；约 6 个月完成一个正式版本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8/13 澄清答复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训练算力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210P（Stage 1），并为数据调整、问题处理、断点续训及回归验证保留资源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8/13 澄清答复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语料构建算力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17.5P：OCR、文本识别、语料清洗、格式转换、质量检查等大规模数据处理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8/13 澄清答复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葡语语音模型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巴西葡萄牙语 ASR/TTS 的训练、实验、评测与持续优化：35P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8/13 澄清答复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数据来源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示例：公开葡语语料 + RNP 及政府部门提供的语料；来源与授权按 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待核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评测方法与达标线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示例：葡语通用基准 + 场景评测集；达标线待定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待核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数据合规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待核：LGPD 合规责任划分；DLM 部分答复为 RNP 负责或协调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待核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532120"/>
            <a:ext cx="112745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算力为容量规划基准，不是永久固定分区；项目全部 NPU 通过统一智能算力管理平台池化调度。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国家 APP：给谁用、怎么建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11274552" cy="60350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06424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用途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033272"/>
            <a:ext cx="962863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面向公众的国家级 AI 服务入口：NLP 问答、ASR/TTS 语音交互、OCR 文档处理、Embedding、Reranking；约 1000 万级用户、500 路峰值并发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1907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怎么做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29968"/>
            <a:ext cx="2647188" cy="14630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1792" y="2194560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157984"/>
            <a:ext cx="1915667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需求确认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70048"/>
            <a:ext cx="231800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示例：确认服务范围、用户与功能清单；待 SOW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22676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32988" y="2029968"/>
            <a:ext cx="2647188" cy="14630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97580" y="2194560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8204" y="2157984"/>
            <a:ext cx="1915667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开发与本地化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7580" y="2670048"/>
            <a:ext cx="231800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示例：葡语界面、账号权限、模型调用；待 SOW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98464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08776" y="2029968"/>
            <a:ext cx="2647188" cy="14630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73368" y="2194560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2157984"/>
            <a:ext cx="1915667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系统对接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670048"/>
            <a:ext cx="231800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示例：对接巴方业务系统与数据；待 SOW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74252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84564" y="2029968"/>
            <a:ext cx="2647188" cy="14630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49156" y="2194560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69780" y="2157984"/>
            <a:ext cx="1915667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上线运营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9156" y="2670048"/>
            <a:ext cx="231800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在线推理 105P（Stage 2）；多模型混合调用、多副本、高可用、故障切换、弹性扩容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63931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谁做什么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950208"/>
            <a:ext cx="3108960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950208"/>
            <a:ext cx="2834640" cy="1371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界面截图 / 演示视频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示例位：现场演示一段完整操作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3950208"/>
            <a:ext cx="3808475" cy="13716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69080" y="404164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69080" y="4370832"/>
            <a:ext cx="3351275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待核：应用开发与本地化，按 SOW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多模型混合调用与推理服务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待核：使用培训与支持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23275" y="3950208"/>
            <a:ext cx="3808475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51875" y="404164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1875" y="4370832"/>
            <a:ext cx="3351275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待核：提供接口与测试数据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待核：确认业务流程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组织测试与验收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486400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614416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服务与规模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5559552"/>
            <a:ext cx="926287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NLP 问答 · 语音交互 · OCR 文档处理 · Embedding · Reranking；约 1000 万级用户，约 500 路峰值并发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国家 APP：服务与容量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02952" y="27432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D1D1A"/>
                </a:solidFill>
                <a:latin typeface="微软雅黑"/>
                <a:ea typeface="微软雅黑"/>
              </a:rPr>
              <a:t>详情 · 按需展开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43159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11680"/>
                <a:gridCol w="7589520"/>
                <a:gridCol w="167335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来源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服务类型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问答、ASR/TTS 语音交互、OCR 文档处理、Embedding、Reranking 等多类 AI 服务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8/13 澄清答复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用户规模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1000 万级用户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8/13 澄清答复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峰值并发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500 路峰值并发服务能力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8/13 澄清答复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推理算力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105P（Stage 2）；含多模型混合调用、模型多副本、高可用、故障切换、弹性扩容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8/13 澄清答复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模型来源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国家大模型 + AI 能力中心导入的第三方开源模型（DeepSeek、Qwen 等已完成兼容）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8/13 澄清答复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架构与接口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示例：前端 / 网关 / 模型服务 / 业务接口；按技术方案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待核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本地化与权限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示例：葡语界面、账号体系、权限分级；按 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待核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与巴方系统对接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示例：接口清单、测试数据、业务确认；按 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待核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性能与可用性指标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示例：平均响应 N 秒，可用性 99.9%；按 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待核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532120"/>
            <a:ext cx="112745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服务与容量口径来自澄清答复；架构、本地化、对接与指标待技术方案和 SOW。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行业模型 DLM：选什么领域、怎么共同开发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11274552" cy="60350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06424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用途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033272"/>
            <a:ext cx="962863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1 个面向特定行业、1 个边界清晰固定场景的行业模型；行业方向由 RNP/MCTI 提出，讯飞做可行性评估；候选：</a:t>
            </a:r>
            <a:r>
              <a:rPr sz="1150" b="0">
                <a:solidFill>
                  <a:srgbClr val="0070C0"/>
                </a:solidFill>
                <a:latin typeface="微软雅黑"/>
                <a:ea typeface="微软雅黑"/>
              </a:rPr>
              <a:t>示例：教育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1907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怎么做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29968"/>
            <a:ext cx="2647188" cy="14630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1792" y="2194560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157984"/>
            <a:ext cx="1915667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确定场景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70048"/>
            <a:ext cx="231800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RNP/MCTI 确定行业与固定场景、业务目标、目标用户、输入输出与使用边界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22676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32988" y="2029968"/>
            <a:ext cx="2647188" cy="14630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97580" y="2194560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8204" y="2157984"/>
            <a:ext cx="1915667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数据与基座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7580" y="2670048"/>
            <a:ext cx="231800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提供或协调授权数据、标注与独立评测数据；共同确定 70B 以内基座（星火或 DeepSeek、Qwen）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98464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08776" y="2029968"/>
            <a:ext cx="2647188" cy="14630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73368" y="2194560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2157984"/>
            <a:ext cx="1915667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训练与评测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670048"/>
            <a:ext cx="231800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自主训练，讯飞辅助训练与持续咨询；LoRA-SFT / SFT / GRPO 路线；Stage 2 分配 70P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74252" y="22677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84564" y="2029968"/>
            <a:ext cx="2647188" cy="14630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49156" y="2194560"/>
            <a:ext cx="329184" cy="329184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69780" y="2157984"/>
            <a:ext cx="1915667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验收与演进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9156" y="2670048"/>
            <a:ext cx="231800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基于双方确认的独立评测集验收；实施前签《DLM 场景及技术方案确认书》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63931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谁做什么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950208"/>
            <a:ext cx="5500116" cy="13716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04164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370832"/>
            <a:ext cx="5042916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需求分析与可行性评估，基座选型建议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语料规划、数据治理、标注体系与配比建议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后训练路线与评测方法设计；训练过程技术指导、日志分析与优化建议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3950208"/>
            <a:ext cx="5500116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0236" y="404164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0236" y="4370832"/>
            <a:ext cx="5042916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确定行业与场景，指定业务负责人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提供授权数据、标注与评测数据，落实 LGPD 合规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安排葡语、行业、安全、法律专家；技术团队参与数据集构建、训练与评测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486400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614416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交付物与验收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5559552"/>
            <a:ext cx="926287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技术方案、指导记录、问题清单、评测分析与演进建议；按独立评测集在约定场景下评测验收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行业模型 DLM：实施条件与数据规格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02952" y="27432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D1D1A"/>
                </a:solidFill>
                <a:latin typeface="微软雅黑"/>
                <a:ea typeface="微软雅黑"/>
              </a:rPr>
              <a:t>详情 · 按需展开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43159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11680"/>
                <a:gridCol w="7589520"/>
                <a:gridCol w="167335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来源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数量与范围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个行业模型；1 个边界清晰的固定业务场景，含业务目标、目标用户、输入输出与使用边界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8/13 澄清答复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70B 参数以内的星火模型或主流开源模型（DeepSeek、Qwen）；采用第三方开源基座时 RNP 需确保使用、修改及再训练权利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8/13 澄清答复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数据规模参考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LoRA 微调最少约 200–1k 条，建议 5k–50k 条；SFT 微调最少约 1k–5k 条，建议 20k–200k+ 条；以数据质量与场景复杂度为准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8/13 澄清答复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数据责任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训练、标注、独立评测数据的合法使用权；采集、采购、清洗、标注、翻译、来源授权、内容审核及 LGPD 合规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8/13 澄清答复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专家资源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巴西葡萄牙语、行业、安全及法律合规本地专家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8/13 澄清答复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实施环境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训练、评测、部署所需算力（70P）、存储、网络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8/13 澄清答复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实施模式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优先“RNP 自主训练 + 讯飞辅助训练及持续咨询”；不足时可调整为讯飞进一步参与或直接承担训练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8/13 澄清答复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验收依据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双方确认的独立评测数据集；行业场景、基座、路线、评测方法与验收条件写入《DLM 场景及技术方案确认书》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8/13 澄清答复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行业方向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示例：教育；由 RNP/MCTI 提出，讯飞评估后确定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待核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532120"/>
            <a:ext cx="112745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讯飞交付文档：技术方案、指导记录、问题清单、评测分析、演进建议。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整体路径：两个 Stage，五个阶段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4356201" cy="38404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4081881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Stage 1 · 国家 AI 基础能力建设 · 约 280P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69433" y="960120"/>
            <a:ext cx="6662318" cy="38404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06593" y="960120"/>
            <a:ext cx="638799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Stage 2 · 国家级全面运营 · 新增约 280P，合计约 560P　</a:t>
            </a:r>
            <a:r>
              <a:rPr sz="1150" b="1">
                <a:solidFill>
                  <a:srgbClr val="0070C0"/>
                </a:solidFill>
                <a:latin typeface="微软雅黑"/>
                <a:ea typeface="微软雅黑"/>
              </a:rPr>
              <a:t>待核：阶段与 Stage 的对应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050084" cy="21488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0218" y="1627632"/>
            <a:ext cx="384048" cy="38404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084832"/>
            <a:ext cx="19037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语料与数据准备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87168"/>
            <a:ext cx="177576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语料构建：OCR、清洗、质检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授权与合规落实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18688"/>
            <a:ext cx="177576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0070C0"/>
                </a:solidFill>
                <a:latin typeface="微软雅黑"/>
                <a:ea typeface="微软雅黑"/>
              </a:rPr>
              <a:t>示例：M1–M3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4716" y="22402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63316" y="1463040"/>
            <a:ext cx="2050084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96335" y="1627632"/>
            <a:ext cx="384048" cy="38404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6468" y="2084832"/>
            <a:ext cx="19037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国家大模型训练与评测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476" y="2487168"/>
            <a:ext cx="177576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约 300B 预训练与后训练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葡语 ASR/TTS；共同评审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0476" y="3218688"/>
            <a:ext cx="177576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0070C0"/>
                </a:solidFill>
                <a:latin typeface="微软雅黑"/>
                <a:ea typeface="微软雅黑"/>
              </a:rPr>
              <a:t>示例：M2–M8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40833" y="22402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9433" y="1463040"/>
            <a:ext cx="2050084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02452" y="1627632"/>
            <a:ext cx="384048" cy="38404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2585" y="2084832"/>
            <a:ext cx="19037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国家 APP 与 DLM 开发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6593" y="2487168"/>
            <a:ext cx="177576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APP 开发与上线准备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DLM：RNP 自主训练，讯飞辅助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6593" y="3218688"/>
            <a:ext cx="177576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0070C0"/>
                </a:solidFill>
                <a:latin typeface="微软雅黑"/>
                <a:ea typeface="微软雅黑"/>
              </a:rPr>
              <a:t>示例：M6–M11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46950" y="22402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75550" y="1463040"/>
            <a:ext cx="2050084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08568" y="1627632"/>
            <a:ext cx="384048" cy="38404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8702" y="2084832"/>
            <a:ext cx="19037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部署与验收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2710" y="2487168"/>
            <a:ext cx="177576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部署到华为平台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国家 APP 在线推理；验收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2710" y="3218688"/>
            <a:ext cx="177576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0070C0"/>
                </a:solidFill>
                <a:latin typeface="微软雅黑"/>
                <a:ea typeface="微软雅黑"/>
              </a:rPr>
              <a:t>示例：M10–M13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453067" y="22402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1667" y="1463040"/>
            <a:ext cx="2050084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14685" y="1627632"/>
            <a:ext cx="384048" cy="38404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4819" y="2084832"/>
            <a:ext cx="190378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交接与运营支持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8827" y="2487168"/>
            <a:ext cx="1775764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移交模型、应用、文档</a:t>
            </a:r>
          </a:p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支持期响应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8827" y="3218688"/>
            <a:ext cx="177576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0070C0"/>
                </a:solidFill>
                <a:latin typeface="微软雅黑"/>
                <a:ea typeface="微软雅黑"/>
              </a:rPr>
              <a:t>示例：M13–M15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794760"/>
            <a:ext cx="11274552" cy="51206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895344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华为提供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3867912"/>
            <a:ext cx="944575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Stage 1 约 280P，Stage 2 合计约 560P，全部 NPU 统一池化调度　·　部署环境与网络　·　数据中心运维衔接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443984"/>
            <a:ext cx="11274552" cy="512064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544568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4517136"/>
            <a:ext cx="944575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贯穿五个阶段：巴方人员每个阶段与讯飞一起做；DLM 以 RNP 自主训练为主，讯飞辅助与持续咨询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093208"/>
            <a:ext cx="11274552" cy="51206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193792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交接与运营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166360"/>
            <a:ext cx="944575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0070C0"/>
                </a:solidFill>
                <a:latin typeface="微软雅黑"/>
                <a:ea typeface="微软雅黑"/>
              </a:rPr>
              <a:t>示例：RNP 接手后拥有模型权重、应用部署包与文档；许可条件、支持期与更新机制按 SOW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742432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阶段名称、数量与月份为示例，按实际方案确定；里程碑示例：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M3 语料到位 · M8 底座通过评测 · M11 应用联调通过 · M13 验收</a:t>
            </a: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。RNP 据此编制本方计划。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RNP 需要投入什么：人员与资源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33284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3657600"/>
                <a:gridCol w="2148840"/>
                <a:gridCol w="2423160"/>
                <a:gridCol w="144475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做什么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基础要求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参与哪项 · 阶段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人数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项目负责人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统筹巴方资源，对接讯飞与华为；确认训练方案、评测方法、模型发布与验收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项目管理，英语沟通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全部 · 阶段 1–5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行业与合规专家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确定行业场景与业务目标；评价领域成果；安全与法律合规审核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行业、安全、法律经验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DLM · </a:t>
                      </a: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示例：阶段 3–4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示例：每类 1–2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葡语语言专家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语料审核、标注质量、内容审核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巴西葡语母语，语言或编辑背景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大模型、DLM · </a:t>
                      </a: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示例：阶段 1–3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数据工程师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语料采集、清洗、标注、翻译组织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Python，数据处理基础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大模型、DLM · </a:t>
                      </a: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示例：阶段 1–3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DLM 自主训练与评测；参与国家大模型评测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Python，机器学习基础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DLM、大模型 · </a:t>
                      </a: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示例：阶段 2–4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待核：参与国家 APP 开发与系统对接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软件开发经验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国家 APP · </a:t>
                      </a: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示例：阶段 3–4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部署、运行与监控；AI 能力中心运维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Linux 与容器基础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全部 · </a:t>
                      </a: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示例：阶段 4–5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4572000"/>
            <a:ext cx="11274552" cy="65836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745736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资源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4645152"/>
            <a:ext cx="99029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训练、标注、独立评测数据及合法使用权　·　LGPD 合规　·　实施环境：算力、存储、网络　·　业务系统接口与测试条件　·　到位时间 </a:t>
            </a: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示例：合同生效后 4 周内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角色与责任按澄清答复 Q1 的 RNP 实施条件整理，人数与阶段为示例。RNP 据此编制本方参与计划；本页角色即下一页知识转移的对象。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RNP 参与矩阵：角色 × 阶段 × 人数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02952" y="27432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D1D1A"/>
                </a:solidFill>
                <a:latin typeface="微软雅黑"/>
                <a:ea typeface="微软雅黑"/>
              </a:rPr>
              <a:t>详情 · 按需展开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767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1645920"/>
                <a:gridCol w="1645920"/>
                <a:gridCol w="1645920"/>
                <a:gridCol w="1645920"/>
                <a:gridCol w="1645920"/>
                <a:gridCol w="941832"/>
              </a:tblGrid>
              <a:tr h="56692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 1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语料与数据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 2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大模型训练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 3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APP 与 DLM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 4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部署验收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 5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交接支持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项目负责人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行业与合规专家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–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–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示例：2–4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示例：2–4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–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示例：2–4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葡语语言专家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–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–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数据工程师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–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–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–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–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–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–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–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供 RNP 直接抄成本方参与计划：格子为该阶段同时投入的人数（示例）。名额与阶段以 SOW 为准；同一人可跨阶段、跨成果。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RNP 能带走什么：知识转移两层安排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5454396" cy="3611880"/>
          </a:xfrm>
          <a:prstGeom prst="roundRect">
            <a:avLst>
              <a:gd name="adj" fmla="val 4000"/>
            </a:avLst>
          </a:prstGeom>
          <a:solidFill>
            <a:srgbClr val="EAF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61872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61B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已包含在当前报价 · 不另收费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905756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3B7A1A"/>
                </a:solidFill>
                <a:latin typeface="微软雅黑"/>
                <a:ea typeface="微软雅黑"/>
              </a:rPr>
              <a:t>项目内知识转移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4905756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方式：讲解、示范、共同操作、指导实践；DLM 采用 RNP 自主训练，讯飞辅助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讯飞支持：基座选型、路线设计、训练过程技术指导、日志分析、问题排查、效果分析与优化建议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对象：上一页的参与人员，名额 </a:t>
            </a:r>
            <a:r>
              <a:rPr sz="1150" b="0">
                <a:solidFill>
                  <a:srgbClr val="0070C0"/>
                </a:solidFill>
                <a:latin typeface="微软雅黑"/>
                <a:ea typeface="微软雅黑"/>
              </a:rPr>
              <a:t>示例：每阶段 10 人；待 SOW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结果：数据工程师能独立构建数据集；模型工程师能独立微调与评测；应用开发能独立开发部署；运维能独立运行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语言：</a:t>
            </a:r>
            <a:r>
              <a:rPr sz="1150" b="0">
                <a:solidFill>
                  <a:srgbClr val="0070C0"/>
                </a:solidFill>
                <a:latin typeface="微软雅黑"/>
                <a:ea typeface="微软雅黑"/>
              </a:rPr>
              <a:t>示例：英语授课，配葡语助教；待定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7356" y="1005840"/>
            <a:ext cx="5454396" cy="3611880"/>
          </a:xfrm>
          <a:prstGeom prst="roundRect">
            <a:avLst>
              <a:gd name="adj" fmla="val 4000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51676" y="126187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D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可选 · 单独报价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1676" y="1737360"/>
            <a:ext cx="4905756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B35400"/>
                </a:solidFill>
                <a:latin typeface="微软雅黑"/>
                <a:ea typeface="微软雅黑"/>
              </a:rPr>
              <a:t>核心人才深入研修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1676" y="2240280"/>
            <a:ext cx="4905756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对象：少数有编程与模型基础的人员，人数 </a:t>
            </a:r>
            <a:r>
              <a:rPr sz="1150" b="0">
                <a:solidFill>
                  <a:srgbClr val="0070C0"/>
                </a:solidFill>
                <a:latin typeface="微软雅黑"/>
                <a:ea typeface="微软雅黑"/>
              </a:rPr>
              <a:t>示例：6–8 人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方向：模型训练与调优、蒸馏、评测体系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形式与周期：</a:t>
            </a:r>
            <a:r>
              <a:rPr sz="1150" b="0">
                <a:solidFill>
                  <a:srgbClr val="0070C0"/>
                </a:solidFill>
                <a:latin typeface="微软雅黑"/>
                <a:ea typeface="微软雅黑"/>
              </a:rPr>
              <a:t>示例：合肥现场 4 周 + 远程 8 周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价格：</a:t>
            </a:r>
            <a:r>
              <a:rPr sz="1150" b="0">
                <a:solidFill>
                  <a:srgbClr val="0070C0"/>
                </a:solidFill>
                <a:latin typeface="微软雅黑"/>
                <a:ea typeface="微软雅黑"/>
              </a:rPr>
              <a:t>示例：按人数与周期单独报价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与已包含内容的边界：开源模型微调、性能优化与定制开发属另行评估报价（澄清答复 Q3）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54880"/>
            <a:ext cx="11274552" cy="51206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855464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C00000"/>
                </a:solidFill>
                <a:latin typeface="微软雅黑"/>
                <a:ea typeface="微软雅黑"/>
              </a:rPr>
              <a:t>整体中的位置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4828032"/>
            <a:ext cx="917143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本页是华为能力建设计划（</a:t>
            </a:r>
            <a:r>
              <a:rPr sz="1150" b="0">
                <a:solidFill>
                  <a:srgbClr val="0070C0"/>
                </a:solidFill>
                <a:latin typeface="微软雅黑"/>
                <a:ea typeface="微软雅黑"/>
              </a:rPr>
              <a:t>示例：2900 人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）中讯飞承担的部分，由华为统一汇总为一份 program；</a:t>
            </a:r>
            <a:r>
              <a:rPr sz="1150" b="0">
                <a:solidFill>
                  <a:srgbClr val="0070C0"/>
                </a:solidFill>
                <a:latin typeface="微软雅黑"/>
                <a:ea typeface="微软雅黑"/>
              </a:rPr>
              <a:t>待核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13248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软件栈：研发与验证算力（17.5P）及兼容性验证在范围内；软件栈自研的主体工作由 RNP 承担，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待核口径</a:t>
            </a: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。讯飞 SOW 以外的工作包不在本页。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知识转移学习路径：角色 × 阶段 × 任务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02952" y="27432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D1D1A"/>
                </a:solidFill>
                <a:latin typeface="微软雅黑"/>
                <a:ea typeface="微软雅黑"/>
              </a:rPr>
              <a:t>详情 · 按需展开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2186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777240"/>
                <a:gridCol w="3291840"/>
                <a:gridCol w="3291840"/>
                <a:gridCol w="231343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参与的项目任务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讯飞支持方式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能力验证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数据工程师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1–3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语料构建：采集、清洗、标注、质检；DLM 数据集构建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语料规划、数据治理、标注体系与配比建议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示例：独立交付一个合规数据集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2–4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DLM 自主训练与评测；参与国家大模型评测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基座选型、后训练路线、训练参数与评测方法建议；日志分析与问题排查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示例：独立完成一次 SFT 微调与评测报告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3–4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待核：国家 APP 开发与系统对接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待核：示范与指导实践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示例：交付一个功能模块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4–5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部署、监控、故障处理；AI 能力中心运维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共同操作、部署演练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示例：完成一次生产部署演练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行业与语言专家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1–4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场景定义、数据审核、效果评价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评测方法设计与效果分析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示例：完成一轮独立评测评价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93776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讯飞支持方式与交付文档（技术方案、指导记录、问题清单、评测分析、演进建议）来自澄清答复 Q1；名额与验证方式待 SOW。供华为编制整体能力计划时使用。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范围一览与本次需确认事项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3575304" cy="1691640"/>
          </a:xfrm>
          <a:prstGeom prst="roundRect">
            <a:avLst>
              <a:gd name="adj" fmla="val 4000"/>
            </a:avLst>
          </a:prstGeom>
          <a:solidFill>
            <a:srgbClr val="EAF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3B7A1A"/>
                </a:solidFill>
                <a:latin typeface="微软雅黑"/>
                <a:ea typeface="微软雅黑"/>
              </a:rPr>
              <a:t>已包含在当前方案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62456"/>
            <a:ext cx="3246120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1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国家大模型（含葡语语音）、国家 APP、1 个 DLM</a:t>
            </a:r>
          </a:p>
          <a:p>
            <a:pPr algn="l" marL="164592" indent="-164592">
              <a:lnSpc>
                <a:spcPct val="115000"/>
              </a:lnSpc>
              <a:spcAft>
                <a:spcPts val="1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项目内知识转移</a:t>
            </a:r>
          </a:p>
          <a:p>
            <a:pPr algn="l" marL="164592" indent="-164592">
              <a:lnSpc>
                <a:spcPct val="115000"/>
              </a:lnSpc>
              <a:spcAft>
                <a:spcPts val="1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AI 能力中心：第三方开源模型导入、部署与推理；已兼容 DeepSeek、Qwen 等</a:t>
            </a:r>
          </a:p>
          <a:p>
            <a:pPr algn="l" marL="164592" indent="-164592">
              <a:lnSpc>
                <a:spcPct val="115000"/>
              </a:lnSpc>
              <a:spcAft>
                <a:spcPts val="1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不超过 2 次推理迁移适配（每次 1 个模型版本）</a:t>
            </a:r>
          </a:p>
          <a:p>
            <a:pPr algn="l" marL="164592" indent="-164592">
              <a:lnSpc>
                <a:spcPct val="115000"/>
              </a:lnSpc>
              <a:spcAft>
                <a:spcPts val="100"/>
              </a:spcAft>
              <a:buClr>
                <a:srgbClr val="3B7A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软件栈研发与验证算力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6824" y="960120"/>
            <a:ext cx="3575304" cy="1691640"/>
          </a:xfrm>
          <a:prstGeom prst="roundRect">
            <a:avLst>
              <a:gd name="adj" fmla="val 4000"/>
            </a:avLst>
          </a:prstGeom>
          <a:solidFill>
            <a:srgbClr val="FD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71416" y="1051560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B35400"/>
                </a:solidFill>
                <a:latin typeface="微软雅黑"/>
                <a:ea typeface="微软雅黑"/>
              </a:rPr>
              <a:t>可选 · 另行评估报价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71416" y="1362456"/>
            <a:ext cx="3246120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1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核心人才深入研修</a:t>
            </a:r>
          </a:p>
          <a:p>
            <a:pPr algn="l" marL="164592" indent="-164592">
              <a:lnSpc>
                <a:spcPct val="115000"/>
              </a:lnSpc>
              <a:spcAft>
                <a:spcPts val="1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清单外开源模型或新版本的适配</a:t>
            </a:r>
          </a:p>
          <a:p>
            <a:pPr algn="l" marL="164592" indent="-164592">
              <a:lnSpc>
                <a:spcPct val="115000"/>
              </a:lnSpc>
              <a:spcAft>
                <a:spcPts val="100"/>
              </a:spcAft>
              <a:buClr>
                <a:srgbClr val="B35400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开源模型微调、性能优化与定制开发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6448" y="960120"/>
            <a:ext cx="3575304" cy="1691640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051560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RNP 负责或提供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362456"/>
            <a:ext cx="3246120" cy="1234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100"/>
              </a:spcAft>
              <a:buClr>
                <a:srgbClr val="1D1D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训练、标注、独立评测数据及授权；LGPD 合规</a:t>
            </a:r>
          </a:p>
          <a:p>
            <a:pPr algn="l" marL="164592" indent="-164592">
              <a:lnSpc>
                <a:spcPct val="115000"/>
              </a:lnSpc>
              <a:spcAft>
                <a:spcPts val="100"/>
              </a:spcAft>
              <a:buClr>
                <a:srgbClr val="1D1D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行业与场景的确定；本地专家</a:t>
            </a:r>
          </a:p>
          <a:p>
            <a:pPr algn="l" marL="164592" indent="-164592">
              <a:lnSpc>
                <a:spcPct val="115000"/>
              </a:lnSpc>
              <a:spcAft>
                <a:spcPts val="100"/>
              </a:spcAft>
              <a:buClr>
                <a:srgbClr val="1D1D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第三方开源基座的使用、修改、再训练权利</a:t>
            </a:r>
          </a:p>
          <a:p>
            <a:pPr algn="l" marL="164592" indent="-164592">
              <a:lnSpc>
                <a:spcPct val="115000"/>
              </a:lnSpc>
              <a:spcAft>
                <a:spcPts val="100"/>
              </a:spcAft>
              <a:buClr>
                <a:srgbClr val="1D1D1A"/>
              </a:buClr>
              <a:buSzPct val="100000"/>
              <a:buFont typeface="Arial"/>
              <a:buChar char="•"/>
            </a:pP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待核：其他按 SOW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834640"/>
          <a:ext cx="11274552" cy="26700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657600"/>
                <a:gridCol w="1737360"/>
                <a:gridCol w="5879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确认事项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承接方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结论 / 下一步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1. 三项成果的目标与范围；DLM 行业方向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RNP/MCTI + 讯飞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示例：RNP/MCTI 提出行业方向；会后 2 周签《DLM 场景及技术方案确认书》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2. RNP 参与人员与资源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示例：会后 2 周提交人员名单与到位时间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3. 实施阶段与时间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示例：会后 1 周提交实施计划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4. 知识转移名额与能力目标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 + RNP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示例：按 SOW 核对名额，会后 1 周确认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5. 可选研修是否需要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示例：RNP 内部评估后答复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6. 范围与费用归属；开源模型支持清单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 + 华为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示例：会后 1 周提交 SOW 与报价核对表及首版支持清单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5623560"/>
            <a:ext cx="112745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范围栏与澄清答复 Q1、Q3 一致；会中记录结论，会后形成双方行动。材料中出现的内容不等于双方已承诺。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