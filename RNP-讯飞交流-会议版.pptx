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147483630" r:id="rId8"/>
    <p:sldId id="2147483631" r:id="rId9"/>
    <p:sldId id="2147483632" r:id="rId10"/>
    <p:sldId id="2147483633" r:id="rId11"/>
    <p:sldId id="2147483634" r:id="rId12"/>
    <p:sldId id="2147483635" r:id="rId13"/>
    <p:sldId id="2147483636" r:id="rId14"/>
    <p:sldId id="2147483637" r:id="rId15"/>
    <p:sldId id="2147483638" r:id="rId16"/>
    <p:sldId id="2147483639" r:id="rId17"/>
    <p:sldId id="2147483640" r:id="rId18"/>
    <p:sldId id="2147483641" r:id="rId19"/>
    <p:sldId id="2147483642" r:id="rId20"/>
    <p:sldId id="2147483643" r:id="rId21"/>
    <p:sldId id="2147483644" r:id="rId22"/>
    <p:sldId id="2147483645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24" y="3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D33DA-F32C-4BB5-A35D-C2C64315327B}" type="datetimeFigureOut">
              <a:rPr lang="zh-CN" altLang="en-US" smtClean="0"/>
              <a:t>2026/8/27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A69E06-539E-443E-9D9E-DA313339D2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360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【开场】</a:t>
            </a:r>
          </a:p>
          <a:p>
            <a:r>
              <a:t>Yara，各位，感谢安排今天的会。会前我们和你们确认过，你们最关心三件事：讯飞到底交付什么；双方各自负什么责、出什么资源、SOW 的边界在哪；以及我们的知识转移怎么做，好让你们编自己的 Capacity Program 和人力计划。今天的材料就按这三件事组织。材料已经提前发给你们，详情页你们看过，今天我不逐页讲，问到再翻。我希望今天结束时有两个结果：你们对讯飞的范围和分工没有疑问，并且拿到编制自己计划所需的全部输入。</a:t>
            </a:r>
          </a:p>
          <a:p/>
          <a:p>
            <a:r>
              <a:t>【本页】</a:t>
            </a:r>
          </a:p>
          <a:p>
            <a:r>
              <a:t>这是讯飞与 RNP 的技术交流，讨论稿。所有黑字内容和我们此前给你们的四份书面答复一致，4 月的清单答复、5 月两份、8 月一份。蓝字是示例或待核，最终以 SOW 为准。有一处变化我先说：行业模型的数量按最新方案是 3 个，8 月答复里写的是 1 个，后面讲到时我会解释。</a:t>
            </a:r>
          </a:p>
          <a:p/>
          <a:p>
            <a:r>
              <a:t>【材料来源备注】</a:t>
            </a:r>
          </a:p>
          <a:p>
            <a:r>
              <a:t>本次交流讲四件事：讯飞交付什么、怎么做、双方怎么分工、巴方人员怎样学会并接手。顺序按 Mota 电话中 RNP 的诉求。</a:t>
            </a:r>
          </a:p>
          <a:p>
            <a:r>
              <a:t>黑字口径与四份书面答复一致；蓝字待 SOW。DLM 数量 3 个为最新口径，8/13 答复写的是 1 个，会上要主动说明。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这一页回答你们的第一个问题，讯飞交付什么。三项成果加一套能力。</a:t>
            </a:r>
          </a:p>
          <a:p/>
          <a:p>
            <a:r>
              <a:t>第一项，国家大模型。基于讯飞星火基础模型训练的约 300B 参数巴西主权大模型，加巴西葡语的语音识别和合成。语料是你们本地构建 50B 高质量葡语语料，我们免费提供 300B 以上通用语料。约 6 个月出一个正式版本。分工是我们主导训练和语料加工，你们采集本地语料、参与训练和验收。</a:t>
            </a:r>
          </a:p>
          <a:p/>
          <a:p>
            <a:r>
              <a:t>第二项，国家 APP。以讯飞星火 APP 为基线做巴西本地化，面向公众，规划约 1000 万级用户、500 路峰值并发。我们出基线产品和平台，你们定义场景、提供接口、验收和运营。</a:t>
            </a:r>
          </a:p>
          <a:p/>
          <a:p>
            <a:r>
              <a:t>第三项，3 个行业模型。每个面向 1 个边界清晰的固定场景，方向由 RNP 和 MCTI 提出。你们自主训练，我们评估、给路线、做指导。</a:t>
            </a:r>
          </a:p>
          <a:p/>
          <a:p>
            <a:r>
              <a:t>底下两行。这些都跑在三大中心上，是软件平台不是物理设施：语料库构建中心、模型训练中心、AI 应用创新中心。算力 Stage 1 约 280P，Stage 2 合计约 560P。知识转移不是单独一段培训，贯穿全程，你们的人边做边学，完成后可以自主研发 DLM 和其他尺寸的模型。</a:t>
            </a:r>
          </a:p>
          <a:p/>
          <a:p>
            <a:r>
              <a:t>这一页你们可以直接拿去向上汇报。后面每项各展开一页。</a:t>
            </a:r>
          </a:p>
          <a:p/>
          <a:p>
            <a:r>
              <a:t>【材料来源备注】</a:t>
            </a:r>
          </a:p>
          <a:p>
            <a:r>
              <a:t>一页讲完：交付什么、怎么建、谁做、多大。RNP 可以直接用这一页向上汇报。六个锚点数字：300B、50B+300B、3 个 DLM、1000 万/500 并发、280P/560P、6 个月一版。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你们 5 月问过模型尺寸、语料规模和责任划分，这一页把答复合在一起。</a:t>
            </a:r>
          </a:p>
          <a:p/>
          <a:p>
            <a:r>
              <a:t>模型是约 300B 参数，底座是讯飞星火基础模型。这里说清楚一点：5 月 4 日答复里语料写过 500B 的总目标，5 月 8 日已经拆成两部分，你们本地 50B，我们通用 300B 以上，合计超 350B。今天按这个口径。</a:t>
            </a:r>
          </a:p>
          <a:p/>
          <a:p>
            <a:r>
              <a:t>四步。语料构建：你们采集本地语料，我们提供通用语料并把原始语料加工成可训练的语料库。预训练与后训练：在星火底座上训练，多轮优化迭代。评测：巴西本土基准加国际多语种基准，评测集我们准备、你们审核。交付：主权模型权重归巴西，加基模结构源码、导出格式和 MaaS 平台。</a:t>
            </a:r>
          </a:p>
          <a:p/>
          <a:p>
            <a:r>
              <a:t>对你们意味着三件事：采集 50B 本地语料并落实版权和 LGPD 授权，这是 Stage 1 最重的一项；你们的工程师通过知识转移参与训练；评测方案你们有审核权。</a:t>
            </a:r>
          </a:p>
          <a:p/>
          <a:p>
            <a:r>
              <a:t>规格、语料、评测的细节在后面两页，问到再看。</a:t>
            </a:r>
          </a:p>
          <a:p/>
          <a:p>
            <a:r>
              <a:t>【材料来源备注】</a:t>
            </a:r>
          </a:p>
          <a:p>
            <a:r>
              <a:t>规模、周期来自 8/13 答复；语料分工来自 5/4、5/8 答复；底座与权重归属来自 4/29 答复。数字只留锚点，其余在后两页。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如被问底座：星火基础模型权重在双方约定范围内受限开放给巴西，参考 Qwen、Llama 的开源范围，这是 4 月答复的口径。</a:t>
            </a:r>
          </a:p>
          <a:p>
            <a:r>
              <a:t>如被问算力：训练 210P、语料构建 17.5P、语音 35P，都在 Stage 1 的 280P 里，全部 NPU 池化调度。</a:t>
            </a:r>
          </a:p>
          <a:p>
            <a:r>
              <a:t>如被问英伟达：模型可以 ONNX 导出在英伟达上运行，性能低于昇腾，这是 5 月答复。</a:t>
            </a:r>
          </a:p>
          <a:p>
            <a:r>
              <a:t>如被问 VLM：不在范围。</a:t>
            </a:r>
          </a:p>
          <a:p/>
          <a:p>
            <a:r>
              <a:t>【材料来源备注】</a:t>
            </a:r>
          </a:p>
          <a:p>
            <a:r>
              <a:t>8/13 答复 Q2、5/4 答复 Q4 Q5、5/8 答复 Q1、4/29 清单 L4 答复整理。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如被问数据是否出境：全部采集、训练、微调、推理、运维在巴西境内，遵守 LGPD，禁止未授权跨境。你们的本土数据集你们完全控制，我们的通用语料是可用不可见。</a:t>
            </a:r>
          </a:p>
          <a:p>
            <a:r>
              <a:t>如被问基准：本土候选 ENEM、BlueX、HateBR、OAB、ASSIN2；国际 M-MMLU、MGSM、Xwinogrande、Belebele、FLORES。达标线在评测方案里定，按 SOW。</a:t>
            </a:r>
          </a:p>
          <a:p>
            <a:r>
              <a:t>如被问语料任务量：有监督 20 万条以上，安全对齐 2 万条以上，ASR 1 万小时以上，TTS 100 小时以上。你们采集，我们出规范、做加工和质检。</a:t>
            </a:r>
          </a:p>
          <a:p>
            <a:r>
              <a:t>如被问合规组织：建议你们指派一名 LGPD 合规专员和我们对接。</a:t>
            </a:r>
          </a:p>
          <a:p/>
          <a:p>
            <a:r>
              <a:t>【材料来源备注】</a:t>
            </a:r>
          </a:p>
          <a:p>
            <a:r>
              <a:t>5/4 答复 Q2、Q3、Q6、Q7 与 4/29 清单答复整理。500B 语料是 5/4 早期口径，会上若被问到按 50B 本地 + 300B 通用说明。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你们 5 月问 APP 到底交付什么。答案是：讯飞星火 APP 已在中国上线，作为基线，问答、语音交互、文档理解、内容创作这些能力是现成的。本项目做的是巴西本地化。</a:t>
            </a:r>
          </a:p>
          <a:p/>
          <a:p>
            <a:r>
              <a:t>先放一段演示。（放星火 APP 演示或截图，90 秒，说明这是基线产品的画面，不是本项目版本。）</a:t>
            </a:r>
          </a:p>
          <a:p/>
          <a:p>
            <a:r>
              <a:t>四步里有一步需要你们主导：需求与场景定义。本地化的界面、语音、内容，本地场景适配，和巴西本地系统的集成，都要你们和巴西伙伴一起定义需求和功能。我们做本地化和集成开发，提供 MaaS 平台和推理服务。规模按 1000 万用户、500 并发规划，Stage 2 上线。</a:t>
            </a:r>
          </a:p>
          <a:p/>
          <a:p>
            <a:r>
              <a:t>对你们意味着：要有人来定义场景和功能，要提供本地系统接口和测试数据，运维期由你们主导日常运营。接口清单按 SOW。</a:t>
            </a:r>
          </a:p>
          <a:p/>
          <a:p>
            <a:r>
              <a:t>【材料来源备注】</a:t>
            </a:r>
          </a:p>
          <a:p>
            <a:r>
              <a:t>基线与本地化来自 5/8 答复 Q4；用户规模与并发来自 8/13 答复 Q2。要有界面或视频。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如被问程序化访问：MaaS 平台提供 OpenAI 兼容的 REST API、Python、JS、Java 的 SDK、OpenAPI 文档、Docker 和 K8s 部署，带认证、限流、监控、审计。</a:t>
            </a:r>
          </a:p>
          <a:p>
            <a:r>
              <a:t>如被问能不能接开源模型：可以，AI 能力中心已兼容 DeepSeek、Qwen 等，另含两次推理迁移适配。</a:t>
            </a:r>
          </a:p>
          <a:p>
            <a:r>
              <a:t>如被问其他本地应用：可以由巴西本地企业和讯飞联合开发。</a:t>
            </a:r>
          </a:p>
          <a:p>
            <a:r>
              <a:t>性能指标按 SOW。</a:t>
            </a:r>
          </a:p>
          <a:p/>
          <a:p>
            <a:r>
              <a:t>【材料来源备注】</a:t>
            </a:r>
          </a:p>
          <a:p>
            <a:r>
              <a:t>5/8 答复 Q4、8/13 答复 Q2、5/4 答复 Q11、4/29 清单答复 f 项整理。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这一项和你们的关系最直接，因为方向由你们定、训练由你们做。</a:t>
            </a:r>
          </a:p>
          <a:p/>
          <a:p>
            <a:r>
              <a:t>先说变化：8 月答复里是 1 个，最新方案是 3 个，每个面向 1 个边界清晰的固定场景。实施条件和分工不变，算力和数据规模按 3 个重估后随 SOW 确认。</a:t>
            </a:r>
          </a:p>
          <a:p/>
          <a:p>
            <a:r>
              <a:t>四步。确定场景：RNP 和 MCTI 确定行业、场景、业务目标和使用边界。数据与基座：你们提供或协调授权数据、标注和独立评测数据，基座在 70B 以内，星火或 DeepSeek、Qwen 都可以。训练与评测：你们自主训练，我们辅助并持续咨询，这是我们建议的模式，也是知识转移的核心。验收与演进：基于双方确认的独立评测集验收，实施前签《DLM 场景及技术方案确认书》。</a:t>
            </a:r>
          </a:p>
          <a:p/>
          <a:p>
            <a:r>
              <a:t>我们做可行性评估、基座和路线建议、训练过程的技术指导。你们确定场景、出数据和专家、自己训练、组织验收。讯飞在政务、法律、医疗、教育都做过行业模型，供你们选方向时参考。</a:t>
            </a:r>
          </a:p>
          <a:p/>
          <a:p>
            <a:r>
              <a:t>需要你们的动作：三个方向什么时候能给。</a:t>
            </a:r>
          </a:p>
          <a:p/>
          <a:p>
            <a:r>
              <a:t>【材料来源备注】</a:t>
            </a:r>
          </a:p>
          <a:p>
            <a:r>
              <a:t>实施条件与分工来自 8/13 答复 Q1；数量 3 个为最新口径（8/13 为 1 个），会上要说明。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如被问数据要多少：LoRA 微调建议 5 千到 5 万条，SFT 微调建议 2 万到 20 万条以上，最终看数据质量和场景复杂度。</a:t>
            </a:r>
          </a:p>
          <a:p>
            <a:r>
              <a:t>如被问你们要出什么：训练、标注、独立评测数据的合法使用权，采集、清洗、标注、翻译、内容审核和 LGPD 合规；葡语、行业、安全、法律的本地专家。</a:t>
            </a:r>
          </a:p>
          <a:p>
            <a:r>
              <a:t>如被问算力：8 月按 1 个 DLM 规划了 70P，3 个需要重估。</a:t>
            </a:r>
          </a:p>
          <a:p>
            <a:r>
              <a:t>如被问不够怎么办：如果自主训练模式不足以满足需要，可以调整为讯飞进一步参与或直接承担。</a:t>
            </a:r>
          </a:p>
          <a:p/>
          <a:p>
            <a:r>
              <a:t>【材料来源备注】</a:t>
            </a:r>
          </a:p>
          <a:p>
            <a:r>
              <a:t>8/13 答复 Q1 原文整理，数量按最新口径。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你们编计划需要时间线。项目分两个 Stage：Stage 1 国家 AI 基础能力建设，约 280P；Stage 2 国家级全面运营，合计约 560P。五个阶段从语料准备到交接运营，月份是示意，正式时间表随 SOW。</a:t>
            </a:r>
          </a:p>
          <a:p/>
          <a:p>
            <a:r>
              <a:t>三条横幅是三方责任。华为提供算力、部署环境、网络和数据中心运维衔接，这一行单列，算力和环境的事不在讯飞。知识转移贯穿五个阶段，不是最后才开始。交接后你们主导三大中心的日常运营，我们持续支持。</a:t>
            </a:r>
          </a:p>
          <a:p/>
          <a:p>
            <a:r>
              <a:t>对你们意味着：你们的人从第一个阶段就要在场，采集语料和授权是第一个阶段的主要工作。许可、年费和长期路径在下一页。</a:t>
            </a:r>
          </a:p>
          <a:p/>
          <a:p>
            <a:r>
              <a:t>【材料来源备注】</a:t>
            </a:r>
          </a:p>
          <a:p>
            <a:r>
              <a:t>Stage 与算力来自 8/13 答复 Q2；运维阶段分工来自 5/8 答复 Q2。五个阶段与月份是示意，待 SOW。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这一页大概率会被问，因为对应你们对运营主权和供应商依赖的关切。</a:t>
            </a:r>
          </a:p>
          <a:p>
            <a:r>
              <a:t>如被问拿到什么：项目范围内永久授权，包括主权模型权重、本土语料、定制代码、平台与应用。权重可协商 100% 归巴西，在巴西本土数据中心存储维护。</a:t>
            </a:r>
          </a:p>
          <a:p>
            <a:r>
              <a:t>如被问代码：定制代码有永久使用权和修改权，对外再分发需另行约定。三大中心和国民 APP 是讯飞核心资产，不开源，定制部分源码可开放，完全控制可付费买断。</a:t>
            </a:r>
          </a:p>
          <a:p>
            <a:r>
              <a:t>如被问依赖：ONNX 导出、基模结构源码、五个知识包，加上 1 到 3 年授权加增训加知识转移、3 到 5 年你们主导自主研发的两段式路径。</a:t>
            </a:r>
          </a:p>
          <a:p>
            <a:r>
              <a:t>如被问费用：运维阶段有软件运维年费和模型持续优化年费，另行商务约定，不影响软件使用，金额按报价。</a:t>
            </a:r>
          </a:p>
          <a:p/>
          <a:p>
            <a:r>
              <a:t>【材料来源备注】</a:t>
            </a:r>
          </a:p>
          <a:p>
            <a:r>
              <a:t>对应 RNP 关心的运营主权与防止供应商依赖：5/4 答复 Q5、Q9、Q10、Q14；5/8 答复 Q2；4/29 清单答复。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这是今天最重要的一页，对应你们的第二和第三个关注点，你们回去编 HR plan 就照这页。</a:t>
            </a:r>
          </a:p>
          <a:p/>
          <a:p>
            <a:r>
              <a:t>八类角色。项目负责人统筹并确认方案、评测与验收。语料采集团队执行本地语料采集，对接高校、SoberanIA、WideLabs、国家图书馆这些来源，Stage 1 最重。葡语语言与标注专家做语料审核、标注质量、发音人协调。LGPD 合规专员负责数据来源分类、版权和合规审核，这是我们 4 月建议的岗位。行业专家确定 DLM 场景、评价成果。模型工程师参与国家大模型训练，自主做 DLM 训练和评测。应用开发定义 APP 本地场景，参与本地化和集成。运维工程师在 Stage 2 承担三大中心的日常运营。</a:t>
            </a:r>
          </a:p>
          <a:p/>
          <a:p>
            <a:r>
              <a:t>每行的基础要求写了，人数是示例，按 SOW 的名额回填。资源四项：本地语料 50B 及授权、标注与评测数据、实施环境、本地系统接口。</a:t>
            </a:r>
          </a:p>
          <a:p/>
          <a:p>
            <a:r>
              <a:t>我要明确说一句：人数最终由你们定，我们给的是量级和 SOW 名额作为参照。讯飞自己的驻场安排和支持方式，会后随 SOW 一并给你们。</a:t>
            </a:r>
          </a:p>
          <a:p/>
          <a:p>
            <a:r>
              <a:t>【材料来源备注】</a:t>
            </a:r>
          </a:p>
          <a:p>
            <a:r>
              <a:t>对 Mota 电话最直接的回应：巴方要出多少人、什么人、什么时候。人数待 SOW。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这张表是给你们直接抄成参与计划的：行是角色，列是五个阶段，格子是该阶段同时投入的人数，现在是示例。名额和阶段以 SOW 为准，同一个人可以跨阶段、跨成果。你们回填后就是 program 的骨架。</a:t>
            </a:r>
          </a:p>
          <a:p/>
          <a:p>
            <a:r>
              <a:t>【材料来源备注】</a:t>
            </a:r>
          </a:p>
          <a:p>
            <a:r>
              <a:t>Mota：they need to write down this program, how many people。这张表就是那个 program 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第三个关注点，你们的人学完能做什么。两层。</a:t>
            </a:r>
          </a:p>
          <a:p/>
          <a:p>
            <a:r>
              <a:t>第一层，项目内知识转移，已经在当前报价里，不另收费。五个知识包：语料采集方法论、数据工程、训练方法论、模型评估、部署运维。方式是现场培训、工作坊、边做边学，DLM 由你们自主训练就是最大的一块实践。交付运维文档、产品文档、定制代码、集成脚本、接口文档、专属语料、工具链。结果是：完成后你们可以自主研发 DLM 和其他尺寸的模型，并主导三大中心运营。名额和授课语言按 SOW。</a:t>
            </a:r>
          </a:p>
          <a:p/>
          <a:p>
            <a:r>
              <a:t>第二层，可选的核心人才深入研修，单独报价。面向少数有编程和模型基础的人，方向是训练调优、蒸馏、评测体系。要不要，你们评估后答复。</a:t>
            </a:r>
          </a:p>
          <a:p/>
          <a:p>
            <a:r>
              <a:t>底下一行说明位置：讯飞这一层是你们编制 Capacity Program 的输入之一，华为的培训计划是另一层，由华为提供并合稿。软件栈研发与验证的算力和兼容性验证在范围内，软件栈自研的主体工作由你们承担。</a:t>
            </a:r>
          </a:p>
          <a:p/>
          <a:p>
            <a:r>
              <a:t>【材料来源备注】</a:t>
            </a:r>
          </a:p>
          <a:p>
            <a:r>
              <a:t>知识包与方式来自 5/4 答复 Q10；结果来自 5/8 答复。第一层已在报价中，第二层可选单独报价。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如被问怎么学、怎么验证：每类角色在哪几个阶段参与什么任务、我们怎么支持、用什么验证，这张表按角色写了。验证方式是示例，按 SOW 定。这张表也是给华为编整体能力计划的输入。</a:t>
            </a:r>
          </a:p>
          <a:p/>
          <a:p>
            <a:r>
              <a:t>【材料来源备注】</a:t>
            </a:r>
          </a:p>
          <a:p>
            <a:r>
              <a:t>对应 Mota：Huawei 在写 capacity program，这张表是讯飞给的输入。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第二个关注点的收口。三栏。</a:t>
            </a:r>
          </a:p>
          <a:p/>
          <a:p>
            <a:r>
              <a:t>已包含：三项成果加知识转移；永久授权的权重、语料、定制代码与平台；开源模型导入和两次迁移适配；MaaS、导出与基模源码。可选另行约定：深入研修；清单外模型适配、微调、性能优化、定制开发；运维年费与模型优化年费；代码再分发；全量开源买断。不在范围：VLM、国家级技术验证实验室、全量非昇腾兼容测试。RNP 负责：本地语料与授权、LGPD 合规、场景确定、本地专家。</a:t>
            </a:r>
          </a:p>
          <a:p/>
          <a:p>
            <a:r>
              <a:t>六项确认，逐条请你们回应承接方和时间。第一，3 个 DLM 方向，RNP 和 MCTI 什么时候给，确认书什么时候签。第二，参与人员、资源和语料采集计划，你们什么时候提交。第三，实施计划，我们会后提交。第四，知识转移名额和能力目标，按 SOW 核对后确认。第五，可选研修要不要。第六，范围与费用归属、许可与年费条款，讯飞和华为提交核对表。</a:t>
            </a:r>
          </a:p>
          <a:p/>
          <a:p>
            <a:r>
              <a:t>【收尾】</a:t>
            </a:r>
          </a:p>
          <a:p>
            <a:r>
              <a:t>今天三件事：范围、分工与边界、知识转移，材料里都有对应页。你们回去编 Capacity Program 和 HR plan，用第 12、13、15 页；向上汇报用第 2 页。我们会后一周内给实施计划和 SOW 的名额、时间与讯飞驻场安排，把蓝色的数字补齐。请你们两周内给 3 个 DLM 方向和人员名单。有任何一页看不明白，随时找我们，不必等下次会。</a:t>
            </a:r>
          </a:p>
          <a:p/>
          <a:p>
            <a:r>
              <a:t>【材料来源备注】</a:t>
            </a:r>
          </a:p>
          <a:p>
            <a:r>
              <a:t>范围三栏把 RNP 历次提问的书面结论带进来。这次会相当于锁定 SOW，争取技术部分当场基本谈定。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简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894" y="145343"/>
            <a:ext cx="10440017" cy="48684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2797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lvl="0" defTabSz="913303">
              <a:spcBef>
                <a:spcPct val="0"/>
              </a:spcBef>
            </a:pPr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6144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041" y="6356939"/>
            <a:ext cx="3502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85671" y="2625392"/>
            <a:ext cx="1967204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3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 ftr="0" dt="0"/>
  <p:txStyles>
    <p:titleStyle>
      <a:lvl1pPr algn="l" defTabSz="1186848" rtl="0" eaLnBrk="1" latinLnBrk="0" hangingPunct="1">
        <a:lnSpc>
          <a:spcPct val="90000"/>
        </a:lnSpc>
        <a:spcBef>
          <a:spcPct val="0"/>
        </a:spcBef>
        <a:buNone/>
        <a:defRPr sz="57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712" indent="-296712" algn="l" defTabSz="1186848" rtl="0" eaLnBrk="1" latinLnBrk="0" hangingPunct="1">
        <a:lnSpc>
          <a:spcPct val="90000"/>
        </a:lnSpc>
        <a:spcBef>
          <a:spcPts val="1297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9013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6" kern="1200">
          <a:solidFill>
            <a:schemeClr val="tx1"/>
          </a:solidFill>
          <a:latin typeface="+mn-lt"/>
          <a:ea typeface="+mn-ea"/>
          <a:cs typeface="+mn-cs"/>
        </a:defRPr>
      </a:lvl2pPr>
      <a:lvl3pPr marL="1483560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6" kern="1200">
          <a:solidFill>
            <a:schemeClr val="tx1"/>
          </a:solidFill>
          <a:latin typeface="+mn-lt"/>
          <a:ea typeface="+mn-ea"/>
          <a:cs typeface="+mn-cs"/>
        </a:defRPr>
      </a:lvl3pPr>
      <a:lvl4pPr marL="2076986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670409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3263834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857258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450682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504410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1pPr>
      <a:lvl2pPr marL="59342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2pPr>
      <a:lvl3pPr marL="118684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3pPr>
      <a:lvl4pPr marL="1780274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37369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296712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560546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15397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474739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666666"/>
                </a:solidFill>
                <a:latin typeface="微软雅黑"/>
                <a:ea typeface="微软雅黑"/>
              </a:rPr>
              <a:t>RNP × 科大讯飞 · 技术交流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C00000"/>
                </a:solidFill>
                <a:latin typeface="微软雅黑"/>
                <a:ea typeface="微软雅黑"/>
              </a:rPr>
              <a:t>国家大模型、国家 APP 与行业模型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1D1D1A"/>
                </a:solidFill>
                <a:latin typeface="微软雅黑"/>
                <a:ea typeface="微软雅黑"/>
              </a:rPr>
              <a:t>讯飞交付什么、双方怎么分工、能力如何转移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里约热内卢 ·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示例：2026 年 9 月 9 日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汇报：科大讯飞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示例：陈浩、方案架构师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讨论稿，内容以 SOW、报价与技术方案为准；第 2 页一页看全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7863840" cy="86868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120640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图例：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蓝色文字</a:t>
            </a: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 = 示例或待核实，需按 SOW、报价与技术方案替换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黑色文字与讯飞给 RNP 的四份书面答复一致（4/29 清单答复、5/4、5/8、8/13 技术答复）；DLM 数量按最新口径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1737360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0" y="1975104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8360" y="1737360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D1D1A"/>
                </a:solidFill>
                <a:latin typeface="微软雅黑"/>
                <a:ea typeface="微软雅黑"/>
              </a:rPr>
              <a:t>国家大模型 + 葡语语音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2761488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0" y="2999232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2761488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D1D1A"/>
                </a:solidFill>
                <a:latin typeface="微软雅黑"/>
                <a:ea typeface="微软雅黑"/>
              </a:rPr>
              <a:t>国家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3785616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0" y="4023360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3785616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D1D1A"/>
                </a:solidFill>
                <a:latin typeface="微软雅黑"/>
                <a:ea typeface="微软雅黑"/>
              </a:rPr>
              <a:t>行业模型 DLM ×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4809744"/>
            <a:ext cx="2651760" cy="685800"/>
          </a:xfrm>
          <a:prstGeom prst="roundRect">
            <a:avLst>
              <a:gd name="adj" fmla="val 4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4809744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知识转移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一页看全：三项成果，怎么建、谁来做、关键数字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1274552" cy="3127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2743200"/>
                <a:gridCol w="2606040"/>
                <a:gridCol w="2697480"/>
                <a:gridCol w="1490472"/>
              </a:tblGrid>
              <a:tr h="384048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成果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是什么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怎么建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谁做什么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关键数字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9144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国家大模型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（含葡语语音）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基于讯飞星火基础模型的约 300B 巴西主权大模型，加巴西葡语 ASR/TTS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语料构建 → 预训练与后训练 → 评测 → 交付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讯飞：主导训练与语料加工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RNP：采集本地语料，参与训练与验收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300B 参数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本地 50B + 通用 300B 语料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6 个月一版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国家 APP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以讯飞星火 APP 为基线做巴西本地化的公众 AI 服务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需求定义 → 本地化 → 系统集成 → 上线运营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讯飞：基线产品、本地化与平台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RNP：定义场景，提供接口，验收与运营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1000 万级用户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500 路峰值并发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行业模型 DLM × 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 个行业模型，各面向 1 个固定场景；方向由 RNP/MCTI 提出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确定场景 → 数据与基座 → 训练与评测 → 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讯飞：可行性评估、路线与指导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RNP：数据与专家，自主训练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 个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70B 以内基座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251960"/>
            <a:ext cx="11274552" cy="54864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370832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承载平台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4325112"/>
            <a:ext cx="9628632" cy="4206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三大中心（软件平台）：语料库构建中心 · 模型训练中心 · AI 应用创新中心　｜　Stage 1 基础能力建设约 280P，Stage 2 全面运营合计约 560P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37760"/>
            <a:ext cx="11274552" cy="5486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056632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知识转移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5010912"/>
            <a:ext cx="9628632" cy="4206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贯穿全程，巴方人员边做边学；DLM 由 RNP 自主训练、讯飞辅助；完成后巴方可自主研发 DLM 与其他尺寸模型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口径与讯飞给 RNP 的四份书面答复一致；范围以 SOW 与报价核对为准。后续各页逐项展开。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国家大模型：怎么建、谁来做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60350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06424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33272"/>
            <a:ext cx="962863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基于讯飞星火基础模型训练的约 300B 巴西主权大模型，含巴西葡语 ASR/TTS；约 6 个月完成一个正式版本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语料构建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采集 50B 本地语料；讯飞提供 300B 通用语料并加工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预训练与后训练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星火底座，约 300B 参数级；多轮优化与版本迭代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本土基准 + 国际基准；讯飞准备，RNP 审核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交付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权重归巴西；基模源码、导出格式与 MaaS 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393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主导训练；语料加工与质检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评测方案、交付与文档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采集本地语料并落实授权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工程师参与训练；组织验收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8640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61441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59552"/>
            <a:ext cx="92628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模型权重、基模结构源码、评测报告、文档　·　规格、语料与评测见后两页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国家大模型：规格与算力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1513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参数规模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300B 参数级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底座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讯飞星火基础模型；星火基础模型权重在双方约定范围内受限开放给巴西（参考 Qwen、Llama 开源范围）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训练语料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 本地构建 50B tokens 高质量巴西葡语语料；讯飞免费提供 300B 以上通用预训练语料；合计超 350B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训练内容与周期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预训练、后训练、测试评估、多轮优化与版本迭代；约 6 个月完成一个正式版本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训练算力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210P（Stage 1），并为数据调整、断点续训及回归验证保留资源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语料构建算力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17.5P：OCR、文本识别、清洗、格式转换、质检等大规模数据处理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葡语语音模型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巴西葡萄牙语 ASR/TTS 的训练、实验、评测与持续优化：35P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部署平台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昇腾平台深度优化、性能最佳；模型可 ONNX 导出并部署于英伟达平台，效率低于昇腾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不在范围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VLM（视觉语言模型）训练与推理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48640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算力为容量规划基准，全部 NPU 统一池化调度。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国家大模型：语料、评测与数据主权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48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语料分工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 采集原始语料；讯飞设计语料体系、输出采集与标注规范，负责清洗、去重、分词、配比、入库与抽样质检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有监督与安全数据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有监督数据不少于 20 万条；安全与价值观对齐数据不少于 2 万条（RNP 依本国官方表述提供原始内容）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语音语料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ASR 不少于 1 万小时（覆盖区域口音、录音环境）；TTS 不少于 100 小时（标准发音人由 RNP 协调）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本土权威媒体、政府公开数据、高校科研、公开数据集；RNP 对接高校、SoberanIA、WideLabs、国家图书馆等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本土基准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ENEM、BlueX、HateBR、OAB、ASSIN2（候选）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国际基准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M-MMLU、MGSM、Xwinogrande、Belebele、FLORES（公开、可复现）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评测流程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数据采集阶段与 RNP 工程团队联合构建测试集；评测方法与验收条件由讯飞准备、RNP 审核；达标线 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数据主权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全部采集、训练、微调、推理、运维在巴西境内；遵守 LGPD；禁止未授权跨境传输；本土数据集 RNP 完全控制，讯飞通用语料“可用不可见”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答复、4/29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合规组织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讯飞承诺遵守 LGPD；建议 RNP 指派 LGPD 合规专员共同细化要求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 APP：给谁用、怎么建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60350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06424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33272"/>
            <a:ext cx="962863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以讯飞星火 APP 为基线做巴西本地化的公众 AI 服务：问答、语音交互、文档理解、内容创作；约 1000 万级用户、500 路峰值并发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需求与场景定义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与巴西伙伴共同定义需求、场景与功能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本地化定制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巴西葡语界面、语音、内容；本地场景适配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本地系统集成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与巴西本地系统集成；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待核：接口清单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Stage 2 在线推理；多副本、高可用、弹性扩容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393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50208"/>
            <a:ext cx="3108960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950208"/>
            <a:ext cx="283464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微软雅黑"/>
                <a:ea typeface="微软雅黑"/>
              </a:rPr>
              <a:t>界面截图 / 演示视频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示例位：现场演示星火 APP 一段完整操作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3950208"/>
            <a:ext cx="3808475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69080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9080" y="4370832"/>
            <a:ext cx="3351275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星火 APP 基线与平台；本地化与集成开发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MaaS 平台与推理服务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5" y="3950208"/>
            <a:ext cx="3808475" cy="1371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1875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1875" y="4370832"/>
            <a:ext cx="3351275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定义本地场景与功能，提供系统接口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组织测试验收；运维期主导运营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48640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服务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559552"/>
            <a:ext cx="92628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问答 · 语音交互 · 文档理解 · 内容创作 · Embedding · Reranking　·　容量与接口见下页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 APP：服务、容量与接口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315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基线产品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讯飞星火 APP（中国已上线运营）：自然语言问答、语音交互、文档理解、内容创作（写作、PPT 生成）等 Chatbot 核心能力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本地化范围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巴西葡语本地化（界面、语音、内容）、本地应用场景适配、与巴西本地系统集成；需本地团队深度参与定义需求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服务类型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NLP 问答、ASR/TTS 语音交互、OCR 文档处理、Embedding、Reranking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用户规模与并发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1000 万级用户；约 500 路峰值并发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推理算力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105P（Stage 2）；多模型混合调用、多副本、高可用、故障切换、弹性扩容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国家大模型 + AI 能力中心导入的第三方开源模型（DeepSeek、Qwen 等已兼容）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程序化访问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MaaS 平台：OpenAI 兼容 REST API、Python/JS/Java SDK、OpenAPI 文档、Docker/K8s 部署、认证、限流、监控、审计日志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其他本地应用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其他本地聊天机器人与应用可由巴西本地企业与讯飞联合开发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性能与可用性指标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示例：平均响应 N 秒，可用性 99.9%；按 SOW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行业模型 DLM：选什么领域、怎么共同开发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60350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06424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33272"/>
            <a:ext cx="962863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3 个行业模型，每个面向 1 个边界清晰的固定场景；行业方向由 RNP/MCTI 提出，讯飞做可行性评估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确定场景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RNP/MCTI 确定行业、场景、目标与使用边界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数据与基座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提供授权数据与专家；70B 以内基座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训练与评测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自主训练，讯飞辅助与持续咨询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验收与演进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独立评测集验收；实施前签场景与方案确认书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393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可行性评估；基座与训练路线建议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训练过程技术指导与优化建议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确定场景；提供数据、标注与专家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自主训练与评测；组织验收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8640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61441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59552"/>
            <a:ext cx="92628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技术方案、指导记录、问题清单、评测分析与演进建议　·　实施条件与数据规格见下页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行业模型 DLM：实施条件与数据规格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315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数量与范围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 个行业模型；每个面向 1 个边界清晰的固定业务场景，含业务目标、目标用户、输入输出与使用边界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最新口径（8/13 为 1 个）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基础模型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70B 参数以内的星火模型或主流开源模型（DeepSeek、Qwen）；采用第三方开源基座时 RNP 需确保使用、修改及再训练权利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数据规模参考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LoRA 微调最少约 200–1k 条，建议 5k–50k 条；SFT 微调最少约 1k–5k 条，建议 20k–200k+ 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RNP 数据责任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训练、标注、独立评测数据的合法使用权；采集、采购、清洗、标注、翻译、来源授权、内容审核及 LGPD 合规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RNP 专家资源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巴西葡萄牙语、行业、安全及法律合规本地专家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实施环境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训练、评测、部署所需算力、存储、网络；算力 70P 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待核：按 1 个 DLM 规划，3 个需重估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实施模式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优先“RNP 自主训练 + 讯飞辅助训练及持续咨询”；不足时可调整为讯飞进一步参与或直接承担训练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验收依据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双方确认的独立评测数据集；场景、基座、路线、评测方法与验收条件写入《DLM 场景及技术方案确认书》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行业方向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候选：政务服务、法律、医疗、教育（讯飞有经验）；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待核：由 RNP/MCTI 提出 3 个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讯飞交付文档：技术方案、指导记录、问题清单、评测分析、演进建议。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整体路径：两个 Stage，五个阶段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4356201" cy="38404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4081881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D1D1A"/>
                </a:solidFill>
                <a:latin typeface="微软雅黑"/>
                <a:ea typeface="微软雅黑"/>
              </a:rPr>
              <a:t>Stage 1 · 国家 AI 基础能力建设 · 约 280P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69433" y="960120"/>
            <a:ext cx="6662318" cy="38404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06593" y="960120"/>
            <a:ext cx="638799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D1D1A"/>
                </a:solidFill>
                <a:latin typeface="微软雅黑"/>
                <a:ea typeface="微软雅黑"/>
              </a:rPr>
              <a:t>Stage 2 · 国家级全面运营 · 合计约 560P　</a:t>
            </a: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待核：阶段与 Stage 的对应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90218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语料与数据准备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本地语料采集与加工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示例：M1–M3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4716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3316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96335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6468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国家大模型训练与评测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476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预训练、后训练与评测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0476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示例：M2–M8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40833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9433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02452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2585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国家 APP 与 DLM 开发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6593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APP 本地化；DLM 自主训练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6593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示例：M6–M11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46950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75550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08568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702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部署与验收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2710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部署、试运行、验收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2710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示例：M10–M13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53067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81667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4685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4819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交接与运营支持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8827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移交权重、代码、文档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8827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示例：M13–M15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703320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3803904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华为提供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3776472"/>
            <a:ext cx="9445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Stage 1 约 280P，Stage 2 合计约 560P，统一池化调度　·　部署环境与网络　·　数据中心运维衔接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370832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471416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知识转移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57400" y="4443984"/>
            <a:ext cx="9445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贯穿五个阶段，巴方人员每个阶段与讯飞一起做；DLM 以 RNP 自主训练为主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038344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138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交接与运营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111496"/>
            <a:ext cx="9445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交接后 RNP 主导三大中心日常运营，讯飞持续支持；许可、年费与长期路径见下页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71500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阶段名称、数量与月份为示例，按实际方案确定。RNP 据此编制本方计划。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交接、许可与运营支持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572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永久授权（项目范围内）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巴西主权大模型权重；巴西本土构建的专属语料；本项目定制开发的训练、微调、推理基础代码；项目范围内交付的平台与应用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权重归属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基于星火训练的巴西主权大模型权重可协商 100% 归巴西；本地定制知识产权归属巴西；权重在巴西本土数据中心部署、存储、维护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星火底座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星火基础模型权重在约定范围内受限开放给巴西（参考 Qwen、Llama 开源范围）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代码权利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训练、微调、评估、对齐、推理服务、MLOps 定制代码：永久使用权与修改权；对外再分发需另行商业条款约定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开源边界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三大中心与国民 APP 为讯飞核心商业资产，不开源；本项目定制部分源码可开放；完全控制可付费买断，商务协商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可移植性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模型支持 ONNX 等标准格式导出；交付基模结构源码（PyTorch、DeepSpeed，推理适配 vLLM）；英伟达平台可运行，性能低于昇腾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运维阶段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 主导三大中心日常运营；讯飞提供系统运维支持、模型持续迭代、运营团队能力培训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持续费用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基础模型与平台组件软件运维年费、模型持续优化年费，另行商务约定，不影响软件使用；金额 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长期路径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1–3 年：商业授权 + 本地增训 + 知识转移；3–5 年及以后：巴方主导补齐算力、算法、数据短板，具备从零预训练能力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文档语言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官方交付文档以英文提供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需要投入什么：人员与资源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1274552" cy="3511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3931920"/>
                <a:gridCol w="2194560"/>
                <a:gridCol w="1463040"/>
                <a:gridCol w="176479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基础要求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参与 Stage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人数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项目负责人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统筹资源；确认方案、评测与验收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项目管理，英语沟通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语料采集团队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执行本地语料采集，对接来源机构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数据采集与版权基础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葡语语言与标注专家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语料审核、标注质量、发音人协调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巴西葡语母语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LGPD 合规专员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数据来源分类、版权与 LGPD 审核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法律合规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确定 DLM 场景；评价领域成果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行业业务经验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示例：每领域 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参与大模型训练；DLM 自主训练与评测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Python，机器学习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定义 APP 本地场景；参与本地化与集成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软件开发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三大中心日常运营；部署与监控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Linux 与容器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572000"/>
            <a:ext cx="11274552" cy="54864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690872"/>
            <a:ext cx="9144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4645152"/>
            <a:ext cx="9902952" cy="4206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本地语料 50B 及授权　·　标注与评测数据　·　实施环境　·　本地系统接口　·　到位时间 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示例：合同生效后 4 周内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角色按 5/4、8/13 答复中 RNP 的责任整理，人数为示例。RNP 据此编制本方参与计划；本页角色即知识转移的对象，分阶段人数见下页。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参与矩阵：角色 × 阶段 × 人数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86000"/>
                <a:gridCol w="1600200"/>
                <a:gridCol w="1600200"/>
                <a:gridCol w="1600200"/>
                <a:gridCol w="1600200"/>
                <a:gridCol w="1600200"/>
                <a:gridCol w="987552"/>
              </a:tblGrid>
              <a:tr h="54864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1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语料与数据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2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大模型训练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3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APP 与 DLM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4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部署验收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5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交接支持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项目负责人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语料采集团队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葡语语言与标注专家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LGPD 合规专员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供 RNP 直接抄成本方参与计划：格子为该阶段同时投入的人数（示例）。名额与阶段以 SOW 为准；同一人可跨阶段、跨成果。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能带走什么：知识转移两层安排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5454396" cy="3383280"/>
          </a:xfrm>
          <a:prstGeom prst="roundRect">
            <a:avLst>
              <a:gd name="adj" fmla="val 4000"/>
            </a:avLst>
          </a:prstGeom>
          <a:solidFill>
            <a:srgbClr val="EAF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61872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61B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已包含在当前报价 · 不另收费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3B7A1A"/>
                </a:solidFill>
                <a:latin typeface="微软雅黑"/>
                <a:ea typeface="微软雅黑"/>
              </a:rPr>
              <a:t>项目内知识转移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05756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五个知识包：语料采集、数据工程、训练方法、模型评估、部署运维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方式：现场培训、工作坊、边做边学；名额 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示例：每阶段 10 人</a:t>
            </a: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，语言 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示例：英语加葡语助教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结果：巴方可自主研发 DLM 与其他尺寸模型，并主导三大中心运营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7356" y="1005840"/>
            <a:ext cx="5454396" cy="3383280"/>
          </a:xfrm>
          <a:prstGeom prst="roundRect">
            <a:avLst>
              <a:gd name="adj" fmla="val 4000"/>
            </a:avLst>
          </a:prstGeom>
          <a:solidFill>
            <a:srgbClr val="FD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51676" y="126187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D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可选 · 单独报价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1676" y="173736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B35400"/>
                </a:solidFill>
                <a:latin typeface="微软雅黑"/>
                <a:ea typeface="微软雅黑"/>
              </a:rPr>
              <a:t>核心人才深入研修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1676" y="2286000"/>
            <a:ext cx="4905756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对象：少数有编程与模型基础的人员，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示例：6–8 人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方向：模型训练与调优、蒸馏、评测体系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形式、周期与价格：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示例：现场 4 周 + 远程 8 周，按人数与周期报价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572000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72584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整体中的位置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4645152"/>
            <a:ext cx="9171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本页是华为能力建设计划（</a:t>
            </a:r>
            <a:r>
              <a:rPr sz="1150" b="0">
                <a:solidFill>
                  <a:srgbClr val="0070C0"/>
                </a:solidFill>
                <a:latin typeface="微软雅黑"/>
                <a:ea typeface="微软雅黑"/>
              </a:rPr>
              <a:t>示例：2900 人</a:t>
            </a: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）中讯飞承担的部分，由华为统一汇总为一份 program；</a:t>
            </a:r>
            <a:r>
              <a:rPr sz="1150" b="0">
                <a:solidFill>
                  <a:srgbClr val="0070C0"/>
                </a:solidFill>
                <a:latin typeface="微软雅黑"/>
                <a:ea typeface="微软雅黑"/>
              </a:rPr>
              <a:t>待核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软件栈研发与验证算力及兼容性验证在范围内，软件栈自研的主体工作由 RNP 承担，</a:t>
            </a:r>
            <a:r>
              <a:rPr sz="1000" b="0">
                <a:solidFill>
                  <a:srgbClr val="0070C0"/>
                </a:solidFill>
                <a:latin typeface="微软雅黑"/>
                <a:ea typeface="微软雅黑"/>
              </a:rPr>
              <a:t>待核口径</a:t>
            </a: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。各角色的学习路径见下页。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知识转移学习路径：角色 × 阶段 × 任务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36758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731520"/>
                <a:gridCol w="3108960"/>
                <a:gridCol w="3566160"/>
                <a:gridCol w="2267712"/>
              </a:tblGrid>
              <a:tr h="384048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参与的项目任务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讯飞支持方式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能力验证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语料采集团队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按讯飞采集规范执行本地语料采集；来源对接与授权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采集规范与方法论输出、抽样质检、不合格回退、迭代反馈；现场培训与工作坊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示例：独立交付一批合规入库语料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语言与标注专家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1–3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SFT 数据标注、语音标注、价值观对齐内容审核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SFT 标注规范、质量标准与样例库；ASR/TTS 标注规范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示例：标注抽检合格率达标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2–4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通过知识转移参与国家大模型训练；DLM 自主训练与评测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训练方法论；基座选型、后训练路线、评测方法建议；日志分析与问题排查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示例：独立完成一次 SFT 微调与评测报告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国民 APP 本地场景定义、本地化与系统集成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AI 应用创新中心平台、MaaS 接口与 SDK 使用指导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示例：独立集成一个本地系统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4–5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三大中心部署、监控、故障处理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部署运维知识包；运维阶段运营团队能力培训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示例：完成一次生产部署演练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DLM 场景定义、数据审核、效果评价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评测方法设计与效果分析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示例：完成一轮独立评测评价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讯飞支持方式来自 5/4 答复 Q3、Q10 与 8/13 答复 Q1；名额与验证方式待 SOW。供华为编制整体能力计划时使用。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范围一览与本次需确认事项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3575304" cy="1600200"/>
          </a:xfrm>
          <a:prstGeom prst="roundRect">
            <a:avLst>
              <a:gd name="adj" fmla="val 4000"/>
            </a:avLst>
          </a:prstGeom>
          <a:solidFill>
            <a:srgbClr val="EAF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3B7A1A"/>
                </a:solidFill>
                <a:latin typeface="微软雅黑"/>
                <a:ea typeface="微软雅黑"/>
              </a:rPr>
              <a:t>已包含在当前方案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362456"/>
            <a:ext cx="32461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国家大模型（含葡语语音）、国家 APP、3 个 DLM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项目内知识转移；永久授权的权重、语料、定制代码与平台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开源模型导入与 2 次迁移适配；MaaS、导出与基模源码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6824" y="960120"/>
            <a:ext cx="3575304" cy="1600200"/>
          </a:xfrm>
          <a:prstGeom prst="roundRect">
            <a:avLst>
              <a:gd name="adj" fmla="val 4000"/>
            </a:avLst>
          </a:prstGeom>
          <a:solidFill>
            <a:srgbClr val="FD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1416" y="105156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B35400"/>
                </a:solidFill>
                <a:latin typeface="微软雅黑"/>
                <a:ea typeface="微软雅黑"/>
              </a:rPr>
              <a:t>可选 · 另行约定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1416" y="1362456"/>
            <a:ext cx="32461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核心人才深入研修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清单外模型适配；微调、性能优化与定制开发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运维年费与模型优化年费；代码再分发；全量开源买断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960120"/>
            <a:ext cx="3575304" cy="1600200"/>
          </a:xfrm>
          <a:prstGeom prst="roundRect">
            <a:avLst>
              <a:gd name="adj" fmla="val 4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05156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D1D1A"/>
                </a:solidFill>
                <a:latin typeface="微软雅黑"/>
                <a:ea typeface="微软雅黑"/>
              </a:rPr>
              <a:t>不在范围 · RNP 负责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362456"/>
            <a:ext cx="32461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D1D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VLM；国家级技术验证实验室；全量非昇腾兼容测试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D1D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RNP：本地语料与授权、LGPD 合规、场景确定、本地专家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D1D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0070C0"/>
                </a:solidFill>
                <a:latin typeface="微软雅黑"/>
                <a:ea typeface="微软雅黑"/>
              </a:rPr>
              <a:t>待核：其他按 SOW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788920"/>
          <a:ext cx="11274552" cy="27797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57600"/>
                <a:gridCol w="1737360"/>
                <a:gridCol w="587959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确认事项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承接方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结论 / 下一步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1. 三项成果的目标与范围；3 个 DLM 的行业方向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RNP/MCTI + 讯飞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示例：RNP/MCTI 提出 3 个方向；会后 2 周签《DLM 场景及技术方案确认书》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2. RNP 参与人员与资源；语料采集计划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2 周提交人员名单、到位时间与采集计划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3. 实施阶段与时间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周提交实施计划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4. 知识转移名额与能力目标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示例：按 SOW 核对名额，会后 1 周确认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5. 可选研修是否需要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示例：RNP 内部评估后答复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6. 范围与费用归属；许可与年费条款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华为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 SOW 与报价核对表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562356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范围栏与 4/29、5/4、8/13 答复一致；会中记录结论，会后形成双方行动。材料中出现的内容不等于双方已承诺。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7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</Words>
  <Application>Microsoft Office PowerPoint</Application>
  <PresentationFormat>宽屏</PresentationFormat>
  <Paragraphs>37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楷体</vt:lpstr>
      <vt:lpstr>Microsoft YaHei</vt:lpstr>
      <vt:lpstr>Microsoft YaHei</vt:lpstr>
      <vt:lpstr>Arial</vt:lpstr>
      <vt:lpstr>Calibri</vt:lpstr>
      <vt:lpstr>7_章节页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Hao</dc:creator>
  <cp:lastModifiedBy>Chen Hao</cp:lastModifiedBy>
  <cp:revision>1</cp:revision>
  <dcterms:created xsi:type="dcterms:W3CDTF">2026-08-27T14:04:28Z</dcterms:created>
  <dcterms:modified xsi:type="dcterms:W3CDTF">2026-08-27T14:04:38Z</dcterms:modified>
</cp:coreProperties>
</file>