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Relationship Id="rId3" Type="http://schemas.openxmlformats.org/officeDocument/2006/relationships/slide" Target="slide24.xml"/><Relationship Id="rId4" Type="http://schemas.openxmlformats.org/officeDocument/2006/relationships/slide" Target="slide23.xml"/><Relationship Id="rId5" Type="http://schemas.openxmlformats.org/officeDocument/2006/relationships/slide" Target="slide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2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5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6.xml"/><Relationship Id="rId14" Type="http://schemas.openxmlformats.org/officeDocument/2006/relationships/slide" Target="slide13.xml"/><Relationship Id="rId15" Type="http://schemas.openxmlformats.org/officeDocument/2006/relationships/slide" Target="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13.xml"/><Relationship Id="rId15" Type="http://schemas.openxmlformats.org/officeDocument/2006/relationships/slide" Target="slide4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训练与应用开发平台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三项成果都在其上完成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未来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文本、语音识别与合成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讯飞先行增强葡语基座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国民 APP 与运营平台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面向 RNP 批准的用户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讯飞交付，RNP 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训练，讯飞指导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个工作日，累计学员名额 260 个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　1) 文本大模型（NLP）处理文字的理解与生成　2) 语音识别（ASR）将语音转为文字　3) 语音合成（TTS）将文字转为语音　4) Token 是模型计量文本的单位，约等于一个词或词的一部分　5) Stage 1 / Stage 2 是两批算力对应的两个建设阶段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讯飞交付　1) 平台软件及授权　2) 部署配置　3) API 接入说明　4) 验收报告　5) 运维文档；验收后由 RNP 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11274552" cy="2066543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导入 2) 清洗 3) 去重 4) 标注 5) 质量统计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043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数据集管理 2) 训练任务 3) 资源配置 4) 评测 5) 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673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模型服务与 API 2) 应用配置 3) 运营统计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136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969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审核策略 2) 敏感词库 3) 风险样例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99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443984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3542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01184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产品使用培训：6 个主题、每批 12 名运维工程师，见附录 A12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6" y="4443984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453542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901184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57784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23559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交付 1) 文本大模型（≥290B 参数）　2) 语音识别　3) 语音合成，各 1 个；随附权重、模型卡、评测报告与部署说明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26464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第 1 步两条线同时进行：讯飞在中国境内先行增强基座，RNP 在巴西建设本地语料；本地语料就绪、算力到位后进入第 2 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语料与基座准备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中国境内采集公开葡语语料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自有算力增强基座葡语能力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公开语料一并提交巴西方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巴西生产语料并取得授权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规模约 500 亿 Token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协调建成前的处理算力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增强后的基座 + 本地语料库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18104" y="2640329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2988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9292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1004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9020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9020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在增强后的基座上继续训练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产出 NLP、ASR、TTS 模型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按批准的技术方案与里程碑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61004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9020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9020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按讯飞规范持续供料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配合抽样质检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路线与次数书面确认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NLP ≥290B、ASR、TTS 各 1 个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93892" y="2640329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08776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出具评测报告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覆盖回归、鲁棒性、偏见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安全与文化适配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792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共同定测试集与通过规则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葡语与领域专家评审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评测报告，双方签认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869680" y="2640329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84564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0868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本地交付与持续优化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2580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0596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0596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巴西环境部署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交付权重与模型卡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 NLP 升 3 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语音各升 1 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12580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40596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0596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组织验收与发布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 A2 的上限提供升级语料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0596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权重、版本清单、模型卡、部署说明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基座增强先行，不占用巴西算力，也不必等本地语料齐备才开始；本地语料和算力到位即可进入训练，工期风险更小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交付 1) 国民 APP（多终端）　2) 数据运营平台，面向 RNP 批准的授权用户；问答 1,000 路并发，语音各 200 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26464"/>
            <a:ext cx="11274552" cy="969264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46304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79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3075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3075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1208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9340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研究辅助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7472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7472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语音输入与朗读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560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560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笔记与写作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提供标准产品能力清单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说明可配置项与边界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定用户范围、内容规则与品牌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需求与功能设计文档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118104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32988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9292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61004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9020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9020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葡语界面与本地化配置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接入 RNP 品牌与内容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61004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89020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9020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提供品牌素材与栏目内容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葡语 PPT 与公文模板待验证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9020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9020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按指定浏览器与操作系统验证通过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93892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08776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36792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64808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8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完成接口对接与联调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提供开发者文档与示例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36792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4808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8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提供本地接口与账号凭证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落实第三方 API 额度与许可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8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HTTP/REST/JSON/WebSocket 接口联调通过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8869680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84564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0868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12580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0596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40596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1 初步交付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2 扩展运行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移交运维文档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12580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0596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40596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审批用户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产品、运营与审核团队承接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可在交付版本上自主演进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40596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0596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APP 与数据运营平台上线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563270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678424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0817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914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个边界清晰的固定场景；领域由 RNP 提出、讯飞评估可行性；模型权重由 RNP 训练产生并归 RNP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评估领域可行性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出具技术方案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核实基座版本、规模与许可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提出领域与场景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签署《DLM 场景及技术方案确认书》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18104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32988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9292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1004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9020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9020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给出训练路线建议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LoRA-SFT、SFT、GRPO 等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每项确认 1 条主要路线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61004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9020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提供训练、验证与安全数据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提供独立评测数据与环境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9020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数据与训练路线书面确认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08776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按约定工作量提供参数建议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查看训练日志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协助分析问题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6792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完成评测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指导记录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869680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84564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0868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12580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0596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0596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完成分析报告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580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0596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核对指导记录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完成业务验收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0596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0596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服务验收，与模型效果目标分开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23036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生产部署、API 开发与应用集成不在本服务内，可另行约定。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54126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5586983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　1) 华为出算力　2) 讯飞出软件和模型　3) 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平台验收 2) 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文本模型评测通过 2) 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APP Stage 1 交付 2) 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移交确认签署 2) 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　1) 生产葡语语料并取得授权　2) 自主训练和评测 DLM　3) 审批用户并运营 APP　4) 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数据团队 2) 葡语专家 3) 合规审核 4) 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采集与标注 2) 质检语料 3) 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算法工程师 2) 测试工程师 3) 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参与国家模型训练评测 2) 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应用开发与运营 2) 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承接 APP 运营 2) 用户审批 3) 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人，共两轮，名额另计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课时，实施两个轮次；移交后 RNP 能独立完成　1) 平台运维　2) 训练提交　3) 模型部署　4) 版本发布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大模型基础与项目架构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语料到服务全流程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安全与运维基础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5868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868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5868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覆盖国家模型训练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个月内的模型升级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3 项 DLM 训练等真实任务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模型部署、监控与故障处理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双方签实操记录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4564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7444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7444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7444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交接生产环境与运维流程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移交资产许可与运行手册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验证独立操作，双方签确认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96128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41848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个工作日；工作日是培训活动天数，分散在实施期内，不是连续工期。另有面向运维团队的产品使用培训，不计入这里的课时，见附录 A12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7781544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大模型基础 2) 项目架构 3) 语料到服务全流程 4) 安全与运维基础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模型与数据评测 2) 软件栈与生命周期 3) 规模化训练与推理 4) 检索、智能体与安全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需另行预算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集群调度 2) 模型训练 3) 语料 4) 推理；另有专家研讨、一对一咨询、中国考察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基础课与专题课在项目范围内，不另收费；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高端研修需先完成华为 AI Developer 全部课程并另行预算，见附录 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验收依据　1) SOW　2) BOQ　3) 功能清单　4) 批准方案；新增需求按书面变更处理。会中记录结论，会后形成双方行动清单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附录：13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13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  <p:sp>
        <p:nvSpPr>
          <p:cNvPr id="53" name="Rounded Rectangle 52">
            <a:hlinkClick action="ppaction://hlinksldjump" r:id="rId14"/>
          </p:cNvPr>
          <p:cNvSpPr/>
          <p:nvPr/>
        </p:nvSpPr>
        <p:spPr>
          <a:xfrm>
            <a:off x="457200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平台交付后运维从哪里上手？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产品使用培训：主题、天数与人数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2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4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4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分工与前置算力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数据中心建成前用于语料采集与处理的算力，由 RNP 在巴西本地协调提供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5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6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8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9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260 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两轮学员分批参加，各阶段不要求为同一批人，由 RNP 指定稳定且具备基础的学员；正式移交面向运维团队，人数相应放宽；口径：SOW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访问讯飞团队与算力设施；华为方案已含 6 天中国行（100 人），此处为讯飞技术交流形式，避免重复安排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5、6、12。讲授方法不等于所有交付模型都支持该方法，也不包含新增优化任务；口径：SOW。交流形式中只有高级 AI 研讨在项目范围内，其余三项另行约定。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896112"/>
            <a:ext cx="1127455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核心研发人员与高校课题组，内容可从架构与原理讲到工程经验与源码实践。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准入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：需先完成华为 AI Developer 全部课程　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预算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：不在本项目范围与报价内，需另行预算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专家研讨与案例研究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在选定方向上做专家研讨、工程案例复盘与实践讲解；内容结合 RNP 的实际环境定制，例如模型迁移、平台架构与实现原理、在华为算力上的训练适配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工程师提出的具体研发问题做技术问答、方案讨论与工程经验交流，按时长约定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中国考察与技术交流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可选形式，结合专家学习与现场技术交流；语言、行程与相关费用另行确定。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与华为方案中的 6 天中国行（100 人）分属不同安排，避免重复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A12 · 产品使用培训：交付后运维怎么上手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问：平台交付后运维从哪里上手？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讯飞对已交付的软件、模型与安全产品做操作演示、配置指导与移交说明；面向 RNP 运维团队，随陪伴运维启动，与四阶段知识转移并行、不重复计课时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298448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885432"/>
                <a:gridCol w="868680"/>
                <a:gridCol w="1188720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每批人数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语料与模型训练平台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数据集流程、质量检查与血缘；容器镜像、训练任务、日志与模型产物；已交付的语音工具与断点续训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算力管理与集群运维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租户、角色、资源池、配额与调度；集群健康、节点状态、日志与告警；资源用量、事件信息与升级路径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应用服务、API 与数据运营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服务凭证、权限、限流与用量；已开通的知识问答与检索服务；API 调用与错误处理；门户配置、应用发布、用户与反馈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基础模型与国家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模型文件、加载、调用与配置；已知限制与运行检查；登录、问答、文档与语音交互；已开通的笔记、写作与演示功能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内容安全与安全产品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风险标签、审核规则、词库与快修；审核日志与已开通功能验证；所供安全产品的接入、策略与日志；基本操作与厂商支持渠道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配置、文档与支持移交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已部署版本、关键配置与文档；支持的备份与恢复方法；遗留问题、支持工单与升级路径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57200" y="497433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2920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时间安排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029200"/>
            <a:ext cx="97200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陪伴运维启动时开展产品使用培训，之后 12 个月陪伴运维期内穿插知识转移活动；正式移交在陪伴运维结束前至少 3 个月启动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6811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六个主题是 SOW 第 7.5 节十二项产品使用主题的归并展示，不构成六门独立计量的课程；培训使用已交付版本与经授权的样本。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批次、天数、参训人数、语言与线上/线下方式实施前双方确定；各主题工作日合计 9 天，联合材料横幅标注约 10 天，实施前确认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　口径：SOW 7.5 / 8.3 / 9.4。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